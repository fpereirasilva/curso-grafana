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5" r:id="rId1"/>
  </p:sldMasterIdLst>
  <p:notesMasterIdLst>
    <p:notesMasterId r:id="rId180"/>
  </p:notesMasterIdLst>
  <p:sldIdLst>
    <p:sldId id="256" r:id="rId2"/>
    <p:sldId id="257" r:id="rId3"/>
    <p:sldId id="258" r:id="rId4"/>
    <p:sldId id="259" r:id="rId5"/>
    <p:sldId id="260" r:id="rId6"/>
    <p:sldId id="261" r:id="rId7"/>
    <p:sldId id="415" r:id="rId8"/>
    <p:sldId id="416" r:id="rId9"/>
    <p:sldId id="417" r:id="rId10"/>
    <p:sldId id="418" r:id="rId11"/>
    <p:sldId id="419" r:id="rId12"/>
    <p:sldId id="420" r:id="rId13"/>
    <p:sldId id="275"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421" r:id="rId28"/>
    <p:sldId id="276" r:id="rId29"/>
    <p:sldId id="422" r:id="rId30"/>
    <p:sldId id="423" r:id="rId31"/>
    <p:sldId id="424" r:id="rId32"/>
    <p:sldId id="425" r:id="rId33"/>
    <p:sldId id="277" r:id="rId34"/>
    <p:sldId id="278" r:id="rId35"/>
    <p:sldId id="279" r:id="rId36"/>
    <p:sldId id="280" r:id="rId37"/>
    <p:sldId id="281" r:id="rId38"/>
    <p:sldId id="282" r:id="rId39"/>
    <p:sldId id="413" r:id="rId40"/>
    <p:sldId id="414" r:id="rId41"/>
    <p:sldId id="283" r:id="rId42"/>
    <p:sldId id="284" r:id="rId43"/>
    <p:sldId id="285" r:id="rId44"/>
    <p:sldId id="286" r:id="rId45"/>
    <p:sldId id="287" r:id="rId46"/>
    <p:sldId id="288" r:id="rId47"/>
    <p:sldId id="289" r:id="rId48"/>
    <p:sldId id="290" r:id="rId49"/>
    <p:sldId id="291" r:id="rId50"/>
    <p:sldId id="292" r:id="rId51"/>
    <p:sldId id="293" r:id="rId52"/>
    <p:sldId id="294" r:id="rId53"/>
    <p:sldId id="295" r:id="rId54"/>
    <p:sldId id="296" r:id="rId55"/>
    <p:sldId id="297" r:id="rId56"/>
    <p:sldId id="298" r:id="rId57"/>
    <p:sldId id="299" r:id="rId58"/>
    <p:sldId id="300" r:id="rId59"/>
    <p:sldId id="301" r:id="rId60"/>
    <p:sldId id="302" r:id="rId61"/>
    <p:sldId id="303" r:id="rId62"/>
    <p:sldId id="304" r:id="rId63"/>
    <p:sldId id="305" r:id="rId64"/>
    <p:sldId id="306" r:id="rId65"/>
    <p:sldId id="307" r:id="rId66"/>
    <p:sldId id="308" r:id="rId67"/>
    <p:sldId id="409" r:id="rId68"/>
    <p:sldId id="410" r:id="rId69"/>
    <p:sldId id="411" r:id="rId70"/>
    <p:sldId id="412" r:id="rId71"/>
    <p:sldId id="309" r:id="rId72"/>
    <p:sldId id="310" r:id="rId73"/>
    <p:sldId id="311" r:id="rId74"/>
    <p:sldId id="312" r:id="rId75"/>
    <p:sldId id="313" r:id="rId76"/>
    <p:sldId id="314" r:id="rId77"/>
    <p:sldId id="315" r:id="rId78"/>
    <p:sldId id="316" r:id="rId79"/>
    <p:sldId id="317" r:id="rId80"/>
    <p:sldId id="318" r:id="rId81"/>
    <p:sldId id="319" r:id="rId82"/>
    <p:sldId id="320" r:id="rId83"/>
    <p:sldId id="321" r:id="rId84"/>
    <p:sldId id="322" r:id="rId85"/>
    <p:sldId id="323" r:id="rId86"/>
    <p:sldId id="324" r:id="rId87"/>
    <p:sldId id="325" r:id="rId88"/>
    <p:sldId id="326" r:id="rId89"/>
    <p:sldId id="327" r:id="rId90"/>
    <p:sldId id="328" r:id="rId91"/>
    <p:sldId id="329" r:id="rId92"/>
    <p:sldId id="330" r:id="rId93"/>
    <p:sldId id="331" r:id="rId94"/>
    <p:sldId id="332" r:id="rId95"/>
    <p:sldId id="333" r:id="rId96"/>
    <p:sldId id="334" r:id="rId97"/>
    <p:sldId id="406" r:id="rId98"/>
    <p:sldId id="407" r:id="rId99"/>
    <p:sldId id="408" r:id="rId100"/>
    <p:sldId id="335" r:id="rId101"/>
    <p:sldId id="336" r:id="rId102"/>
    <p:sldId id="337" r:id="rId103"/>
    <p:sldId id="338" r:id="rId104"/>
    <p:sldId id="339" r:id="rId105"/>
    <p:sldId id="340" r:id="rId106"/>
    <p:sldId id="341" r:id="rId107"/>
    <p:sldId id="342" r:id="rId108"/>
    <p:sldId id="343" r:id="rId109"/>
    <p:sldId id="344" r:id="rId110"/>
    <p:sldId id="345" r:id="rId111"/>
    <p:sldId id="346" r:id="rId112"/>
    <p:sldId id="347" r:id="rId113"/>
    <p:sldId id="348" r:id="rId114"/>
    <p:sldId id="349" r:id="rId115"/>
    <p:sldId id="350" r:id="rId116"/>
    <p:sldId id="351" r:id="rId117"/>
    <p:sldId id="352" r:id="rId118"/>
    <p:sldId id="353" r:id="rId119"/>
    <p:sldId id="354" r:id="rId120"/>
    <p:sldId id="355" r:id="rId121"/>
    <p:sldId id="356" r:id="rId122"/>
    <p:sldId id="357" r:id="rId123"/>
    <p:sldId id="358" r:id="rId124"/>
    <p:sldId id="359" r:id="rId125"/>
    <p:sldId id="360" r:id="rId126"/>
    <p:sldId id="403" r:id="rId127"/>
    <p:sldId id="404" r:id="rId128"/>
    <p:sldId id="405" r:id="rId129"/>
    <p:sldId id="361" r:id="rId130"/>
    <p:sldId id="362" r:id="rId131"/>
    <p:sldId id="363" r:id="rId132"/>
    <p:sldId id="364" r:id="rId133"/>
    <p:sldId id="365" r:id="rId134"/>
    <p:sldId id="366" r:id="rId135"/>
    <p:sldId id="367" r:id="rId136"/>
    <p:sldId id="368" r:id="rId137"/>
    <p:sldId id="369" r:id="rId138"/>
    <p:sldId id="370" r:id="rId139"/>
    <p:sldId id="371" r:id="rId140"/>
    <p:sldId id="372" r:id="rId141"/>
    <p:sldId id="373" r:id="rId142"/>
    <p:sldId id="374" r:id="rId143"/>
    <p:sldId id="375" r:id="rId144"/>
    <p:sldId id="376" r:id="rId145"/>
    <p:sldId id="377" r:id="rId146"/>
    <p:sldId id="378" r:id="rId147"/>
    <p:sldId id="379" r:id="rId148"/>
    <p:sldId id="380" r:id="rId149"/>
    <p:sldId id="381" r:id="rId150"/>
    <p:sldId id="382" r:id="rId151"/>
    <p:sldId id="383" r:id="rId152"/>
    <p:sldId id="426" r:id="rId153"/>
    <p:sldId id="427" r:id="rId154"/>
    <p:sldId id="428" r:id="rId155"/>
    <p:sldId id="429" r:id="rId156"/>
    <p:sldId id="430" r:id="rId157"/>
    <p:sldId id="431" r:id="rId158"/>
    <p:sldId id="384" r:id="rId159"/>
    <p:sldId id="385" r:id="rId160"/>
    <p:sldId id="386" r:id="rId161"/>
    <p:sldId id="387" r:id="rId162"/>
    <p:sldId id="388" r:id="rId163"/>
    <p:sldId id="399" r:id="rId164"/>
    <p:sldId id="400" r:id="rId165"/>
    <p:sldId id="401" r:id="rId166"/>
    <p:sldId id="402" r:id="rId167"/>
    <p:sldId id="432" r:id="rId168"/>
    <p:sldId id="433" r:id="rId169"/>
    <p:sldId id="389" r:id="rId170"/>
    <p:sldId id="390" r:id="rId171"/>
    <p:sldId id="391" r:id="rId172"/>
    <p:sldId id="392" r:id="rId173"/>
    <p:sldId id="393" r:id="rId174"/>
    <p:sldId id="394" r:id="rId175"/>
    <p:sldId id="395" r:id="rId176"/>
    <p:sldId id="396" r:id="rId177"/>
    <p:sldId id="397" r:id="rId178"/>
    <p:sldId id="398" r:id="rId179"/>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enhum Estilo, Grade de Tabe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5AB1C69-6EDB-4FF4-983F-18BD219EF322}" styleName="Estilo Médio 2 - Ênfase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Estilo Mé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1"/>
          <a:sy n="1" d="1"/>
        </p:scale>
        <p:origin x="0" y="0"/>
      </p:cViewPr>
      <p:guideLst/>
    </p:cSldViewPr>
  </p:slide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presProps" Target="presProp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viewProps" Target="viewProps.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notesMaster" Target="notesMasters/notesMaster1.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Abertura do curso. O bloco inicial da primeira noite está incluído nos 85 minutos de teoria.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Teoria
18h31–18h32 (1 minutos).
Apresentação breve. Não atribuir certificações ou tempo de experiência de outro instrutor.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Teoria
18h32–18h33 (1 minutos).
Explicar que o pacote da turma usa portas adaptadas. GitHub ou Google Drive serão definidos pelo professor para distribuição.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Teoria
18h33–18h34 (1 minutos).
Confirmar o intervalo de 25 minutos, das 20h20 às 20h45. Cada noite contém 85 minutos de teoria, 25 de demonstração, 15 de comentários, 75 de prática e 15 de correção.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Teoria
18h34–18h35 (1 minutos).
Orientar a turma a manter os resultados entre as noites. Docker é o caminho executável deste pacote. Ubuntu nativo tem roteiro na apostila e scripts futuros, após teste do professor no Azure.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Teoria
18h35–18h40 (5 minutos)
ABERTURA SUGERIDA
“Hoje vamos preparar nosso ambiente e conhecer a aplicação que nos acompanhará nas cinco noites. O objetivo é entender de onde vêm os dados antes de configurar gráficos.”
CONEXÃO COM O CURSO ONLINE
Localize Introduction, Prerequisites, Set up the sample application, Grafana News e Open Grafana no tutorial Fundamentals. Diga que a turma usará o mesmo exemplo, com endereços adaptados no pacote da aula.
PREPARAÇÃO DO PROFESSOR
Antes da aula, confirme Docker e Compose e faça o download inicial. Abra a aplicação em localhost:38081 e o Grafana em localhost:3300. Deixe o caderno disponível. Confira o áudio e a internet se optar por mostrar o vídeo de observabilidade. O ambiente didático permite acesso anônimo.
CONDUÇÃO
Explique aplicação, Grafana, Prometheus e Loki em linguagem simples. Demonstre uma publicação e um voto. Peça aos alunos que repitam e identifiquem a fonte Prometheus. Reserve a revisão para conferir quem ainda precisa de ajuda no ambiente.
PERGUNTAS PARA A TURMA
“Qual serviço apresenta os dados?” “Qual é a aplicação observada?” “O endereço do navegador é igual ao endereço entre containers?”
CRITÉRIO DE SAÍDA
Cada aluno abre aplicação e Grafana e identifica a conexão Prometheus. Não avance deixando falhas de acesso sem encaminhamento.
GANCHO PARA A PRÓXIMA NOITE
“Agora que sabemos de onde vêm os dados, vamos consultar quantas requisições a aplicação recebe.”
FORMATO DA NOITE
Teoria até 19h55. Depois, 25 minutos de demonstração sem prática individual. Intervalo 20h20–20h45. Exercícios comentados 20h45–21h00. Folha liberada para execução 21h00. Prática até 22h15, correção até 22h30.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18h40–18h43 (3 minutos)
EXPLICAÇÃO DO PROFESSOR
Explique que ter muitos gráficos não garante observabilidade. É preciso conseguir relacionar sinais a uma pergunta real. Um serviço pode estar disponível e ainda falhar em uma operação importante. O curso começa pela interpretação, antes de ensinar os cliques.
PERGUNTA À TURMA
Um HTTP 200 garante que a experiência do usuário foi boa?
RESPOSTA ESPERADA
Não. Também precisamos observar duração, conteúdo e resultado da operação.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18h43–18h46 (3 minutos)
EXPLICAÇÃO DO PROFESSOR
São capacidades complementares. Ferramentas de monitoramento também podem coletar sinais ricos. Evite definir produtos como Zabbix ou Nagios somente por ping e up/down. O contraste aqui é entre perguntas e usos, não entre produtos antigos e novos.
PERGUNTA À TURMA
Um alerta explica sozinho a causa de uma falha?
RESPOSTA ESPERADA
Não. Ele indica uma condição que precisa ser investigada.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6747881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18h46–18h49 (3 minutos)
EXPLICAÇÃO DO PROFESSOR
Dê exemplos de unidade e período. 12 requisições por segundo é uma taxa, não o total acumulado. A mesma métrica pode ter séries diferentes para cada rota, instância ou código HTTP. Métricas resumem; não preservam cada detalhe de uma requisição.
PERGUNTA À TURMA
O número 42 é suficiente para interpretar um painel?
RESPOSTA ESPERADA
Não. Precisamos da unidade, do período e do que foi medido.
REFERÊNCIA
https://prometheus.io/docs/introduction/overview/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3406568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18h49–18h52 (3 minutos)
EXPLICAÇÃO DO PROFESSOR
Use um erro simulado de pagamento como exemplo. Um log é evidência do que a aplicação registrou; sua mensagem pode ser incompleta. Logs estruturados em JSON facilitam extração de campos, mas exigem cuidado com volume e dados sensíveis. Não apresentar log como prova automática da causa.
PERGUNTA À TURMA
Qual a vantagem de registrar o nome do serviço e o horário?
RESPOSTA ESPERADA
Permite localizar e relacionar o evento no intervalo da investigação.
REFERÊNCIA
https://grafana.com/docs/loki/latest/get-started/overview/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4996822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18h52–18h55 (3 minutos)
EXPLICAÇÃO DO PROFESSOR
Descreva checkout, autenticação, consulta de banco e gateway de pagamento. Spans pai e filhos mostram relações e sobreposição no tempo. Não somar durações de etapas paralelas como se fossem sempre sequenciais. A aplicação precisa ser instrumentada para produzir esses dados.
PERGUNTA À TURMA
Uma etapa de pagamento pode fazer parte do mesmo trace do checkout?
RESPOSTA ESPERADA
Sim. Ela pode ser um span associado à mesma requisição.
REFERÊNCIA
https://grafana.com/docs/tempo/latest/traceql/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731521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18h55–18h58 (3 minutos)
EXPLICAÇÃO DO PROFESSOR
Exemplo: a latência sobe, surge um log de timeout e um trace mostra demora no gateway. Essa combinação sustenta uma hipótese mais específica. Proximidade no tempo não basta para provar causalidade. Explicar as três fontes de sinal sem usar MELT como se fosse uma lista de apenas três itens.
PERGUNTA À TURMA
Um pico no gráfico e um log próximo garantem relação causal?
RESPOSTA ESPERADA
Não. A correlação precisa ser verificada no contexto e, quando possível, pelo trace_id.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2993486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Teoria
18h58–19h01 (3 minutos).
Referência do canal Grafana: What is Observability? | Grafana for Beginners Ep. 1. Reserve o tempo da aula para um trecho selecionado e a discussão, não para exibição integral se ultrapassar o bloco. A referência completa fica para estudo posterior.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19h01–19h04 (3 minutos)
EXPLICAÇÃO DO PROFESSOR
O Grafana é a interface principal do curso. Prometheus, Loki e Tempo guardam a telemetria deste laboratório. O Grafana guarda configurações, dashboards e outras informações operacionais, mas não substitui esses backends de métricas, logs e traces. Não dizer que traduz automaticamente qualquer linguagem: nós escrevemos as consultas ou usamos o builder.
PERGUNTA À TURMA
Quem armazena as métricas do laboratório: Grafana ou Prometheus?
RESPOSTA ESPERADA
Prometheus; o Grafana consulta e apresenta os resultados.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4855403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19h04–19h07 (3 minutos)
EXPLICAÇÃO DO PROFESSOR
Um dashboard bonito pode conter uma consulta errada. O Grafana precisa de fontes acessíveis e de unidades corretas. Segurança, autenticação e recursos avançados variam por edição e configuração. Não atribuir SAML, cache de consultas ou permissões avançadas a toda instalação OSS.
PERGUNTA À TURMA
O Grafana corrige automaticamente uma métrica coletada com labels errados?
RESPOSTA ESPERADA
Não. A instrumentação, a coleta e a consulta precisam ser corrigidas.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3262760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19h07–19h10 (3 minutos)
EXPLICAÇÃO DO PROFESSOR
Apresente o fluxo pull: o Prometheus faz a requisição de scrape e recebe amostras de /metrics. Exporters traduzem informações do host ou de serviços para o formato de exposição. Grafana consulta o Prometheus pela API. A configuração local do professor usa scrape_interval de 5s, não um padrão universal.
PERGUNTA À TURMA
Quem inicia o scrape neste laboratório?
RESPOSTA ESPERADA
O Prometheus.
REFERÊNCIA
https://prometheus.io/docs/introduction/overview/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826655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19h10–19h13 (3 minutos)
EXPLICAÇÃO DO PROFESSOR
Cada combinação de labels cria uma série. IDs de usuário ou de requisição tendem a gerar muitas séries. Coleta periódica pode perder mudanças entre amostras; métricas de monitoramento não são a fonte ideal para faturamento exato. Escala e longa retenção podem exigir outra arquitetura. Não afirmar que pull é sempre superior a push.
PERGUNTA À TURMA
Trace_id é uma boa label para toda métrica?
RESPOSTA ESPERADA
Em geral não: pode criar cardinalidade muito alta.
REFERÊNCIA
https://prometheus.io/docs/introduction/overview/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7539542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19h13–19h16 (3 minutos)
EXPLICAÇÃO DO PROFESSOR
Foque counter e gauge para os iniciantes. Counter não deve diminuir fora de resets; rate trata resets de contadores. Histogram agrupa observações em buckets; summary pode calcular quantis no cliente. Aprofundar histograma apenas como contexto, pois o curso básico não depende de cálculo de p95.
PERGUNTA À TURMA
Memória disponível é counter ou gauge?
RESPOSTA ESPERADA
Gauge, porque pode aumentar ou diminuir.
REFERÊNCIA
https://prometheus.io/docs/concepts/metric_types/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5919816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19h16–19h19 (3 minutos)
EXPLICAÇÃO DO PROFESSOR
No modelo do Loki, o índice se apoia em labels e metadados, sem indexar cada palavra do corpo do log como um índice de texto completo tradicional. Os dados dos logs são compactados em chunks. É preciso um coletor ou uma aplicação enviando os eventos.
PERGUNTA À TURMA
O Loki lê sozinho todos os arquivos de cada servidor?
RESPOSTA ESPERADA
Não. Um agente ou cliente precisa coletar e enviar os logs.
REFERÊNCIA
https://grafana.com/docs/loki/latest/get-started/overview/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8123711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19h19–19h22 (3 minutos)
EXPLICAÇÃO DO PROFESSOR
Evite prometer economia percentual universal ou dizer que qualquer instalação dispensa recursos. A seleção do fluxo e do intervalo afeta a quantidade de dados lidos. Trace_id deve ficar como campo do evento ou metadado adequado, evitando um fluxo indexado por cada requisição.
PERGUNTA À TURMA
Por que reduzir o período antes de pesquisar uma mensagem?
RESPOSTA ESPERADA
Porque reduz o conjunto de dados examinado e melhora o foco da investigação.
REFERÊNCIA
https://grafana.com/docs/loki/latest/get-started/overview/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6247506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19h22–19h25 (3 minutos)
EXPLICAÇÃO DO PROFESSOR
A aplicação do professor usa OpenTelemetry e envia para tempo:4318/v1/traces, conforme o código local. Grafana consulta o Tempo pela porta de API 3200. Essas portas têm funções diferentes: ingestão de spans e consulta. O diagrama separa os caminhos de logs e traces.
PERGUNTA À TURMA
Promtail envia os spans da aplicação ao Tempo?
RESPOSTA ESPERADA
Não. Neste laboratório, a aplicação envia spans por OpenTelemetry/OTLP.
REFERÊNCIA
https://grafana.com/docs/tempo/latest/traceql/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0760188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19h25–19h28 (3 minutos)
EXPLICAÇÃO DO PROFESSOR
Uma captura de trace é tão completa quanto a instrumentação e a amostragem permitem. Nem toda requisição precisa estar retida. Atributo error=true não é necessariamente igual a status OpenTelemetry Error; isso foi observado na aplicação demo. Não tratar um trace como causalidade comprovada por si só.
PERGUNTA À TURMA
Ter Tempo instalado garante traces de qualquer aplicação?
RESPOSTA ESPERADA
Não. A aplicação ou um mecanismo de instrumentação precisa produzir e enviar spans.
REFERÊNCIA
https://grafana.com/docs/tempo/latest/traceql/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686998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19h28–19h31 (3 minutos)
EXPLICAÇÃO DO PROFESSOR
Mostre a consulta do tutorial: sum(rate(tns_request_duration_seconds_count[5m])) by (route). Ler de dentro para fora. A janela 5m fornece as amostras para a taxa; o filtro de tempo da tela controla o período exibido. A prática detalhada ficará na Noite 2.
PERGUNTA À TURMA
A janela [5m] e Last 1 hour são a mesma configuração?
RESPOSTA ESPERADA
Não. Uma é a janela da função e a outra é o período consultado/exibido.
REFERÊNCIA
https://prometheus.io/docs/introduction/overview/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5248654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19h31–19h34 (3 minutos)
EXPLICAÇÃO DO PROFESSOR
Use como exemplo do professor, sem afirmar que a label service existe no Grafana News. No tutorial, o seletor usa filename. |= encontra texto; | json extrai campos quando o conteúdo é JSON válido. O envelope Docker do professor exige primeiro expor o campo log antes de tratar os campos da aplicação.
PERGUNTA À TURMA
O filtro de texto substitui a seleção de um fluxo?
RESPOSTA ESPERADA
Não. Primeiro selecionamos os fluxos, depois filtramos seu conteúdo.
REFERÊNCIA
https://grafana.com/docs/loki/latest/query/</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5452113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19h34–19h37 (3 minutos)
EXPLICAÇÃO DO PROFESSOR
Diferencie procurar uma lista de traces com uma expressão TraceQL de abrir diretamente um trace por ID. A expressão mostra recursos de serviço. Um segundo exemplo para discussão é { duration &gt; 200ms }, sem garantir que o dado exista em todo período. A prática de rastreamento é complementar ao tutorial básico.
PERGUNTA À TURMA
O nome do serviço e o TraceID têm a mesma função?
RESPOSTA ESPERADA
Não. O serviço identifica a aplicação; TraceID identifica uma requisição/rastreamento.
REFERÊNCIA
https://grafana.com/docs/tempo/latest/traceql/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2927614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19h37–19h40 (3 minutos)
EXPLICAÇÃO DO PROFESSOR
Promtail não recebe os spans do OpenTelemetry deste laboratório e não envia dados ao Tempo. A configuração local aponta para /loki/api/v1/push. Explicar posições de leitura e coleta contínua sem aprofundar o arquivo de estado. Promtail atingiu EOL em 02/03/2026.
PERGUNTA À TURMA
Qual é o destino dos logs enviados pelo Promtail?
RESPOSTA ESPERADA
Loki.
REFERÊNCIA
https://grafana.com/docs/loki/latest/send-data/promtail/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9074409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19h40–19h43 (3 minutos)
EXPLICAÇÃO DO PROFESSOR
É uma explicação de ciclo de vida, não uma migração executada. Grafana Alloy é uma distribuição de coletor com capacidades para diferentes sinais. O curso não afirma que Alloy já esteja rodando na VM ou que simplesmente trocar a imagem preserve a configuração. Usar as instruções oficiais de conversão.
PERGUNTA À TURMA
O diagrama com Alloy descreve a VM já alterada?
RESPOSTA ESPERADA
Não. Ele mostra a evolução possível; a VM observada usa o fluxo legado.
REFERÊNCIA
https://grafana.com/docs/alloy/latest/set-up/migrate/from-promtail/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51072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19h43–19h46 (3 minutos)
ARQUITETURA EDITÁVEL
Portas internas do ambiente de referência. O Grafana inicia consultas aos backends. Prometheus inicia a coleta dos endpoints /metrics. Promtail envia logs ao Loki. A aplicação envia spans ao Tempo pela porta 4318; 3200 é a API de consulta. Loki e Tempo são componentes separados. A VM observada teve adaptações de coleta de containers descritas no histórico. O arquivo Compose local não comprova que todas as versões e flags foram mantidas na VM. O módulo de dados públicos citado no dossiê não foi verificado e não é apresentado como parte validada desta figura.
PERGUNTA
Qual sinal percorre cada caminho e quem inicia a comunicação?
Fontes: arquivos locais docker-compose.yml, prometheus.yml, tempo-config.yaml e app.py do professor; telas observadas nesta sessão.
https://grafana.com/tutorials/grafana-fundamentals/
https://prometheus.io/docs/introduction/overview/
https://prometheus.io/docs/concepts/metric_types/
https://grafana.com/docs/loki/latest/get-started/overview/
https://grafana.com/docs/loki/latest/query/
https://grafana.com/docs/tempo/latest/traceql/
https://grafana.com/docs/loki/latest/send-data/promtail/
https://grafana.com/docs/alloy/latest/set-up/migrate/from-promtail/
https://grafana.com/docs/grafana/latest/alerting/configure-notifications/manage-contact-points/integrations/configure-email/
https://grafana.com/docs/grafana/latest/setup-grafana/configure-grafana/#smtp
https://grafana.com/docs/grafana/latest/alerting/configure-notifications/manage-contact-points/integrations/webhook-notifier/
https://grafana.com/docs/grafana/v11.3/developers/http_api/alerting_provisioning/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641454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19h46–19h49 (3 minutos)
ARQUITETURA EDITÁVEL
A seta representa o pedido de coleta, não um push iniciado pelo exporter. A resposta retorna as amostras ao Prometheus. scrape_interval de 5s foi lido no arquivo prometheus.yml local do professor; não é recomendação universal nem prova do estado de cada target agora. O serviço containers foi descrito como exportador customizado na VM. Targets e sua saúde devem ser conferidos no Prometheus antes de cada aula. O grafana consulta o Prometheus, não os exporters diretamente neste fluxo.
PERGUNTA
Qual sinal percorre cada caminho e quem inicia a comunicação?
Fontes: arquivos locais docker-compose.yml, prometheus.yml, tempo-config.yaml e app.py do professor; telas observadas nesta sessão.
https://grafana.com/tutorials/grafana-fundamentals/
https://prometheus.io/docs/introduction/overview/
https://prometheus.io/docs/concepts/metric_types/
https://grafana.com/docs/loki/latest/get-started/overview/
https://grafana.com/docs/loki/latest/query/
https://grafana.com/docs/tempo/latest/traceql/
https://grafana.com/docs/loki/latest/send-data/promtail/
https://grafana.com/docs/alloy/latest/set-up/migrate/from-promtail/
https://grafana.com/docs/grafana/latest/alerting/configure-notifications/manage-contact-points/integrations/configure-email/
https://grafana.com/docs/grafana/latest/setup-grafana/configure-grafana/#smtp
https://grafana.com/docs/grafana/latest/alerting/configure-notifications/manage-contact-points/integrations/webhook-notifier/
https://grafana.com/docs/grafana/v11.3/developers/http_api/alerting_provisioning/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467183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19h49–19h51 (2 minutos)
ARQUITETURA EDITÁVEL
No código local da aplicação do professor, OTLPSpanExporter usa http://tempo:4318/v1/traces. OTLP gRPC 4317 é uma alternativa suportada/configurada, não o protocolo usado pelo trecho observado. Promtail envia para a API HTTP do Loki e não participa do envio de spans ao Tempo. Não confundir um log contendo trace_id com um span: são registros distintos correlacionados por contexto. Promtail EOL em 02/03/2026; apresentar Alloy como sucessor de coleta, sem alegar migração executada.
PERGUNTA
Qual sinal percorre cada caminho e quem inicia a comunicação?
Fontes: arquivos locais docker-compose.yml, prometheus.yml, tempo-config.yaml e app.py do professor; telas observadas nesta sessão.
https://grafana.com/tutorials/grafana-fundamentals/
https://prometheus.io/docs/introduction/overview/
https://prometheus.io/docs/concepts/metric_types/
https://grafana.com/docs/loki/latest/get-started/overview/
https://grafana.com/docs/loki/latest/query/
https://grafana.com/docs/tempo/latest/traceql/
https://grafana.com/docs/loki/latest/send-data/promtail/
https://grafana.com/docs/alloy/latest/set-up/migrate/from-promtail/
https://grafana.com/docs/grafana/latest/alerting/configure-notifications/manage-contact-points/integrations/configure-email/
https://grafana.com/docs/grafana/latest/setup-grafana/configure-grafana/#smtp
https://grafana.com/docs/grafana/latest/alerting/configure-notifications/manage-contact-points/integrations/webhook-notifier/
https://grafana.com/docs/grafana/v11.3/developers/http_api/alerting_provisioning/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406095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19h51–19h53 (2 minutos)
EXPLICAÇÃO DO PROFESSOR
Não apresentar as fontes e os geradores do professor como já incluídos no pacote do aluno. Esta separação evita que o aluno cole uma consulta node_cpu em uma fonte que só expõe tns_. As instalações Docker e nativa são rotas para o Grafana; subir somente Grafana não cria automaticamente Prometheus, Loki e Tempo.
PERGUNTA À TURMA
Por que uma consulta do host pode retornar No data no tutorial?
RESPOSTA ESPERADA
Porque a fonte local pode não conter essa métrica ou seus labels.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427151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19h53–19h55 (2 minutos)
EXPLICAÇÃO DO PROFESSOR
Os pré-requisitos da turma são Docker em execução, Compose e acesso aos arquivos. O professor primeiro demonstra; a turma executa após intervalo e comentário dos exercícios. A instalação nativa ainda não foi testada nesta etapa. Não prometer que o script já foi validado no Azure.
PERGUNTA À TURMA
Em que momento os alunos começam a executar a folha?
RESPOSTA ESPERADA
Às 21h00, depois dos exercícios comentados.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2050722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Demonstração
19h55–19h56 (1 minutos)
Apresente o fluxo completo no seu ambiente. A turma observa e registra dúvidas. Não solicitar execução simultânea. Mostre ação, resultado e interpretação. Termine às 20h20 para preservar 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Demonstração
19h56–20h00 (4 minutos).
DEMONSTRAÇÃO DO PROFESSOR
A turma observa; os alunos executarão depois do intervalo.
Comando completo, numa linha: docker compose -p green-fundamentals up -d --build. Executar na pasta lab/tutorial-environment. Mostrar que o primeiro download pode demorar. O aluno ainda não executa o exercício.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Demonstração
20h00–20h04 (4 minutos).
DEMONSTRAÇÃO DO PROFESSOR
A turma observa; os alunos executarão depois do intervalo.
Título sugerido: Documentação Grafana. URL: https://grafana.com/docs/. Resultado esperado: o link aparece na página e recebe votos.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Demonstração
20h04–20h08 (4 minutos).
DEMONSTRAÇÃO DO PROFESSOR
A turma observa; os alunos executarão depois do intervalo.
Mostre a tela inicial sem personalizar o produto. Explique que uma instalação com autenticação possui uma experiência de entrada diferente. O acesso anônimo é parte deste ambiente didático local.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Demonstração
20h08–20h11 (3 minutos).
DEMONSTRAÇÃO DO PROFESSOR
A turma observa; os alunos executarão depois do intervalo.
Abrir a fonte Prometheus, identificar http://prometheus:9090 e realizar Save &amp; test, quando disponível. Não cadastrar uma segunda fonte sem necessidade.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Demonstração
20h11–20h14 (3 minutos).
DEMONSTRAÇÃO DO PROFESSOR
A turma observa; os alunos executarão depois do intervalo.
Nesta entrega, mostrar os exemplos da apostila, sem executar scripts de instalação ainda não criados. Na edição aprovada após o teste Azure, este bloco passa a mostrar o procedimento validado. A instalação do Grafana não equivale a instalar toda a stack de fontes e aplicação.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20h14–20h17 (3 minutos)
DEMONSTRAÇÃO REAL DO PROFESSOR
1. Abra o dashboard 01 na pasta Laboratório Professor - Demonstração.
2. Leia cada unidade e o período selecionado.
3. Compare o valor atual com a curva histórica.
RESULTADO OBSERVADO
Quatro indicadores e duas curvas com dados.
ORIENTAÇÃO AO PROFESSOR
Este ambiente é complementar ao Grafana News do tutorial oficial. Os valores são uma fotografia da captura e variam durante a aula. O filtro de disco foi corrigido pela interface de /rootfs para /. Uma reprovisão pode substituir a alteração salva; sincronizar a consulta no arquivo de provisionamento antes de recriar o ambiente.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501338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20h17–20h20 (3 minutos)
DEMONSTRAÇÃO REAL DO PROFESSOR
1. Abra Connections &gt; Data sources.
2. Identifique o Prometheus padrão e o Loki com URL interna configurada.
3. Diferencie o endereço do navegador e a URL entre os serviços.
RESULTADO OBSERVADO
Fontes identificadas, com suas funções explicadas.
ORIENTAÇÃO AO PROFESSOR
Há também uma fonte chamada loki-1. Ela não foi usada nos testes; escolha Loki. A presença da fonte Alertmanager não comprova entrega de notificações. Não há credenciais nos slides.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48522853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Intervalo
20h20–20h45 (25 minutos).
Antes de sair, preserve o estado da demonstração. Anuncie o retorno às 20h45. Não iniciar a prática da turma durante o intervalo. Na volta, explicar a folha antes de liberá-la.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Exercícios comentados
20h45–20h46 (1 minutos)
Mostre cada tarefa, o caminho de execução ou navegação, o resultado esperado e os erros comuns. A folha do aluno fica separada do gabarito. Ao final deste bloco, às 21h00, entregue ou libere a folha da noite.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20h46–20h51 (5 minutos)
EXERCÍCIO COMENTADO 1.1
Baixe o pacote oficial da turma pelo GitHub ou Google Drive quando o professor disponibilizar o link.
Extraia ou clone a pasta completa e abra lab/tutorial-environment.
Confirme Docker ativo e inicie com o script de entrada ou Compose.
Abra a aplicação e o Grafana nos endereços locais do pacote.
COMENTÁRIO DO PROFESSOR
Comente onde o aluno abre o terminal e por que o download deve incluir os arquivos completos. GitHub e Drive são opções de distribuição: os links da turma ainda serão definidos. O clone direto do repositório upstream usa outras portas.
CRITÉRIO DE CORREÇÃO
Ambiente local iniciado e dois endereços acessíveis.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20h51–20h56 (5 minutos)
EXERCÍCIO COMENTADO 1.2
Na aplicação Grafana News, publique um link com título e URL válidos.
Vote no link e atualize a página.
Registre o horário e descreva as ações feitas.
COMENTÁRIO DO PROFESSOR
Mostre os campos Title e URL. Explique que a ação conhecida será usada para interpretar métricas, sem ainda pedir consultas.
CRITÉRIO DE CORREÇÃO
Link publicado, voto registrado e anotação do horário.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20h56–21h00 (4 minutos)
EXERCÍCIO COMENTADO 1.3
Localize Explore, Dashboards e Connections.
Abra a fonte Prometheus já existente.
Identifique a URL interna e teste a conexão quando disponível.
Escreva uma frase sobre o papel de cada recurso.
COMENTÁRIO DO PROFESSOR
Comente o caminho do menu, a diferença entre fonte e painel e a URL interna. Não crie fontes duplicadas como primeira tentativa de corrigir um erro.
CRITÉRIO DE CORREÇÃO
Fonte identificada e explicação dos recursos de navegação.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Prática do aluno
21h00–21h00 (0 minutos)
Agora libere alunos/Aluno_Noite_1.md. A turma trabalha no ambiente local até 22h15. Circule entre os alunos e ajude primeiro nas falhas que bloqueiam toda a prática. Os critérios e os comandos estão na folha.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Prática do aluno
21h00–22h15 (75 minutos).
PRÁTICA DO ALUNO — 75 MINUTOS
1.1: 25 minutos. Ambiente local iniciado e dois endereços acessíveis.
1.2: 25 minutos. Link publicado, voto registrado e anotação do horário.
1.3: 25 minutos. Fonte identificada e explicação dos recursos de navegação.
Não refazer toda a demonstração durante a prática. Ajude por evidências e use os comentários dos exercícios para orientar a correção. O roteiro Ubuntu é complementar e sua execução fica condicionada à liberação dos scripts após o teste Azure.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Correção
22h15–22h30 (15 minutos).
CORREÇÃO — 15 MINUTOS
1.1: Ambiente local iniciado e dois endereços acessíveis.
1.2: Link publicado, voto registrado e anotação do horário.
1.3: Fonte identificada e explicação dos recursos de navegação.
Peça uma resposta explicada, não apenas um print. Retome uma dificuldade comum e o gancho para a próxima noite. Na Noite 5, concluir com o projeto e continuidade.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Teoria
18h30–18h35 (5 minutos)
ABERTURA SUGERIDA
“Na primeira noite preparamos o ambiente. Hoje vamos transformar as ações na aplicação em consultas que conseguimos interpretar.”
RETOMADA E PREPARAÇÃO
Confirme aplicação e Grafana acessíveis. Gere tráfego e confira a fonte Prometheus no Explore. Deixe prontas as consultas do contador, rate e sum por route. Abra a seção Explore your metrics do tutorial.
CONDUÇÃO
Mostre primeiro a métrica bruta. Pergunte o que significa um contador crescente. Depois introduza rate e a unidade por segundo. Só então agregue por rota e por status_code. Mude o período exibido e explique sua diferença para a janela [5m] da consulta.
PERGUNTAS PARA A TURMA
“Esse número é um total ou uma taxa?” “Qual label identifica a linha?” “O que muda quando trocamos route por status_code?”
PONTO DE ATENÇÃO
Se aparecer No data, confira a fonte, o período e o alvo app:80. Uma taxa precisa de amostras. Evite resolver ausência de dados trocando a consulta por um zero.
CRITÉRIO DE SAÍDA
Cada aluno executa duas consultas e explica agrupamento e unidade com suas próprias palavras.
GANCHO
“A métrica mostra uma mudança. Na próxima noite vamos procurar os eventos que ajudam a entendê-la.”
FORMATO DA NOITE
Teoria até 19h55. Depois, 25 minutos de demonstração sem prática individual. Intervalo 20h20–20h45. Exercícios comentados 20h45–21h00. Folha liberada para execução 21h00. Prática até 22h15, correção até 22h30.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18h35–18h42 (7 minutos).
Peça exemplos de perguntas: quantas requisições por segundo? Qual rota? Qual código? Diferencie o nome da métrica de seus labels.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18h42–18h49 (7 minutos).
EXPLICAÇÃO DO PROFESSOR
Decomponha tns_request_duration_seconds_count: a família trata duração, mas a série _count conta as observações. Não conclua que o resultado dessa série é uma latência.
PERGUNTA DE VERIFICAÇÃO
A série _count mostra diretamente quantos segundos uma requisição levou?
RESPOSTA ESPERADA
Não. Ela mostra a contagem de observações.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18h49–18h55 (6 minutos).
EXPLICAÇÃO DO PROFESSOR
Use um total acumulado e uma temperatura como exemplos distintos. Peça aos alunos que escolham o tipo adequado para uma fila que cresce e diminui. Referência: https://prometheus.io/docs/concepts/metric_types/
PERGUNTA DE VERIFICAÇÃO
O tamanho atual de uma fila combina com qual tipo?
RESPOSTA ESPERADA
Gauge, porque o valor pode subir e descer.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18h55–19h01 (6 minutos).
Evite interpretar o valor acumulado como tráfego por segundo. Peça ao aluno comparar o resultado bruto com a consulta seguinte.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19h01–19h07 (6 minutos).
EXPLICAÇÃO DO PROFESSOR
Os números são um exemplo didático de média, não uma reprodução exata do algoritmo de rate. Explique que rate também lida com resets de contador e calcula sobre amostras. A unidade muda de total para ocorrências por segundo.
PERGUNTA DE VERIFICAÇÃO
Se o total cresceu, sabemos a taxa sem conhecer o tempo transcorrido?
RESPOSTA ESPERADA
Não. Precisamos relacionar a mudança ao intervalo.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19h07–19h13 (6 minutos).
No terminal/editor, usar rate(tns_request_duration_seconds_count[5m]). Não confundir janela da função com período exibido na tela.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19h13–19h19 (6 minutos).
EXPLICAÇÃO DO PROFESSOR
Use labels que aparecem na stack. Um gráfico pode ter várias linhas porque há várias combinações, mesmo com o mesmo nome de métrica. Referência: https://prometheus.io/docs/prometheus/latest/querying/basics/
PERGUNTA DE VERIFICAÇÃO
Por que a consulta de uma métrica pode produzir mais de uma linha?
RESPOSTA ESPERADA
Porque existem séries com combinações diferentes de labels.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19h19–19h25 (6 minutos).
Demonstrar a diferença entre somar tudo e agrupar. O aluno deve apontar o label route no resultado.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19h25–19h31 (6 minutos).
Não assumir que todo status já existe nos dados. A próxima noite gera um erro de propósito.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19h31–19h37 (6 minutos).
EXPLICAÇÃO DO PROFESSOR
Diferencie escolher somente um código de resposta e somar o tráfego por rota. Mostre sintaxe de seletor apenas como leitura, antes da demonstração no Explore.
PERGUNTA DE VERIFICAÇÃO
Somar por rota e filtrar uma rota são a mesma operação?
RESPOSTA ESPERADA
Não. Uma combina séries por grupo e a outra restringe a seleção.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19h37–19h43 (6 minutos).
Compare Last 5 minutes e Last 15 minutes. Explique por que mudar a atualização da tela não cria amostras que não foram coletadas.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19h43–19h49 (6 minutos).
Guia de recuperação: consultar métrica bruta, verificar Prometheus e os targets antes de alterar a expressão. Não substituir No data por zero sem investigar.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19h49–19h55 (6 minutos).
EXPLICAÇÃO DO PROFESSOR
Peça à turma uma frase completa: a rota X recebeu aproximadamente Y requisições por segundo no período mostrado. Discuta por que duas telas com períodos diferentes não são comparações equivalentes.
PERGUNTA DE VERIFICAÇÃO
O número 0,2 sozinho é suficiente para interpretar um gráfico?
RESPOSTA ESPERADA
Não. Precisamos de unidade, contexto e período.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Demonstração
19h55–19h56 (1 minutos)
Apresente o fluxo completo no seu ambiente. A turma observa e registra dúvidas. Não solicitar execução simultânea. Mostre ação, resultado e interpretação. Termine às 20h20 para preservar 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Demonstração
19h56–20h00 (4 minutos).
DEMONSTRAÇÃO DO PROFESSOR
A turma observa; os alunos executarão depois do intervalo.
Usar Shift + Enter ou Run query. Se aparecer No data, conferir fonte e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Demonstração
20h00–20h04 (4 minutos).
DEMONSTRAÇÃO DO PROFESSOR
A turma observa; os alunos executarão depois do intervalo.
No terminal/editor, usar rate(tns_request_duration_seconds_count[5m]). Não confundir janela da função com período exibido na tela.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Demonstração
20h04–20h08 (4 minutos).
DEMONSTRAÇÃO DO PROFESSOR
A turma observa; os alunos executarão depois do intervalo.
Demonstrar a diferença entre somar tudo e agrupar. O aluno deve apontar o label route no resultado.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20h08–20h11 (3 minutos)
DEMONSTRAÇÃO REAL DO PROFESSOR
1. No Explore, selecione Prometheus e Code.
2. Cole a consulta, execute e observe a série vm-azure-professor.
3. Explique por que subtraímos a fração idle e multiplicamos por 100.
CONSULTA
100 * (1 - avg by (instance) (rate(node_cpu_seconds_total{mode="idle"}[5m])))
RESULTADO OBSERVADO
Uma série de uso de CPU por instância.
ORIENTAÇÃO AO PROFESSOR
Consulta executada com resultado visível. A média por instância mantém o percentual entre 0 e 100 para o uso médio dos núcleos. O laboratório do aluno usa métricas tns_; esta consulta exige node-exporter do ambiente do professor.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9714766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20h11–20h14 (3 minutos)
DEMONSTRAÇÃO REAL DO PROFESSOR
1. Abra o dashboard 02.
2. Selecione vm-azure-professor na variável host e remova All.
3. Compare os títulos e a curva de CPU.
RESULTADO OBSERVADO
Filtro aplicado a uma instância específica.
ORIENTAÇÃO AO PROFESSOR
Demonstração de navegação, não de criação de variáveis. Use os painéis de CPU para explicar o filtro. O painel intitulado Top 5 processos por memória mostra uma série agregada de node-exporter; não o apresente como inventário validado de processos.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73029063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20h14–20h17 (3 minutos)
DEMONSTRAÇÃO REAL DO PROFESSOR
1. Abra o dashboard 03.
2. Identifique containers na legenda de CPU e de memória.
3. Explique a diferença entre taxa de CPU e quantidade de bytes de memória.
RESULTADO OBSERVADO
Séries de CPU e memória visíveis com nomes de containers.
ORIENTAÇÃO AO PROFESSOR
O dashboard mantém o nome cAdvisor, mas o histórico fornecido descreve um exportador customizado baseado em Docker stats. A captura comprova dados no painel, não certifica a implementação do coletor. topk em consulta de intervalo pode mostrar mais de cinco nomes no período, pois os integrantes mudam ao longo do tempo.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14032336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20h17–20h20 (3 minutos)
DEMONSTRAÇÃO REAL DO PROFESSOR
1. Abra o dashboard 05.
2. Compare vazão em req/s e latência por endpoint.
3. Identifique os endpoints de checkout e pagamento.
RESULTADO OBSERVADO
Vazão e latência com dados por endpoint.
ORIENTAÇÃO AO PROFESSOR
Aplicação de simulação do professor, diferente do Grafana News. A legenda 95th % no painel de latência é um cálculo sobre os valores apresentados; não afirmar que comprova p95 da distribuição de requisições sem verificar a consulta. O roteiro usa somente a leitura básica de vazão e latência.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77046541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Intervalo
20h20–20h45 (25 minutos).
Antes de sair, preserve o estado da demonstração. Anuncie o retorno às 20h45. Não iniciar a prática da turma durante o intervalo. Na volta, explicar a folha antes de liberá-la.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Exercícios comentados
20h45–20h46 (1 minutos)
Mostre cada tarefa, o caminho de execução ou navegação, o resultado esperado e os erros comuns. A folha do aluno fica separada do gabarito. Ao final deste bloco, às 21h00, entregue ou libere a folha da noite.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20h46–20h51 (5 minutos)
EXERCÍCIO COMENTADO 2.1
Abra Explore e selecione Prometheus.
Execute a métrica bruta.
Identifique dois labels disponíveis e registre o significado do valor.
CONSULTA COMPLETA
tns_request_duration_seconds_count
COMENTÁRIO DO PROFESSOR
Comente o nome da métrica, a seleção da fonte e a leitura dos labels. Explique o erro de interpretar a contagem como duração.
CRITÉRIO DE CORREÇÃO
Consulta executada e interpretação da contagem.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20h51–20h56 (5 minutos)
EXERCÍCIO COMENTADO 2.2
Execute a consulta de taxa por rota.
Gere atividade na aplicação e aguarde a coleta.
Escolha Last 5 minutes e compare as séries.
Registre a unidade e a rota identificada.
CONSULTA COMPLETA
sum(rate(tns_request_duration_seconds_count[5m])) by (route)
COMENTÁRIO DO PROFESSOR
Mostre rate primeiro e depois sum by. Explique que a atualização da tela não cria amostras novas no Prometheus.
CRITÉRIO DE CORREÇÃO
Taxa interpretada com unidade e agrupamento.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20h56–21h00 (4 minutos)
EXERCÍCIO COMENTADO 2.3
Troque o agrupamento por status_code.
Compare o resultado com o agrupamento por rota.
Mude o período mostrado e descreva o efeito.
Entregue uma frase explicando cada consulta.
CONSULTA COMPLETA
sum(rate(tns_request_duration_seconds_count[5m])) by (status_code)
COMENTÁRIO DO PROFESSOR
Comente que a pergunta muda ao trocar o agrupamento. Se não houver série de erro, não invente um código inexistente no resultado.
CRITÉRIO DE CORREÇÃO
Duas consultas comparadas e uma conclusão sustentada.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Prática do aluno
21h00–21h00 (0 minutos)
Agora libere alunos/Aluno_Noite_2.md. A turma trabalha no ambiente local até 22h15. Circule entre os alunos e ajude primeiro nas falhas que bloqueiam toda a prática. Os critérios e os comandos estão na folha.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Prática do aluno
21h00–22h15 (75 minutos).
PRÁTICA DO ALUNO — 75 MINUTOS
2.1: 25 minutos. Consulta executada e interpretação da contagem.
2.2: 25 minutos. Taxa interpretada com unidade e agrupamento.
2.3: 25 minutos. Duas consultas comparadas e uma conclusão sustentada.
Não refazer toda a demonstração durante a prática. Ajude por evidências e use os comentários dos exercícios para orientar a correção. O roteiro Ubuntu é complementar e sua execução fica condicionada à liberação dos scripts após o teste Azure.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Correção
22h15–22h30 (15 minutos).
CORREÇÃO — 15 MINUTOS
2.1: Consulta executada e interpretação da contagem.
2.2: Taxa interpretada com unidade e agrupamento.
2.3: Duas consultas comparadas e uma conclusão sustentada.
Peça uma resposta explicada, não apenas um print. Retome uma dificuldade comum e o gancho para a próxima noite. Na Noite 5, concluir com o projeto e continuidade.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Teoria
18h30–18h35 (5 minutos)
ABERTURA SUGERIDA
“Já conseguimos observar o tráfego. Hoje vamos provocar um erro conhecido e encontrar o registro desse evento nos logs.”
RETOMADA E PREPARAÇÃO
Abra Add a logging data source e Explore your logs no tutorial. Confira o Loki em execução. Separe as consultas do arquivo /var/log/tns-app.log e do filtro por error. Lembre que a URL do datasource é http://loki:3100, dentro da rede Docker.
CONDUÇÃO
Demonstre a conexão Loki e o teste. Leia uma linha de log com a turma. Preencha apenas o título na aplicação, envie a URL vazia e registre o horário. Volte ao Explore e localize o evento empty url. Peça que os alunos repitam e expliquem a relação entre a ação e a evidência.
PERGUNTAS PARA A TURMA
“O que está dentro das chaves?” “O que o operador |= filtra?” “Qual linha corresponde à ação que acabamos de executar?”
PONTO DE ATENÇÃO
O erro pode sair do intervalo selecionado. Ajuste o período antes de concluir que não há logs. Para inspecionar uma linha com calma, pare o acompanhamento Live.
CRITÉRIO DE SAÍDA
Cada aluno conecta Loki e registra consulta, horário e mensagem do erro.
GANCHO
“Na próxima noite vamos colocar a métrica e o evento no mesmo contexto visual.”
FORMATO DA NOITE
Teoria até 19h55. Depois, 25 minutos de demonstração sem prática individual. Intervalo 20h20–20h45. Exercícios comentados 20h45–21h00. Folha liberada para execução 21h00. Prática até 22h15, correção até 22h30.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18h35–18h42 (7 minutos).
Retomada: mostrar um aumento de tráfego. Perguntar que informação falta para entender uma falha. Evitar prometer que logs explicam todo incidente.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18h42–18h49 (7 minutos).
EXPLICAÇÃO DO PROFESSOR
Use a linha level=error msg="empty url" como exemplo do laboratório. Distinguir o horário do evento do momento em que o aluno abriu a tela. Não inferir que todo formato de log tem os mesmos campos.
PERGUNTA DE VERIFICAÇÃO
Por que o horário é importante para investigar?
RESPOSTA ESPERADA
Porque permite delimitar a busca e comparar o evento com a ação observada.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18h49–18h56 (7 minutos).
EXPLICAÇÃO DO PROFESSOR
Leia um seletor filename e um filtro por error. Não tratar cada palavra dentro da mensagem como label. Referência: https://grafana.com/docs/loki/latest/query/log_queries/
PERGUNTA DE VERIFICAÇÃO
O texto empty url precisa ser um label para ser pesquisado?
RESPOSTA ESPERADA
Não. Podemos filtrar o conteúdo da linha.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18h56–19h03 (7 minutos).
EXPLICAÇÃO DO PROFESSOR
No editor, o seletor completo pode ser escrito em uma linha. Explique o label, o operador de igualdade e o valor entre aspas. O caminho é próprio desta aplicação, não universal.
PERGUNTA DE VERIFICAÇÃO
O mesmo filename necessariamente existe em qualquer instalação de Loki?
RESPOSTA ESPERADA
Não. Depende dos labels enviados naquele ambiente.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19h03–19h10 (7 minutos).
EXPLICAÇÃO DO PROFESSOR
Mostre como a consulta é lida da esquerda para a direita. Primeiro escolhemos o fluxo, depois filtramos o conteúdo. O texto é sensível ao conteúdo real do log.
PERGUNTA DE VERIFICAÇÃO
O filtro por error retorna qualquer log de qualquer aplicação?
RESPOSTA ESPERADA
Não. Ele se aplica aos fluxos selecionados à esquerda.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19h10–19h17 (7 minutos).
Nem todo campo exibido é um label indexado. Inspecione o que a interface realmente apresenta.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19h17–19h24 (7 minutos).
EXPLICAÇÃO DO PROFESSOR
Use o envio de uma URL vazia. O fato de existir uma linha de erro não mostra sozinho quem executou a ação se várias pessoas compartilham o mesmo aplicativo. Registrar horário ajuda a restringir o contexto.
PERGUNTA DE VERIFICAÇÃO
Um log antigo de erro comprova a falha que acabamos de provocar?
RESPOSTA ESPERADA
Não. É preciso relacionar horário e ação.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19h24–19h31 (7 minutos).
Se a aula demorar, os logs do começo podem sair da janela de cinco minutos. Ajuste o seletor antes de declarar ausência de logs.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19h31–19h37 (6 minutos).
Demonstre Live se disponível. Para expandir detalhes, sair do acompanhamento conforme o tutorial.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19h37–19h43 (6 minutos).
EXPLICAÇÃO DO PROFESSOR
Mostre a diferença entre o gráfico de volume no Explore e a lista de linhas. A altura da barra não informa por si só a mensagem ou a causa.
PERGUNTA DE VERIFICAÇÃO
Uma barra alta no volume de logs informa qual é o erro?
RESPOSTA ESPERADA
Não. É preciso ler os eventos correspondentes.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19h43–19h49 (6 minutos).
EXPLICAÇÃO DO PROFESSOR
Peça uma frase descritiva e outra explicativa para o mesmo evento. Discuta como ações conhecidas ajudam a confirmar uma hipótese simples, e por que sistemas reais podem exigir mais dados.
PERGUNTA DE VERIFICAÇÃO
“O banco travou” é uma evidência apenas porque apareceu error?
RESPOSTA ESPERADA
Não. É uma hipótese sem sustentação suficiente nesse registro.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19h49–19h55 (6 minutos).
EXPLICAÇÃO DO PROFESSOR
Recapitule o raciocínio da noite antes de abrir a demonstração. Essa sequência evita buscar em fontes erradas e interpretar eventos fora do contexto.
PERGUNTA DE VERIFICAÇÃO
O que você guardará para outra pessoa reproduzir a busca?
RESPOSTA ESPERADA
Fonte, consulta, intervalo e descrição da ação ou problema.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Demonstração
19h55–19h56 (1 minutos)
Apresente o fluxo completo no seu ambiente. A turma observa e registra dúvidas. Não solicitar execução simultânea. Mostre ação, resultado e interpretação. Termine às 20h20 para preservar 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Demonstração
19h56–20h00 (4 minutos).
DEMONSTRAÇÃO DO PROFESSOR
A turma observa; os alunos executarão depois do intervalo.
A URL interna é igual à do tutorial oficial, apesar das portas locais adaptadas.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Demonstração
20h00–20h04 (4 minutos).
DEMONSTRAÇÃO DO PROFESSOR
A turma observa; os alunos executarão depois do intervalo.
Explique as chaves, o label filename e seu valor. Confira que os alunos estão consultando Loki, não Prometheus.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Demonstração
20h04–20h08 (4 minutos).
DEMONSTRAÇÃO DO PROFESSOR
A turma observa; os alunos executarão depois do intervalo.
Usar dados fictícios. Resultado esperado no ambiente: erro empty url.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Demonstração
20h08–20h11 (3 minutos).
DEMONSTRAÇÃO DO PROFESSOR
A turma observa; os alunos executarão depois do intervalo.
No editor, pode ser uma única linha. Diferencie o seletor por label do filtro textual.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20h11–20h14 (3 minutos)
DEMONSTRAÇÃO REAL DO PROFESSOR
1. No Explore, selecione Loki e Code.
2. Execute a consulta no último período com dados.
3. Escolha uma linha ERROR e registre horário, endpoint e trace_id.
CONSULTA
{service="ecommerce-shop"} |= "ERROR"
RESULTADO OBSERVADO
Eventos de erro 500 da aplicação encontrados.
ORIENTAÇÃO AO PROFESSOR
Consulta retornou linhas durante a validação. São falhas simuladas da aplicação. A atividade do aluno no tutorial usa filename e empty url; não substituir essa consulta pela do professor no laboratório Grafana News.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203770005"/>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20h14–20h17 (3 minutos)
DEMONSTRAÇÃO REAL DO PROFESSOR
1. Execute a consulta formatada.
2. Expanda o evento e encontre Data Links &gt; TraceID.
3. Clique no link Tempo para investigar a mesma requisição.
CONSULTA
{service="ecommerce-shop"} |= "ERROR" | json | line_format "{{.log}}"
RESULTADO OBSERVADO
Link Tempo disponível para o trace_id da linha.
ORIENTAÇÃO AO PROFESSOR
O primeiro json interpreta o envelope Docker; line_format exibe o campo log. Não confundir labels indexados com campos extraídos. Esta foi a sequência que tornou o link visível nesta sessão. O identificador muda a cada requisição; use um evento recente na aula.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742682717"/>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20h17–20h20 (3 minutos)
DEMONSTRAÇÃO REAL DO PROFESSOR
1. Siga o link Tempo da linha expandida no Loki.
2. Observe a duração total e os quatro spans.
3. Expanda gateway.payment.process e leia os atributos.
RESULTADO OBSERVADO
Trace correlacionado aberto com os spans da requisição.
ORIENTAÇÃO AO PROFESSOR
Demonstração complementar, opcional no curso básico. Validado com trace 2d2f7fa5b0c252b29b1a4fad90b2b1c4: total 260,08 ms, gateway 160,77 ms e atributo error=true com mensagem de timeout. O status OpenTelemetry do span aparecia unset; não afirmar que todos os erros estavam corretamente marcados pelo status do span. Gerar dados recentes, pois a retenção é limitada.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704231615"/>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Intervalo
20h20–20h45 (25 minutos).
Antes de sair, preserve o estado da demonstração. Anuncie o retorno às 20h45. Não iniciar a prática da turma durante o intervalo. Na volta, explicar a folha antes de liberá-la.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Exercícios comentados
20h45–20h46 (1 minutos)
Mostre cada tarefa, o caminho de execução ou navegação, o resultado esperado e os erros comuns. A folha do aluno fica separada do gabarito. Ao final deste bloco, às 21h00, entregue ou libere a folha da noite.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20h46–20h51 (5 minutos)
EXERCÍCIO COMENTADO 3.1
Adicione a fonte Loki se ela ainda não existir no seu ambiente.
Use a URL interna http://loki:3100 no laboratório local. Em ambiente fornecido, use a conexão indicada pelo professor.
Teste a conexão e execute o seletor do arquivo.
CONSULTA COMPLETA
{filename="/var/log/tns-app.log"}
COMENTÁRIO DO PROFESSOR
Comente o endereço interno e a importância de não duplicar a fonte. A turma consulta Loki, não Prometheus.
CRITÉRIO DE CORREÇÃO
Fonte conectada e linhas da aplicação visíveis.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20h51–20h56 (5 minutos)
EXERCÍCIO COMENTADO 3.2
Envie um título sem URL na aplicação.
Anote o horário da ação.
No Explore, filtre as linhas de erro.
Abra o evento correspondente e registre a mensagem.
CONSULTA COMPLETA
{filename="/var/log/tns-app.log"} |= "error"
COMENTÁRIO DO PROFESSOR
Demonstre o erro sem ocultar a resposta HTTP. Comente por que a janela de tempo precisa incluir a ação.
CRITÉRIO DE CORREÇÃO
Consulta, horário e mensagem relacionados à ação.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20h56–21h00 (4 minutos)
EXERCÍCIO COMENTADO 3.3
Compare a consulta do arquivo com a consulta filtrada.
Ajuste o período e observe a mudança no resultado.
Explique o que é evidência e o que seria uma hipótese.
Entregue os passos para um colega reproduzir a busca.
COMENTÁRIO DO PROFESSOR
Peça uma explicação própria. Um print sem consulta e sem período não deve ser a única entrega.
CRITÉRIO DE CORREÇÃO
Roteiro de investigação com conclusão e evidência.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Prática do aluno
21h00–21h00 (0 minutos)
Agora libere alunos/Aluno_Noite_3.md. A turma trabalha no ambiente local até 22h15. Circule entre os alunos e ajude primeiro nas falhas que bloqueiam toda a prática. Os critérios e os comandos estão na folha.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Prática do aluno
21h00–22h15 (75 minutos).
PRÁTICA DO ALUNO — 75 MINUTOS
3.1: 25 minutos. Fonte conectada e linhas da aplicação visíveis.
3.2: 25 minutos. Consulta, horário e mensagem relacionados à ação.
3.3: 25 minutos. Roteiro de investigação com conclusão e evidência.
Não refazer toda a demonstração durante a prática. Ajude por evidências e use os comentários dos exercícios para orientar a correção. O roteiro Ubuntu é complementar e sua execução fica condicionada à liberação dos scripts após o teste Azure.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Correção
22h15–22h30 (15 minutos).
CORREÇÃO — 15 MINUTOS
3.1: Fonte conectada e linhas da aplicação visíveis.
3.2: Consulta, horário e mensagem relacionados à ação.
3.3: Roteiro de investigação com conclusão e evidência.
Peça uma resposta explicada, não apenas um print. Retome uma dificuldade comum e o gancho para a próxima noite. Na Noite 5, concluir com o projeto e continuidade.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Teoria
18h30–18h35 (5 minutos)
ABERTURA SUGERIDA
“Já temos consultas e evidências de erros. Hoje vamos organizar isso em um dashboard que outra pessoa consiga entender.”
RETOMADA E PREPARAÇÃO
Abra Build a dashboard, Annotate events e Using annotations to correlate logs with metrics no tutorial. Deixe pronta a consulta de taxa por rota e confirme a fonte Loki. Prepare um dashboard de demonstração sem alterar os trabalhos dos alunos.
CONDUÇÃO
Comece pela pergunta do painel. Crie a visualização e configure título, unidade, legenda e período. Salve e reabra o dashboard para mostrar persistência. Adicione uma anotação manual sobre uma ação real do exercício. Depois crie a consulta de anotações do Loki e provoque outro erro.
PERGUNTAS PARA A TURMA
“Que pergunta este painel responde?” “A unidade está explícita?” “Como sabemos que a anotação corresponde ao evento?”
PONTO DE ATENÇÃO
Não confunda proximidade no tempo com prova de causa. Um evento anotado é evidência a investigar. O dashboard precisa ser salvo após as alterações.
CRITÉRIO DE SAÍDA
Cada aluno entrega um dashboard salvo, uma anotação manual e uma consulta de anotações do Loki.
GANCHO
“O dashboard já ajuda a investigar. Amanhã vamos configurar quando o Grafana deve nos avisar.”
FORMATO DA NOITE
Teoria até 19h55. Depois, 25 minutos de demonstração sem prática individual. Intervalo 20h20–20h45. Exercícios comentados 20h45–21h00. Folha liberada para execução 21h00. Prática até 22h15, correção até 22h30.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18h35–18h42 (7 minutos).
Retomada da Noite 2. Peça que o aluno explique o resultado antes de configurar a visualização.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18h42–18h49 (7 minutos).
EXPLICAÇÃO DO PROFESSOR
Use o acompanhamento de Grafana News. Um painel mostra tráfego por rota; outros podem responder perguntas diferentes. Mais painéis não garantem uma visão melhor. Referência: https://grafana.com/docs/grafana/latest/visualizations/panels-visualizations/
PERGUNTA DE VERIFICAÇÃO
Um único painel precisa responder a todas as perguntas da aplicação?
RESPOSTA ESPERADA
Não. Cada painel deve ter uma finalidade compreensível.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18h49–18h55 (6 minutos).
EXPLICAÇÃO DO PROFESSOR
Compare uma consulta errada com um gráfico bonito. A apresentação pode melhorar a leitura, mas não corrige uma seleção incorreta.
PERGUNTA DE VERIFICAÇÃO
Uma legenda bonita garante que o cálculo está correto?
RESPOSTA ESPERADA
Não. A consulta deve ser validada antes.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18h55–19h01 (6 minutos).
EXPLICAÇÃO DO PROFESSOR
Trate os tipos como escolhas ligadas à pergunta. Neste tutorial, o painel principal usa série temporal. Stat exige explicar qual redução produz o número mostrado.
PERGUNTA DE VERIFICAÇÃO
Para comparar o comportamento de rotas ao longo de minutos, qual tipo usaremos?
RESPOSTA ESPERADA
Time series.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19h01–19h07 (6 minutos).
Use a unidade req/s quando disponível. Evite títulos genéricos e casas decimais excessivas.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19h07–19h13 (6 minutos).
EXPLICAÇÃO DO PROFESSOR
Peça à turma que leia uma linha sem ver a legenda e discuta o que faltou. Não usar cor como única identificação de uma série.
PERGUNTA DE VERIFICAÇÃO
Dois gráficos com escalas diferentes podem parecer equivalentes?
RESPOSTA ESPERADA
Podem. Precisamos ler eixos, unidades e período antes de comparar.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19h13–19h19 (6 minutos).
EXPLICAÇÃO DO PROFESSOR
Use uma sequência didática 1, 9, 2. O último é 2, o máximo é 9 e a média é 4. O exemplo é conceitual; não configura um painel adicional obrigatório.
PERGUNTA DE VERIFICAÇÃO
O último valor e o máximo representam a mesma informação?
RESPOSTA ESPERADA
Não. São resumos diferentes da mesma série.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19h19–19h25 (6 minutos).
Mostrar que alterações no editor podem precisar de confirmação e salvamento do dashboard.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19h25–19h31 (6 minutos).
EXPLICAÇÃO DO PROFESSOR
Peça exemplos da turma. A descrição deve representar uma ação conhecida. Se o teste é simulado, identificá-lo como simulação.
PERGUNTA DE VERIFICAÇÃO
Qual anotação representa melhor um teste que durou dez minutos?
RESPOSTA ESPERADA
Uma região com início e fim do teste.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19h31–19h37 (6 minutos).
EXPLICAÇÃO DO PROFESSOR
Relacione a anotação manual ao teste da turma e a consulta aos erros da aplicação. A consulta de anotações precisa da fonte e do período corretos.
PERGUNTA DE VERIFICAÇÃO
Qual opção evita registrar manualmente cada erro repetido?
RESPOSTA ESPERADA
Uma consulta de anotações à fonte de logs.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19h37–19h43 (6 minutos).
EXPLICAÇÃO DO PROFESSOR
Use um pico de tráfego e uma mensagem de erro no mesmo minuto. Proponha explicações alternativas e diga quais evidências poderiam ajudar a distingui-las.
PERGUNTA DE VERIFICAÇÃO
O erro anotado comprova que ele causou o pico de tráfego?
RESPOSTA ESPERADA
Não. É uma relação temporal a investigar.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19h43–19h49 (6 minutos).
Revisão em dupla. O colega deve interpretar o painel. Simplificar antes de adicionar mais elementos.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19h49–19h55 (6 minutos).
EXPLICAÇÃO DO PROFESSOR
Recapitule a ligação entre os elementos e prepare a turma para observar o professor criando o painel. Nenhum exercício individual é iniciado neste bloco.
PERGUNTA DE VERIFICAÇÃO
O que vamos conferir ao reabrir o dashboard?
RESPOSTA ESPERADA
Se o painel e as anotações foram salvos corretamente.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Demonstração
19h55–19h56 (1 minutos)
Apresente o fluxo completo no seu ambiente. A turma observa e registra dúvidas. Não solicitar execução simultânea. Mostre ação, resultado e interpretação. Termine às 20h20 para preservar 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Demonstração
19h56–20h00 (4 minutos).
DEMONSTRAÇÃO DO PROFESSOR
A turma observa; os alunos executarão depois do intervalo.
A interface pode oferecer outras entradas. Use o fluxo presente na versão do curso.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Demonstração
20h00–20h04 (4 minutos).
DEMONSTRAÇÃO DO PROFESSOR
A turma observa; os alunos executarão depois do intervalo.
Usar o menu do gráfico ou Ctrl/Cmd + clique conforme a interface. Não registrar uma mudança que não foi realizada.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Demonstração
20h04–20h08 (4 minutos).
DEMONSTRAÇÃO DO PROFESSOR
A turma observa; os alunos executarão depois do intervalo.
Nome sugerido: Erros da aplicação. Ativar a consulta de anotações e salvar.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20h08–20h12 (4 minutos)
DEMONSTRAÇÃO REAL DO PROFESSOR
1. New &gt; New dashboard &gt; Add visualization &gt; Prometheus.
2. Cole a consulta em Code e escolha Time series.
3. Nomeie o painel e selecione Percent (0-100) em Standard options.
CONSULTA
100 * (1 - avg by (instance) (rate(node_cpu_seconds_total{mode="idle"}[5m])))
RESULTADO OBSERVADO
Curva de CPU com título e unidade corretos.
ORIENTAÇÃO AO PROFESSOR
Painel criado durante esta sessão. O caminho da unidade é Misc &gt; Percent (0-100). Volte ao dashboard e salve como Curso Green - Exercícios gráficos do professor. Não reutilizar a consulta tns_ no host ou a consulta de host no tutorial sem a fonte adequada.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369542212"/>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20h12–20h16 (4 minutos)
DEMONSTRAÇÃO REAL DO PROFESSOR
1. No dashboard criado, selecione um horário no gráfico com Ctrl + clique.
2. Escreva uma descrição do evento didático.
3. Salve e confira o marcador no período selecionado.
RESULTADO OBSERVADO
Anotação manual adicionada ao gráfico.
ORIENTAÇÃO AO PROFESSOR
A descrição usada foi revisão visual da curva de CPU, explicitamente como marcador didático. Não inventar uma implantação nem dizer que a anotação provocou a mudança de CPU. O horário da anotação corresponde ao ponto escolhido no gráfico.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305387132"/>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20h16–20h20 (4 minutos)
DEMONSTRAÇÃO REAL DO PROFESSOR
1. Abra Curso Green - Exercícios gráficos do professor.
2. Selecione Last 30 minutes e observe a curva.
3. Exporte o JSON em Share &gt; Export &gt; Save to file.
RESULTADO OBSERVADO
Dashboard salvo e JSON exportado para o pacote.
ORIENTAÇÃO AO PROFESSOR
Dashboard UID fg1nbayqfl4aoe criado e verificado. A anotação é um registro separado no banco do Grafana e não acompanha a exportação JSON do dashboard. O JSON inclui datasource UID prometheus; remapear se a instância de destino tiver outro UID. Os screenshots registram o estado da sessão, não garantem a disponibilidade futura da VM.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650259299"/>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Intervalo
20h20–20h45 (25 minutos).
Antes de sair, preserve o estado da demonstração. Anuncie o retorno às 20h45. Não iniciar a prática da turma durante o intervalo. Na volta, explicar a folha antes de liberá-la.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Exercícios comentados
20h45–20h46 (1 minutos)
Mostre cada tarefa, o caminho de execução ou navegação, o resultado esperado e os erros comuns. A folha do aluno fica separada do gabarito. Ao final deste bloco, às 21h00, entregue ou libere a folha da noite.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20h46–20h51 (5 minutos)
EXERCÍCIO COMENTADO 4.1
Crie um dashboard da aplicação.
Adicione uma visualização Prometheus com a consulta por rota.
Configure Time series, título Tráfego por rota, unidade e legenda.
Salve com seu nome ou identificação da turma e reabra para conferir.
CONSULTA COMPLETA
sum(rate(tns_request_duration_seconds_count[5m])) by (route)
COMENTÁRIO DO PROFESSOR
Comente consulta, unidade e salvamento. Os modelos em exemplos-importaveis são referência opcional. O exercício mantém a criação manual.
CRITÉRIO DE CORREÇÃO
Dashboard salvo, legível e com consulta coerente.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p>
          <a:p>
            <a:r>
              <a:rPr lang="pt-BR"/>
              <a:t>Prática V8: criação manual em 30 minutos. Há modelos prontos na pasta exemplos-importaveis como referência opcional; não é necessário importar para concluir a atividade.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20h51–20h56 (5 minutos)
EXERCÍCIO COMENTADO 4.2
Execute uma ação conhecida na aplicação.
Adicione uma anotação manual com descrição e horário.
Se representar um teste com duração, use uma região.
Salve o dashboard.
COMENTÁRIO DO PROFESSOR
Mostre o menu ou atalho presente na versão do laboratório. Comente o que deve aparecer na descrição para outra pessoa entender o evento.
CRITÉRIO DE CORREÇÃO
Anotação que descreve uma ação realmente executada.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20h56–21h00 (4 minutos)
EXERCÍCIO COMENTADO 4.3
Em Settings e Annotations, adicione uma consulta chamada Erros da aplicação.
Selecione Loki e use o filtro de erro.
Ative a consulta, salve e provoque outro erro na aplicação.
Localize a anotação e explique a relação temporal com o gráfico.
CONSULTA COMPLETA
{filename="/var/log/tns-app.log"} |= "error"
COMENTÁRIO DO PROFESSOR
Comente a fonte Loki, a consulta e o período. Não apresentar a proximidade temporal como prova automática de causa.
CRITÉRIO DE CORREÇÃO
Consulta de anotações ativa e evento encontrado.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Prática do aluno
21h00–21h00 (0 minutos)
Agora libere alunos/Aluno_Noite_4.md. A turma trabalha no ambiente local até 22h15. Circule entre os alunos e ajude primeiro nas falhas que bloqueiam toda a prática. Os critérios e os comandos estão na folha.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Prática do aluno
21h00–22h15 (75 minutos).
PRÁTICA DO ALUNO — 75 MINUTOS
4.1: 30 minutos. Dashboard salvo, legível e com consulta coerente.
4.2: 20 minutos. Anotação que descreve uma ação realmente executada.
4.3: 25 minutos. Consulta de anotações ativa e evento encontrado.
Não refazer toda a demonstração durante a prática. Ajude por evidências e use os comentários dos exercícios para orientar a correção. O roteiro Ubuntu é complementar e sua execução fica condicionada à liberação dos scripts após o teste Azure.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Correção
22h15–22h30 (15 minutos).
CORREÇÃO — 15 MINUTOS
4.1: Dashboard salvo, legível e com consulta coerente.
4.2: Anotação que descreve uma ação realmente executada.
4.3: Consulta de anotações ativa e evento encontrado.
Peça uma resposta explicada, não apenas um print. Retome uma dificuldade comum e o gancho para a próxima noite. Na Noite 5, concluir com o projeto e continuidade.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Teoria
18h30–18h35 (5 minutos)
ABERTURA SUGERIDA
“Hoje vamos completar nosso trabalho: definir uma condição de alerta, confirmar a notificação e apresentar o dashboard final.”
RETOMADA E PREPARAÇÃO
Abra as seções de alertas do tutorial. Confirme o dashboard, a consulta Prometheus e o receptor em localhost:38090. Se usar Webhook.site, prepare a URL de teste e confirme a internet. Confira o vídeo de vínculo de alertas ao painel antes da aula.
CONDUÇÃO
Separe as quatro verificações: dado, condição, estado e entrega. Teste o contato antes da regra. Mostre consulta A, redução B e condição C. Explique avaliação de 10s e pendente de 0s como parâmetros de demonstração. Gere tráfego, observe o estado e confira a mensagem no receptor. Associe a regra ao painel.
PERGUNTAS PARA A TURMA
“O contato passou no teste?” “Qual expressão é a condição?” “O estado Firing já prova que a mensagem foi recebida?”
CRITÉRIO DE SAÍDA
O aluno demonstra regra avaliada, vínculo com o painel e notificação recebida. Relembre como exportar o dashboard antes de remover containers.
ENCERRAMENTO
Peça que cada aluno explique uma consulta, um evento e uma condição. Recapitule as cinco noites e indique o tutorial para continuidade.
FORMATO DA NOITE
Teoria até 19h55. Depois, 25 minutos de demonstração sem prática individual. Intervalo 20h20–20h45. Exercícios comentados 20h45–21h00. Folha liberada para execução 21h00. Prática até 22h15, correção até 22h30.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18h35–18h39 (4 minutos).
Retome a taxa de requisições e pergunte qual comportamento justificaria uma notificação. Diferencie estado da regra de entrega da mensagem.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18h39–18h43 (4 minutos).
EXPLICAÇÃO DO PROFESSOR
Use uma consulta agrupada por rota: uma única regra pode gerar mais de uma instância. O contato receber uma mensagem de teste não comprova que a condição da regra funciona.
PERGUNTA DE VERIFICAÇÃO
Uma regra por rota sempre gera apenas uma instância?
RESPOSTA ESPERADA
Não. Cada série ou dimensão pode gerar sua própria instância.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18h43–18h47 (4 minutos).
Nome sugerido: fundamentals-test. A consulta é a mesma do painel, permitindo comparar a observação visual com a regra.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18h47–18h51 (4 minutos).
EXPLICAÇÃO DO PROFESSOR
Use um exemplo didático de taxa atual 0,3 e limite 0,2. A condição maior que 0,2 é verdadeira. Depois compare com 0,1. A ordem lógica importa mais que a posição dos controles.
PERGUNTA DE VERIFICAÇÃO
Qual expressão precisa ser marcada como condição nesse fluxo?
RESPOSTA ESPERADA
A expressão de comparação, C.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18h51–18h55 (4 minutos).
EXPLICAÇÃO DO PROFESSOR
Explique que /metrics também gera requisições. Uma regra pode nascer disparada se o tráfego de base já superar o limite. Em produção, a decisão exigiria contexto operacional.
PERGUNTA DE VERIFICAÇÃO
Podemos copiar 0,01 para qualquer sistema sem avaliar o contexto?
RESPOSTA ESPERADA
Não. É um parâmetro didático deste exemplo.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p>
          <a:p>
            <a:r>
              <a:rPr lang="pt-BR"/>
              <a:t>Prática V8: receptor local http://webhook:8080/; navegador http://localhost:38090. Alerta em A Range, B Reduce/Last, C acima de 0.01; excluir route=metrics. Reutilizar reducer automático, renomear B e confirmar Input B em C. Avaliação 10s e pending 0s. TestAlert não comprova disparo da regra; conferir a mensagem com o nome da regra no receptor.</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18h55–18h59 (4 minutos).
Parâmetros curtos do tutorial para demonstração. Não ensinar isso como configuração universal de produção. Notificações também dependem das configurações de envio.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18h59–19h03 (4 minutos).
No laboratório, pendente de 0s pode pular o estado Pending. Firing/Alerting são rótulos de interface para o alerta disparado. Algumas configurações também usam Recovering antes da resolução. No Data e Error exigem tratamento próprio e não provam indisponibilidade da aplicação. Fonte: https://grafana.com/docs/grafana/latest/alerting/fundamentals/alert-rule-evaluation/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19h03–19h07 (4 minutos).
EXPLICAÇÃO DO PROFESSOR
Compare aplicação sem série correspondente e uma fonte indisponível. Não declarar que ambos significam valor zero ou que provam o mesmo incidente. Referência: documentação oficial de alert-rule-evaluation.
PERGUNTA DE VERIFICAÇÃO
Se uma consulta não retorna séries, isso comprova taxa zero?
RESPOSTA ESPERADA
Não. Precisamos investigar e definir o tratamento de ausência de dados.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19h07–19h11 (4 minutos).
EXPLICAÇÃO DO PROFESSOR
Distinguir teste de contato e evento real. Descrever que configuração de encaminhamento e agrupamento também pode afetar a entrega. O roteiro usa seleção direta do contato.
PERGUNTA DE VERIFICAÇÃO
O teste do contato valida a consulta Prometheus?
RESPOSTA ESPERADA
Não. Ele valida a comunicação com o receptor.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19h11–19h15 (4 minutos).
EXPLICAÇÃO DO PROFESSOR
Explique a escolha do destino antes da demonstração. Em um ambiente remoto, localhost do notebook não é o servidor do professor. A configuração precisa de uma URL alcançável pelo Grafana que envia a mensagem.
PERGUNTA DE VERIFICAÇÃO
De onde sai a requisição de notificação?
RESPOSTA ESPERADA
Do serviço Grafana, e não do navegador do aluno.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p>
          <a:p>
            <a:r>
              <a:rPr lang="pt-BR"/>
              <a:t>Prática V8: receptor local http://webhook:8080/; navegador http://localhost:38090. Alerta em A Range, B Reduce/Last, C acima de 0.01; excluir route=metrics. Reutilizar reducer automático, renomear B e confirmar Input B em C. Avaliação 10s e pending 0s. TestAlert não comprova disparo da regra; conferir a mensagem com o nome da regra no receptor.</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19h15–19h19 (4 minutos).
EXPLICAÇÃO DO PROFESSOR
Retome o painel de tráfego criado na Noite 4. Uma regra não passa a depender da tela estar aberta apenas por ser ligada ao painel.
PERGUNTA DE VERIFICAÇÃO
É preciso deixar o navegador aberto para o Grafana avaliar a regra?
RESPOSTA ESPERADA
Não. A avaliação é feita pelo serviço.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19h19–19h23 (4 minutos).
Referência do canal Grafana. Mostrar um trecho selecionado sobre vínculo da regra ao painel dentro do tempo planejado. O vídeo completo é referência pós-aula. Evitar ensinar a posição de botões de uma versão antiga como regra fixa.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19h23–19h27 (4 minutos).
Reserve 20 minutos de correção. Mostrar o erro em cada etapa é mais útil do que recriar a regra inteira.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19h27–19h31 (4 minutos).
EXPLICAÇÃO DO PROFESSOR
Faça quatro perguntas em ordem: a consulta responde? a condição faz sentido? a instância disparou? a mensagem chegou? Agora o professor demonstra o fluxo sem pedir que a turma acompanhe clique a clique.
PERGUNTA DE VERIFICAÇÃO
Qual evidência encerra o teste de comunicação da regra?
RESPOSTA ESPERADA
Uma notificação da regra recebida no destino escolhido.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19h31–19h35 (4 minutos)
EXPLICAÇÃO DO PROFESSOR
No Grafana OSS, configurar SMTP no grafana.ini ou por variáveis GF_SMTP_*. Exemplo de arquivo Ubuntu: /etc/grafana/grafana.ini. Em Docker, o processo lê as variáveis do serviço Grafana; alterações normalmente exigem recriar o container. Não configurar credenciais reais neste laboratório; mostrar onde ficam.
PERGUNTA À TURMA
Informar Addresses configura o servidor SMTP?
RESPOSTA ESPERADA
Não. Addresses é o destinatário; o transporte SMTP precisa existir.
REFERÊNCIA
https://grafana.com/docs/grafana/latest/alerting/configure-notifications/manage-contact-points/integrations/configure-email/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06686373"/>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19h35–19h39 (4 minutos)
EXPLICAÇÃO DO PROFESSOR
Usar domínio .invalid para deixar explícito que é um exemplo. Se o servidor exigir autenticação, configurar user e password por mecanismo de segredo apropriado. Não colocar senhas na apostila, Git ou screenshots. O envio não será testado por solicitação do usuário; o objetivo é localizar as configurações.
PERGUNTA À TURMA
O arquivo mostrado já habilita envio no ambiente do professor?
RESPOSTA ESPERADA
Não. É um exemplo para explicar as propriedades.
REFERÊNCIA
https://grafana.com/docs/grafana/latest/setup-grafana/configure-grafana/#smtp</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975305269"/>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19h39–19h43 (4 minutos)
EXPLICAÇÃO DO PROFESSOR
Webhook é a opção de integração de saída. Não é a API de provisionamento do Grafana. A API receptora precisa aceitar o formato do JSON e a autenticação escolhida. Pode ser necessário um adaptador para transformar o payload no formato exigido pelo software terceiro.
PERGUNTA À TURMA
Qual lado recebe o HTTP POST do Webhook?
RESPOSTA ESPERADA
O endpoint receptor do sistema terceiro ou do adaptador.
REFERÊNCIA
https://grafana.com/docs/grafana/latest/alerting/configure-notifications/manage-contact-points/integrations/webhook-notifier/</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79384754"/>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19h43–19h47 (4 minutos)
EXPLICAÇÃO DO PROFESSOR
Exemplos da API de provisionamento compatível com o laboratório 11.3: GET /api/v1/provisioning/alert-rules e GET /api/v1/provisioning/contact-points. São exemplos de leitura, não chamados executados. Para criar ou alterar recursos, usar autenticação e privilégios adequados. Preferir conta de serviço e token compatíveis com a versão. Não expor admin/admin nos slides de integração.
PERGUNTA À TURMA
Qual usar para avisar um sistema de chamados quando um alerta dispara?
RESPOSTA ESPERADA
Webhook; a API de provisionamento tem outro propósito.
REFERÊNCIA
https://grafana.com/docs/grafana/v11.3/developers/http_api/alerting_provisioning/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389743038"/>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19h47–19h51 (4 minutos)
ARQUITETURA EDITÁVEL
Figura de configuração e responsabilidades, não evidência de envio. O Grafana Alerting possui seu próprio gerenciamento de notificações. Regras do Prometheus podem enviar para o Alertmanager externo pelo fluxo separado inferior. A fonte Alertmanager no Grafana não habilita SMTP nem cria automaticamente um receptor. No laboratório foram capturados formulários Email e Webhook sem salvar contatos ou disparar mensagens. A integração de API pode exigir transformação do payload. A API de provisionamento do Grafana é usada para administrar recursos e não substitui o webhook de saída.
PERGUNTA
Qual sinal percorre cada caminho e quem inicia a comunicação?
Fontes: arquivos locais docker-compose.yml, prometheus.yml, tempo-config.yaml e app.py do professor; telas observadas nesta sessão.
https://grafana.com/tutorials/grafana-fundamentals/
https://prometheus.io/docs/introduction/overview/
https://prometheus.io/docs/concepts/metric_types/
https://grafana.com/docs/loki/latest/get-started/overview/
https://grafana.com/docs/loki/latest/query/
https://grafana.com/docs/tempo/latest/traceql/
https://grafana.com/docs/loki/latest/send-data/promtail/
https://grafana.com/docs/alloy/latest/set-up/migrate/from-promtail/
https://grafana.com/docs/grafana/latest/alerting/configure-notifications/manage-contact-points/integrations/configure-email/
https://grafana.com/docs/grafana/latest/setup-grafana/configure-grafana/#smtp
https://grafana.com/docs/grafana/latest/alerting/configure-notifications/manage-contact-points/integrations/webhook-notifier/
https://grafana.com/docs/grafana/v11.3/developers/http_api/alerting_provisioning/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543621594"/>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19h51–19h55 (4 minutos)
EXPLICAÇÃO DO PROFESSOR
Payload ilustrativo reduzido: {"status":"firing","alerts":[{"labels":{"alertname":"CPUAlta"},"annotations":{"summary":"Verificar CPU do host"}}]}. Não é a mensagem completa nem um schema mínimo universal. Cada API tem contrato próprio. Um HTTP 2xx confirma a aceitação HTTP, não necessariamente a criação final de um chamado. No lab desta sessão não há entrega validada.
PERGUNTA À TURMA
Preview com Firing significa que o software terceiro recebeu a mensagem?
RESPOSTA ESPERADA
Não. A prévia avalia a condição; a entrega precisa ser verificada no receptor.
REFERÊNCIA
https://grafana.com/docs/grafana/latest/alerting/configure-notifications/manage-contact-points/integrations/webhook-notifier/</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355489134"/>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Demonstração
19h55–19h56 (1 minutos)
Apresente o fluxo completo no seu ambiente. A turma observa e registra dúvidas. Não solicitar execução simultânea. Mostre ação, resultado e interpretação. Termine às 20h20 para preservar 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
E-mail e Webhook: apenas mostrar a configuração, sem salvar destinatários ou enviar mensagens. A demonstração das duas telas usa valores ilustrativos.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Demonstração
19h56–19h59 (3 minutos).
DEMONSTRAÇÃO DO PROFESSOR
A turma observa; os alunos executarão depois do intervalo.
Nome sugerido: Webhook do laboratório. Endpoint: http://webhook:8080/. Save após o teste.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Demonstração
19h59–20h02 (3 minutos).
DEMONSTRAÇÃO DO PROFESSOR
A turma observa; os alunos executarão depois do intervalo.
No laboratório V8, o limite é 0,01 requisição por segundo, excluindo a rota metrics. É um valor didático; explique a taxa atual antes de avaliar a condição. Confirmar C como condição avaliada.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Demonstração
20h02–20h05 (3 minutos).
DEMONSTRAÇÃO DO PROFESSOR
A turma observa; os alunos executarão depois do intervalo.
A janela de 5m suaviza o tráfego. Se não disparar, verificar o valor da consulta antes de alterar parâmetros aleatoriamente.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Demonstração
20h05–20h08 (3 minutos).
DEMONSTRAÇÃO DO PROFESSOR
A turma observa; os alunos executarão depois do intervalo.
O tutorial usa webhook.site. O pacote oferece um receptor local para o teste não depender de serviço externo.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20h08–20h10 (2 minutos)
DEMONSTRAÇÃO REAL DO PROFESSOR
1. New &gt; New alert rule; informe um nome didático.
2. Em A, selecione Prometheus, Code e a consulta de CPU.
3. Nas opções, use Range antes de B = Reduce / Last.
CONSULTA
100 * (1 - avg by (instance) (rate(node_cpu_seconds_total{mode="idle"}[5m])))
RESULTADO OBSERVADO
Consulta A retorna dados; B produz um valor por instância.
ORIENTAÇÃO AO PROFESSOR
Regra mantida como rascunho e cancelada após as capturas. A consulta Instant já retorna um valor; nesse caso Reduce é desnecessário. A demonstração mudou para Range para justificar o Reduce ensinado no curso. Salvar uma regra exige também pasta, grupo de avaliação e destino de notificações.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18734017"/>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20h10–20h12 (2 minutos)
DEMONSTRAÇÃO REAL DO PROFESSOR
1. Em C, mantenha Input B e Is above 80.
2. Clique Preview e leia o valor de B e a saída de C.
3. Explique a diferença entre valor observado e limite definido.
RESULTADO OBSERVADO
Prévia: 0 firing e 1 normal.
ORIENTAÇÃO AO PROFESSOR
Apenas prévia da expressão, sem regra ativa e sem envio. 80% é exemplo didático, não recomendação universal de produção. O limite real depende do comportamento, capacidade e impacto do sistema.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120891170"/>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20h12–20h14 (2 minutos)
DEMONSTRAÇÃO REAL DO PROFESSOR
1. Troque temporariamente o limite de C para 1.
2. Execute Preview e compare o resultado com o teste anterior.
3. Observe C = 1 e a indicação Firing na prévia.
RESULTADO OBSERVADO
Prévia: 1 firing e 0 normal.
ORIENTAÇÃO AO PROFESSOR
Valor de B na captura: 4,22881%; limite 1%. Firing é o resultado da PRÉVIA. Não houve regra salva, avaliação recorrente ou teste de entrega de notificação nesta VM. Pending e agendamento precisam ser configurados e testados separadamente. Restaure um limite coerente antes de salvar qualquer regra.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168614382"/>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20h14–20h16 (2 minutos)
DEMONSTRAÇÃO REAL DO PROFESSOR
1. Em Configure notification message, abra Link dashboard and panel.
2. Selecione o dashboard didático e o painel de CPU.
3. Confira os links adicionados e identifique o contato necessário antes de salvar.
RESULTADO OBSERVADO
Dashboard e painel relacionados no rascunho da regra.
ORIENTAÇÃO AO PROFESSOR
A configuração atual apresenta apenas grafana-default-email, sem tentativas de entrega visíveis. Não há confirmação de webhook funcional neste ambiente Azure. A regra de exemplo foi cancelada. Completar o exercício de notificação exige receptor de laboratório e teste separado; não usar um endereço de aluno ou de produção sem defini-lo para a aula.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313453465"/>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20h16–20h18 (2 minutos)
Selecione Email e informe os destinatários.
Neste laboratório, vamos apenas localizar os campos.
DEMONSTRAÇÃO
Formulário real aberto na VM. Nenhum e-mail real foi inserido. Nenhum contato foi salvo nem mensagem enviada.
REFERÊNCIA
https://grafana.com/docs/grafana/latest/alerting/configure-notifications/manage-contact-points/integrations/configure-email/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029604805"/>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20h18–20h20 (2 minutos)
Em Contact points, selecione Webhook.
Informe URL, método e autenticação conforme a API receptora.
DEMONSTRAÇÃO
Formulário real, preenchido apenas com https://api.exemplo.invalid/alertas. URL ilustrativa: não foi enviada requisição. O contato não foi salvo. A versão 11.3 pode ter menos opções que a documentação latest.
REFERÊNCIA
https://grafana.com/docs/grafana/latest/alerting/configure-notifications/manage-contact-points/integrations/webhook-notifier/</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7087723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Intervalo
20h20–20h45 (25 minutos).
Antes de sair, preserve o estado da demonstração. Anuncie o retorno às 20h45. Não iniciar a prática da turma durante o intervalo. Na volta, explicar a folha antes de liberá-la.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Exercícios comentados
20h45–20h46 (1 minutos)
Mostre cada tarefa, o caminho de execução ou navegação, o resultado esperado e os erros comuns. A folha do aluno fica separada do gabarito. Ao final deste bloco, às 21h00, entregue ou libere a folha da noite.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20h46–20h51 (5 minutos)
EXERCÍCIO COMENTADO 5.1
Use http://webhook:8080/ no contato e http://localhost:38090 no navegador.
Crie um ponto de contato Webhook no Grafana.
Envie uma mensagem de teste e confirme a chegada.
Salve o contato.
COMENTÁRIO DO PROFESSOR
Comente o endereço visto pelo serviço Grafana e a diferença entre testar contato e testar a regra. Não exigir configuração de e-mail, Slack ou serviços externos adicionais.
CRITÉRIO DE CORREÇÃO
Contato salvo e notificação de teste recebida.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p>
          <a:p>
            <a:r>
              <a:rPr lang="pt-BR"/>
              <a:t>Prática V8: receptor local http://webhook:8080/; navegador http://localhost:38090. Alerta em A Range, B Reduce/Last, C acima de 0.01; excluir route=metrics. Reutilizar reducer automático, renomear B e confirmar Input B em C. Avaliação 10s e pending 0s. TestAlert não comprova disparo da regra; conferir a mensagem com o nome da regra no receptor.</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20h51–20h56 (5 minutos)
EXERCÍCIO COMENTADO 5.2
Crie uma regra Grafana-managed com identificação do aluno.
Use a consulta por rota em A, Reduce / Last em B e Threshold acima de 0.01 em C.
Use avaliação de 10s, pendente de 0s e o contato testado.
Salve, gere tráfego e observe o valor e o estado.
Confirme uma notificação da regra no receptor.
CONSULTA COMPLETA
</a:t>
            </a:r>
            <a:r>
              <a:rPr lang="en-US"/>
              <a:t>sum(rate(tns_request_duration_seconds_count{route!="metrics"}[5m])) by(route)</a:t>
            </a:r>
            <a:r>
              <a:rPr lang="pt-BR"/>
              <a:t>
COMENTÁRIO DO PROFESSOR
Comente cada campo e sua justificativa. O limite pode precisar de ajuste se o tráfego de base já o ultrapassar. A mensagem de teste do contato não substitui a notificação da regra.
CRITÉRIO DE CORREÇÃO
Regra avaliada e mensagem de disparo recebida.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p>
          <a:p>
            <a:r>
              <a:rPr lang="pt-BR"/>
              <a:t>Prática V8: receptor local http://webhook:8080/; navegador http://localhost:38090. Alerta em A Range, B Reduce/Last, C acima de 0.01; excluir route=metrics. Reutilizar reducer automático, renomear B e confirmar Input B em C. Avaliação 10s e pending 0s. TestAlert não comprova disparo da regra; conferir a mensagem com o nome da regra no receptor.</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20h56–21h00 (4 minutos)
EXERCÍCIO COMENTADO 5.3
Associe a regra ao seu dashboard e ao painel de tráfego.
Mostre a consulta, um erro nos logs e as anotações configuradas.
Apresente a evidência de recebimento do alerta.
Exporte ou registre seu trabalho antes de encerrar o ambiente.
COMENTÁRIO DO PROFESSOR
Comente os critérios de correção antes de liberar a prática. O alerta complementar de erros HTTP é opcional para quem terminar cedo; não substitui o fluxo principal.
CRITÉRIO DE CORREÇÃO
Dashboard e regra relacionados, com explicação do fluxo.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Prática do aluno
21h00–21h00 (0 minutos)
Agora libere alunos/Aluno_Noite_5.md. A turma trabalha no ambiente local até 22h15. Circule entre os alunos e ajude primeiro nas falhas que bloqueiam toda a prática. Os critérios e os comandos estão na folha.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Prática do aluno
21h00–22h15 (75 minutos).
PRÁTICA DO ALUNO — 75 MINUTOS
5.1: 20 minutos. Contato salvo e notificação de teste recebida.
5.2: 30 minutos. Regra avaliada e mensagem de disparo recebida.
5.3: 25 minutos. Dashboard e regra relacionados, com explicação do fluxo.
Não refazer toda a demonstração durante a prática. Ajude por evidências e use os comentários dos exercícios para orientar a correção. O roteiro Ubuntu é complementar e sua execução fica condicionada à liberação dos scripts após o teste Azure.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Correção
22h15–22h30 (15 minutos).
CORREÇÃO — 15 MINUTOS
5.1: Contato salvo e notificação de teste recebida.
5.2: Regra avaliada e mensagem de disparo recebida.
5.3: Dashboard e regra relacionados, com explicação do fluxo.
Peça uma resposta explicada, não apenas um print. Retome uma dificuldade comum e o gancho para a próxima noite. Na Noite 5, concluir com o projeto e continuidade.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Referência
22h30–22h30 (0 minutos).
Material de referência pós-curso. Não acrescenta tempo ao encontro.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Fechamento visual dentro dos 15 minutos de correção e dúvidas.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Slide de Conteúdo">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41FEF1AE-FB31-B5E6-DD6A-55841585305E}"/>
              </a:ext>
            </a:extLst>
          </p:cNvPr>
          <p:cNvSpPr>
            <a:spLocks noGrp="1"/>
          </p:cNvSpPr>
          <p:nvPr>
            <p:ph type="title"/>
          </p:nvPr>
        </p:nvSpPr>
        <p:spPr/>
        <p:txBody>
          <a:bodyPr/>
          <a:lstStyle/>
          <a:p>
            <a:r>
              <a:rPr lang="pt-BR"/>
              <a:t>Clique para editar o título Mestre</a:t>
            </a:r>
            <a:endParaRPr lang="pt-BR" dirty="0"/>
          </a:p>
        </p:txBody>
      </p:sp>
      <p:sp>
        <p:nvSpPr>
          <p:cNvPr id="2" name="Espaço Reservado para Número de Slide 1">
            <a:extLst>
              <a:ext uri="{FF2B5EF4-FFF2-40B4-BE49-F238E27FC236}">
                <a16:creationId xmlns:a16="http://schemas.microsoft.com/office/drawing/2014/main" id="{9DDD0359-83D2-935B-45BE-2A57AB45F1CF}"/>
              </a:ext>
            </a:extLst>
          </p:cNvPr>
          <p:cNvSpPr>
            <a:spLocks noGrp="1"/>
          </p:cNvSpPr>
          <p:nvPr>
            <p:ph type="sldNum" sz="quarter" idx="11"/>
          </p:nvPr>
        </p:nvSpPr>
        <p:spPr>
          <a:xfrm>
            <a:off x="8610600" y="6356350"/>
            <a:ext cx="2743200" cy="365125"/>
          </a:xfrm>
          <a:prstGeom prst="rect">
            <a:avLst/>
          </a:prstGeom>
        </p:spPr>
        <p:txBody>
          <a:bodyPr/>
          <a:lstStyle/>
          <a:p>
            <a:fld id="{5D3D502A-2AED-4A03-9253-F41D6C9B222A}" type="slidenum">
              <a:rPr lang="pt-BR" smtClean="0"/>
              <a:t>‹nº›</a:t>
            </a:fld>
            <a:endParaRPr lang="pt-BR"/>
          </a:p>
        </p:txBody>
      </p:sp>
    </p:spTree>
    <p:extLst>
      <p:ext uri="{BB962C8B-B14F-4D97-AF65-F5344CB8AC3E}">
        <p14:creationId xmlns:p14="http://schemas.microsoft.com/office/powerpoint/2010/main" val="30438866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de título">
    <p:spTree>
      <p:nvGrpSpPr>
        <p:cNvPr id="1" name=""/>
        <p:cNvGrpSpPr/>
        <p:nvPr/>
      </p:nvGrpSpPr>
      <p:grpSpPr>
        <a:xfrm>
          <a:off x="0" y="0"/>
          <a:ext cx="0" cy="0"/>
          <a:chOff x="0" y="0"/>
          <a:chExt cx="0" cy="0"/>
        </a:xfrm>
      </p:grpSpPr>
      <p:pic>
        <p:nvPicPr>
          <p:cNvPr id="5" name="Imagem 4">
            <a:extLst>
              <a:ext uri="{FF2B5EF4-FFF2-40B4-BE49-F238E27FC236}">
                <a16:creationId xmlns:a16="http://schemas.microsoft.com/office/drawing/2014/main" id="{C74F73F5-9D68-FC2C-D45A-10159888EB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2000" cy="6858000"/>
          </a:xfrm>
          <a:prstGeom prst="rect">
            <a:avLst/>
          </a:prstGeom>
        </p:spPr>
      </p:pic>
      <p:pic>
        <p:nvPicPr>
          <p:cNvPr id="6" name="Imagem 5">
            <a:extLst>
              <a:ext uri="{FF2B5EF4-FFF2-40B4-BE49-F238E27FC236}">
                <a16:creationId xmlns:a16="http://schemas.microsoft.com/office/drawing/2014/main" id="{C4C799C0-2704-CFC2-BE17-569573BF2F6E}"/>
              </a:ext>
            </a:extLst>
          </p:cNvPr>
          <p:cNvPicPr>
            <a:picLocks noChangeAspect="1"/>
          </p:cNvPicPr>
          <p:nvPr/>
        </p:nvPicPr>
        <p:blipFill>
          <a:blip r:embed="rId3"/>
          <a:stretch>
            <a:fillRect/>
          </a:stretch>
        </p:blipFill>
        <p:spPr>
          <a:xfrm>
            <a:off x="9159422" y="5401087"/>
            <a:ext cx="2194378" cy="846955"/>
          </a:xfrm>
          <a:prstGeom prst="rect">
            <a:avLst/>
          </a:prstGeom>
        </p:spPr>
      </p:pic>
      <p:sp>
        <p:nvSpPr>
          <p:cNvPr id="4" name="Espaço Reservado para Número de Slide 3">
            <a:extLst>
              <a:ext uri="{FF2B5EF4-FFF2-40B4-BE49-F238E27FC236}">
                <a16:creationId xmlns:a16="http://schemas.microsoft.com/office/drawing/2014/main" id="{E1931501-468D-6056-906F-8561CE6BF268}"/>
              </a:ext>
            </a:extLst>
          </p:cNvPr>
          <p:cNvSpPr>
            <a:spLocks noGrp="1"/>
          </p:cNvSpPr>
          <p:nvPr>
            <p:ph type="sldNum" sz="quarter" idx="11"/>
          </p:nvPr>
        </p:nvSpPr>
        <p:spPr>
          <a:xfrm>
            <a:off x="8610600" y="6356350"/>
            <a:ext cx="2743200" cy="365125"/>
          </a:xfrm>
          <a:prstGeom prst="rect">
            <a:avLst/>
          </a:prstGeom>
        </p:spPr>
        <p:txBody>
          <a:bodyPr/>
          <a:lstStyle>
            <a:lvl1pPr>
              <a:defRPr>
                <a:solidFill>
                  <a:schemeClr val="bg1"/>
                </a:solidFill>
              </a:defRPr>
            </a:lvl1pPr>
          </a:lstStyle>
          <a:p>
            <a:fld id="{5D3D502A-2AED-4A03-9253-F41D6C9B222A}" type="slidenum">
              <a:rPr lang="pt-BR" smtClean="0"/>
              <a:t>‹nº›</a:t>
            </a:fld>
            <a:endParaRPr lang="pt-BR"/>
          </a:p>
        </p:txBody>
      </p:sp>
      <p:sp>
        <p:nvSpPr>
          <p:cNvPr id="7" name="Título 6">
            <a:extLst>
              <a:ext uri="{FF2B5EF4-FFF2-40B4-BE49-F238E27FC236}">
                <a16:creationId xmlns:a16="http://schemas.microsoft.com/office/drawing/2014/main" id="{FCDCF64D-DF2A-9095-3FAE-DAFBB594A4DA}"/>
              </a:ext>
            </a:extLst>
          </p:cNvPr>
          <p:cNvSpPr>
            <a:spLocks noGrp="1"/>
          </p:cNvSpPr>
          <p:nvPr>
            <p:ph type="title"/>
          </p:nvPr>
        </p:nvSpPr>
        <p:spPr>
          <a:xfrm>
            <a:off x="1039368" y="1972222"/>
            <a:ext cx="5670715" cy="2913555"/>
          </a:xfrm>
        </p:spPr>
        <p:txBody>
          <a:bodyPr>
            <a:normAutofit/>
          </a:bodyPr>
          <a:lstStyle>
            <a:lvl1pPr>
              <a:defRPr sz="5400" b="1" i="0">
                <a:solidFill>
                  <a:schemeClr val="bg1"/>
                </a:solidFill>
                <a:latin typeface="Segoe UI" panose="020B0502040204020203" pitchFamily="34" charset="0"/>
              </a:defRPr>
            </a:lvl1pPr>
          </a:lstStyle>
          <a:p>
            <a:r>
              <a:rPr lang="pt-BR"/>
              <a:t>Clique para editar o título Mestre</a:t>
            </a:r>
            <a:endParaRPr lang="pt-BR" dirty="0"/>
          </a:p>
        </p:txBody>
      </p:sp>
      <p:pic>
        <p:nvPicPr>
          <p:cNvPr id="9" name="Imagem 8">
            <a:extLst>
              <a:ext uri="{FF2B5EF4-FFF2-40B4-BE49-F238E27FC236}">
                <a16:creationId xmlns:a16="http://schemas.microsoft.com/office/drawing/2014/main" id="{E805D468-6284-F67B-6F22-85081A51BEB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96350" y="1122382"/>
            <a:ext cx="2457450" cy="970864"/>
          </a:xfrm>
          <a:prstGeom prst="rect">
            <a:avLst/>
          </a:prstGeom>
        </p:spPr>
      </p:pic>
    </p:spTree>
    <p:extLst>
      <p:ext uri="{BB962C8B-B14F-4D97-AF65-F5344CB8AC3E}">
        <p14:creationId xmlns:p14="http://schemas.microsoft.com/office/powerpoint/2010/main" val="25045978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ransição de capitulo">
    <p:spTree>
      <p:nvGrpSpPr>
        <p:cNvPr id="1" name=""/>
        <p:cNvGrpSpPr/>
        <p:nvPr/>
      </p:nvGrpSpPr>
      <p:grpSpPr>
        <a:xfrm>
          <a:off x="0" y="0"/>
          <a:ext cx="0" cy="0"/>
          <a:chOff x="0" y="0"/>
          <a:chExt cx="0" cy="0"/>
        </a:xfrm>
      </p:grpSpPr>
      <p:sp>
        <p:nvSpPr>
          <p:cNvPr id="5" name="Retângulo 4">
            <a:extLst>
              <a:ext uri="{FF2B5EF4-FFF2-40B4-BE49-F238E27FC236}">
                <a16:creationId xmlns:a16="http://schemas.microsoft.com/office/drawing/2014/main" id="{4308ECCC-9160-984B-7157-6CD9D929C4BC}"/>
              </a:ext>
            </a:extLst>
          </p:cNvPr>
          <p:cNvSpPr/>
          <p:nvPr/>
        </p:nvSpPr>
        <p:spPr>
          <a:xfrm>
            <a:off x="0" y="-77972"/>
            <a:ext cx="12192000" cy="69359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Retângulo 13">
            <a:extLst>
              <a:ext uri="{FF2B5EF4-FFF2-40B4-BE49-F238E27FC236}">
                <a16:creationId xmlns:a16="http://schemas.microsoft.com/office/drawing/2014/main" id="{22F51281-C600-A3F4-809F-54F901967534}"/>
              </a:ext>
            </a:extLst>
          </p:cNvPr>
          <p:cNvSpPr/>
          <p:nvPr/>
        </p:nvSpPr>
        <p:spPr>
          <a:xfrm>
            <a:off x="0" y="-77972"/>
            <a:ext cx="12192000" cy="54408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0" i="0" dirty="0">
              <a:latin typeface="Segoe UI" panose="020B0502040204020203" pitchFamily="34" charset="0"/>
            </a:endParaRPr>
          </a:p>
        </p:txBody>
      </p:sp>
      <p:sp>
        <p:nvSpPr>
          <p:cNvPr id="4" name="Espaço Reservado para Número de Slide 3">
            <a:extLst>
              <a:ext uri="{FF2B5EF4-FFF2-40B4-BE49-F238E27FC236}">
                <a16:creationId xmlns:a16="http://schemas.microsoft.com/office/drawing/2014/main" id="{E1931501-468D-6056-906F-8561CE6BF268}"/>
              </a:ext>
            </a:extLst>
          </p:cNvPr>
          <p:cNvSpPr>
            <a:spLocks noGrp="1"/>
          </p:cNvSpPr>
          <p:nvPr>
            <p:ph type="sldNum" sz="quarter" idx="11"/>
          </p:nvPr>
        </p:nvSpPr>
        <p:spPr>
          <a:xfrm>
            <a:off x="8610600" y="6356350"/>
            <a:ext cx="2743200" cy="365125"/>
          </a:xfrm>
          <a:prstGeom prst="rect">
            <a:avLst/>
          </a:prstGeom>
        </p:spPr>
        <p:txBody>
          <a:bodyPr/>
          <a:lstStyle>
            <a:lvl1pPr>
              <a:defRPr>
                <a:solidFill>
                  <a:schemeClr val="bg1">
                    <a:lumMod val="50000"/>
                  </a:schemeClr>
                </a:solidFill>
              </a:defRPr>
            </a:lvl1pPr>
          </a:lstStyle>
          <a:p>
            <a:fld id="{5D3D502A-2AED-4A03-9253-F41D6C9B222A}" type="slidenum">
              <a:rPr lang="pt-BR" smtClean="0"/>
              <a:t>‹nº›</a:t>
            </a:fld>
            <a:endParaRPr lang="pt-BR"/>
          </a:p>
        </p:txBody>
      </p:sp>
      <p:pic>
        <p:nvPicPr>
          <p:cNvPr id="2" name="Imagem 1">
            <a:extLst>
              <a:ext uri="{FF2B5EF4-FFF2-40B4-BE49-F238E27FC236}">
                <a16:creationId xmlns:a16="http://schemas.microsoft.com/office/drawing/2014/main" id="{A2DE20B6-CC9D-E575-A900-DF0CE0C19E03}"/>
              </a:ext>
            </a:extLst>
          </p:cNvPr>
          <p:cNvPicPr>
            <a:picLocks noChangeAspect="1"/>
          </p:cNvPicPr>
          <p:nvPr/>
        </p:nvPicPr>
        <p:blipFill rotWithShape="1">
          <a:blip r:embed="rId2">
            <a:extLst>
              <a:ext uri="{28A0092B-C50C-407E-A947-70E740481C1C}">
                <a14:useLocalDpi xmlns:a14="http://schemas.microsoft.com/office/drawing/2010/main" val="0"/>
              </a:ext>
            </a:extLst>
          </a:blip>
          <a:srcRect b="20665"/>
          <a:stretch/>
        </p:blipFill>
        <p:spPr>
          <a:xfrm>
            <a:off x="0" y="-77972"/>
            <a:ext cx="12192000" cy="5440832"/>
          </a:xfrm>
          <a:prstGeom prst="rect">
            <a:avLst/>
          </a:prstGeom>
          <a:solidFill>
            <a:srgbClr val="73A277">
              <a:alpha val="0"/>
            </a:srgbClr>
          </a:solidFill>
        </p:spPr>
      </p:pic>
      <p:pic>
        <p:nvPicPr>
          <p:cNvPr id="10" name="Imagem 9" descr="Ícone&#10;&#10;Descrição gerada automaticamente">
            <a:extLst>
              <a:ext uri="{FF2B5EF4-FFF2-40B4-BE49-F238E27FC236}">
                <a16:creationId xmlns:a16="http://schemas.microsoft.com/office/drawing/2014/main" id="{1C168EA2-9B60-BEBB-839B-6D25A2F8850F}"/>
              </a:ext>
            </a:extLst>
          </p:cNvPr>
          <p:cNvPicPr>
            <a:picLocks noChangeAspect="1"/>
          </p:cNvPicPr>
          <p:nvPr/>
        </p:nvPicPr>
        <p:blipFill>
          <a:blip r:embed="rId3"/>
          <a:stretch>
            <a:fillRect/>
          </a:stretch>
        </p:blipFill>
        <p:spPr>
          <a:xfrm>
            <a:off x="183467" y="387346"/>
            <a:ext cx="388730" cy="388730"/>
          </a:xfrm>
          <a:prstGeom prst="rect">
            <a:avLst/>
          </a:prstGeom>
        </p:spPr>
      </p:pic>
      <p:sp>
        <p:nvSpPr>
          <p:cNvPr id="11" name="Título 10">
            <a:extLst>
              <a:ext uri="{FF2B5EF4-FFF2-40B4-BE49-F238E27FC236}">
                <a16:creationId xmlns:a16="http://schemas.microsoft.com/office/drawing/2014/main" id="{CFB15329-2B69-F964-C347-8C2019E5AE5B}"/>
              </a:ext>
            </a:extLst>
          </p:cNvPr>
          <p:cNvSpPr>
            <a:spLocks noGrp="1"/>
          </p:cNvSpPr>
          <p:nvPr>
            <p:ph type="title"/>
          </p:nvPr>
        </p:nvSpPr>
        <p:spPr/>
        <p:txBody>
          <a:bodyPr/>
          <a:lstStyle>
            <a:lvl1pPr>
              <a:defRPr>
                <a:solidFill>
                  <a:schemeClr val="bg1"/>
                </a:solidFill>
              </a:defRPr>
            </a:lvl1pPr>
          </a:lstStyle>
          <a:p>
            <a:r>
              <a:rPr lang="pt-BR"/>
              <a:t>Clique para editar o título Mestre</a:t>
            </a:r>
            <a:endParaRPr lang="pt-BR" dirty="0"/>
          </a:p>
        </p:txBody>
      </p:sp>
      <p:sp>
        <p:nvSpPr>
          <p:cNvPr id="13" name="Espaço Reservado para Texto 12">
            <a:extLst>
              <a:ext uri="{FF2B5EF4-FFF2-40B4-BE49-F238E27FC236}">
                <a16:creationId xmlns:a16="http://schemas.microsoft.com/office/drawing/2014/main" id="{EC6AA4F7-A19F-5FCC-0B23-BACFA4C0BC6B}"/>
              </a:ext>
            </a:extLst>
          </p:cNvPr>
          <p:cNvSpPr>
            <a:spLocks noGrp="1"/>
          </p:cNvSpPr>
          <p:nvPr>
            <p:ph type="body" sz="quarter" idx="12"/>
          </p:nvPr>
        </p:nvSpPr>
        <p:spPr>
          <a:xfrm>
            <a:off x="1039813" y="1495425"/>
            <a:ext cx="10515600" cy="3265488"/>
          </a:xfrm>
        </p:spPr>
        <p:txBody>
          <a:bodyPr/>
          <a:lstStyle>
            <a:lvl1pPr>
              <a:defRPr>
                <a:solidFill>
                  <a:schemeClr val="bg1"/>
                </a:solidFill>
              </a:defRPr>
            </a:lvl1pPr>
          </a:lstStyle>
          <a:p>
            <a:pPr lvl="0"/>
            <a:r>
              <a:rPr lang="pt-BR"/>
              <a:t>Clique para editar os estilos de texto Mestres</a:t>
            </a:r>
          </a:p>
        </p:txBody>
      </p:sp>
    </p:spTree>
    <p:extLst>
      <p:ext uri="{BB962C8B-B14F-4D97-AF65-F5344CB8AC3E}">
        <p14:creationId xmlns:p14="http://schemas.microsoft.com/office/powerpoint/2010/main" val="1935444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Transição de capitulo">
    <p:spTree>
      <p:nvGrpSpPr>
        <p:cNvPr id="1" name=""/>
        <p:cNvGrpSpPr/>
        <p:nvPr/>
      </p:nvGrpSpPr>
      <p:grpSpPr>
        <a:xfrm>
          <a:off x="0" y="0"/>
          <a:ext cx="0" cy="0"/>
          <a:chOff x="0" y="0"/>
          <a:chExt cx="0" cy="0"/>
        </a:xfrm>
      </p:grpSpPr>
      <p:sp>
        <p:nvSpPr>
          <p:cNvPr id="7" name="Retângulo 6">
            <a:extLst>
              <a:ext uri="{FF2B5EF4-FFF2-40B4-BE49-F238E27FC236}">
                <a16:creationId xmlns:a16="http://schemas.microsoft.com/office/drawing/2014/main" id="{7D4D59BE-E7A3-A40C-6D3F-9443C1728FEB}"/>
              </a:ext>
            </a:extLst>
          </p:cNvPr>
          <p:cNvSpPr/>
          <p:nvPr/>
        </p:nvSpPr>
        <p:spPr>
          <a:xfrm>
            <a:off x="0" y="-77972"/>
            <a:ext cx="12191999" cy="69359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0" i="0" dirty="0">
              <a:latin typeface="Segoe UI" panose="020B0502040204020203" pitchFamily="34" charset="0"/>
            </a:endParaRPr>
          </a:p>
        </p:txBody>
      </p:sp>
      <p:sp>
        <p:nvSpPr>
          <p:cNvPr id="4" name="Espaço Reservado para Número de Slide 3">
            <a:extLst>
              <a:ext uri="{FF2B5EF4-FFF2-40B4-BE49-F238E27FC236}">
                <a16:creationId xmlns:a16="http://schemas.microsoft.com/office/drawing/2014/main" id="{E1931501-468D-6056-906F-8561CE6BF268}"/>
              </a:ext>
            </a:extLst>
          </p:cNvPr>
          <p:cNvSpPr>
            <a:spLocks noGrp="1"/>
          </p:cNvSpPr>
          <p:nvPr>
            <p:ph type="sldNum" sz="quarter" idx="11"/>
          </p:nvPr>
        </p:nvSpPr>
        <p:spPr>
          <a:xfrm>
            <a:off x="8610600" y="6356350"/>
            <a:ext cx="2743200" cy="365125"/>
          </a:xfrm>
          <a:prstGeom prst="rect">
            <a:avLst/>
          </a:prstGeom>
        </p:spPr>
        <p:txBody>
          <a:bodyPr/>
          <a:lstStyle>
            <a:lvl1pPr>
              <a:defRPr>
                <a:solidFill>
                  <a:schemeClr val="bg1">
                    <a:lumMod val="50000"/>
                  </a:schemeClr>
                </a:solidFill>
              </a:defRPr>
            </a:lvl1pPr>
          </a:lstStyle>
          <a:p>
            <a:fld id="{5D3D502A-2AED-4A03-9253-F41D6C9B222A}" type="slidenum">
              <a:rPr lang="pt-BR" smtClean="0"/>
              <a:t>‹nº›</a:t>
            </a:fld>
            <a:endParaRPr lang="pt-BR"/>
          </a:p>
        </p:txBody>
      </p:sp>
      <p:pic>
        <p:nvPicPr>
          <p:cNvPr id="2" name="Imagem 1">
            <a:extLst>
              <a:ext uri="{FF2B5EF4-FFF2-40B4-BE49-F238E27FC236}">
                <a16:creationId xmlns:a16="http://schemas.microsoft.com/office/drawing/2014/main" id="{A2DE20B6-CC9D-E575-A900-DF0CE0C19E03}"/>
              </a:ext>
            </a:extLst>
          </p:cNvPr>
          <p:cNvPicPr>
            <a:picLocks noChangeAspect="1"/>
          </p:cNvPicPr>
          <p:nvPr/>
        </p:nvPicPr>
        <p:blipFill rotWithShape="1">
          <a:blip r:embed="rId2">
            <a:extLst>
              <a:ext uri="{28A0092B-C50C-407E-A947-70E740481C1C}">
                <a14:useLocalDpi xmlns:a14="http://schemas.microsoft.com/office/drawing/2010/main" val="0"/>
              </a:ext>
            </a:extLst>
          </a:blip>
          <a:srcRect b="20665"/>
          <a:stretch/>
        </p:blipFill>
        <p:spPr>
          <a:xfrm>
            <a:off x="0" y="-77972"/>
            <a:ext cx="12192000" cy="5440832"/>
          </a:xfrm>
          <a:prstGeom prst="rect">
            <a:avLst/>
          </a:prstGeom>
          <a:solidFill>
            <a:srgbClr val="73A277"/>
          </a:solidFill>
          <a:effectLst/>
        </p:spPr>
      </p:pic>
      <p:sp>
        <p:nvSpPr>
          <p:cNvPr id="5" name="Retângulo 4">
            <a:extLst>
              <a:ext uri="{FF2B5EF4-FFF2-40B4-BE49-F238E27FC236}">
                <a16:creationId xmlns:a16="http://schemas.microsoft.com/office/drawing/2014/main" id="{A8DBB0F7-7B43-C690-8A02-4F457F89D702}"/>
              </a:ext>
            </a:extLst>
          </p:cNvPr>
          <p:cNvSpPr/>
          <p:nvPr/>
        </p:nvSpPr>
        <p:spPr>
          <a:xfrm>
            <a:off x="0" y="-77973"/>
            <a:ext cx="12192000" cy="5440547"/>
          </a:xfrm>
          <a:prstGeom prst="rect">
            <a:avLst/>
          </a:prstGeom>
          <a:solidFill>
            <a:srgbClr val="3E598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0" i="0" dirty="0">
              <a:latin typeface="Segoe UI" panose="020B0502040204020203" pitchFamily="34" charset="0"/>
            </a:endParaRPr>
          </a:p>
        </p:txBody>
      </p:sp>
      <p:pic>
        <p:nvPicPr>
          <p:cNvPr id="10" name="Imagem 9" descr="Ícone&#10;&#10;Descrição gerada automaticamente">
            <a:extLst>
              <a:ext uri="{FF2B5EF4-FFF2-40B4-BE49-F238E27FC236}">
                <a16:creationId xmlns:a16="http://schemas.microsoft.com/office/drawing/2014/main" id="{1C168EA2-9B60-BEBB-839B-6D25A2F8850F}"/>
              </a:ext>
            </a:extLst>
          </p:cNvPr>
          <p:cNvPicPr>
            <a:picLocks noChangeAspect="1"/>
          </p:cNvPicPr>
          <p:nvPr/>
        </p:nvPicPr>
        <p:blipFill>
          <a:blip r:embed="rId3"/>
          <a:stretch>
            <a:fillRect/>
          </a:stretch>
        </p:blipFill>
        <p:spPr>
          <a:xfrm>
            <a:off x="183467" y="387346"/>
            <a:ext cx="388730" cy="388730"/>
          </a:xfrm>
          <a:prstGeom prst="rect">
            <a:avLst/>
          </a:prstGeom>
        </p:spPr>
      </p:pic>
      <p:sp>
        <p:nvSpPr>
          <p:cNvPr id="11" name="Título 10">
            <a:extLst>
              <a:ext uri="{FF2B5EF4-FFF2-40B4-BE49-F238E27FC236}">
                <a16:creationId xmlns:a16="http://schemas.microsoft.com/office/drawing/2014/main" id="{CFB15329-2B69-F964-C347-8C2019E5AE5B}"/>
              </a:ext>
            </a:extLst>
          </p:cNvPr>
          <p:cNvSpPr>
            <a:spLocks noGrp="1"/>
          </p:cNvSpPr>
          <p:nvPr>
            <p:ph type="title"/>
          </p:nvPr>
        </p:nvSpPr>
        <p:spPr/>
        <p:txBody>
          <a:bodyPr/>
          <a:lstStyle>
            <a:lvl1pPr>
              <a:defRPr>
                <a:solidFill>
                  <a:schemeClr val="bg1"/>
                </a:solidFill>
              </a:defRPr>
            </a:lvl1pPr>
          </a:lstStyle>
          <a:p>
            <a:r>
              <a:rPr lang="pt-BR"/>
              <a:t>Clique para editar o título Mestre</a:t>
            </a:r>
            <a:endParaRPr lang="pt-BR" dirty="0"/>
          </a:p>
        </p:txBody>
      </p:sp>
      <p:sp>
        <p:nvSpPr>
          <p:cNvPr id="13" name="Espaço Reservado para Texto 12">
            <a:extLst>
              <a:ext uri="{FF2B5EF4-FFF2-40B4-BE49-F238E27FC236}">
                <a16:creationId xmlns:a16="http://schemas.microsoft.com/office/drawing/2014/main" id="{EC6AA4F7-A19F-5FCC-0B23-BACFA4C0BC6B}"/>
              </a:ext>
            </a:extLst>
          </p:cNvPr>
          <p:cNvSpPr>
            <a:spLocks noGrp="1"/>
          </p:cNvSpPr>
          <p:nvPr>
            <p:ph type="body" sz="quarter" idx="12"/>
          </p:nvPr>
        </p:nvSpPr>
        <p:spPr>
          <a:xfrm>
            <a:off x="1039813" y="1495425"/>
            <a:ext cx="10515600" cy="3265488"/>
          </a:xfrm>
        </p:spPr>
        <p:txBody>
          <a:bodyPr/>
          <a:lstStyle>
            <a:lvl1pPr>
              <a:defRPr>
                <a:solidFill>
                  <a:schemeClr val="bg1"/>
                </a:solidFill>
              </a:defRPr>
            </a:lvl1pPr>
          </a:lstStyle>
          <a:p>
            <a:pPr lvl="0"/>
            <a:r>
              <a:rPr lang="pt-BR"/>
              <a:t>Clique para editar os estilos de texto Mestres</a:t>
            </a:r>
          </a:p>
        </p:txBody>
      </p:sp>
    </p:spTree>
    <p:extLst>
      <p:ext uri="{BB962C8B-B14F-4D97-AF65-F5344CB8AC3E}">
        <p14:creationId xmlns:p14="http://schemas.microsoft.com/office/powerpoint/2010/main" val="14829759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Imagem e texto - direita">
    <p:spTree>
      <p:nvGrpSpPr>
        <p:cNvPr id="1" name=""/>
        <p:cNvGrpSpPr/>
        <p:nvPr/>
      </p:nvGrpSpPr>
      <p:grpSpPr>
        <a:xfrm>
          <a:off x="0" y="0"/>
          <a:ext cx="0" cy="0"/>
          <a:chOff x="0" y="0"/>
          <a:chExt cx="0" cy="0"/>
        </a:xfrm>
      </p:grpSpPr>
      <p:pic>
        <p:nvPicPr>
          <p:cNvPr id="3" name="Imagem 2" descr="Tela de computador com fundo azul&#10;&#10;Descrição gerada automaticamente com confiança baixa">
            <a:extLst>
              <a:ext uri="{FF2B5EF4-FFF2-40B4-BE49-F238E27FC236}">
                <a16:creationId xmlns:a16="http://schemas.microsoft.com/office/drawing/2014/main" id="{9DBA0D71-2A17-CF98-80DE-11834700721E}"/>
              </a:ext>
            </a:extLst>
          </p:cNvPr>
          <p:cNvPicPr>
            <a:picLocks noChangeAspect="1"/>
          </p:cNvPicPr>
          <p:nvPr/>
        </p:nvPicPr>
        <p:blipFill rotWithShape="1">
          <a:blip r:embed="rId2"/>
          <a:srcRect t="11842" b="11842"/>
          <a:stretch/>
        </p:blipFill>
        <p:spPr>
          <a:xfrm>
            <a:off x="-1" y="-1"/>
            <a:ext cx="5990897" cy="6858001"/>
          </a:xfrm>
          <a:prstGeom prst="rect">
            <a:avLst/>
          </a:prstGeom>
        </p:spPr>
      </p:pic>
      <p:sp>
        <p:nvSpPr>
          <p:cNvPr id="4" name="Espaço Reservado para Número de Slide 3">
            <a:extLst>
              <a:ext uri="{FF2B5EF4-FFF2-40B4-BE49-F238E27FC236}">
                <a16:creationId xmlns:a16="http://schemas.microsoft.com/office/drawing/2014/main" id="{E1931501-468D-6056-906F-8561CE6BF268}"/>
              </a:ext>
            </a:extLst>
          </p:cNvPr>
          <p:cNvSpPr>
            <a:spLocks noGrp="1"/>
          </p:cNvSpPr>
          <p:nvPr>
            <p:ph type="sldNum" sz="quarter" idx="11"/>
          </p:nvPr>
        </p:nvSpPr>
        <p:spPr>
          <a:xfrm>
            <a:off x="8610600" y="6356350"/>
            <a:ext cx="2743200" cy="365125"/>
          </a:xfrm>
          <a:prstGeom prst="rect">
            <a:avLst/>
          </a:prstGeom>
        </p:spPr>
        <p:txBody>
          <a:bodyPr/>
          <a:lstStyle>
            <a:lvl1pPr>
              <a:defRPr>
                <a:solidFill>
                  <a:schemeClr val="bg1">
                    <a:lumMod val="50000"/>
                  </a:schemeClr>
                </a:solidFill>
              </a:defRPr>
            </a:lvl1pPr>
          </a:lstStyle>
          <a:p>
            <a:fld id="{5D3D502A-2AED-4A03-9253-F41D6C9B222A}" type="slidenum">
              <a:rPr lang="pt-BR" smtClean="0"/>
              <a:t>‹nº›</a:t>
            </a:fld>
            <a:endParaRPr lang="pt-BR"/>
          </a:p>
        </p:txBody>
      </p:sp>
      <p:sp>
        <p:nvSpPr>
          <p:cNvPr id="8" name="Espaço Reservado para Imagem 7">
            <a:extLst>
              <a:ext uri="{FF2B5EF4-FFF2-40B4-BE49-F238E27FC236}">
                <a16:creationId xmlns:a16="http://schemas.microsoft.com/office/drawing/2014/main" id="{67706FC5-640A-B36D-597B-457B9A06AE78}"/>
              </a:ext>
            </a:extLst>
          </p:cNvPr>
          <p:cNvSpPr>
            <a:spLocks noGrp="1"/>
          </p:cNvSpPr>
          <p:nvPr>
            <p:ph type="pic" sz="quarter" idx="12"/>
          </p:nvPr>
        </p:nvSpPr>
        <p:spPr>
          <a:xfrm>
            <a:off x="6292850" y="322263"/>
            <a:ext cx="5581650" cy="5822950"/>
          </a:xfrm>
        </p:spPr>
        <p:txBody>
          <a:bodyPr/>
          <a:lstStyle/>
          <a:p>
            <a:endParaRPr lang="pt-BR"/>
          </a:p>
        </p:txBody>
      </p:sp>
      <p:pic>
        <p:nvPicPr>
          <p:cNvPr id="9" name="Imagem 8" descr="Ícone&#10;&#10;Descrição gerada automaticamente">
            <a:extLst>
              <a:ext uri="{FF2B5EF4-FFF2-40B4-BE49-F238E27FC236}">
                <a16:creationId xmlns:a16="http://schemas.microsoft.com/office/drawing/2014/main" id="{994E9243-F44B-03CE-E00A-427ADFBC3730}"/>
              </a:ext>
            </a:extLst>
          </p:cNvPr>
          <p:cNvPicPr>
            <a:picLocks noChangeAspect="1"/>
          </p:cNvPicPr>
          <p:nvPr/>
        </p:nvPicPr>
        <p:blipFill>
          <a:blip r:embed="rId3"/>
          <a:stretch>
            <a:fillRect/>
          </a:stretch>
        </p:blipFill>
        <p:spPr>
          <a:xfrm>
            <a:off x="183467" y="387346"/>
            <a:ext cx="388730" cy="388730"/>
          </a:xfrm>
          <a:prstGeom prst="rect">
            <a:avLst/>
          </a:prstGeom>
        </p:spPr>
      </p:pic>
    </p:spTree>
    <p:extLst>
      <p:ext uri="{BB962C8B-B14F-4D97-AF65-F5344CB8AC3E}">
        <p14:creationId xmlns:p14="http://schemas.microsoft.com/office/powerpoint/2010/main" val="26484522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Imagem e texto - esquerda">
    <p:spTree>
      <p:nvGrpSpPr>
        <p:cNvPr id="1" name=""/>
        <p:cNvGrpSpPr/>
        <p:nvPr/>
      </p:nvGrpSpPr>
      <p:grpSpPr>
        <a:xfrm>
          <a:off x="0" y="0"/>
          <a:ext cx="0" cy="0"/>
          <a:chOff x="0" y="0"/>
          <a:chExt cx="0" cy="0"/>
        </a:xfrm>
      </p:grpSpPr>
      <p:pic>
        <p:nvPicPr>
          <p:cNvPr id="5" name="Imagem 4" descr="Uma imagem contendo mesa, grande, pássaro, água&#10;&#10;Descrição gerada automaticamente">
            <a:extLst>
              <a:ext uri="{FF2B5EF4-FFF2-40B4-BE49-F238E27FC236}">
                <a16:creationId xmlns:a16="http://schemas.microsoft.com/office/drawing/2014/main" id="{1A38A19E-3FCC-002B-DCC0-5990C14F6AC6}"/>
              </a:ext>
            </a:extLst>
          </p:cNvPr>
          <p:cNvPicPr>
            <a:picLocks noChangeAspect="1"/>
          </p:cNvPicPr>
          <p:nvPr/>
        </p:nvPicPr>
        <p:blipFill rotWithShape="1">
          <a:blip r:embed="rId2"/>
          <a:srcRect t="7960" b="15577"/>
          <a:stretch/>
        </p:blipFill>
        <p:spPr>
          <a:xfrm>
            <a:off x="6208602" y="-1"/>
            <a:ext cx="5990897" cy="6858001"/>
          </a:xfrm>
          <a:prstGeom prst="rect">
            <a:avLst/>
          </a:prstGeom>
        </p:spPr>
      </p:pic>
      <p:sp>
        <p:nvSpPr>
          <p:cNvPr id="6" name="Retângulo 5">
            <a:extLst>
              <a:ext uri="{FF2B5EF4-FFF2-40B4-BE49-F238E27FC236}">
                <a16:creationId xmlns:a16="http://schemas.microsoft.com/office/drawing/2014/main" id="{AC154A23-0C03-04F6-60B2-241C51714656}"/>
              </a:ext>
            </a:extLst>
          </p:cNvPr>
          <p:cNvSpPr/>
          <p:nvPr/>
        </p:nvSpPr>
        <p:spPr>
          <a:xfrm>
            <a:off x="0" y="0"/>
            <a:ext cx="620110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0" i="0" dirty="0">
              <a:latin typeface="Segoe UI" panose="020B0502040204020203" pitchFamily="34" charset="0"/>
            </a:endParaRPr>
          </a:p>
        </p:txBody>
      </p:sp>
      <p:sp>
        <p:nvSpPr>
          <p:cNvPr id="4" name="Espaço Reservado para Número de Slide 3">
            <a:extLst>
              <a:ext uri="{FF2B5EF4-FFF2-40B4-BE49-F238E27FC236}">
                <a16:creationId xmlns:a16="http://schemas.microsoft.com/office/drawing/2014/main" id="{E1931501-468D-6056-906F-8561CE6BF268}"/>
              </a:ext>
            </a:extLst>
          </p:cNvPr>
          <p:cNvSpPr>
            <a:spLocks noGrp="1"/>
          </p:cNvSpPr>
          <p:nvPr>
            <p:ph type="sldNum" sz="quarter" idx="11"/>
          </p:nvPr>
        </p:nvSpPr>
        <p:spPr>
          <a:xfrm>
            <a:off x="8610600" y="6356350"/>
            <a:ext cx="2743200" cy="365125"/>
          </a:xfrm>
          <a:prstGeom prst="rect">
            <a:avLst/>
          </a:prstGeom>
        </p:spPr>
        <p:txBody>
          <a:bodyPr/>
          <a:lstStyle>
            <a:lvl1pPr>
              <a:defRPr>
                <a:solidFill>
                  <a:schemeClr val="bg1"/>
                </a:solidFill>
              </a:defRPr>
            </a:lvl1pPr>
          </a:lstStyle>
          <a:p>
            <a:fld id="{5D3D502A-2AED-4A03-9253-F41D6C9B222A}" type="slidenum">
              <a:rPr lang="pt-BR" smtClean="0"/>
              <a:t>‹nº›</a:t>
            </a:fld>
            <a:endParaRPr lang="pt-BR"/>
          </a:p>
        </p:txBody>
      </p:sp>
      <p:sp>
        <p:nvSpPr>
          <p:cNvPr id="8" name="Espaço Reservado para Imagem 7">
            <a:extLst>
              <a:ext uri="{FF2B5EF4-FFF2-40B4-BE49-F238E27FC236}">
                <a16:creationId xmlns:a16="http://schemas.microsoft.com/office/drawing/2014/main" id="{67706FC5-640A-B36D-597B-457B9A06AE78}"/>
              </a:ext>
            </a:extLst>
          </p:cNvPr>
          <p:cNvSpPr>
            <a:spLocks noGrp="1"/>
          </p:cNvSpPr>
          <p:nvPr>
            <p:ph type="pic" sz="quarter" idx="12"/>
          </p:nvPr>
        </p:nvSpPr>
        <p:spPr>
          <a:xfrm>
            <a:off x="755663" y="322263"/>
            <a:ext cx="5046065" cy="5822950"/>
          </a:xfrm>
        </p:spPr>
        <p:txBody>
          <a:bodyPr/>
          <a:lstStyle/>
          <a:p>
            <a:endParaRPr lang="pt-BR"/>
          </a:p>
        </p:txBody>
      </p:sp>
      <p:pic>
        <p:nvPicPr>
          <p:cNvPr id="7" name="Imagem 6">
            <a:extLst>
              <a:ext uri="{FF2B5EF4-FFF2-40B4-BE49-F238E27FC236}">
                <a16:creationId xmlns:a16="http://schemas.microsoft.com/office/drawing/2014/main" id="{1E89A1CF-02FB-D501-127F-8BE2FCD31625}"/>
              </a:ext>
            </a:extLst>
          </p:cNvPr>
          <p:cNvPicPr>
            <a:picLocks noChangeAspect="1"/>
          </p:cNvPicPr>
          <p:nvPr/>
        </p:nvPicPr>
        <p:blipFill rotWithShape="1">
          <a:blip r:embed="rId3">
            <a:extLst>
              <a:ext uri="{28A0092B-C50C-407E-A947-70E740481C1C}">
                <a14:useLocalDpi xmlns:a14="http://schemas.microsoft.com/office/drawing/2010/main" val="0"/>
              </a:ext>
            </a:extLst>
          </a:blip>
          <a:srcRect b="96317"/>
          <a:stretch/>
        </p:blipFill>
        <p:spPr>
          <a:xfrm rot="5400000" flipV="1">
            <a:off x="-2322227" y="3739005"/>
            <a:ext cx="5400119" cy="63178"/>
          </a:xfrm>
          <a:prstGeom prst="rect">
            <a:avLst/>
          </a:prstGeom>
        </p:spPr>
      </p:pic>
      <p:pic>
        <p:nvPicPr>
          <p:cNvPr id="9" name="Imagem 8">
            <a:extLst>
              <a:ext uri="{FF2B5EF4-FFF2-40B4-BE49-F238E27FC236}">
                <a16:creationId xmlns:a16="http://schemas.microsoft.com/office/drawing/2014/main" id="{2D9FEB32-F748-D19A-5F30-4EF00ABAEDBC}"/>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183467" y="387346"/>
            <a:ext cx="388730" cy="388730"/>
          </a:xfrm>
          <a:prstGeom prst="rect">
            <a:avLst/>
          </a:prstGeom>
        </p:spPr>
      </p:pic>
    </p:spTree>
    <p:extLst>
      <p:ext uri="{BB962C8B-B14F-4D97-AF65-F5344CB8AC3E}">
        <p14:creationId xmlns:p14="http://schemas.microsoft.com/office/powerpoint/2010/main" val="212185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layout 2 caixas de text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CA0C06-2779-A64D-8042-59FD49C13FC3}"/>
              </a:ext>
            </a:extLst>
          </p:cNvPr>
          <p:cNvSpPr>
            <a:spLocks noGrp="1"/>
          </p:cNvSpPr>
          <p:nvPr>
            <p:ph type="title"/>
          </p:nvPr>
        </p:nvSpPr>
        <p:spPr/>
        <p:txBody>
          <a:bodyPr/>
          <a:lstStyle>
            <a:lvl1pPr>
              <a:defRPr b="1" i="0">
                <a:latin typeface="Segoe UI" panose="020B0502040204020203" pitchFamily="34" charset="0"/>
                <a:cs typeface="Segoe UI" panose="020B0502040204020203" pitchFamily="34" charset="0"/>
              </a:defRPr>
            </a:lvl1pPr>
          </a:lstStyle>
          <a:p>
            <a:r>
              <a:rPr lang="pt-BR"/>
              <a:t>Clique para editar o título Mestre</a:t>
            </a:r>
            <a:endParaRPr lang="pt-BR" dirty="0"/>
          </a:p>
        </p:txBody>
      </p:sp>
      <p:sp>
        <p:nvSpPr>
          <p:cNvPr id="4" name="Espaço Reservado para Número de Slide 3">
            <a:extLst>
              <a:ext uri="{FF2B5EF4-FFF2-40B4-BE49-F238E27FC236}">
                <a16:creationId xmlns:a16="http://schemas.microsoft.com/office/drawing/2014/main" id="{21560839-BBD1-E43D-7A0F-0A6FA3261241}"/>
              </a:ext>
            </a:extLst>
          </p:cNvPr>
          <p:cNvSpPr>
            <a:spLocks noGrp="1"/>
          </p:cNvSpPr>
          <p:nvPr>
            <p:ph type="sldNum" sz="quarter" idx="11"/>
          </p:nvPr>
        </p:nvSpPr>
        <p:spPr>
          <a:xfrm>
            <a:off x="8610600" y="6356350"/>
            <a:ext cx="2743200" cy="365125"/>
          </a:xfrm>
          <a:prstGeom prst="rect">
            <a:avLst/>
          </a:prstGeom>
        </p:spPr>
        <p:txBody>
          <a:bodyPr/>
          <a:lstStyle/>
          <a:p>
            <a:fld id="{5D3D502A-2AED-4A03-9253-F41D6C9B222A}" type="slidenum">
              <a:rPr lang="pt-BR" smtClean="0"/>
              <a:t>‹nº›</a:t>
            </a:fld>
            <a:endParaRPr lang="pt-BR"/>
          </a:p>
        </p:txBody>
      </p:sp>
      <p:sp>
        <p:nvSpPr>
          <p:cNvPr id="6" name="Espaço Reservado para Texto 5">
            <a:extLst>
              <a:ext uri="{FF2B5EF4-FFF2-40B4-BE49-F238E27FC236}">
                <a16:creationId xmlns:a16="http://schemas.microsoft.com/office/drawing/2014/main" id="{B9A0026E-FA67-3C90-C76B-ED4ECCA92F39}"/>
              </a:ext>
            </a:extLst>
          </p:cNvPr>
          <p:cNvSpPr>
            <a:spLocks noGrp="1"/>
          </p:cNvSpPr>
          <p:nvPr>
            <p:ph type="body" sz="quarter" idx="12"/>
          </p:nvPr>
        </p:nvSpPr>
        <p:spPr>
          <a:xfrm>
            <a:off x="1039813" y="1438275"/>
            <a:ext cx="4891087" cy="4667250"/>
          </a:xfrm>
          <a:solidFill>
            <a:schemeClr val="bg1">
              <a:lumMod val="95000"/>
            </a:schemeClr>
          </a:solidFill>
        </p:spPr>
        <p:txBody>
          <a:bodyPr/>
          <a:lstStyle>
            <a:lvl1pPr>
              <a:defRPr>
                <a:solidFill>
                  <a:srgbClr val="5F5F5F"/>
                </a:solidFill>
              </a:defRPr>
            </a:lvl1pPr>
            <a:lvl2pPr>
              <a:defRPr sz="1600" b="0" i="0">
                <a:latin typeface="Segoe UI" panose="020B0502040204020203" pitchFamily="34" charset="0"/>
              </a:defRPr>
            </a:lvl2pPr>
            <a:lvl3pPr>
              <a:defRPr sz="1600" b="0" i="0">
                <a:latin typeface="Montserrat" pitchFamily="2" charset="77"/>
              </a:defRPr>
            </a:lvl3pPr>
            <a:lvl4pPr>
              <a:defRPr sz="1600" b="0" i="0">
                <a:latin typeface="Montserrat" pitchFamily="2" charset="77"/>
              </a:defRPr>
            </a:lvl4pPr>
            <a:lvl5pPr>
              <a:defRPr sz="1600" b="0" i="0">
                <a:latin typeface="Montserrat" pitchFamily="2" charset="77"/>
              </a:defRPr>
            </a:lvl5pPr>
          </a:lstStyle>
          <a:p>
            <a:pPr lvl="0"/>
            <a:r>
              <a:rPr lang="pt-BR"/>
              <a:t>Clique para editar os estilos de texto Mestres</a:t>
            </a:r>
          </a:p>
          <a:p>
            <a:pPr lvl="1"/>
            <a:r>
              <a:rPr lang="pt-BR"/>
              <a:t>Segundo nível</a:t>
            </a:r>
          </a:p>
        </p:txBody>
      </p:sp>
      <p:sp>
        <p:nvSpPr>
          <p:cNvPr id="10" name="Espaço Reservado para Texto 9">
            <a:extLst>
              <a:ext uri="{FF2B5EF4-FFF2-40B4-BE49-F238E27FC236}">
                <a16:creationId xmlns:a16="http://schemas.microsoft.com/office/drawing/2014/main" id="{F5C1C6D4-9DFE-C7E7-C42E-051E8EEDBBA4}"/>
              </a:ext>
            </a:extLst>
          </p:cNvPr>
          <p:cNvSpPr>
            <a:spLocks noGrp="1"/>
          </p:cNvSpPr>
          <p:nvPr>
            <p:ph type="body" sz="quarter" idx="13"/>
          </p:nvPr>
        </p:nvSpPr>
        <p:spPr>
          <a:xfrm>
            <a:off x="6427343" y="1438275"/>
            <a:ext cx="5127625" cy="4667250"/>
          </a:xfrm>
          <a:solidFill>
            <a:schemeClr val="bg1">
              <a:lumMod val="95000"/>
            </a:schemeClr>
          </a:solidFill>
        </p:spPr>
        <p:txBody>
          <a:bodyPr/>
          <a:lstStyle>
            <a:lvl1pPr>
              <a:defRPr>
                <a:solidFill>
                  <a:srgbClr val="5F5F5F"/>
                </a:solidFill>
              </a:defRPr>
            </a:lvl1pPr>
            <a:lvl2pPr>
              <a:defRPr sz="1600" b="0" i="0">
                <a:latin typeface="Segoe UI" panose="020B0502040204020203" pitchFamily="34" charset="0"/>
              </a:defRPr>
            </a:lvl2pPr>
            <a:lvl3pPr>
              <a:defRPr sz="1600" b="0" i="0">
                <a:latin typeface="Montserrat" pitchFamily="2" charset="77"/>
              </a:defRPr>
            </a:lvl3pPr>
            <a:lvl4pPr>
              <a:defRPr sz="1600" b="0" i="0">
                <a:latin typeface="Montserrat" pitchFamily="2" charset="77"/>
              </a:defRPr>
            </a:lvl4pPr>
            <a:lvl5pPr>
              <a:defRPr sz="1600" b="0" i="0">
                <a:latin typeface="Montserrat" pitchFamily="2" charset="77"/>
              </a:defRPr>
            </a:lvl5pPr>
          </a:lstStyle>
          <a:p>
            <a:pPr lvl="0"/>
            <a:r>
              <a:rPr lang="pt-BR"/>
              <a:t>Clique para editar os estilos de texto Mestres</a:t>
            </a:r>
          </a:p>
          <a:p>
            <a:pPr lvl="1"/>
            <a:r>
              <a:rPr lang="pt-BR"/>
              <a:t>Segundo nível</a:t>
            </a:r>
          </a:p>
        </p:txBody>
      </p:sp>
    </p:spTree>
    <p:extLst>
      <p:ext uri="{BB962C8B-B14F-4D97-AF65-F5344CB8AC3E}">
        <p14:creationId xmlns:p14="http://schemas.microsoft.com/office/powerpoint/2010/main" val="35165816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_Layout Personalizado">
    <p:spTree>
      <p:nvGrpSpPr>
        <p:cNvPr id="1" name=""/>
        <p:cNvGrpSpPr/>
        <p:nvPr/>
      </p:nvGrpSpPr>
      <p:grpSpPr>
        <a:xfrm>
          <a:off x="0" y="0"/>
          <a:ext cx="0" cy="0"/>
          <a:chOff x="0" y="0"/>
          <a:chExt cx="0" cy="0"/>
        </a:xfrm>
      </p:grpSpPr>
      <p:pic>
        <p:nvPicPr>
          <p:cNvPr id="5" name="Imagem 4">
            <a:extLst>
              <a:ext uri="{FF2B5EF4-FFF2-40B4-BE49-F238E27FC236}">
                <a16:creationId xmlns:a16="http://schemas.microsoft.com/office/drawing/2014/main" id="{E5A522DB-0006-64C4-AD9E-34FD82975A57}"/>
              </a:ext>
            </a:extLst>
          </p:cNvPr>
          <p:cNvPicPr>
            <a:picLocks noChangeAspect="1"/>
          </p:cNvPicPr>
          <p:nvPr/>
        </p:nvPicPr>
        <p:blipFill rotWithShape="1">
          <a:blip r:embed="rId2"/>
          <a:srcRect l="7337"/>
          <a:stretch/>
        </p:blipFill>
        <p:spPr>
          <a:xfrm>
            <a:off x="0" y="16913"/>
            <a:ext cx="12192000" cy="6887072"/>
          </a:xfrm>
          <a:prstGeom prst="rect">
            <a:avLst/>
          </a:prstGeom>
        </p:spPr>
      </p:pic>
      <p:sp>
        <p:nvSpPr>
          <p:cNvPr id="2" name="Título 1">
            <a:extLst>
              <a:ext uri="{FF2B5EF4-FFF2-40B4-BE49-F238E27FC236}">
                <a16:creationId xmlns:a16="http://schemas.microsoft.com/office/drawing/2014/main" id="{DCC998EB-2979-6DDF-567A-9144ED86E438}"/>
              </a:ext>
            </a:extLst>
          </p:cNvPr>
          <p:cNvSpPr>
            <a:spLocks noGrp="1"/>
          </p:cNvSpPr>
          <p:nvPr>
            <p:ph type="title"/>
          </p:nvPr>
        </p:nvSpPr>
        <p:spPr/>
        <p:txBody>
          <a:bodyPr/>
          <a:lstStyle/>
          <a:p>
            <a:r>
              <a:rPr lang="pt-BR"/>
              <a:t>Clique para editar o título Mestre</a:t>
            </a:r>
          </a:p>
        </p:txBody>
      </p:sp>
      <p:sp>
        <p:nvSpPr>
          <p:cNvPr id="4" name="Espaço Reservado para Número de Slide 3">
            <a:extLst>
              <a:ext uri="{FF2B5EF4-FFF2-40B4-BE49-F238E27FC236}">
                <a16:creationId xmlns:a16="http://schemas.microsoft.com/office/drawing/2014/main" id="{D5A40CFD-C10F-231A-9BCD-B8E35B9992A8}"/>
              </a:ext>
            </a:extLst>
          </p:cNvPr>
          <p:cNvSpPr>
            <a:spLocks noGrp="1"/>
          </p:cNvSpPr>
          <p:nvPr>
            <p:ph type="sldNum" sz="quarter" idx="11"/>
          </p:nvPr>
        </p:nvSpPr>
        <p:spPr>
          <a:xfrm>
            <a:off x="8610600" y="6356350"/>
            <a:ext cx="2743200" cy="365125"/>
          </a:xfrm>
          <a:prstGeom prst="rect">
            <a:avLst/>
          </a:prstGeom>
        </p:spPr>
        <p:txBody>
          <a:bodyPr/>
          <a:lstStyle/>
          <a:p>
            <a:fld id="{5D3D502A-2AED-4A03-9253-F41D6C9B222A}" type="slidenum">
              <a:rPr lang="pt-BR" smtClean="0"/>
              <a:t>‹nº›</a:t>
            </a:fld>
            <a:endParaRPr lang="pt-BR"/>
          </a:p>
        </p:txBody>
      </p:sp>
    </p:spTree>
    <p:extLst>
      <p:ext uri="{BB962C8B-B14F-4D97-AF65-F5344CB8AC3E}">
        <p14:creationId xmlns:p14="http://schemas.microsoft.com/office/powerpoint/2010/main" val="6427215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1_Layout Personalizado">
    <p:spTree>
      <p:nvGrpSpPr>
        <p:cNvPr id="1" name=""/>
        <p:cNvGrpSpPr/>
        <p:nvPr/>
      </p:nvGrpSpPr>
      <p:grpSpPr>
        <a:xfrm>
          <a:off x="0" y="0"/>
          <a:ext cx="0" cy="0"/>
          <a:chOff x="0" y="0"/>
          <a:chExt cx="0" cy="0"/>
        </a:xfrm>
      </p:grpSpPr>
      <p:pic>
        <p:nvPicPr>
          <p:cNvPr id="5" name="Imagem 4">
            <a:extLst>
              <a:ext uri="{FF2B5EF4-FFF2-40B4-BE49-F238E27FC236}">
                <a16:creationId xmlns:a16="http://schemas.microsoft.com/office/drawing/2014/main" id="{4E4C089E-EAAE-B9E1-46CE-D4FAFC4EB9DD}"/>
              </a:ext>
            </a:extLst>
          </p:cNvPr>
          <p:cNvPicPr>
            <a:picLocks noChangeAspect="1"/>
          </p:cNvPicPr>
          <p:nvPr/>
        </p:nvPicPr>
        <p:blipFill rotWithShape="1">
          <a:blip r:embed="rId2">
            <a:extLst>
              <a:ext uri="{28A0092B-C50C-407E-A947-70E740481C1C}">
                <a14:useLocalDpi xmlns:a14="http://schemas.microsoft.com/office/drawing/2010/main" val="0"/>
              </a:ext>
            </a:extLst>
          </a:blip>
          <a:srcRect l="24710" r="24338"/>
          <a:stretch/>
        </p:blipFill>
        <p:spPr>
          <a:xfrm>
            <a:off x="5997388" y="0"/>
            <a:ext cx="6212004" cy="6858000"/>
          </a:xfrm>
          <a:prstGeom prst="rect">
            <a:avLst/>
          </a:prstGeom>
        </p:spPr>
      </p:pic>
      <p:sp>
        <p:nvSpPr>
          <p:cNvPr id="2" name="Título 1">
            <a:extLst>
              <a:ext uri="{FF2B5EF4-FFF2-40B4-BE49-F238E27FC236}">
                <a16:creationId xmlns:a16="http://schemas.microsoft.com/office/drawing/2014/main" id="{43CA0C06-2779-A64D-8042-59FD49C13FC3}"/>
              </a:ext>
            </a:extLst>
          </p:cNvPr>
          <p:cNvSpPr>
            <a:spLocks noGrp="1"/>
          </p:cNvSpPr>
          <p:nvPr>
            <p:ph type="title" hasCustomPrompt="1"/>
          </p:nvPr>
        </p:nvSpPr>
        <p:spPr>
          <a:xfrm>
            <a:off x="953644" y="404504"/>
            <a:ext cx="3747248" cy="914612"/>
          </a:xfrm>
        </p:spPr>
        <p:txBody>
          <a:bodyPr/>
          <a:lstStyle/>
          <a:p>
            <a:r>
              <a:rPr lang="pt-BR" dirty="0" err="1"/>
              <a:t>Lorem</a:t>
            </a:r>
            <a:r>
              <a:rPr lang="pt-BR" dirty="0"/>
              <a:t> </a:t>
            </a:r>
            <a:br>
              <a:rPr lang="pt-BR" dirty="0"/>
            </a:br>
            <a:r>
              <a:rPr lang="pt-BR" dirty="0"/>
              <a:t>Ipsum</a:t>
            </a:r>
          </a:p>
        </p:txBody>
      </p:sp>
      <p:sp>
        <p:nvSpPr>
          <p:cNvPr id="4" name="Espaço Reservado para Número de Slide 3">
            <a:extLst>
              <a:ext uri="{FF2B5EF4-FFF2-40B4-BE49-F238E27FC236}">
                <a16:creationId xmlns:a16="http://schemas.microsoft.com/office/drawing/2014/main" id="{21560839-BBD1-E43D-7A0F-0A6FA3261241}"/>
              </a:ext>
            </a:extLst>
          </p:cNvPr>
          <p:cNvSpPr>
            <a:spLocks noGrp="1"/>
          </p:cNvSpPr>
          <p:nvPr>
            <p:ph type="sldNum" sz="quarter" idx="11"/>
          </p:nvPr>
        </p:nvSpPr>
        <p:spPr>
          <a:xfrm>
            <a:off x="8610600" y="6356350"/>
            <a:ext cx="2743200" cy="365125"/>
          </a:xfrm>
          <a:prstGeom prst="rect">
            <a:avLst/>
          </a:prstGeom>
        </p:spPr>
        <p:txBody>
          <a:bodyPr/>
          <a:lstStyle>
            <a:lvl1pPr>
              <a:defRPr>
                <a:solidFill>
                  <a:schemeClr val="bg1"/>
                </a:solidFill>
              </a:defRPr>
            </a:lvl1pPr>
          </a:lstStyle>
          <a:p>
            <a:fld id="{5D3D502A-2AED-4A03-9253-F41D6C9B222A}" type="slidenum">
              <a:rPr lang="pt-BR" smtClean="0"/>
              <a:t>‹nº›</a:t>
            </a:fld>
            <a:endParaRPr lang="pt-BR"/>
          </a:p>
        </p:txBody>
      </p:sp>
    </p:spTree>
    <p:extLst>
      <p:ext uri="{BB962C8B-B14F-4D97-AF65-F5344CB8AC3E}">
        <p14:creationId xmlns:p14="http://schemas.microsoft.com/office/powerpoint/2010/main" val="4691228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Imagem 6">
            <a:extLst>
              <a:ext uri="{FF2B5EF4-FFF2-40B4-BE49-F238E27FC236}">
                <a16:creationId xmlns:a16="http://schemas.microsoft.com/office/drawing/2014/main" id="{7033F079-9B32-C563-C1F0-27B1633B5845}"/>
              </a:ext>
            </a:extLst>
          </p:cNvPr>
          <p:cNvPicPr>
            <a:picLocks noChangeAspect="1"/>
          </p:cNvPicPr>
          <p:nvPr/>
        </p:nvPicPr>
        <p:blipFill rotWithShape="1">
          <a:blip r:embed="rId11">
            <a:extLst>
              <a:ext uri="{28A0092B-C50C-407E-A947-70E740481C1C}">
                <a14:useLocalDpi xmlns:a14="http://schemas.microsoft.com/office/drawing/2010/main" val="0"/>
              </a:ext>
            </a:extLst>
          </a:blip>
          <a:srcRect b="96317"/>
          <a:stretch/>
        </p:blipFill>
        <p:spPr>
          <a:xfrm rot="5400000" flipV="1">
            <a:off x="-2322227" y="3739005"/>
            <a:ext cx="5400119" cy="63178"/>
          </a:xfrm>
          <a:prstGeom prst="rect">
            <a:avLst/>
          </a:prstGeom>
        </p:spPr>
      </p:pic>
      <p:pic>
        <p:nvPicPr>
          <p:cNvPr id="8" name="Imagem 7">
            <a:extLst>
              <a:ext uri="{FF2B5EF4-FFF2-40B4-BE49-F238E27FC236}">
                <a16:creationId xmlns:a16="http://schemas.microsoft.com/office/drawing/2014/main" id="{67B7A103-F45B-70F0-9CF5-2CC2E5FEA152}"/>
              </a:ext>
            </a:extLst>
          </p:cNvPr>
          <p:cNvPicPr>
            <a:picLocks noChangeAspect="1"/>
          </p:cNvPicPr>
          <p:nvPr/>
        </p:nvPicPr>
        <p:blipFill>
          <a:blip r:embed="rId12" cstate="hqprint">
            <a:extLst>
              <a:ext uri="{28A0092B-C50C-407E-A947-70E740481C1C}">
                <a14:useLocalDpi xmlns:a14="http://schemas.microsoft.com/office/drawing/2010/main" val="0"/>
              </a:ext>
            </a:extLst>
          </a:blip>
          <a:stretch>
            <a:fillRect/>
          </a:stretch>
        </p:blipFill>
        <p:spPr>
          <a:xfrm>
            <a:off x="183467" y="387346"/>
            <a:ext cx="388730" cy="388730"/>
          </a:xfrm>
          <a:prstGeom prst="rect">
            <a:avLst/>
          </a:prstGeom>
        </p:spPr>
      </p:pic>
      <p:sp>
        <p:nvSpPr>
          <p:cNvPr id="9" name="Espaço Reservado para Título 8">
            <a:extLst>
              <a:ext uri="{FF2B5EF4-FFF2-40B4-BE49-F238E27FC236}">
                <a16:creationId xmlns:a16="http://schemas.microsoft.com/office/drawing/2014/main" id="{3455BC2B-BA01-40BC-F737-FF51414CF64E}"/>
              </a:ext>
            </a:extLst>
          </p:cNvPr>
          <p:cNvSpPr>
            <a:spLocks noGrp="1"/>
          </p:cNvSpPr>
          <p:nvPr>
            <p:ph type="title"/>
          </p:nvPr>
        </p:nvSpPr>
        <p:spPr>
          <a:xfrm>
            <a:off x="1039368" y="218766"/>
            <a:ext cx="10515600" cy="914612"/>
          </a:xfrm>
          <a:prstGeom prst="rect">
            <a:avLst/>
          </a:prstGeom>
        </p:spPr>
        <p:txBody>
          <a:bodyPr vert="horz" lIns="91440" tIns="45720" rIns="91440" bIns="45720" rtlCol="0" anchor="ctr">
            <a:normAutofit/>
          </a:bodyPr>
          <a:lstStyle/>
          <a:p>
            <a:r>
              <a:rPr lang="pt-BR" dirty="0"/>
              <a:t>Clique para editar o título Mestre</a:t>
            </a:r>
          </a:p>
        </p:txBody>
      </p:sp>
      <p:sp>
        <p:nvSpPr>
          <p:cNvPr id="12" name="Espaço Reservado para Texto 11">
            <a:extLst>
              <a:ext uri="{FF2B5EF4-FFF2-40B4-BE49-F238E27FC236}">
                <a16:creationId xmlns:a16="http://schemas.microsoft.com/office/drawing/2014/main" id="{9AFE68B5-6ADE-6778-378C-AC3FEA2416C4}"/>
              </a:ext>
            </a:extLst>
          </p:cNvPr>
          <p:cNvSpPr>
            <a:spLocks noGrp="1"/>
          </p:cNvSpPr>
          <p:nvPr>
            <p:ph type="body" idx="1"/>
          </p:nvPr>
        </p:nvSpPr>
        <p:spPr>
          <a:xfrm>
            <a:off x="1039368" y="1594925"/>
            <a:ext cx="10515600" cy="4351338"/>
          </a:xfrm>
          <a:prstGeom prst="rect">
            <a:avLst/>
          </a:prstGeom>
        </p:spPr>
        <p:txBody>
          <a:bodyPr vert="horz" lIns="91440" tIns="45720" rIns="91440" bIns="45720" rtlCol="0">
            <a:normAutofit/>
          </a:bodyPr>
          <a:lstStyle/>
          <a:p>
            <a:pPr lvl="0"/>
            <a:r>
              <a:rPr lang="pt-BR" dirty="0"/>
              <a:t>Clique para editar os estilos de texto Mestres</a:t>
            </a:r>
          </a:p>
        </p:txBody>
      </p:sp>
      <p:sp>
        <p:nvSpPr>
          <p:cNvPr id="3" name="Espaço Reservado para Número de Slide 2">
            <a:extLst>
              <a:ext uri="{FF2B5EF4-FFF2-40B4-BE49-F238E27FC236}">
                <a16:creationId xmlns:a16="http://schemas.microsoft.com/office/drawing/2014/main" id="{80630256-3C73-FF25-BC79-8F9C8494C0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Segoe UI" panose="020B0502040204020203" pitchFamily="34" charset="0"/>
              </a:defRPr>
            </a:lvl1pPr>
          </a:lstStyle>
          <a:p>
            <a:fld id="{5D3D502A-2AED-4A03-9253-F41D6C9B222A}" type="slidenum">
              <a:rPr lang="pt-BR" smtClean="0"/>
              <a:t>‹nº›</a:t>
            </a:fld>
            <a:endParaRPr lang="pt-BR"/>
          </a:p>
        </p:txBody>
      </p:sp>
    </p:spTree>
    <p:extLst>
      <p:ext uri="{BB962C8B-B14F-4D97-AF65-F5344CB8AC3E}">
        <p14:creationId xmlns:p14="http://schemas.microsoft.com/office/powerpoint/2010/main" val="3242550119"/>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Lst>
  <p:txStyles>
    <p:titleStyle>
      <a:lvl1pPr algn="l" defTabSz="914400" rtl="0" eaLnBrk="1" latinLnBrk="0" hangingPunct="1">
        <a:lnSpc>
          <a:spcPct val="90000"/>
        </a:lnSpc>
        <a:spcBef>
          <a:spcPct val="0"/>
        </a:spcBef>
        <a:buNone/>
        <a:defRPr sz="3600" b="1" i="0" kern="1200">
          <a:solidFill>
            <a:srgbClr val="73A277"/>
          </a:solidFill>
          <a:latin typeface="Segoe UI" panose="020B0502040204020203" pitchFamily="34" charset="0"/>
          <a:ea typeface="+mj-ea"/>
          <a:cs typeface="Segoe UI" panose="020B0502040204020203"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2400" b="0" i="0" kern="1200">
          <a:solidFill>
            <a:srgbClr val="5F5F5F"/>
          </a:solidFill>
          <a:latin typeface="Montserrat Medium"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linkedin.com/in/silvapfabio"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video" Target="https://www.youtube.com/embed/TQur9GJHIIQ?feature=oembed" TargetMode="External"/><Relationship Id="rId5" Type="http://schemas.openxmlformats.org/officeDocument/2006/relationships/image" Target="../media/image9.jpeg"/><Relationship Id="rId4" Type="http://schemas.openxmlformats.org/officeDocument/2006/relationships/hyperlink" Target="https://www.youtube.com/watch?v=TQur9GJHIIQ"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4.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4.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4.xml"/></Relationships>
</file>

<file path=ppt/slides/_rels/slide1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3.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4.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5.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26.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27.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28.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4.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4.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4.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3" Type="http://schemas.openxmlformats.org/officeDocument/2006/relationships/notesSlide" Target="../notesSlides/notesSlide149.xml"/><Relationship Id="rId2" Type="http://schemas.openxmlformats.org/officeDocument/2006/relationships/slideLayout" Target="../slideLayouts/slideLayout1.xml"/><Relationship Id="rId1" Type="http://schemas.openxmlformats.org/officeDocument/2006/relationships/video" Target="https://www.youtube.com/embed/ClLp-iSoaSY?feature=oembed" TargetMode="External"/><Relationship Id="rId5" Type="http://schemas.openxmlformats.org/officeDocument/2006/relationships/image" Target="../media/image35.jpeg"/><Relationship Id="rId4" Type="http://schemas.openxmlformats.org/officeDocument/2006/relationships/hyperlink" Target="https://www.youtube.com/watch?v=ClLp-iSoaSY" TargetMode="Externa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4.xml"/></Relationships>
</file>

<file path=ppt/slides/_rels/slide15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59.xml"/><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60.xml"/><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61.xml"/><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62.xml"/><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163.xml"/><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164.xml"/><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165.xml"/><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166.xml"/><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167.xml"/><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168.xml"/><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4.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74.xml"/><Relationship Id="rId1" Type="http://schemas.openxmlformats.org/officeDocument/2006/relationships/slideLayout" Target="../slideLayouts/slideLayout4.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3" Type="http://schemas.openxmlformats.org/officeDocument/2006/relationships/hyperlink" Target="https://www.linkedin.com/in/silvapfabio" TargetMode="External"/><Relationship Id="rId2" Type="http://schemas.openxmlformats.org/officeDocument/2006/relationships/notesSlide" Target="../notesSlides/notesSlide17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titulo">
            <a:extLst>
              <a:ext uri="{FF2B5EF4-FFF2-40B4-BE49-F238E27FC236}">
                <a16:creationId xmlns:a16="http://schemas.microsoft.com/office/drawing/2014/main" id="{6D8AE5B9-03E8-46E4-B5CF-87FEE3E8BFC0}"/>
              </a:ext>
            </a:extLst>
          </p:cNvPr>
          <p:cNvSpPr>
            <a:spLocks noGrp="1"/>
          </p:cNvSpPr>
          <p:nvPr/>
        </p:nvSpPr>
        <p:spPr>
          <a:xfrm>
            <a:off x="1039368" y="1972183"/>
            <a:ext cx="6985000" cy="2794000"/>
          </a:xfrm>
          <a:prstGeom prst="rect">
            <a:avLst/>
          </a:prstGeom>
          <a:noFill/>
          <a:ln w="0">
            <a:noFill/>
          </a:ln>
        </p:spPr>
        <p:txBody>
          <a:bodyPr wrap="square" lIns="0" tIns="0" rIns="0" bIns="0" anchor="t">
            <a:noAutofit/>
          </a:bodyPr>
          <a:lstStyle>
            <a:defPPr algn="l">
              <a:defRPr sz="4350" b="1">
                <a:solidFill>
                  <a:srgbClr val="000000"/>
                </a:solidFill>
                <a:latin typeface="Trebuchet MS"/>
                <a:ea typeface="Trebuchet MS"/>
                <a:cs typeface="Trebuchet MS"/>
              </a:defRPr>
            </a:defPPr>
          </a:lstStyle>
          <a:p>
            <a:pPr>
              <a:defRPr sz="4350" b="1">
                <a:solidFill>
                  <a:srgbClr val="000000"/>
                </a:solidFill>
                <a:latin typeface="Trebuchet MS"/>
                <a:ea typeface="Trebuchet MS"/>
                <a:cs typeface="Trebuchet MS"/>
              </a:defRPr>
            </a:pPr>
            <a:r>
              <a:rPr sz="5400" b="1">
                <a:solidFill>
                  <a:srgbClr val="FFFFFF"/>
                </a:solidFill>
                <a:latin typeface="Segoe UI" panose="020B0502040204020203" pitchFamily="34" charset="0"/>
                <a:ea typeface="Trebuchet MS"/>
                <a:cs typeface="Trebuchet MS"/>
              </a:rPr>
              <a:t>Visualizando dados</a:t>
            </a:r>
          </a:p>
          <a:p>
            <a:pPr>
              <a:defRPr sz="4350" b="1">
                <a:solidFill>
                  <a:srgbClr val="000000"/>
                </a:solidFill>
                <a:latin typeface="Trebuchet MS"/>
                <a:ea typeface="Trebuchet MS"/>
                <a:cs typeface="Trebuchet MS"/>
              </a:defRPr>
            </a:pPr>
            <a:r>
              <a:rPr sz="5400" b="1">
                <a:solidFill>
                  <a:srgbClr val="FFFFFF"/>
                </a:solidFill>
                <a:latin typeface="Segoe UI" panose="020B0502040204020203" pitchFamily="34" charset="0"/>
                <a:ea typeface="Trebuchet MS"/>
                <a:cs typeface="Trebuchet MS"/>
              </a:rPr>
              <a:t>com Grafana</a:t>
            </a:r>
          </a:p>
        </p:txBody>
      </p:sp>
      <p:sp>
        <p:nvSpPr>
          <p:cNvPr id="1028" name="instrutor">
            <a:extLst>
              <a:ext uri="{FF2B5EF4-FFF2-40B4-BE49-F238E27FC236}">
                <a16:creationId xmlns:a16="http://schemas.microsoft.com/office/drawing/2014/main" id="{8E28BDDF-E5A7-469A-9384-4FEAE598765F}"/>
              </a:ext>
            </a:extLst>
          </p:cNvPr>
          <p:cNvSpPr>
            <a:spLocks noGrp="1"/>
          </p:cNvSpPr>
          <p:nvPr/>
        </p:nvSpPr>
        <p:spPr>
          <a:xfrm>
            <a:off x="1039368" y="4953000"/>
            <a:ext cx="6985000" cy="736600"/>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defRPr sz="2025" b="0">
                <a:solidFill>
                  <a:srgbClr val="40760F"/>
                </a:solidFill>
                <a:latin typeface="Trebuchet MS"/>
                <a:ea typeface="Trebuchet MS"/>
                <a:cs typeface="Trebuchet MS"/>
              </a:defRPr>
            </a:pPr>
            <a:r>
              <a:rPr sz="2100">
                <a:solidFill>
                  <a:srgbClr val="FFFFFF"/>
                </a:solidFill>
                <a:latin typeface="Segoe UI" panose="020B0502040204020203" pitchFamily="34" charset="0"/>
                <a:ea typeface="Trebuchet MS"/>
                <a:cs typeface="Trebuchet MS"/>
              </a:rPr>
              <a:t>Fábio Silva</a:t>
            </a:r>
          </a:p>
          <a:p>
            <a:pPr>
              <a:defRPr sz="2025" b="0">
                <a:solidFill>
                  <a:srgbClr val="40760F"/>
                </a:solidFill>
                <a:latin typeface="Trebuchet MS"/>
                <a:ea typeface="Trebuchet MS"/>
                <a:cs typeface="Trebuchet MS"/>
              </a:defRPr>
            </a:pPr>
            <a:r>
              <a:rPr sz="2100">
                <a:solidFill>
                  <a:srgbClr val="FFFFFF"/>
                </a:solidFill>
                <a:latin typeface="Segoe UI" panose="020B0502040204020203" pitchFamily="34" charset="0"/>
                <a:ea typeface="Trebuchet MS"/>
                <a:cs typeface="Trebuchet MS"/>
              </a:rPr>
              <a:t>Arquiteto de Soluções</a:t>
            </a:r>
          </a:p>
        </p:txBody>
      </p:sp>
      <p:sp>
        <p:nvSpPr>
          <p:cNvPr id="1029" name="linkedin">
            <a:extLst>
              <a:ext uri="{FF2B5EF4-FFF2-40B4-BE49-F238E27FC236}">
                <a16:creationId xmlns:a16="http://schemas.microsoft.com/office/drawing/2014/main" id="{B0BC14E1-944D-4433-9E3A-944B4A6510BE}"/>
              </a:ext>
            </a:extLst>
          </p:cNvPr>
          <p:cNvSpPr>
            <a:spLocks noGrp="1"/>
          </p:cNvSpPr>
          <p:nvPr/>
        </p:nvSpPr>
        <p:spPr>
          <a:xfrm>
            <a:off x="1039368" y="5740400"/>
            <a:ext cx="6985000" cy="381000"/>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defRPr sz="1725" b="0">
                <a:solidFill>
                  <a:srgbClr val="40760F"/>
                </a:solidFill>
                <a:latin typeface="Trebuchet MS"/>
                <a:ea typeface="Trebuchet MS"/>
                <a:cs typeface="Trebuchet MS"/>
              </a:defRPr>
            </a:pPr>
            <a:r>
              <a:rPr sz="1600">
                <a:solidFill>
                  <a:srgbClr val="FFFFFF"/>
                </a:solidFill>
                <a:latin typeface="Segoe UI" panose="020B0502040204020203" pitchFamily="34" charset="0"/>
                <a:ea typeface="Trebuchet MS"/>
                <a:cs typeface="Trebuchet MS"/>
                <a:hlinkClick r:id="rId3">
                  <a:extLst>
                    <a:ext uri="{A12FA001-AC4F-418D-AE19-62706E023703}">
                      <ahyp:hlinkClr xmlns:ahyp="http://schemas.microsoft.com/office/drawing/2018/hyperlinkcolor" val="tx"/>
                    </a:ext>
                  </a:extLst>
                </a:hlinkClick>
              </a:rPr>
              <a:t>www.linkedin.com/in/silvapfabio</a:t>
            </a:r>
          </a:p>
        </p:txBody>
      </p:sp>
      <p:sp>
        <p:nvSpPr>
          <p:cNvPr id="1030" name="carga">
            <a:extLst>
              <a:ext uri="{FF2B5EF4-FFF2-40B4-BE49-F238E27FC236}">
                <a16:creationId xmlns:a16="http://schemas.microsoft.com/office/drawing/2014/main" id="{8A76AD3B-B3CE-46E2-ADEE-DFC93D62AC64}"/>
              </a:ext>
            </a:extLst>
          </p:cNvPr>
          <p:cNvSpPr>
            <a:spLocks noGrp="1"/>
          </p:cNvSpPr>
          <p:nvPr/>
        </p:nvSpPr>
        <p:spPr>
          <a:xfrm>
            <a:off x="1039368" y="1333500"/>
            <a:ext cx="7874000" cy="444500"/>
          </a:xfrm>
          <a:prstGeom prst="rect">
            <a:avLst/>
          </a:prstGeom>
          <a:noFill/>
          <a:ln w="0">
            <a:noFill/>
          </a:ln>
        </p:spPr>
        <p:txBody>
          <a:bodyPr wrap="square" lIns="0" tIns="0" rIns="0" bIns="0" anchor="t">
            <a:noAutofit/>
          </a:bodyPr>
          <a:lstStyle>
            <a:defPPr algn="l">
              <a:defRPr sz="1575" b="0">
                <a:solidFill>
                  <a:srgbClr val="666666"/>
                </a:solidFill>
                <a:latin typeface="Trebuchet MS"/>
                <a:ea typeface="Trebuchet MS"/>
                <a:cs typeface="Trebuchet MS"/>
              </a:defRPr>
            </a:defPPr>
          </a:lstStyle>
          <a:p>
            <a:pPr>
              <a:defRPr sz="1575" b="0">
                <a:solidFill>
                  <a:srgbClr val="666666"/>
                </a:solidFill>
                <a:latin typeface="Trebuchet MS"/>
                <a:ea typeface="Trebuchet MS"/>
                <a:cs typeface="Trebuchet MS"/>
              </a:defRPr>
            </a:pPr>
            <a:r>
              <a:rPr sz="1600">
                <a:solidFill>
                  <a:srgbClr val="FFFFFF"/>
                </a:solidFill>
                <a:latin typeface="Segoe UI" panose="020B0502040204020203" pitchFamily="34" charset="0"/>
                <a:ea typeface="Trebuchet MS"/>
                <a:cs typeface="Trebuchet MS"/>
              </a:rPr>
              <a:t>5 noites · 18h30 às 22h30 · Intervalo de 25 minutos</a:t>
            </a:r>
          </a:p>
        </p:txBody>
      </p:sp>
      <p:sp>
        <p:nvSpPr>
          <p:cNvPr id="1031" name="pagina">
            <a:extLst>
              <a:ext uri="{FF2B5EF4-FFF2-40B4-BE49-F238E27FC236}">
                <a16:creationId xmlns:a16="http://schemas.microsoft.com/office/drawing/2014/main" id="{45A38DB3-C49C-485C-BE58-273E7E62B9B7}"/>
              </a:ext>
            </a:extLst>
          </p:cNvPr>
          <p:cNvSpPr>
            <a:spLocks noGrp="1"/>
          </p:cNvSpPr>
          <p:nvPr/>
        </p:nvSpPr>
        <p:spPr>
          <a:xfrm>
            <a:off x="1039368" y="6356350"/>
            <a:ext cx="31750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defRPr sz="975" b="0">
                <a:solidFill>
                  <a:srgbClr val="777777"/>
                </a:solidFill>
                <a:latin typeface="Trebuchet MS"/>
                <a:ea typeface="Trebuchet MS"/>
                <a:cs typeface="Trebuchet MS"/>
              </a:defRPr>
            </a:pPr>
            <a:r>
              <a:rPr lang="pt-BR" sz="1200">
                <a:solidFill>
                  <a:srgbClr val="FFFFFF"/>
                </a:solidFill>
                <a:latin typeface="Segoe UI" panose="020B0502040204020203" pitchFamily="34" charset="0"/>
                <a:ea typeface="Trebuchet MS"/>
                <a:cs typeface="Trebuchet MS"/>
              </a:rPr>
              <a:t>1 / 178</a:t>
            </a:r>
            <a:endParaRPr sz="1200">
              <a:solidFill>
                <a:srgbClr val="FFFFF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4685143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6773C33-A3BC-4796-BD7A-D99613E39A4C}"/>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Sobre o instrutor</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DB4A153-15FA-4ACA-94A4-D457E14CEFF7}"/>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Fábio Silva</a:t>
            </a: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Arquiteto de Soluções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Instrutor do curso na Green Tecnologia.</a:t>
            </a:r>
          </a:p>
        </p:txBody>
      </p:sp>
      <p:sp>
        <p:nvSpPr>
          <p:cNvPr id="1057" name="apoio">
            <a:extLst>
              <a:ext uri="{FF2B5EF4-FFF2-40B4-BE49-F238E27FC236}">
                <a16:creationId xmlns:a16="http://schemas.microsoft.com/office/drawing/2014/main" id="{11466761-B8B3-4126-BBFD-52220DD9CE27}"/>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Fábio Silva</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LinkedIn</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silvapfabio</a:t>
            </a:r>
          </a:p>
        </p:txBody>
      </p:sp>
      <p:sp>
        <p:nvSpPr>
          <p:cNvPr id="1058" name="rodape">
            <a:extLst>
              <a:ext uri="{FF2B5EF4-FFF2-40B4-BE49-F238E27FC236}">
                <a16:creationId xmlns:a16="http://schemas.microsoft.com/office/drawing/2014/main" id="{BB3C5356-2CA4-4BF5-8E62-0474F7E4F54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5F750E8C-6928-439A-96B8-D9F43218DD6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2B6AC159-2DB1-481F-A810-2C9452AF80C9}"/>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Base do curso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DEE45C84-5E57-43E1-AF3D-AFAE6CBFE1A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percurso acompanha o Grafana Fundamentals oficial.</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apostila e as folhas por noite apoiam o estudo e a execução local.</a:t>
            </a:r>
          </a:p>
        </p:txBody>
      </p:sp>
      <p:sp>
        <p:nvSpPr>
          <p:cNvPr id="1057" name="apoio">
            <a:extLst>
              <a:ext uri="{FF2B5EF4-FFF2-40B4-BE49-F238E27FC236}">
                <a16:creationId xmlns:a16="http://schemas.microsoft.com/office/drawing/2014/main" id="{1DAB0671-1B2A-4F2E-90FC-1A32D6DE3C0E}"/>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Grafana Fundamentals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Métricas e logs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Dashboards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Anotações e alertas</a:t>
            </a:r>
          </a:p>
        </p:txBody>
      </p:sp>
      <p:sp>
        <p:nvSpPr>
          <p:cNvPr id="1058" name="rodape">
            <a:extLst>
              <a:ext uri="{FF2B5EF4-FFF2-40B4-BE49-F238E27FC236}">
                <a16:creationId xmlns:a16="http://schemas.microsoft.com/office/drawing/2014/main" id="{1E9591AA-B80A-4818-A6CE-4DF9396423A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66252135-3216-429F-978B-C8712076955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82968919-AAD7-479F-84FD-6CA9E8E3DF1A}"/>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Como funciona cada noite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3635105-EC5A-475B-ADF9-9781759B246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Primeiro, teoria e demonstração. Depois do intervalo, o professor comenta as tarefas.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Em seguida, a turma recebe a folha e pratica no ambiente local.</a:t>
            </a:r>
          </a:p>
        </p:txBody>
      </p:sp>
      <p:sp>
        <p:nvSpPr>
          <p:cNvPr id="1057" name="apoio">
            <a:extLst>
              <a:ext uri="{FF2B5EF4-FFF2-40B4-BE49-F238E27FC236}">
                <a16:creationId xmlns:a16="http://schemas.microsoft.com/office/drawing/2014/main" id="{B4D5D6EB-7B90-4909-969D-AAA29AE3485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18h30  Teoria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19h55  Demonstração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20h20  Intervalo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20h45  Exercícios comentados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21h00  Prática do aluno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22h15  Correção</a:t>
            </a:r>
          </a:p>
        </p:txBody>
      </p:sp>
      <p:sp>
        <p:nvSpPr>
          <p:cNvPr id="1058" name="rodape">
            <a:extLst>
              <a:ext uri="{FF2B5EF4-FFF2-40B4-BE49-F238E27FC236}">
                <a16:creationId xmlns:a16="http://schemas.microsoft.com/office/drawing/2014/main" id="{B4854CB8-0276-4574-9AFA-34CD29170440}"/>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AF3F879F-2933-4E99-848B-3E9B350715D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830128D3-9A8B-4814-BE51-555FC6CC27AB}"/>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As cinco noites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32BE31F4-018B-4D53-BD31-AED25E9D3206}"/>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100">
                <a:solidFill>
                  <a:srgbClr val="5F5F5F"/>
                </a:solidFill>
                <a:latin typeface="Segoe UI" panose="020B0502040204020203" pitchFamily="34" charset="0"/>
                <a:ea typeface="Trebuchet MS"/>
                <a:cs typeface="Trebuchet MS"/>
              </a:rPr>
              <a:t>Vamos acompanhar a mesma aplicação e construir o conhecimento de forma progressiva.</a:t>
            </a:r>
          </a:p>
          <a:p>
            <a:endParaRPr sz="21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100">
                <a:solidFill>
                  <a:srgbClr val="5F5F5F"/>
                </a:solidFill>
                <a:latin typeface="Segoe UI" panose="020B0502040204020203" pitchFamily="34" charset="0"/>
                <a:ea typeface="Trebuchet MS"/>
                <a:cs typeface="Trebuchet MS"/>
              </a:rPr>
              <a:t>As instalações e consultas serão realizadas localmente.</a:t>
            </a:r>
          </a:p>
        </p:txBody>
      </p:sp>
      <p:sp>
        <p:nvSpPr>
          <p:cNvPr id="1057" name="apoio">
            <a:extLst>
              <a:ext uri="{FF2B5EF4-FFF2-40B4-BE49-F238E27FC236}">
                <a16:creationId xmlns:a16="http://schemas.microsoft.com/office/drawing/2014/main" id="{8490EDAA-19A5-4BE3-AFAE-4AB8B677F982}"/>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Noite 1  Fundamentos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Noite 2  Métricas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Noite 3  Logs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Noite 4  Dashboards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Noite 5  Alertas</a:t>
            </a:r>
          </a:p>
        </p:txBody>
      </p:sp>
      <p:sp>
        <p:nvSpPr>
          <p:cNvPr id="1058" name="rodape">
            <a:extLst>
              <a:ext uri="{FF2B5EF4-FFF2-40B4-BE49-F238E27FC236}">
                <a16:creationId xmlns:a16="http://schemas.microsoft.com/office/drawing/2014/main" id="{F3F799FC-8BCB-478A-A86C-C844B0A67EA4}"/>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A4FBB5BF-9FB5-467A-B62B-A61ED421EE86}"/>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97BAB9BD-AB74-4B51-8D19-96EBCB84CC32}"/>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1</a:t>
            </a:r>
          </a:p>
        </p:txBody>
      </p:sp>
      <p:sp>
        <p:nvSpPr>
          <p:cNvPr id="121" name="titulo">
            <a:extLst>
              <a:ext uri="{FF2B5EF4-FFF2-40B4-BE49-F238E27FC236}">
                <a16:creationId xmlns:a16="http://schemas.microsoft.com/office/drawing/2014/main" id="{D737C37E-F596-4A2F-B959-00B213994E24}"/>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lang="pt-BR" sz="4400" b="1">
                <a:solidFill>
                  <a:srgbClr val="FFFFFF"/>
                </a:solidFill>
                <a:latin typeface="Segoe UI" panose="020B0502040204020203" pitchFamily="34" charset="0"/>
                <a:ea typeface="Trebuchet MS"/>
                <a:cs typeface="Trebuchet MS"/>
              </a:rPr>
              <a:t>Fundamentos e
arquitetura</a:t>
            </a:r>
            <a:endParaRPr sz="4400" b="1">
              <a:solidFill>
                <a:srgbClr val="FFFFFF"/>
              </a:solidFill>
              <a:latin typeface="Segoe UI" panose="020B0502040204020203" pitchFamily="34" charset="0"/>
              <a:ea typeface="Trebuchet MS"/>
              <a:cs typeface="Trebuchet MS"/>
            </a:endParaRPr>
          </a:p>
        </p:txBody>
      </p:sp>
      <p:sp>
        <p:nvSpPr>
          <p:cNvPr id="122" name="subtitulo">
            <a:extLst>
              <a:ext uri="{FF2B5EF4-FFF2-40B4-BE49-F238E27FC236}">
                <a16:creationId xmlns:a16="http://schemas.microsoft.com/office/drawing/2014/main" id="{B5665423-4A42-448B-9F6E-6839FB2C2657}"/>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Ambiente, aplicação e navegação</a:t>
            </a:r>
          </a:p>
        </p:txBody>
      </p:sp>
      <p:sp>
        <p:nvSpPr>
          <p:cNvPr id="123" name="tempo">
            <a:extLst>
              <a:ext uri="{FF2B5EF4-FFF2-40B4-BE49-F238E27FC236}">
                <a16:creationId xmlns:a16="http://schemas.microsoft.com/office/drawing/2014/main" id="{194FCCAB-9409-4469-9F78-597DFFBFD96D}"/>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18h35  ·  Teoria</a:t>
            </a:r>
          </a:p>
        </p:txBody>
      </p:sp>
      <p:sp>
        <p:nvSpPr>
          <p:cNvPr id="124" name="pagina">
            <a:extLst>
              <a:ext uri="{FF2B5EF4-FFF2-40B4-BE49-F238E27FC236}">
                <a16:creationId xmlns:a16="http://schemas.microsoft.com/office/drawing/2014/main" id="{70A7B542-AF21-4A2A-81C7-867397A87E3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 que é observabilidade?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É a capacidade de investigar o estado interno de um sistema a partir dos sinais que ele produz.</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investigação começa com uma pergunta e usa evidências para testar explicações.</a:t>
            </a: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Sintoma</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checkout está lento</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Pergunta</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Em qual etapa?</a:t>
            </a: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4011031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451D07B0-0118-4B51-85EC-FCE241096DDA}"/>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Monitoramento e investigação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7C48206-C33E-4B0E-914F-2E8EAAD24C72}"/>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Monitoramento acompanha condições conhecidas e avisa quando uma regra é atendida.</a:t>
            </a:r>
          </a:p>
          <a:p>
            <a:endParaRPr sz="215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Observabilidade ajuda a investigar perguntas novas sobre o comportamento do sistema.</a:t>
            </a:r>
          </a:p>
        </p:txBody>
      </p:sp>
      <p:sp>
        <p:nvSpPr>
          <p:cNvPr id="1057" name="apoio">
            <a:extLst>
              <a:ext uri="{FF2B5EF4-FFF2-40B4-BE49-F238E27FC236}">
                <a16:creationId xmlns:a16="http://schemas.microsoft.com/office/drawing/2014/main" id="{829A0E89-5168-4358-B8DD-BDADBFCD3E5B}"/>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Monitoramento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 taxa de erro subiu?</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Investigação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Em qual rota e etapa?</a:t>
            </a:r>
          </a:p>
        </p:txBody>
      </p:sp>
      <p:sp>
        <p:nvSpPr>
          <p:cNvPr id="1058" name="rodape">
            <a:extLst>
              <a:ext uri="{FF2B5EF4-FFF2-40B4-BE49-F238E27FC236}">
                <a16:creationId xmlns:a16="http://schemas.microsoft.com/office/drawing/2014/main" id="{A5FAF060-B6BA-4081-927A-8598621FA54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2E1684B5-B97D-4A92-BA2C-86964334B4A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5548011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267A5A23-AB30-43AA-8A62-7645755560B0}"/>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2925">
                <a:solidFill>
                  <a:srgbClr val="FFFFFF"/>
                </a:solidFill>
                <a:latin typeface="Trebuchet MS"/>
                <a:ea typeface="Trebuchet MS"/>
                <a:cs typeface="Trebuchet MS"/>
              </a:defRPr>
            </a:defPPr>
          </a:lstStyle>
          <a:p>
            <a:pPr>
              <a:defRPr sz="2925">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Métricas: medidas ao longo do tempo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813D5E1-D92F-4D6A-A749-2F8F5B64C88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Métricas são valores numéricos associados a instantes e dimensões.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Permitem acompanhar tendências e comparar grupos com consultas agregadas.</a:t>
            </a:r>
          </a:p>
        </p:txBody>
      </p:sp>
      <p:sp>
        <p:nvSpPr>
          <p:cNvPr id="1057" name="apoio">
            <a:extLst>
              <a:ext uri="{FF2B5EF4-FFF2-40B4-BE49-F238E27FC236}">
                <a16:creationId xmlns:a16="http://schemas.microsoft.com/office/drawing/2014/main" id="{80B441A8-4874-4055-A392-EBB885F47AB5}"/>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CPU: 42%</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Tráfego: 12 req/s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Dimensão: rota</a:t>
            </a:r>
          </a:p>
        </p:txBody>
      </p:sp>
      <p:sp>
        <p:nvSpPr>
          <p:cNvPr id="1058" name="rodape">
            <a:extLst>
              <a:ext uri="{FF2B5EF4-FFF2-40B4-BE49-F238E27FC236}">
                <a16:creationId xmlns:a16="http://schemas.microsoft.com/office/drawing/2014/main" id="{A7570CF7-D799-460A-B831-C02CF291FDA5}"/>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5AC871C5-B4ED-4DC8-A4B7-9891F7E6455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61222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171818E8-400E-4702-A63B-A9F252891695}"/>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Logs: registros de eventos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C0C9DB1-23F8-41A4-B25F-223C921E5EDC}"/>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Logs registram acontecimentos com horário e contexto.</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linha pode conter nível, serviço, mensagem, rota e identificador de trace.</a:t>
            </a:r>
          </a:p>
        </p:txBody>
      </p:sp>
      <p:sp>
        <p:nvSpPr>
          <p:cNvPr id="1057" name="apoio">
            <a:extLst>
              <a:ext uri="{FF2B5EF4-FFF2-40B4-BE49-F238E27FC236}">
                <a16:creationId xmlns:a16="http://schemas.microsoft.com/office/drawing/2014/main" id="{306E751B-63F1-443D-8C71-D66740BA6327}"/>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Horário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Nível</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Mensagem</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Contexto</a:t>
            </a:r>
          </a:p>
        </p:txBody>
      </p:sp>
      <p:sp>
        <p:nvSpPr>
          <p:cNvPr id="1058" name="rodape">
            <a:extLst>
              <a:ext uri="{FF2B5EF4-FFF2-40B4-BE49-F238E27FC236}">
                <a16:creationId xmlns:a16="http://schemas.microsoft.com/office/drawing/2014/main" id="{238A3174-AFE0-4055-A50A-5F9840364958}"/>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CAAF52F4-7BF8-42E8-A38B-3F849B34780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10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2674226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E3C2D0B4-F28E-4EE6-A1DD-F6BEDCED83E3}"/>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Traces: caminho de uma requisição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F49F8664-FBF4-4375-9B4E-6721B250530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 trace reúne o trabalho associado a uma requisição.</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Cada span representa uma etapa, com início, duração e atributos.</a:t>
            </a:r>
          </a:p>
        </p:txBody>
      </p:sp>
      <p:sp>
        <p:nvSpPr>
          <p:cNvPr id="1057" name="apoio">
            <a:extLst>
              <a:ext uri="{FF2B5EF4-FFF2-40B4-BE49-F238E27FC236}">
                <a16:creationId xmlns:a16="http://schemas.microsoft.com/office/drawing/2014/main" id="{CBE86556-CCEC-4413-9558-7C24E4D2F9B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Trace</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Operação completa</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Span</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Uma etapa</a:t>
            </a:r>
          </a:p>
        </p:txBody>
      </p:sp>
      <p:sp>
        <p:nvSpPr>
          <p:cNvPr id="1058" name="rodape">
            <a:extLst>
              <a:ext uri="{FF2B5EF4-FFF2-40B4-BE49-F238E27FC236}">
                <a16:creationId xmlns:a16="http://schemas.microsoft.com/office/drawing/2014/main" id="{5BE48F0A-FA89-45DE-B23A-048EFF33E40B}"/>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442E414C-71B0-4EF7-BE89-8376DC91777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11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42093682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2CE201CE-FE4D-4F76-AA37-69C806FBE19F}"/>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Métricas, logs e traces juntos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C3B2A52-7554-4FA0-A492-2EF69F2C9C07}"/>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A métrica mostra a mudança.</a:t>
            </a: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O log acrescenta contexto.</a:t>
            </a: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O trace mostra as etapas.</a:t>
            </a:r>
          </a:p>
          <a:p>
            <a:endParaRPr sz="215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A conclusão depende da combinação das evidências.</a:t>
            </a:r>
          </a:p>
        </p:txBody>
      </p:sp>
      <p:sp>
        <p:nvSpPr>
          <p:cNvPr id="1057" name="apoio">
            <a:extLst>
              <a:ext uri="{FF2B5EF4-FFF2-40B4-BE49-F238E27FC236}">
                <a16:creationId xmlns:a16="http://schemas.microsoft.com/office/drawing/2014/main" id="{CC883C4B-6776-4B04-A47F-652AF243736F}"/>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Pergunta</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Checkout ficou lento</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Evidências</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Taxa, erro e spans</a:t>
            </a:r>
          </a:p>
        </p:txBody>
      </p:sp>
      <p:sp>
        <p:nvSpPr>
          <p:cNvPr id="1058" name="rodape">
            <a:extLst>
              <a:ext uri="{FF2B5EF4-FFF2-40B4-BE49-F238E27FC236}">
                <a16:creationId xmlns:a16="http://schemas.microsoft.com/office/drawing/2014/main" id="{7CE0F8CD-CFE7-4624-BF95-BBF3E07A2881}"/>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DA87859D-347C-46D3-8CBE-1E1FF8B2AE28}"/>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12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8722285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7DAA4B33-AA16-492D-A076-A15B580AE5AF}"/>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Vídeo: observabilidade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459DCF5-EA51-4ED1-87ED-12478EBF8711}"/>
              </a:ext>
            </a:extLst>
          </p:cNvPr>
          <p:cNvSpPr>
            <a:spLocks noGrp="1"/>
          </p:cNvSpPr>
          <p:nvPr/>
        </p:nvSpPr>
        <p:spPr>
          <a:xfrm>
            <a:off x="7810500" y="1778000"/>
            <a:ext cx="3746500" cy="419100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Use a referência em vídeo para relacionar o conceito à aplicação do curso.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Ao final, discuta como métricas e logs ajudam a investigar o comportamento.</a:t>
            </a:r>
          </a:p>
        </p:txBody>
      </p:sp>
      <p:sp>
        <p:nvSpPr>
          <p:cNvPr id="1057" name="rodape">
            <a:extLst>
              <a:ext uri="{FF2B5EF4-FFF2-40B4-BE49-F238E27FC236}">
                <a16:creationId xmlns:a16="http://schemas.microsoft.com/office/drawing/2014/main" id="{0609E3AF-B1D6-4677-B7D5-4358A2805809}"/>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8" name="link-video">
            <a:extLst>
              <a:ext uri="{FF2B5EF4-FFF2-40B4-BE49-F238E27FC236}">
                <a16:creationId xmlns:a16="http://schemas.microsoft.com/office/drawing/2014/main" id="{502B1036-59DA-4DF9-AF62-03065F862547}"/>
              </a:ext>
            </a:extLst>
          </p:cNvPr>
          <p:cNvSpPr>
            <a:spLocks noGrp="1"/>
          </p:cNvSpPr>
          <p:nvPr/>
        </p:nvSpPr>
        <p:spPr>
          <a:xfrm>
            <a:off x="1039368" y="5588000"/>
            <a:ext cx="6350000" cy="444500"/>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defRPr sz="1725" b="0">
                <a:solidFill>
                  <a:srgbClr val="40760F"/>
                </a:solidFill>
                <a:latin typeface="Trebuchet MS"/>
                <a:ea typeface="Trebuchet MS"/>
                <a:cs typeface="Trebuchet MS"/>
              </a:defRPr>
            </a:pPr>
            <a:r>
              <a:rPr sz="1500">
                <a:solidFill>
                  <a:srgbClr val="3D588B"/>
                </a:solidFill>
                <a:latin typeface="Segoe UI" panose="020B0502040204020203" pitchFamily="34" charset="0"/>
                <a:ea typeface="Trebuchet MS"/>
                <a:cs typeface="Trebuchet MS"/>
                <a:hlinkClick r:id="rId4">
                  <a:extLst>
                    <a:ext uri="{A12FA001-AC4F-418D-AE19-62706E023703}">
                      <ahyp:hlinkClr xmlns:ahyp="http://schemas.microsoft.com/office/drawing/2018/hyperlinkcolor" val="tx"/>
                    </a:ext>
                  </a:extLst>
                </a:hlinkClick>
              </a:rPr>
              <a:t>youtube.com/watch?v=TQur9GJHIIQ</a:t>
            </a:r>
          </a:p>
        </p:txBody>
      </p:sp>
      <p:sp>
        <p:nvSpPr>
          <p:cNvPr id="1059" name="pagina">
            <a:extLst>
              <a:ext uri="{FF2B5EF4-FFF2-40B4-BE49-F238E27FC236}">
                <a16:creationId xmlns:a16="http://schemas.microsoft.com/office/drawing/2014/main" id="{7A97D42A-5EC1-4C3A-A283-81EAC014566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 / 178</a:t>
            </a:r>
            <a:endParaRPr sz="1200">
              <a:solidFill>
                <a:srgbClr val="5F5F5F"/>
              </a:solidFill>
              <a:latin typeface="Segoe UI" panose="020B0502040204020203" pitchFamily="34" charset="0"/>
              <a:ea typeface="Trebuchet MS"/>
              <a:cs typeface="Trebuchet MS"/>
            </a:endParaRPr>
          </a:p>
        </p:txBody>
      </p:sp>
      <p:pic>
        <p:nvPicPr>
          <p:cNvPr id="2" name="Video online - TQur9GJHIIQ" title="What is Observability? | Grafana for Beginners Ep. 1">
            <a:hlinkClick action="ppaction://media"/>
            <a:extLst>
              <a:ext uri="{FF2B5EF4-FFF2-40B4-BE49-F238E27FC236}">
                <a16:creationId xmlns:a16="http://schemas.microsoft.com/office/drawing/2014/main" id="{1D68B632-ADD3-2888-2B5F-CC0CFA3ABE33}"/>
              </a:ext>
            </a:extLst>
          </p:cNvPr>
          <p:cNvPicPr>
            <a:picLocks noRot="1"/>
          </p:cNvPicPr>
          <p:nvPr>
            <a:videoFile r:link="rId1"/>
          </p:nvPr>
        </p:nvPicPr>
        <p:blipFill>
          <a:blip r:embed="rId5"/>
          <a:stretch>
            <a:fillRect/>
          </a:stretch>
        </p:blipFill>
        <p:spPr>
          <a:xfrm>
            <a:off x="1044988" y="1778000"/>
            <a:ext cx="6338761" cy="3581400"/>
          </a:xfrm>
          <a:prstGeom prst="rect">
            <a:avLst/>
          </a:prstGeom>
        </p:spPr>
      </p:pic>
    </p:spTree>
    <p:extLst>
      <p:ext uri="{BB962C8B-B14F-4D97-AF65-F5344CB8AC3E}">
        <p14:creationId xmlns:p14="http://schemas.microsoft.com/office/powerpoint/2010/main" val="67416780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2"/>
                                        </p:tgtEl>
                                      </p:cBhvr>
                                    </p:cmd>
                                  </p:childTnLst>
                                </p:cTn>
                              </p:par>
                            </p:childTnLst>
                          </p:cTn>
                        </p:par>
                      </p:childTnLst>
                    </p:cTn>
                  </p:par>
                </p:childTnLst>
              </p:cTn>
              <p:nextCondLst>
                <p:cond evt="onClick" delay="0">
                  <p:tgtEl>
                    <p:spTgt spid="2"/>
                  </p:tgtEl>
                </p:cond>
              </p:nextCondLst>
            </p:seq>
            <p:video>
              <p:cMediaNode vol="80000">
                <p:cTn id="7" fill="hold" display="0">
                  <p:stCondLst>
                    <p:cond delay="indefinite"/>
                  </p:stCondLst>
                </p:cTn>
                <p:tgtEl>
                  <p:spTgt spid="2"/>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B4213F59-8317-4F69-B76E-D24D290DE079}"/>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 que é o Grafana?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A90C648B-9D1A-40E2-A8E7-2418C585B68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É uma plataforma para consultar, explorar e visualizar dados de diferentes fontes.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Permite criar dashboards e regras de alerta sobre os dados conectados.</a:t>
            </a:r>
          </a:p>
        </p:txBody>
      </p:sp>
      <p:sp>
        <p:nvSpPr>
          <p:cNvPr id="1057" name="apoio">
            <a:extLst>
              <a:ext uri="{FF2B5EF4-FFF2-40B4-BE49-F238E27FC236}">
                <a16:creationId xmlns:a16="http://schemas.microsoft.com/office/drawing/2014/main" id="{9C64391E-CBD6-4A1D-8A59-D505EB184312}"/>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Fontes de dados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Consultas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Painéis e alertas</a:t>
            </a:r>
          </a:p>
        </p:txBody>
      </p:sp>
      <p:sp>
        <p:nvSpPr>
          <p:cNvPr id="1058" name="rodape">
            <a:extLst>
              <a:ext uri="{FF2B5EF4-FFF2-40B4-BE49-F238E27FC236}">
                <a16:creationId xmlns:a16="http://schemas.microsoft.com/office/drawing/2014/main" id="{91A62DD9-D634-42FA-9052-206F09506A04}"/>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4FE7B7A5-C5C4-470B-841E-8784CD6F24A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4001274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2A4DCF55-AAE6-42E7-B08F-A049CA672BEA}"/>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Grafana: vantagens e limites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A7E341F1-5A0C-4090-AF49-08A5375BCDD6}"/>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Vantagens</a:t>
            </a: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Reúne fontes, visualizações e alertas em uma interface.</a:t>
            </a:r>
          </a:p>
          <a:p>
            <a:endParaRPr sz="215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Limites</a:t>
            </a: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Depende da coleta, das fontes disponíveis e da qualidade das consultas.</a:t>
            </a:r>
          </a:p>
        </p:txBody>
      </p:sp>
      <p:sp>
        <p:nvSpPr>
          <p:cNvPr id="1057" name="apoio">
            <a:extLst>
              <a:ext uri="{FF2B5EF4-FFF2-40B4-BE49-F238E27FC236}">
                <a16:creationId xmlns:a16="http://schemas.microsoft.com/office/drawing/2014/main" id="{1B927FE5-C4BA-47CC-93C8-EE987229E323}"/>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Ajuda a interpretar</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Exige bons dados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Recursos variam por edição</a:t>
            </a:r>
          </a:p>
        </p:txBody>
      </p:sp>
      <p:sp>
        <p:nvSpPr>
          <p:cNvPr id="1058" name="rodape">
            <a:extLst>
              <a:ext uri="{FF2B5EF4-FFF2-40B4-BE49-F238E27FC236}">
                <a16:creationId xmlns:a16="http://schemas.microsoft.com/office/drawing/2014/main" id="{B62128F6-AED9-45C2-AD93-C85081637A20}"/>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852E7286-ABFD-4BC3-A43A-D2856EC79CE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7895686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46AE7DBA-E172-42C0-8FCF-BE28964CB54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 que é o Prometheus?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C0E79F0-3320-4356-9B08-6C3C4D965D74}"/>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É um sistema de monitoramento e alertas que coleta e armazena métricas em séries temporais.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Neste laboratório, consulta endpoints HTTP de métricas periodicamente.</a:t>
            </a:r>
          </a:p>
        </p:txBody>
      </p:sp>
      <p:sp>
        <p:nvSpPr>
          <p:cNvPr id="1057" name="apoio">
            <a:extLst>
              <a:ext uri="{FF2B5EF4-FFF2-40B4-BE49-F238E27FC236}">
                <a16:creationId xmlns:a16="http://schemas.microsoft.com/office/drawing/2014/main" id="{55BBF3E8-A418-49E7-965E-06D727175B3E}"/>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Coleta</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Séries temporais</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PromQL</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Regras</a:t>
            </a:r>
          </a:p>
        </p:txBody>
      </p:sp>
      <p:sp>
        <p:nvSpPr>
          <p:cNvPr id="1058" name="rodape">
            <a:extLst>
              <a:ext uri="{FF2B5EF4-FFF2-40B4-BE49-F238E27FC236}">
                <a16:creationId xmlns:a16="http://schemas.microsoft.com/office/drawing/2014/main" id="{D526BAA8-78AA-4919-B0D7-999866A7B243}"/>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939E1478-B993-4E97-864B-622A41D38F0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6718074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D306FB7-E50D-4FB2-B23B-358B0B168AB2}"/>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Prometheus: vantagens e limites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A66E069A-C2E0-4B8D-A2E9-1900F411B0FA}"/>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Vantagens</a:t>
            </a: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Modelo por labels, PromQL e ecossistema de exporters.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Limites</a:t>
            </a: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Alta cardinalidade e retenção exigem planejamento. Não guarda logs nem traces.</a:t>
            </a:r>
          </a:p>
        </p:txBody>
      </p:sp>
      <p:sp>
        <p:nvSpPr>
          <p:cNvPr id="1057" name="apoio">
            <a:extLst>
              <a:ext uri="{FF2B5EF4-FFF2-40B4-BE49-F238E27FC236}">
                <a16:creationId xmlns:a16="http://schemas.microsoft.com/office/drawing/2014/main" id="{91582745-464D-44B1-ABE1-F2AAF9FFB23A}"/>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Bom para números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Custo por séries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Não é livro contábil</a:t>
            </a:r>
          </a:p>
        </p:txBody>
      </p:sp>
      <p:sp>
        <p:nvSpPr>
          <p:cNvPr id="1058" name="rodape">
            <a:extLst>
              <a:ext uri="{FF2B5EF4-FFF2-40B4-BE49-F238E27FC236}">
                <a16:creationId xmlns:a16="http://schemas.microsoft.com/office/drawing/2014/main" id="{50EE44B8-6637-4FD9-81D0-D058B0368006}"/>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D6AAFF73-38AA-499A-A8DE-99F29B2E73F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8514821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D29EC72D-29BE-4829-87A3-2B24DC84A9D8}"/>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Counter, gauge e distribuições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E6E7616E-A488-4A5E-B2DC-40B6DC50AB4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Counter acumula ocorrências e pode reiniciar.</a:t>
            </a: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Gauge sobe e desce.</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Histogram e summary descrevem distribuições de observações.</a:t>
            </a:r>
          </a:p>
        </p:txBody>
      </p:sp>
      <p:sp>
        <p:nvSpPr>
          <p:cNvPr id="1057" name="apoio">
            <a:extLst>
              <a:ext uri="{FF2B5EF4-FFF2-40B4-BE49-F238E27FC236}">
                <a16:creationId xmlns:a16="http://schemas.microsoft.com/office/drawing/2014/main" id="{4510D442-32DA-4352-B3CA-3D6455731678}"/>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Counter</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Requisições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Gauge</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Memória em uso</a:t>
            </a:r>
          </a:p>
        </p:txBody>
      </p:sp>
      <p:sp>
        <p:nvSpPr>
          <p:cNvPr id="1058" name="rodape">
            <a:extLst>
              <a:ext uri="{FF2B5EF4-FFF2-40B4-BE49-F238E27FC236}">
                <a16:creationId xmlns:a16="http://schemas.microsoft.com/office/drawing/2014/main" id="{113AF7B7-9B22-4F85-8737-C7EC7D991C98}"/>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4714C921-E2BD-4CF5-8EE4-05862FE21848}"/>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18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4791622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991032C8-8C1F-4222-8785-AE8118F0B0BE}"/>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 que é o Loki?</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E8EB18E0-FAB6-46F9-B231-66DFDDC54681}"/>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É um backend para armazenar e consultar logs.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Organiza fluxos por labels e usa LogQL para selecionar eventos e obter medidas derivadas.</a:t>
            </a:r>
          </a:p>
        </p:txBody>
      </p:sp>
      <p:sp>
        <p:nvSpPr>
          <p:cNvPr id="1057" name="apoio">
            <a:extLst>
              <a:ext uri="{FF2B5EF4-FFF2-40B4-BE49-F238E27FC236}">
                <a16:creationId xmlns:a16="http://schemas.microsoft.com/office/drawing/2014/main" id="{A0722CDF-FB00-4445-ABA4-BDC93770D6BA}"/>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Logs</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Labels do fluxo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Conteúdo da linha</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LogQL</a:t>
            </a:r>
          </a:p>
        </p:txBody>
      </p:sp>
      <p:sp>
        <p:nvSpPr>
          <p:cNvPr id="1058" name="rodape">
            <a:extLst>
              <a:ext uri="{FF2B5EF4-FFF2-40B4-BE49-F238E27FC236}">
                <a16:creationId xmlns:a16="http://schemas.microsoft.com/office/drawing/2014/main" id="{9B43074B-2362-459B-A778-E75B9F649503}"/>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543138D4-A2A3-420B-9F88-2399EAF53AF4}"/>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19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4469436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2C79D76A-DC96-4A39-A92F-584B665ED9D9}"/>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Loki: vantagens e limites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DB476AB5-369B-442F-9480-5ABE8D15CBC2}"/>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Vantagens</a:t>
            </a: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Integração com o Grafana e correlação por contexto.</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Limites</a:t>
            </a: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Labels mal escolhidos e buscas amplas podem aumentar o custo das consultas.</a:t>
            </a:r>
          </a:p>
        </p:txBody>
      </p:sp>
      <p:sp>
        <p:nvSpPr>
          <p:cNvPr id="1057" name="apoio">
            <a:extLst>
              <a:ext uri="{FF2B5EF4-FFF2-40B4-BE49-F238E27FC236}">
                <a16:creationId xmlns:a16="http://schemas.microsoft.com/office/drawing/2014/main" id="{D5002E2D-FAA2-458A-BB48-4FD7CD02B202}"/>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Escolha o fluxo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Reduza o período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Filtre o conteúdo</a:t>
            </a:r>
          </a:p>
        </p:txBody>
      </p:sp>
      <p:sp>
        <p:nvSpPr>
          <p:cNvPr id="1058" name="rodape">
            <a:extLst>
              <a:ext uri="{FF2B5EF4-FFF2-40B4-BE49-F238E27FC236}">
                <a16:creationId xmlns:a16="http://schemas.microsoft.com/office/drawing/2014/main" id="{0667322D-5A12-4A1F-AFF1-1C6F747D913E}"/>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C0BB281C-9517-4390-B370-8945F599679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20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6139860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4D544B43-D66B-44F7-8481-0A2AF8A3FEB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 que é o Tempo?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D4551391-DCE7-48A7-A108-E90365C1BB9D}"/>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É um backend para armazenar e consultar traces distribuídos.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Recebe spans de aplicações instrumentadas e permite investigar a duração das etapas.</a:t>
            </a:r>
          </a:p>
        </p:txBody>
      </p:sp>
      <p:sp>
        <p:nvSpPr>
          <p:cNvPr id="1057" name="apoio">
            <a:extLst>
              <a:ext uri="{FF2B5EF4-FFF2-40B4-BE49-F238E27FC236}">
                <a16:creationId xmlns:a16="http://schemas.microsoft.com/office/drawing/2014/main" id="{52608CAE-4BCC-4CC7-A138-B8B3D52971A4}"/>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Aplicação instrumentada</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Spans por OTLP</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Consulta por TraceQL</a:t>
            </a:r>
          </a:p>
        </p:txBody>
      </p:sp>
      <p:sp>
        <p:nvSpPr>
          <p:cNvPr id="1058" name="rodape">
            <a:extLst>
              <a:ext uri="{FF2B5EF4-FFF2-40B4-BE49-F238E27FC236}">
                <a16:creationId xmlns:a16="http://schemas.microsoft.com/office/drawing/2014/main" id="{64FBF1D2-FAD3-4F18-97D1-122FEA2C70A5}"/>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C4BA8039-345E-4FF9-910E-25641271B15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21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6425579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E6FEAC63-1800-4637-B844-756E5C00F6FF}"/>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Tempo: vantagens e limites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65BEECCB-5CCB-4CEA-9FD6-71C187E9465D}"/>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Vantagens</a:t>
            </a: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Expõe etapas e durações da requisição; permite navegar a partir do trace_id.</a:t>
            </a:r>
          </a:p>
          <a:p>
            <a:endParaRPr sz="215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Limites</a:t>
            </a: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Depende de instrumentação, propagação de contexto e retenção.</a:t>
            </a:r>
          </a:p>
        </p:txBody>
      </p:sp>
      <p:sp>
        <p:nvSpPr>
          <p:cNvPr id="1057" name="apoio">
            <a:extLst>
              <a:ext uri="{FF2B5EF4-FFF2-40B4-BE49-F238E27FC236}">
                <a16:creationId xmlns:a16="http://schemas.microsoft.com/office/drawing/2014/main" id="{82A86CD1-0921-41B2-8193-5A951BC12D04}"/>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Sem instrumentação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Não há spans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Sem contexto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caminho fica incompleto</a:t>
            </a:r>
          </a:p>
        </p:txBody>
      </p:sp>
      <p:sp>
        <p:nvSpPr>
          <p:cNvPr id="1058" name="rodape">
            <a:extLst>
              <a:ext uri="{FF2B5EF4-FFF2-40B4-BE49-F238E27FC236}">
                <a16:creationId xmlns:a16="http://schemas.microsoft.com/office/drawing/2014/main" id="{964F4675-39AE-4E42-BE45-45D6735908D1}"/>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2DBB33BD-1CC6-4117-97C6-9F010DB9B72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22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8783143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01D75408-2B60-4473-B3AA-49292D06A36C}"/>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PromQL: consulta de métricas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0947C1B-356A-4F2C-9C45-B94B6DB75F90}"/>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PromQL seleciona, filtra e combina séries temporais.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rate calcula uma taxa a partir de um contador; sum pode agregar as séries.</a:t>
            </a:r>
          </a:p>
        </p:txBody>
      </p:sp>
      <p:sp>
        <p:nvSpPr>
          <p:cNvPr id="1057" name="apoio">
            <a:extLst>
              <a:ext uri="{FF2B5EF4-FFF2-40B4-BE49-F238E27FC236}">
                <a16:creationId xmlns:a16="http://schemas.microsoft.com/office/drawing/2014/main" id="{7FFD1B10-F29D-40EC-BAFB-A0C2026DB50B}"/>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Métrica</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Filtro por labels</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Função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Agrupamento</a:t>
            </a:r>
          </a:p>
        </p:txBody>
      </p:sp>
      <p:sp>
        <p:nvSpPr>
          <p:cNvPr id="1058" name="rodape">
            <a:extLst>
              <a:ext uri="{FF2B5EF4-FFF2-40B4-BE49-F238E27FC236}">
                <a16:creationId xmlns:a16="http://schemas.microsoft.com/office/drawing/2014/main" id="{BB0439EA-5329-448B-8C32-384D0BC20812}"/>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C50A9A0E-01B6-451B-8446-03186912DD0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23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9966712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AA5B0388-AF69-4D2F-80D5-2369812701AF}"/>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LogQL: consulta de logs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2CB67BE-4E6D-4E05-96CC-0A023EBF97D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seletor escolhe os fluxos.</a:t>
            </a: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Os filtros escolhem linhas.</a:t>
            </a: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Parsers extraem campos.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Também é possível calcular contagens e taxas a partir dos eventos.</a:t>
            </a:r>
          </a:p>
        </p:txBody>
      </p:sp>
      <p:sp>
        <p:nvSpPr>
          <p:cNvPr id="1057" name="apoio">
            <a:extLst>
              <a:ext uri="{FF2B5EF4-FFF2-40B4-BE49-F238E27FC236}">
                <a16:creationId xmlns:a16="http://schemas.microsoft.com/office/drawing/2014/main" id="{FF026F01-5241-475F-A022-6652CB75A8A8}"/>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1725">
                <a:solidFill>
                  <a:srgbClr val="40760F"/>
                </a:solidFill>
                <a:latin typeface="Trebuchet MS"/>
                <a:ea typeface="Trebuchet MS"/>
                <a:cs typeface="Trebuchet MS"/>
              </a:defRPr>
            </a:defPPr>
          </a:lstStyle>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{service="ecommerce-shop"}</a:t>
            </a: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 "ERROR"</a:t>
            </a:r>
          </a:p>
        </p:txBody>
      </p:sp>
      <p:sp>
        <p:nvSpPr>
          <p:cNvPr id="1058" name="rodape">
            <a:extLst>
              <a:ext uri="{FF2B5EF4-FFF2-40B4-BE49-F238E27FC236}">
                <a16:creationId xmlns:a16="http://schemas.microsoft.com/office/drawing/2014/main" id="{82FD62F6-89B7-49D2-854D-C2D642E0281E}"/>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4D8C01F5-91C3-4B6D-B4CA-CCB659114C6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24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2526561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74F4F876-3EDD-4CFB-A52A-30F6D5562368}"/>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TraceQL: consulta de traces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6797FD4A-4B12-428F-A045-79C0C654FEB0}"/>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TraceQL seleciona traces a partir de condições sobre spans, recursos e duração.</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 TraceID conhecido também permite abrir uma requisição específica.</a:t>
            </a:r>
          </a:p>
        </p:txBody>
      </p:sp>
      <p:sp>
        <p:nvSpPr>
          <p:cNvPr id="1057" name="apoio">
            <a:extLst>
              <a:ext uri="{FF2B5EF4-FFF2-40B4-BE49-F238E27FC236}">
                <a16:creationId xmlns:a16="http://schemas.microsoft.com/office/drawing/2014/main" id="{A2CDB502-0361-410D-8FD1-0E16D7100035}"/>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1725">
                <a:solidFill>
                  <a:srgbClr val="40760F"/>
                </a:solidFill>
                <a:latin typeface="Trebuchet MS"/>
                <a:ea typeface="Trebuchet MS"/>
                <a:cs typeface="Trebuchet MS"/>
              </a:defRPr>
            </a:defPPr>
          </a:lstStyle>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 resource.service.name</a:t>
            </a: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  = "ecommerce-shop" }</a:t>
            </a:r>
          </a:p>
        </p:txBody>
      </p:sp>
      <p:sp>
        <p:nvSpPr>
          <p:cNvPr id="1058" name="rodape">
            <a:extLst>
              <a:ext uri="{FF2B5EF4-FFF2-40B4-BE49-F238E27FC236}">
                <a16:creationId xmlns:a16="http://schemas.microsoft.com/office/drawing/2014/main" id="{416EED38-B902-4844-98A2-7CA7DC7D4FB1}"/>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F8421E71-5337-4E72-92DA-277382E36AF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25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280071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E9211696-5C15-4332-A9F3-F0E22200E7B1}"/>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Promtail: papel no laboratório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D06B226-BAE6-45F3-8C7C-B414DEB2F4E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Promtail acompanha arquivos e logs de containers, acrescenta labels e envia os eventos ao Loki por HTTP.</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Ele aparece aqui por fazer parte do ambiente legado do curso.</a:t>
            </a:r>
          </a:p>
        </p:txBody>
      </p:sp>
      <p:sp>
        <p:nvSpPr>
          <p:cNvPr id="1057" name="apoio">
            <a:extLst>
              <a:ext uri="{FF2B5EF4-FFF2-40B4-BE49-F238E27FC236}">
                <a16:creationId xmlns:a16="http://schemas.microsoft.com/office/drawing/2014/main" id="{1FDC39B2-5235-463C-A61E-FEAA91CAE4F4}"/>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Arquivo ou stdout</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Promtail</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Loki</a:t>
            </a:r>
          </a:p>
        </p:txBody>
      </p:sp>
      <p:sp>
        <p:nvSpPr>
          <p:cNvPr id="1058" name="rodape">
            <a:extLst>
              <a:ext uri="{FF2B5EF4-FFF2-40B4-BE49-F238E27FC236}">
                <a16:creationId xmlns:a16="http://schemas.microsoft.com/office/drawing/2014/main" id="{571166E6-48B9-4B10-94C6-B83934E94D0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B4E110D7-5CBD-4665-B0AE-7D87B117DB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26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878786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81600DC9-002C-4605-B2C7-2614BFAA93F8}"/>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Promtail e a migração para Alloy</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59107705-2529-4785-BAF8-F22500A660AC}"/>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Promtail encerrou o suporte em 2 de março de 2026.</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Para novas implantações, estude Grafana Alloy ou outro coletor mantido. O laboratório preserva o fluxo legado para comparação.</a:t>
            </a:r>
          </a:p>
        </p:txBody>
      </p:sp>
      <p:sp>
        <p:nvSpPr>
          <p:cNvPr id="1057" name="apoio">
            <a:extLst>
              <a:ext uri="{FF2B5EF4-FFF2-40B4-BE49-F238E27FC236}">
                <a16:creationId xmlns:a16="http://schemas.microsoft.com/office/drawing/2014/main" id="{06755B27-7111-4DCC-B379-7D58B8651EC9}"/>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Promtail</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Legado do lab</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Alloy</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Caminho de migração</a:t>
            </a:r>
          </a:p>
        </p:txBody>
      </p:sp>
      <p:sp>
        <p:nvSpPr>
          <p:cNvPr id="1058" name="rodape">
            <a:extLst>
              <a:ext uri="{FF2B5EF4-FFF2-40B4-BE49-F238E27FC236}">
                <a16:creationId xmlns:a16="http://schemas.microsoft.com/office/drawing/2014/main" id="{92A09E50-2BC2-47D7-BCF3-D287A3AD88B2}"/>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D5D711F4-6085-4BBE-8A11-E2C44247D7F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27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0360156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ulo">
            <a:extLst>
              <a:ext uri="{FF2B5EF4-FFF2-40B4-BE49-F238E27FC236}">
                <a16:creationId xmlns:a16="http://schemas.microsoft.com/office/drawing/2014/main" id="{155E93F3-8693-4345-A1DD-91AF0849511E}"/>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850">
                <a:solidFill>
                  <a:srgbClr val="40760F"/>
                </a:solidFill>
                <a:latin typeface="Trebuchet MS"/>
                <a:ea typeface="Trebuchet MS"/>
                <a:cs typeface="Trebuchet MS"/>
              </a:defRPr>
            </a:defPPr>
          </a:lstStyle>
          <a:p>
            <a:pPr>
              <a:defRPr sz="285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Arquitetura do ambiente do professor</a:t>
            </a:r>
            <a:endParaRPr sz="3600" b="1">
              <a:solidFill>
                <a:srgbClr val="73A277"/>
              </a:solidFill>
              <a:latin typeface="Segoe UI" panose="020B0502040204020203" pitchFamily="34" charset="0"/>
              <a:ea typeface="Trebuchet MS"/>
              <a:cs typeface="Trebuchet MS"/>
            </a:endParaRPr>
          </a:p>
        </p:txBody>
      </p:sp>
      <p:sp>
        <p:nvSpPr>
          <p:cNvPr id="2" name="Arquitetura browser">
            <a:extLst>
              <a:ext uri="{FF2B5EF4-FFF2-40B4-BE49-F238E27FC236}">
                <a16:creationId xmlns:a16="http://schemas.microsoft.com/office/drawing/2014/main" id="{B692D375-2891-4EFC-A34C-6ECC4B16122D}"/>
              </a:ext>
            </a:extLst>
          </p:cNvPr>
          <p:cNvSpPr>
            <a:spLocks noGrp="1"/>
          </p:cNvSpPr>
          <p:nvPr/>
        </p:nvSpPr>
        <p:spPr>
          <a:xfrm>
            <a:off x="4653077" y="1587500"/>
            <a:ext cx="2282342" cy="401383"/>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Navegador do aluno</a:t>
            </a:r>
          </a:p>
        </p:txBody>
      </p:sp>
      <p:sp>
        <p:nvSpPr>
          <p:cNvPr id="3" name="Arquitetura grafana">
            <a:extLst>
              <a:ext uri="{FF2B5EF4-FFF2-40B4-BE49-F238E27FC236}">
                <a16:creationId xmlns:a16="http://schemas.microsoft.com/office/drawing/2014/main" id="{9310E172-7279-4B1D-B80E-C385BD01594E}"/>
              </a:ext>
            </a:extLst>
          </p:cNvPr>
          <p:cNvSpPr>
            <a:spLocks noGrp="1"/>
          </p:cNvSpPr>
          <p:nvPr/>
        </p:nvSpPr>
        <p:spPr>
          <a:xfrm>
            <a:off x="4653077" y="2309990"/>
            <a:ext cx="2282342" cy="561937"/>
          </a:xfrm>
          <a:prstGeom prst="rect">
            <a:avLst/>
          </a:prstGeom>
          <a:solidFill>
            <a:srgbClr val="73A277"/>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Grafana</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Dashboards e alertas</a:t>
            </a:r>
          </a:p>
        </p:txBody>
      </p:sp>
      <p:sp>
        <p:nvSpPr>
          <p:cNvPr id="4" name="Arquitetura prom">
            <a:extLst>
              <a:ext uri="{FF2B5EF4-FFF2-40B4-BE49-F238E27FC236}">
                <a16:creationId xmlns:a16="http://schemas.microsoft.com/office/drawing/2014/main" id="{D8A44266-B02C-4DF5-9331-D47C60BA31DD}"/>
              </a:ext>
            </a:extLst>
          </p:cNvPr>
          <p:cNvSpPr>
            <a:spLocks noGrp="1"/>
          </p:cNvSpPr>
          <p:nvPr/>
        </p:nvSpPr>
        <p:spPr>
          <a:xfrm>
            <a:off x="1039368" y="3474003"/>
            <a:ext cx="2567635" cy="642214"/>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Prometheus :9090</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Métricas / TSDB</a:t>
            </a:r>
          </a:p>
        </p:txBody>
      </p:sp>
      <p:sp>
        <p:nvSpPr>
          <p:cNvPr id="5" name="Arquitetura loki">
            <a:extLst>
              <a:ext uri="{FF2B5EF4-FFF2-40B4-BE49-F238E27FC236}">
                <a16:creationId xmlns:a16="http://schemas.microsoft.com/office/drawing/2014/main" id="{372580C9-5159-4CE2-9096-BAA0A34AF6DD}"/>
              </a:ext>
            </a:extLst>
          </p:cNvPr>
          <p:cNvSpPr>
            <a:spLocks noGrp="1"/>
          </p:cNvSpPr>
          <p:nvPr/>
        </p:nvSpPr>
        <p:spPr>
          <a:xfrm>
            <a:off x="4510430" y="3474003"/>
            <a:ext cx="2567635" cy="642214"/>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Loki :3100</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Logs</a:t>
            </a:r>
          </a:p>
        </p:txBody>
      </p:sp>
      <p:sp>
        <p:nvSpPr>
          <p:cNvPr id="6" name="Arquitetura tempo">
            <a:extLst>
              <a:ext uri="{FF2B5EF4-FFF2-40B4-BE49-F238E27FC236}">
                <a16:creationId xmlns:a16="http://schemas.microsoft.com/office/drawing/2014/main" id="{8D5C6629-D91F-4706-A915-A5CA666518CA}"/>
              </a:ext>
            </a:extLst>
          </p:cNvPr>
          <p:cNvSpPr>
            <a:spLocks noGrp="1"/>
          </p:cNvSpPr>
          <p:nvPr/>
        </p:nvSpPr>
        <p:spPr>
          <a:xfrm>
            <a:off x="7981493" y="3474003"/>
            <a:ext cx="2567635" cy="642214"/>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Tempo :3200</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Traces</a:t>
            </a:r>
          </a:p>
        </p:txBody>
      </p:sp>
      <p:sp>
        <p:nvSpPr>
          <p:cNvPr id="7" name="Arquitetura exporters">
            <a:extLst>
              <a:ext uri="{FF2B5EF4-FFF2-40B4-BE49-F238E27FC236}">
                <a16:creationId xmlns:a16="http://schemas.microsoft.com/office/drawing/2014/main" id="{DAB09817-B03A-4D5A-B760-06E649810C73}"/>
              </a:ext>
            </a:extLst>
          </p:cNvPr>
          <p:cNvSpPr>
            <a:spLocks noGrp="1"/>
          </p:cNvSpPr>
          <p:nvPr/>
        </p:nvSpPr>
        <p:spPr>
          <a:xfrm>
            <a:off x="1039368" y="4878845"/>
            <a:ext cx="2567635" cy="642214"/>
          </a:xfrm>
          <a:prstGeom prst="rect">
            <a:avLst/>
          </a:prstGeom>
          <a:solidFill>
            <a:srgbClr val="3D588B"/>
          </a:solidFill>
          <a:ln w="13335">
            <a:solidFill>
              <a:srgbClr val="3D588B"/>
            </a:solidFill>
          </a:ln>
        </p:spPr>
        <p:txBody>
          <a:bodyPr wrap="square" lIns="38100" tIns="38100" rIns="38100" bIns="38100" anchor="ctr"/>
          <a:lstStyle>
            <a:defPPr algn="ctr">
              <a:defRPr sz="1350">
                <a:solidFill>
                  <a:srgbClr val="263723"/>
                </a:solidFill>
                <a:latin typeface="Trebuchet MS"/>
                <a:ea typeface="Trebuchet MS"/>
                <a:cs typeface="Trebuchet MS"/>
              </a:defRPr>
            </a:defPPr>
          </a:lstStyle>
          <a:p>
            <a:pPr algn="ctr">
              <a:defRPr sz="1350">
                <a:solidFill>
                  <a:srgbClr val="263723"/>
                </a:solidFill>
                <a:latin typeface="Trebuchet MS"/>
                <a:ea typeface="Trebuchet MS"/>
                <a:cs typeface="Trebuchet MS"/>
              </a:defRPr>
            </a:pPr>
            <a:r>
              <a:rPr sz="1350">
                <a:solidFill>
                  <a:srgbClr val="FFFFFF"/>
                </a:solidFill>
                <a:latin typeface="Segoe UI" panose="020B0502040204020203" pitchFamily="34" charset="0"/>
                <a:ea typeface="Trebuchet MS"/>
                <a:cs typeface="Trebuchet MS"/>
              </a:rPr>
              <a:t>Node Exporter :9100</a:t>
            </a:r>
          </a:p>
          <a:p>
            <a:pPr algn="ctr">
              <a:defRPr sz="1350">
                <a:solidFill>
                  <a:srgbClr val="263723"/>
                </a:solidFill>
                <a:latin typeface="Trebuchet MS"/>
                <a:ea typeface="Trebuchet MS"/>
                <a:cs typeface="Trebuchet MS"/>
              </a:defRPr>
            </a:pPr>
            <a:r>
              <a:rPr sz="1350">
                <a:solidFill>
                  <a:srgbClr val="FFFFFF"/>
                </a:solidFill>
                <a:latin typeface="Segoe UI" panose="020B0502040204020203" pitchFamily="34" charset="0"/>
                <a:ea typeface="Trebuchet MS"/>
                <a:cs typeface="Trebuchet MS"/>
              </a:rPr>
              <a:t>Containers :8080</a:t>
            </a:r>
          </a:p>
          <a:p>
            <a:pPr algn="ctr">
              <a:defRPr sz="1350">
                <a:solidFill>
                  <a:srgbClr val="263723"/>
                </a:solidFill>
                <a:latin typeface="Trebuchet MS"/>
                <a:ea typeface="Trebuchet MS"/>
                <a:cs typeface="Trebuchet MS"/>
              </a:defRPr>
            </a:pPr>
            <a:r>
              <a:rPr sz="1350">
                <a:solidFill>
                  <a:srgbClr val="FFFFFF"/>
                </a:solidFill>
                <a:latin typeface="Segoe UI" panose="020B0502040204020203" pitchFamily="34" charset="0"/>
                <a:ea typeface="Trebuchet MS"/>
                <a:cs typeface="Trebuchet MS"/>
              </a:rPr>
              <a:t>Aplicação :8000 /metrics</a:t>
            </a:r>
          </a:p>
        </p:txBody>
      </p:sp>
      <p:sp>
        <p:nvSpPr>
          <p:cNvPr id="8" name="Arquitetura agent">
            <a:extLst>
              <a:ext uri="{FF2B5EF4-FFF2-40B4-BE49-F238E27FC236}">
                <a16:creationId xmlns:a16="http://schemas.microsoft.com/office/drawing/2014/main" id="{C25A95A9-D31E-4B74-92B4-BCD7715A2372}"/>
              </a:ext>
            </a:extLst>
          </p:cNvPr>
          <p:cNvSpPr>
            <a:spLocks noGrp="1"/>
          </p:cNvSpPr>
          <p:nvPr/>
        </p:nvSpPr>
        <p:spPr>
          <a:xfrm>
            <a:off x="4510430" y="4878845"/>
            <a:ext cx="2567635" cy="642214"/>
          </a:xfrm>
          <a:prstGeom prst="rect">
            <a:avLst/>
          </a:prstGeom>
          <a:solidFill>
            <a:srgbClr val="73A277"/>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Logs dos containers</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Promtail (legado)</a:t>
            </a:r>
          </a:p>
        </p:txBody>
      </p:sp>
      <p:sp>
        <p:nvSpPr>
          <p:cNvPr id="9" name="Arquitetura otel">
            <a:extLst>
              <a:ext uri="{FF2B5EF4-FFF2-40B4-BE49-F238E27FC236}">
                <a16:creationId xmlns:a16="http://schemas.microsoft.com/office/drawing/2014/main" id="{DF3588DF-E5FA-4824-8FB1-0EBAD50E66A2}"/>
              </a:ext>
            </a:extLst>
          </p:cNvPr>
          <p:cNvSpPr>
            <a:spLocks noGrp="1"/>
          </p:cNvSpPr>
          <p:nvPr/>
        </p:nvSpPr>
        <p:spPr>
          <a:xfrm>
            <a:off x="7981493" y="4878845"/>
            <a:ext cx="2567635" cy="642214"/>
          </a:xfrm>
          <a:prstGeom prst="rect">
            <a:avLst/>
          </a:prstGeom>
          <a:solidFill>
            <a:srgbClr val="73A277"/>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Aplicação e-commerce</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OpenTelemetry SDK</a:t>
            </a:r>
          </a:p>
        </p:txBody>
      </p:sp>
      <p:cxnSp>
        <p:nvCxnSpPr>
          <p:cNvPr id="10" name="Fluxo browser grafana 1">
            <a:extLst>
              <a:ext uri="{FF2B5EF4-FFF2-40B4-BE49-F238E27FC236}">
                <a16:creationId xmlns:a16="http://schemas.microsoft.com/office/drawing/2014/main" id="{76832237-512D-496C-8E26-117CF7647E11}"/>
              </a:ext>
            </a:extLst>
          </p:cNvPr>
          <p:cNvCxnSpPr/>
          <p:nvPr/>
        </p:nvCxnSpPr>
        <p:spPr>
          <a:xfrm>
            <a:off x="5794248" y="1988884"/>
            <a:ext cx="0" cy="160553"/>
          </a:xfrm>
          <a:prstGeom prst="straightConnector1">
            <a:avLst/>
          </a:prstGeom>
          <a:ln w="17145">
            <a:solidFill>
              <a:srgbClr val="3D588B"/>
            </a:solidFill>
            <a:headEnd type="none" w="med" len="med"/>
            <a:tailEnd type="none" w="med" len="med"/>
          </a:ln>
        </p:spPr>
      </p:cxnSp>
      <p:cxnSp>
        <p:nvCxnSpPr>
          <p:cNvPr id="11" name="Fluxo browser grafana 3">
            <a:extLst>
              <a:ext uri="{FF2B5EF4-FFF2-40B4-BE49-F238E27FC236}">
                <a16:creationId xmlns:a16="http://schemas.microsoft.com/office/drawing/2014/main" id="{19CCA4CA-63B9-40AE-8376-A494333F70C8}"/>
              </a:ext>
            </a:extLst>
          </p:cNvPr>
          <p:cNvCxnSpPr/>
          <p:nvPr/>
        </p:nvCxnSpPr>
        <p:spPr>
          <a:xfrm>
            <a:off x="5794248" y="2149438"/>
            <a:ext cx="0" cy="160553"/>
          </a:xfrm>
          <a:prstGeom prst="straightConnector1">
            <a:avLst/>
          </a:prstGeom>
          <a:ln w="17145">
            <a:solidFill>
              <a:srgbClr val="3D588B"/>
            </a:solidFill>
            <a:headEnd type="none" w="med" len="med"/>
            <a:tailEnd type="arrow" w="med" len="med"/>
          </a:ln>
        </p:spPr>
      </p:cxnSp>
      <p:cxnSp>
        <p:nvCxnSpPr>
          <p:cNvPr id="12" name="Fluxo grafana prom 1">
            <a:extLst>
              <a:ext uri="{FF2B5EF4-FFF2-40B4-BE49-F238E27FC236}">
                <a16:creationId xmlns:a16="http://schemas.microsoft.com/office/drawing/2014/main" id="{34DE6D80-03B3-4ED3-AF49-913C8177185B}"/>
              </a:ext>
            </a:extLst>
          </p:cNvPr>
          <p:cNvCxnSpPr/>
          <p:nvPr/>
        </p:nvCxnSpPr>
        <p:spPr>
          <a:xfrm>
            <a:off x="2323186" y="2590959"/>
            <a:ext cx="2329891" cy="0"/>
          </a:xfrm>
          <a:prstGeom prst="straightConnector1">
            <a:avLst/>
          </a:prstGeom>
          <a:ln w="17145">
            <a:solidFill>
              <a:srgbClr val="3D588B"/>
            </a:solidFill>
            <a:headEnd type="none" w="med" len="med"/>
            <a:tailEnd type="none" w="med" len="med"/>
          </a:ln>
        </p:spPr>
      </p:cxnSp>
      <p:cxnSp>
        <p:nvCxnSpPr>
          <p:cNvPr id="13" name="Fluxo grafana prom 2">
            <a:extLst>
              <a:ext uri="{FF2B5EF4-FFF2-40B4-BE49-F238E27FC236}">
                <a16:creationId xmlns:a16="http://schemas.microsoft.com/office/drawing/2014/main" id="{06ADF620-50CF-44C2-91A5-F39FD5AD0993}"/>
              </a:ext>
            </a:extLst>
          </p:cNvPr>
          <p:cNvCxnSpPr/>
          <p:nvPr/>
        </p:nvCxnSpPr>
        <p:spPr>
          <a:xfrm>
            <a:off x="2323186" y="2590959"/>
            <a:ext cx="0" cy="883044"/>
          </a:xfrm>
          <a:prstGeom prst="straightConnector1">
            <a:avLst/>
          </a:prstGeom>
          <a:ln w="17145">
            <a:solidFill>
              <a:srgbClr val="3D588B"/>
            </a:solidFill>
            <a:headEnd type="none" w="med" len="med"/>
            <a:tailEnd type="arrow" w="med" len="med"/>
          </a:ln>
        </p:spPr>
      </p:cxnSp>
      <p:cxnSp>
        <p:nvCxnSpPr>
          <p:cNvPr id="14" name="Fluxo grafana loki 1">
            <a:extLst>
              <a:ext uri="{FF2B5EF4-FFF2-40B4-BE49-F238E27FC236}">
                <a16:creationId xmlns:a16="http://schemas.microsoft.com/office/drawing/2014/main" id="{B062C5BA-D6D4-4EBE-96B3-5934B76C7C20}"/>
              </a:ext>
            </a:extLst>
          </p:cNvPr>
          <p:cNvCxnSpPr/>
          <p:nvPr/>
        </p:nvCxnSpPr>
        <p:spPr>
          <a:xfrm>
            <a:off x="5794248" y="2871927"/>
            <a:ext cx="0" cy="301037"/>
          </a:xfrm>
          <a:prstGeom prst="straightConnector1">
            <a:avLst/>
          </a:prstGeom>
          <a:ln w="17145">
            <a:solidFill>
              <a:srgbClr val="3D588B"/>
            </a:solidFill>
            <a:headEnd type="none" w="med" len="med"/>
            <a:tailEnd type="none" w="med" len="med"/>
          </a:ln>
        </p:spPr>
      </p:cxnSp>
      <p:cxnSp>
        <p:nvCxnSpPr>
          <p:cNvPr id="15" name="Fluxo grafana loki 3">
            <a:extLst>
              <a:ext uri="{FF2B5EF4-FFF2-40B4-BE49-F238E27FC236}">
                <a16:creationId xmlns:a16="http://schemas.microsoft.com/office/drawing/2014/main" id="{0CEE1366-12C4-44DB-83E6-1038CF23CB48}"/>
              </a:ext>
            </a:extLst>
          </p:cNvPr>
          <p:cNvCxnSpPr/>
          <p:nvPr/>
        </p:nvCxnSpPr>
        <p:spPr>
          <a:xfrm>
            <a:off x="5794248" y="3172965"/>
            <a:ext cx="0" cy="301037"/>
          </a:xfrm>
          <a:prstGeom prst="straightConnector1">
            <a:avLst/>
          </a:prstGeom>
          <a:ln w="17145">
            <a:solidFill>
              <a:srgbClr val="3D588B"/>
            </a:solidFill>
            <a:headEnd type="none" w="med" len="med"/>
            <a:tailEnd type="arrow" w="med" len="med"/>
          </a:ln>
        </p:spPr>
      </p:cxnSp>
      <p:cxnSp>
        <p:nvCxnSpPr>
          <p:cNvPr id="16" name="Fluxo grafana tempo 1">
            <a:extLst>
              <a:ext uri="{FF2B5EF4-FFF2-40B4-BE49-F238E27FC236}">
                <a16:creationId xmlns:a16="http://schemas.microsoft.com/office/drawing/2014/main" id="{E2065122-5EBD-448E-94D1-2F9B306966E0}"/>
              </a:ext>
            </a:extLst>
          </p:cNvPr>
          <p:cNvCxnSpPr/>
          <p:nvPr/>
        </p:nvCxnSpPr>
        <p:spPr>
          <a:xfrm>
            <a:off x="6935419" y="2590959"/>
            <a:ext cx="2329891" cy="0"/>
          </a:xfrm>
          <a:prstGeom prst="straightConnector1">
            <a:avLst/>
          </a:prstGeom>
          <a:ln w="17145">
            <a:solidFill>
              <a:srgbClr val="3D588B"/>
            </a:solidFill>
            <a:headEnd type="none" w="med" len="med"/>
            <a:tailEnd type="none" w="med" len="med"/>
          </a:ln>
        </p:spPr>
      </p:cxnSp>
      <p:cxnSp>
        <p:nvCxnSpPr>
          <p:cNvPr id="17" name="Fluxo grafana tempo 2">
            <a:extLst>
              <a:ext uri="{FF2B5EF4-FFF2-40B4-BE49-F238E27FC236}">
                <a16:creationId xmlns:a16="http://schemas.microsoft.com/office/drawing/2014/main" id="{0434027F-792F-4BA6-8607-5AA03C232C01}"/>
              </a:ext>
            </a:extLst>
          </p:cNvPr>
          <p:cNvCxnSpPr/>
          <p:nvPr/>
        </p:nvCxnSpPr>
        <p:spPr>
          <a:xfrm>
            <a:off x="9265310" y="2590959"/>
            <a:ext cx="0" cy="883044"/>
          </a:xfrm>
          <a:prstGeom prst="straightConnector1">
            <a:avLst/>
          </a:prstGeom>
          <a:ln w="17145">
            <a:solidFill>
              <a:srgbClr val="3D588B"/>
            </a:solidFill>
            <a:headEnd type="none" w="med" len="med"/>
            <a:tailEnd type="arrow" w="med" len="med"/>
          </a:ln>
        </p:spPr>
      </p:cxnSp>
      <p:cxnSp>
        <p:nvCxnSpPr>
          <p:cNvPr id="18" name="Fluxo prom exporters 1">
            <a:extLst>
              <a:ext uri="{FF2B5EF4-FFF2-40B4-BE49-F238E27FC236}">
                <a16:creationId xmlns:a16="http://schemas.microsoft.com/office/drawing/2014/main" id="{143293B7-15DB-48C9-802B-72950E0E2F11}"/>
              </a:ext>
            </a:extLst>
          </p:cNvPr>
          <p:cNvCxnSpPr/>
          <p:nvPr/>
        </p:nvCxnSpPr>
        <p:spPr>
          <a:xfrm>
            <a:off x="2323186" y="4116217"/>
            <a:ext cx="0" cy="381314"/>
          </a:xfrm>
          <a:prstGeom prst="straightConnector1">
            <a:avLst/>
          </a:prstGeom>
          <a:ln w="17145">
            <a:solidFill>
              <a:srgbClr val="3D588B"/>
            </a:solidFill>
            <a:headEnd type="none" w="med" len="med"/>
            <a:tailEnd type="none" w="med" len="med"/>
          </a:ln>
        </p:spPr>
      </p:cxnSp>
      <p:cxnSp>
        <p:nvCxnSpPr>
          <p:cNvPr id="19" name="Fluxo prom exporters 3">
            <a:extLst>
              <a:ext uri="{FF2B5EF4-FFF2-40B4-BE49-F238E27FC236}">
                <a16:creationId xmlns:a16="http://schemas.microsoft.com/office/drawing/2014/main" id="{9A8C4EFE-7924-4C75-ACD4-C68D703A75BC}"/>
              </a:ext>
            </a:extLst>
          </p:cNvPr>
          <p:cNvCxnSpPr/>
          <p:nvPr/>
        </p:nvCxnSpPr>
        <p:spPr>
          <a:xfrm>
            <a:off x="2323186" y="4497531"/>
            <a:ext cx="0" cy="381314"/>
          </a:xfrm>
          <a:prstGeom prst="straightConnector1">
            <a:avLst/>
          </a:prstGeom>
          <a:ln w="17145">
            <a:solidFill>
              <a:srgbClr val="3D588B"/>
            </a:solidFill>
            <a:headEnd type="none" w="med" len="med"/>
            <a:tailEnd type="arrow" w="med" len="med"/>
          </a:ln>
        </p:spPr>
      </p:cxnSp>
      <p:cxnSp>
        <p:nvCxnSpPr>
          <p:cNvPr id="20" name="Fluxo agent loki 1">
            <a:extLst>
              <a:ext uri="{FF2B5EF4-FFF2-40B4-BE49-F238E27FC236}">
                <a16:creationId xmlns:a16="http://schemas.microsoft.com/office/drawing/2014/main" id="{0158FA8B-7702-4549-9E09-3E63C2F26EC3}"/>
              </a:ext>
            </a:extLst>
          </p:cNvPr>
          <p:cNvCxnSpPr/>
          <p:nvPr/>
        </p:nvCxnSpPr>
        <p:spPr>
          <a:xfrm>
            <a:off x="5794248" y="4497531"/>
            <a:ext cx="0" cy="381314"/>
          </a:xfrm>
          <a:prstGeom prst="straightConnector1">
            <a:avLst/>
          </a:prstGeom>
          <a:ln w="17145">
            <a:solidFill>
              <a:srgbClr val="3D588B"/>
            </a:solidFill>
            <a:headEnd type="none" w="med" len="med"/>
            <a:tailEnd type="none" w="med" len="med"/>
          </a:ln>
        </p:spPr>
      </p:cxnSp>
      <p:cxnSp>
        <p:nvCxnSpPr>
          <p:cNvPr id="21" name="Fluxo agent loki 3">
            <a:extLst>
              <a:ext uri="{FF2B5EF4-FFF2-40B4-BE49-F238E27FC236}">
                <a16:creationId xmlns:a16="http://schemas.microsoft.com/office/drawing/2014/main" id="{923B286E-5447-4A73-A3BA-9CDD5ABD336D}"/>
              </a:ext>
            </a:extLst>
          </p:cNvPr>
          <p:cNvCxnSpPr/>
          <p:nvPr/>
        </p:nvCxnSpPr>
        <p:spPr>
          <a:xfrm>
            <a:off x="5794248" y="4116217"/>
            <a:ext cx="0" cy="381314"/>
          </a:xfrm>
          <a:prstGeom prst="straightConnector1">
            <a:avLst/>
          </a:prstGeom>
          <a:ln w="17145">
            <a:solidFill>
              <a:srgbClr val="3D588B"/>
            </a:solidFill>
            <a:headEnd type="arrow" w="med" len="med"/>
            <a:tailEnd type="none" w="med" len="med"/>
          </a:ln>
        </p:spPr>
      </p:cxnSp>
      <p:cxnSp>
        <p:nvCxnSpPr>
          <p:cNvPr id="22" name="Fluxo otel tempo 1">
            <a:extLst>
              <a:ext uri="{FF2B5EF4-FFF2-40B4-BE49-F238E27FC236}">
                <a16:creationId xmlns:a16="http://schemas.microsoft.com/office/drawing/2014/main" id="{A05E31FB-226F-4D70-86EF-A02B3E4AAA58}"/>
              </a:ext>
            </a:extLst>
          </p:cNvPr>
          <p:cNvCxnSpPr/>
          <p:nvPr/>
        </p:nvCxnSpPr>
        <p:spPr>
          <a:xfrm>
            <a:off x="9265310" y="4497531"/>
            <a:ext cx="0" cy="381314"/>
          </a:xfrm>
          <a:prstGeom prst="straightConnector1">
            <a:avLst/>
          </a:prstGeom>
          <a:ln w="17145">
            <a:solidFill>
              <a:srgbClr val="3D588B"/>
            </a:solidFill>
            <a:headEnd type="none" w="med" len="med"/>
            <a:tailEnd type="none" w="med" len="med"/>
          </a:ln>
        </p:spPr>
      </p:cxnSp>
      <p:cxnSp>
        <p:nvCxnSpPr>
          <p:cNvPr id="23" name="Fluxo otel tempo 3">
            <a:extLst>
              <a:ext uri="{FF2B5EF4-FFF2-40B4-BE49-F238E27FC236}">
                <a16:creationId xmlns:a16="http://schemas.microsoft.com/office/drawing/2014/main" id="{0F4F5865-B049-48EB-9962-2BA88ACC3BFA}"/>
              </a:ext>
            </a:extLst>
          </p:cNvPr>
          <p:cNvCxnSpPr/>
          <p:nvPr/>
        </p:nvCxnSpPr>
        <p:spPr>
          <a:xfrm>
            <a:off x="9265310" y="4116217"/>
            <a:ext cx="0" cy="381314"/>
          </a:xfrm>
          <a:prstGeom prst="straightConnector1">
            <a:avLst/>
          </a:prstGeom>
          <a:ln w="17145">
            <a:solidFill>
              <a:srgbClr val="3D588B"/>
            </a:solidFill>
            <a:headEnd type="arrow" w="med" len="med"/>
            <a:tailEnd type="none" w="med" len="med"/>
          </a:ln>
        </p:spPr>
      </p:cxnSp>
      <p:sp>
        <p:nvSpPr>
          <p:cNvPr id="24" name="diagrama-legenda">
            <a:extLst>
              <a:ext uri="{FF2B5EF4-FFF2-40B4-BE49-F238E27FC236}">
                <a16:creationId xmlns:a16="http://schemas.microsoft.com/office/drawing/2014/main" id="{39E15030-68EB-4FFD-9A36-C602AC76B09F}"/>
              </a:ext>
            </a:extLst>
          </p:cNvPr>
          <p:cNvSpPr>
            <a:spLocks noGrp="1"/>
          </p:cNvSpPr>
          <p:nvPr/>
        </p:nvSpPr>
        <p:spPr>
          <a:xfrm>
            <a:off x="5384140" y="2013340"/>
            <a:ext cx="1010412"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HTTP :3000</a:t>
            </a:r>
          </a:p>
        </p:txBody>
      </p:sp>
      <p:sp>
        <p:nvSpPr>
          <p:cNvPr id="25" name="diagrama-legenda">
            <a:extLst>
              <a:ext uri="{FF2B5EF4-FFF2-40B4-BE49-F238E27FC236}">
                <a16:creationId xmlns:a16="http://schemas.microsoft.com/office/drawing/2014/main" id="{554DCE53-9FD9-4F23-B69F-DDF94AA1D4E8}"/>
              </a:ext>
            </a:extLst>
          </p:cNvPr>
          <p:cNvSpPr>
            <a:spLocks noGrp="1"/>
          </p:cNvSpPr>
          <p:nvPr/>
        </p:nvSpPr>
        <p:spPr>
          <a:xfrm>
            <a:off x="1877416" y="3121159"/>
            <a:ext cx="891540"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PromQL</a:t>
            </a:r>
          </a:p>
        </p:txBody>
      </p:sp>
      <p:sp>
        <p:nvSpPr>
          <p:cNvPr id="26" name="diagrama-legenda">
            <a:extLst>
              <a:ext uri="{FF2B5EF4-FFF2-40B4-BE49-F238E27FC236}">
                <a16:creationId xmlns:a16="http://schemas.microsoft.com/office/drawing/2014/main" id="{C785562C-3B6A-45E8-AEAE-CF2989818E80}"/>
              </a:ext>
            </a:extLst>
          </p:cNvPr>
          <p:cNvSpPr>
            <a:spLocks noGrp="1"/>
          </p:cNvSpPr>
          <p:nvPr/>
        </p:nvSpPr>
        <p:spPr>
          <a:xfrm>
            <a:off x="5443576" y="3121159"/>
            <a:ext cx="891540"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LogQL</a:t>
            </a:r>
          </a:p>
        </p:txBody>
      </p:sp>
      <p:sp>
        <p:nvSpPr>
          <p:cNvPr id="27" name="diagrama-legenda">
            <a:extLst>
              <a:ext uri="{FF2B5EF4-FFF2-40B4-BE49-F238E27FC236}">
                <a16:creationId xmlns:a16="http://schemas.microsoft.com/office/drawing/2014/main" id="{3D86DB2F-75C4-4414-BD2E-E422B1F60818}"/>
              </a:ext>
            </a:extLst>
          </p:cNvPr>
          <p:cNvSpPr>
            <a:spLocks noGrp="1"/>
          </p:cNvSpPr>
          <p:nvPr/>
        </p:nvSpPr>
        <p:spPr>
          <a:xfrm>
            <a:off x="8819540" y="3121159"/>
            <a:ext cx="891540"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TraceQL</a:t>
            </a:r>
          </a:p>
        </p:txBody>
      </p:sp>
      <p:sp>
        <p:nvSpPr>
          <p:cNvPr id="28" name="diagrama-legenda">
            <a:extLst>
              <a:ext uri="{FF2B5EF4-FFF2-40B4-BE49-F238E27FC236}">
                <a16:creationId xmlns:a16="http://schemas.microsoft.com/office/drawing/2014/main" id="{B9C11EDA-3526-4EDF-937A-594BB50A7E5A}"/>
              </a:ext>
            </a:extLst>
          </p:cNvPr>
          <p:cNvSpPr>
            <a:spLocks noGrp="1"/>
          </p:cNvSpPr>
          <p:nvPr/>
        </p:nvSpPr>
        <p:spPr>
          <a:xfrm>
            <a:off x="1461364" y="4405586"/>
            <a:ext cx="1723644"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scrape HTTP (pull)</a:t>
            </a:r>
          </a:p>
        </p:txBody>
      </p:sp>
      <p:sp>
        <p:nvSpPr>
          <p:cNvPr id="29" name="diagrama-legenda">
            <a:extLst>
              <a:ext uri="{FF2B5EF4-FFF2-40B4-BE49-F238E27FC236}">
                <a16:creationId xmlns:a16="http://schemas.microsoft.com/office/drawing/2014/main" id="{6B28E31A-5FC9-4EF4-B74A-AB11CBB8D7C0}"/>
              </a:ext>
            </a:extLst>
          </p:cNvPr>
          <p:cNvSpPr>
            <a:spLocks noGrp="1"/>
          </p:cNvSpPr>
          <p:nvPr/>
        </p:nvSpPr>
        <p:spPr>
          <a:xfrm>
            <a:off x="5333618" y="4405586"/>
            <a:ext cx="921258"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HTTP push</a:t>
            </a:r>
          </a:p>
        </p:txBody>
      </p:sp>
      <p:sp>
        <p:nvSpPr>
          <p:cNvPr id="30" name="diagrama-legenda">
            <a:extLst>
              <a:ext uri="{FF2B5EF4-FFF2-40B4-BE49-F238E27FC236}">
                <a16:creationId xmlns:a16="http://schemas.microsoft.com/office/drawing/2014/main" id="{A33F45AA-94E9-47E5-8976-8501C5CABEF7}"/>
              </a:ext>
            </a:extLst>
          </p:cNvPr>
          <p:cNvSpPr>
            <a:spLocks noGrp="1"/>
          </p:cNvSpPr>
          <p:nvPr/>
        </p:nvSpPr>
        <p:spPr>
          <a:xfrm>
            <a:off x="8537219" y="4405586"/>
            <a:ext cx="1456182"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OTLP HTTP :4318</a:t>
            </a:r>
          </a:p>
        </p:txBody>
      </p:sp>
      <p:sp>
        <p:nvSpPr>
          <p:cNvPr id="31" name="legenda">
            <a:extLst>
              <a:ext uri="{FF2B5EF4-FFF2-40B4-BE49-F238E27FC236}">
                <a16:creationId xmlns:a16="http://schemas.microsoft.com/office/drawing/2014/main" id="{25B9A963-4252-45CC-88A8-470FD8F09C23}"/>
              </a:ext>
            </a:extLst>
          </p:cNvPr>
          <p:cNvSpPr>
            <a:spLocks noGrp="1"/>
          </p:cNvSpPr>
          <p:nvPr/>
        </p:nvSpPr>
        <p:spPr>
          <a:xfrm>
            <a:off x="1039368" y="5905500"/>
            <a:ext cx="10515600" cy="406400"/>
          </a:xfrm>
          <a:prstGeom prst="rect">
            <a:avLst/>
          </a:prstGeom>
          <a:noFill/>
          <a:ln w="0">
            <a:noFill/>
          </a:ln>
        </p:spPr>
        <p:txBody>
          <a:bodyPr wrap="square" lIns="0" tIns="0" rIns="0" bIns="0" anchor="t">
            <a:noAutofit/>
          </a:bodyPr>
          <a:lstStyle>
            <a:defPPr algn="l">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Consultas no topo; coleta de métricas, envio de logs e ingestão de spans na base.</a:t>
            </a:r>
          </a:p>
        </p:txBody>
      </p:sp>
      <p:sp>
        <p:nvSpPr>
          <p:cNvPr id="32" name="pagina">
            <a:extLst>
              <a:ext uri="{FF2B5EF4-FFF2-40B4-BE49-F238E27FC236}">
                <a16:creationId xmlns:a16="http://schemas.microsoft.com/office/drawing/2014/main" id="{4CD9471D-32F9-4D1B-99FF-B682D69A7F6B}"/>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28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42372122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ulo">
            <a:extLst>
              <a:ext uri="{FF2B5EF4-FFF2-40B4-BE49-F238E27FC236}">
                <a16:creationId xmlns:a16="http://schemas.microsoft.com/office/drawing/2014/main" id="{EBBB9815-182B-480E-AA7E-2578076FDE59}"/>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850">
                <a:solidFill>
                  <a:srgbClr val="40760F"/>
                </a:solidFill>
                <a:latin typeface="Trebuchet MS"/>
                <a:ea typeface="Trebuchet MS"/>
                <a:cs typeface="Trebuchet MS"/>
              </a:defRPr>
            </a:defPPr>
          </a:lstStyle>
          <a:p>
            <a:pPr>
              <a:defRPr sz="285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Coleta de métricas: modelo pull</a:t>
            </a:r>
            <a:endParaRPr sz="3600" b="1">
              <a:solidFill>
                <a:srgbClr val="73A277"/>
              </a:solidFill>
              <a:latin typeface="Segoe UI" panose="020B0502040204020203" pitchFamily="34" charset="0"/>
              <a:ea typeface="Trebuchet MS"/>
              <a:cs typeface="Trebuchet MS"/>
            </a:endParaRPr>
          </a:p>
        </p:txBody>
      </p:sp>
      <p:sp>
        <p:nvSpPr>
          <p:cNvPr id="2" name="Arquitetura prom">
            <a:extLst>
              <a:ext uri="{FF2B5EF4-FFF2-40B4-BE49-F238E27FC236}">
                <a16:creationId xmlns:a16="http://schemas.microsoft.com/office/drawing/2014/main" id="{A8596329-E210-48BC-8029-24C0AD1D966E}"/>
              </a:ext>
            </a:extLst>
          </p:cNvPr>
          <p:cNvSpPr>
            <a:spLocks noGrp="1"/>
          </p:cNvSpPr>
          <p:nvPr/>
        </p:nvSpPr>
        <p:spPr>
          <a:xfrm>
            <a:off x="4367784" y="1828330"/>
            <a:ext cx="2852928" cy="762629"/>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Prometheus</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Coleta, TSDB e PromQL</a:t>
            </a:r>
          </a:p>
        </p:txBody>
      </p:sp>
      <p:sp>
        <p:nvSpPr>
          <p:cNvPr id="3" name="Arquitetura host">
            <a:extLst>
              <a:ext uri="{FF2B5EF4-FFF2-40B4-BE49-F238E27FC236}">
                <a16:creationId xmlns:a16="http://schemas.microsoft.com/office/drawing/2014/main" id="{2D9A75DA-A38E-49A6-89BE-B20A73E79135}"/>
              </a:ext>
            </a:extLst>
          </p:cNvPr>
          <p:cNvSpPr>
            <a:spLocks noGrp="1"/>
          </p:cNvSpPr>
          <p:nvPr/>
        </p:nvSpPr>
        <p:spPr>
          <a:xfrm>
            <a:off x="1039368" y="4357046"/>
            <a:ext cx="2187245" cy="762629"/>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Node Exporter :9100</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CPU, memória e disco</a:t>
            </a:r>
          </a:p>
        </p:txBody>
      </p:sp>
      <p:sp>
        <p:nvSpPr>
          <p:cNvPr id="4" name="Arquitetura containers">
            <a:extLst>
              <a:ext uri="{FF2B5EF4-FFF2-40B4-BE49-F238E27FC236}">
                <a16:creationId xmlns:a16="http://schemas.microsoft.com/office/drawing/2014/main" id="{31A1FCC2-BFA7-4AA1-B362-CCF3B074290B}"/>
              </a:ext>
            </a:extLst>
          </p:cNvPr>
          <p:cNvSpPr>
            <a:spLocks noGrp="1"/>
          </p:cNvSpPr>
          <p:nvPr/>
        </p:nvSpPr>
        <p:spPr>
          <a:xfrm>
            <a:off x="3483377" y="4357046"/>
            <a:ext cx="2187245" cy="762629"/>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Exportador :8080</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Métricas de containers</a:t>
            </a:r>
          </a:p>
        </p:txBody>
      </p:sp>
      <p:sp>
        <p:nvSpPr>
          <p:cNvPr id="5" name="Arquitetura app">
            <a:extLst>
              <a:ext uri="{FF2B5EF4-FFF2-40B4-BE49-F238E27FC236}">
                <a16:creationId xmlns:a16="http://schemas.microsoft.com/office/drawing/2014/main" id="{D0BC85A4-FD4E-4742-8D7F-00D585C2C8FD}"/>
              </a:ext>
            </a:extLst>
          </p:cNvPr>
          <p:cNvSpPr>
            <a:spLocks noGrp="1"/>
          </p:cNvSpPr>
          <p:nvPr/>
        </p:nvSpPr>
        <p:spPr>
          <a:xfrm>
            <a:off x="5927384" y="4357046"/>
            <a:ext cx="2187245" cy="762629"/>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Aplicação :8000</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Métricas da aplicação</a:t>
            </a:r>
          </a:p>
        </p:txBody>
      </p:sp>
      <p:sp>
        <p:nvSpPr>
          <p:cNvPr id="6" name="Arquitetura services">
            <a:extLst>
              <a:ext uri="{FF2B5EF4-FFF2-40B4-BE49-F238E27FC236}">
                <a16:creationId xmlns:a16="http://schemas.microsoft.com/office/drawing/2014/main" id="{2843171E-5840-44AE-AD76-813781658C39}"/>
              </a:ext>
            </a:extLst>
          </p:cNvPr>
          <p:cNvSpPr>
            <a:spLocks noGrp="1"/>
          </p:cNvSpPr>
          <p:nvPr/>
        </p:nvSpPr>
        <p:spPr>
          <a:xfrm>
            <a:off x="8371393" y="4357046"/>
            <a:ext cx="2187245" cy="762629"/>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Loki e Tempo</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Métricas dos serviços</a:t>
            </a:r>
          </a:p>
        </p:txBody>
      </p:sp>
      <p:cxnSp>
        <p:nvCxnSpPr>
          <p:cNvPr id="7" name="Fluxo prom host 1">
            <a:extLst>
              <a:ext uri="{FF2B5EF4-FFF2-40B4-BE49-F238E27FC236}">
                <a16:creationId xmlns:a16="http://schemas.microsoft.com/office/drawing/2014/main" id="{052CF1FE-1923-4223-9E42-94C3536EFB9F}"/>
              </a:ext>
            </a:extLst>
          </p:cNvPr>
          <p:cNvCxnSpPr/>
          <p:nvPr/>
        </p:nvCxnSpPr>
        <p:spPr>
          <a:xfrm>
            <a:off x="5794248" y="2590959"/>
            <a:ext cx="0" cy="883044"/>
          </a:xfrm>
          <a:prstGeom prst="straightConnector1">
            <a:avLst/>
          </a:prstGeom>
          <a:ln w="17145">
            <a:solidFill>
              <a:srgbClr val="3D588B"/>
            </a:solidFill>
            <a:headEnd type="none" w="med" len="med"/>
            <a:tailEnd type="none" w="med" len="med"/>
          </a:ln>
        </p:spPr>
      </p:cxnSp>
      <p:cxnSp>
        <p:nvCxnSpPr>
          <p:cNvPr id="8" name="Fluxo prom host 2">
            <a:extLst>
              <a:ext uri="{FF2B5EF4-FFF2-40B4-BE49-F238E27FC236}">
                <a16:creationId xmlns:a16="http://schemas.microsoft.com/office/drawing/2014/main" id="{2094113B-F077-4810-8861-B60C73056D78}"/>
              </a:ext>
            </a:extLst>
          </p:cNvPr>
          <p:cNvCxnSpPr/>
          <p:nvPr/>
        </p:nvCxnSpPr>
        <p:spPr>
          <a:xfrm>
            <a:off x="2132990" y="3474003"/>
            <a:ext cx="3661258" cy="0"/>
          </a:xfrm>
          <a:prstGeom prst="straightConnector1">
            <a:avLst/>
          </a:prstGeom>
          <a:ln w="17145">
            <a:solidFill>
              <a:srgbClr val="3D588B"/>
            </a:solidFill>
            <a:headEnd type="none" w="med" len="med"/>
            <a:tailEnd type="none" w="med" len="med"/>
          </a:ln>
        </p:spPr>
      </p:cxnSp>
      <p:cxnSp>
        <p:nvCxnSpPr>
          <p:cNvPr id="9" name="Fluxo prom host 3">
            <a:extLst>
              <a:ext uri="{FF2B5EF4-FFF2-40B4-BE49-F238E27FC236}">
                <a16:creationId xmlns:a16="http://schemas.microsoft.com/office/drawing/2014/main" id="{BEE5893C-0176-428C-946C-46B9F0756D93}"/>
              </a:ext>
            </a:extLst>
          </p:cNvPr>
          <p:cNvCxnSpPr/>
          <p:nvPr/>
        </p:nvCxnSpPr>
        <p:spPr>
          <a:xfrm>
            <a:off x="2132990" y="3474003"/>
            <a:ext cx="0" cy="883044"/>
          </a:xfrm>
          <a:prstGeom prst="straightConnector1">
            <a:avLst/>
          </a:prstGeom>
          <a:ln w="17145">
            <a:solidFill>
              <a:srgbClr val="3D588B"/>
            </a:solidFill>
            <a:headEnd type="none" w="med" len="med"/>
            <a:tailEnd type="arrow" w="med" len="med"/>
          </a:ln>
        </p:spPr>
      </p:cxnSp>
      <p:cxnSp>
        <p:nvCxnSpPr>
          <p:cNvPr id="10" name="Fluxo prom containers 1">
            <a:extLst>
              <a:ext uri="{FF2B5EF4-FFF2-40B4-BE49-F238E27FC236}">
                <a16:creationId xmlns:a16="http://schemas.microsoft.com/office/drawing/2014/main" id="{D00E1912-BD28-42A3-A112-C2E5F99A9F84}"/>
              </a:ext>
            </a:extLst>
          </p:cNvPr>
          <p:cNvCxnSpPr/>
          <p:nvPr/>
        </p:nvCxnSpPr>
        <p:spPr>
          <a:xfrm>
            <a:off x="5794248" y="2590959"/>
            <a:ext cx="0" cy="883044"/>
          </a:xfrm>
          <a:prstGeom prst="straightConnector1">
            <a:avLst/>
          </a:prstGeom>
          <a:ln w="17145">
            <a:solidFill>
              <a:srgbClr val="3D588B"/>
            </a:solidFill>
            <a:headEnd type="none" w="med" len="med"/>
            <a:tailEnd type="none" w="med" len="med"/>
          </a:ln>
        </p:spPr>
      </p:cxnSp>
      <p:cxnSp>
        <p:nvCxnSpPr>
          <p:cNvPr id="11" name="Fluxo prom containers 2">
            <a:extLst>
              <a:ext uri="{FF2B5EF4-FFF2-40B4-BE49-F238E27FC236}">
                <a16:creationId xmlns:a16="http://schemas.microsoft.com/office/drawing/2014/main" id="{39ABACFD-4ED7-47C1-BE1C-D833CB113484}"/>
              </a:ext>
            </a:extLst>
          </p:cNvPr>
          <p:cNvCxnSpPr/>
          <p:nvPr/>
        </p:nvCxnSpPr>
        <p:spPr>
          <a:xfrm>
            <a:off x="4576999" y="3474003"/>
            <a:ext cx="1217249" cy="0"/>
          </a:xfrm>
          <a:prstGeom prst="straightConnector1">
            <a:avLst/>
          </a:prstGeom>
          <a:ln w="17145">
            <a:solidFill>
              <a:srgbClr val="3D588B"/>
            </a:solidFill>
            <a:headEnd type="none" w="med" len="med"/>
            <a:tailEnd type="none" w="med" len="med"/>
          </a:ln>
        </p:spPr>
      </p:cxnSp>
      <p:cxnSp>
        <p:nvCxnSpPr>
          <p:cNvPr id="12" name="Fluxo prom containers 3">
            <a:extLst>
              <a:ext uri="{FF2B5EF4-FFF2-40B4-BE49-F238E27FC236}">
                <a16:creationId xmlns:a16="http://schemas.microsoft.com/office/drawing/2014/main" id="{6AA51660-7CD7-43C4-BC33-4CDB255B3C2A}"/>
              </a:ext>
            </a:extLst>
          </p:cNvPr>
          <p:cNvCxnSpPr/>
          <p:nvPr/>
        </p:nvCxnSpPr>
        <p:spPr>
          <a:xfrm>
            <a:off x="4576999" y="3474003"/>
            <a:ext cx="0" cy="883044"/>
          </a:xfrm>
          <a:prstGeom prst="straightConnector1">
            <a:avLst/>
          </a:prstGeom>
          <a:ln w="17145">
            <a:solidFill>
              <a:srgbClr val="3D588B"/>
            </a:solidFill>
            <a:headEnd type="none" w="med" len="med"/>
            <a:tailEnd type="arrow" w="med" len="med"/>
          </a:ln>
        </p:spPr>
      </p:cxnSp>
      <p:cxnSp>
        <p:nvCxnSpPr>
          <p:cNvPr id="13" name="Fluxo prom app 1">
            <a:extLst>
              <a:ext uri="{FF2B5EF4-FFF2-40B4-BE49-F238E27FC236}">
                <a16:creationId xmlns:a16="http://schemas.microsoft.com/office/drawing/2014/main" id="{7A0F1DE1-178D-4232-90C3-3F77508EC218}"/>
              </a:ext>
            </a:extLst>
          </p:cNvPr>
          <p:cNvCxnSpPr/>
          <p:nvPr/>
        </p:nvCxnSpPr>
        <p:spPr>
          <a:xfrm>
            <a:off x="5794248" y="2590959"/>
            <a:ext cx="0" cy="883044"/>
          </a:xfrm>
          <a:prstGeom prst="straightConnector1">
            <a:avLst/>
          </a:prstGeom>
          <a:ln w="17145">
            <a:solidFill>
              <a:srgbClr val="3D588B"/>
            </a:solidFill>
            <a:headEnd type="none" w="med" len="med"/>
            <a:tailEnd type="none" w="med" len="med"/>
          </a:ln>
        </p:spPr>
      </p:cxnSp>
      <p:cxnSp>
        <p:nvCxnSpPr>
          <p:cNvPr id="14" name="Fluxo prom app 2">
            <a:extLst>
              <a:ext uri="{FF2B5EF4-FFF2-40B4-BE49-F238E27FC236}">
                <a16:creationId xmlns:a16="http://schemas.microsoft.com/office/drawing/2014/main" id="{3D4B42D5-7C2A-44C1-BAC9-5DB3E1DB6AB7}"/>
              </a:ext>
            </a:extLst>
          </p:cNvPr>
          <p:cNvCxnSpPr/>
          <p:nvPr/>
        </p:nvCxnSpPr>
        <p:spPr>
          <a:xfrm>
            <a:off x="5794248" y="3474003"/>
            <a:ext cx="1226759" cy="0"/>
          </a:xfrm>
          <a:prstGeom prst="straightConnector1">
            <a:avLst/>
          </a:prstGeom>
          <a:ln w="17145">
            <a:solidFill>
              <a:srgbClr val="3D588B"/>
            </a:solidFill>
            <a:headEnd type="none" w="med" len="med"/>
            <a:tailEnd type="none" w="med" len="med"/>
          </a:ln>
        </p:spPr>
      </p:cxnSp>
      <p:cxnSp>
        <p:nvCxnSpPr>
          <p:cNvPr id="15" name="Fluxo prom app 3">
            <a:extLst>
              <a:ext uri="{FF2B5EF4-FFF2-40B4-BE49-F238E27FC236}">
                <a16:creationId xmlns:a16="http://schemas.microsoft.com/office/drawing/2014/main" id="{00A8D5FD-4B17-4CC1-A961-2CCEE7AED2A4}"/>
              </a:ext>
            </a:extLst>
          </p:cNvPr>
          <p:cNvCxnSpPr/>
          <p:nvPr/>
        </p:nvCxnSpPr>
        <p:spPr>
          <a:xfrm>
            <a:off x="7021007" y="3474003"/>
            <a:ext cx="0" cy="883044"/>
          </a:xfrm>
          <a:prstGeom prst="straightConnector1">
            <a:avLst/>
          </a:prstGeom>
          <a:ln w="17145">
            <a:solidFill>
              <a:srgbClr val="3D588B"/>
            </a:solidFill>
            <a:headEnd type="none" w="med" len="med"/>
            <a:tailEnd type="arrow" w="med" len="med"/>
          </a:ln>
        </p:spPr>
      </p:cxnSp>
      <p:cxnSp>
        <p:nvCxnSpPr>
          <p:cNvPr id="16" name="Fluxo prom services 1">
            <a:extLst>
              <a:ext uri="{FF2B5EF4-FFF2-40B4-BE49-F238E27FC236}">
                <a16:creationId xmlns:a16="http://schemas.microsoft.com/office/drawing/2014/main" id="{33C1CC21-B65C-4E59-95FB-18E5DAE4B2D9}"/>
              </a:ext>
            </a:extLst>
          </p:cNvPr>
          <p:cNvCxnSpPr/>
          <p:nvPr/>
        </p:nvCxnSpPr>
        <p:spPr>
          <a:xfrm>
            <a:off x="5794248" y="2590959"/>
            <a:ext cx="0" cy="883044"/>
          </a:xfrm>
          <a:prstGeom prst="straightConnector1">
            <a:avLst/>
          </a:prstGeom>
          <a:ln w="17145">
            <a:solidFill>
              <a:srgbClr val="3D588B"/>
            </a:solidFill>
            <a:headEnd type="none" w="med" len="med"/>
            <a:tailEnd type="none" w="med" len="med"/>
          </a:ln>
        </p:spPr>
      </p:cxnSp>
      <p:cxnSp>
        <p:nvCxnSpPr>
          <p:cNvPr id="17" name="Fluxo prom services 2">
            <a:extLst>
              <a:ext uri="{FF2B5EF4-FFF2-40B4-BE49-F238E27FC236}">
                <a16:creationId xmlns:a16="http://schemas.microsoft.com/office/drawing/2014/main" id="{E566BB90-66C4-4E9B-B8BD-A8DF1B6A551F}"/>
              </a:ext>
            </a:extLst>
          </p:cNvPr>
          <p:cNvCxnSpPr/>
          <p:nvPr/>
        </p:nvCxnSpPr>
        <p:spPr>
          <a:xfrm>
            <a:off x="5794248" y="3474003"/>
            <a:ext cx="3670767" cy="0"/>
          </a:xfrm>
          <a:prstGeom prst="straightConnector1">
            <a:avLst/>
          </a:prstGeom>
          <a:ln w="17145">
            <a:solidFill>
              <a:srgbClr val="3D588B"/>
            </a:solidFill>
            <a:headEnd type="none" w="med" len="med"/>
            <a:tailEnd type="none" w="med" len="med"/>
          </a:ln>
        </p:spPr>
      </p:cxnSp>
      <p:cxnSp>
        <p:nvCxnSpPr>
          <p:cNvPr id="18" name="Fluxo prom services 3">
            <a:extLst>
              <a:ext uri="{FF2B5EF4-FFF2-40B4-BE49-F238E27FC236}">
                <a16:creationId xmlns:a16="http://schemas.microsoft.com/office/drawing/2014/main" id="{C9223EBD-551C-4B5F-A432-EF9929F31D41}"/>
              </a:ext>
            </a:extLst>
          </p:cNvPr>
          <p:cNvCxnSpPr/>
          <p:nvPr/>
        </p:nvCxnSpPr>
        <p:spPr>
          <a:xfrm>
            <a:off x="9465015" y="3474003"/>
            <a:ext cx="0" cy="883044"/>
          </a:xfrm>
          <a:prstGeom prst="straightConnector1">
            <a:avLst/>
          </a:prstGeom>
          <a:ln w="17145">
            <a:solidFill>
              <a:srgbClr val="3D588B"/>
            </a:solidFill>
            <a:headEnd type="none" w="med" len="med"/>
            <a:tailEnd type="arrow" w="med" len="med"/>
          </a:ln>
        </p:spPr>
      </p:cxnSp>
      <p:sp>
        <p:nvSpPr>
          <p:cNvPr id="19" name="diagrama-legenda">
            <a:extLst>
              <a:ext uri="{FF2B5EF4-FFF2-40B4-BE49-F238E27FC236}">
                <a16:creationId xmlns:a16="http://schemas.microsoft.com/office/drawing/2014/main" id="{1F74920A-F1C3-4963-B09E-1CAFAF8A56E2}"/>
              </a:ext>
            </a:extLst>
          </p:cNvPr>
          <p:cNvSpPr>
            <a:spLocks noGrp="1"/>
          </p:cNvSpPr>
          <p:nvPr/>
        </p:nvSpPr>
        <p:spPr>
          <a:xfrm>
            <a:off x="1336548" y="2880329"/>
            <a:ext cx="8915400"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HTTP GET /metrics • intervalo configurado: 5 segundos</a:t>
            </a:r>
          </a:p>
        </p:txBody>
      </p:sp>
      <p:sp>
        <p:nvSpPr>
          <p:cNvPr id="20" name="legenda">
            <a:extLst>
              <a:ext uri="{FF2B5EF4-FFF2-40B4-BE49-F238E27FC236}">
                <a16:creationId xmlns:a16="http://schemas.microsoft.com/office/drawing/2014/main" id="{57325552-DB40-4404-93AA-4F50B24304F9}"/>
              </a:ext>
            </a:extLst>
          </p:cNvPr>
          <p:cNvSpPr>
            <a:spLocks noGrp="1"/>
          </p:cNvSpPr>
          <p:nvPr/>
        </p:nvSpPr>
        <p:spPr>
          <a:xfrm>
            <a:off x="1039368" y="5905500"/>
            <a:ext cx="10515600" cy="406400"/>
          </a:xfrm>
          <a:prstGeom prst="rect">
            <a:avLst/>
          </a:prstGeom>
          <a:noFill/>
          <a:ln w="0">
            <a:noFill/>
          </a:ln>
        </p:spPr>
        <p:txBody>
          <a:bodyPr wrap="square" lIns="0" tIns="0" rIns="0" bIns="0" anchor="t">
            <a:noAutofit/>
          </a:bodyPr>
          <a:lstStyle>
            <a:defPPr algn="l">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O Prometheus inicia o scrape; a resposta HTTP fornece as amostras para a TSDB.</a:t>
            </a:r>
          </a:p>
        </p:txBody>
      </p:sp>
      <p:sp>
        <p:nvSpPr>
          <p:cNvPr id="21" name="pagina">
            <a:extLst>
              <a:ext uri="{FF2B5EF4-FFF2-40B4-BE49-F238E27FC236}">
                <a16:creationId xmlns:a16="http://schemas.microsoft.com/office/drawing/2014/main" id="{6FFA8D36-23FB-4ACD-9635-2C2A2A6A51C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29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6877613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ulo">
            <a:extLst>
              <a:ext uri="{FF2B5EF4-FFF2-40B4-BE49-F238E27FC236}">
                <a16:creationId xmlns:a16="http://schemas.microsoft.com/office/drawing/2014/main" id="{406F5473-7B7B-4D88-8E64-35C358AF613B}"/>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850">
                <a:solidFill>
                  <a:srgbClr val="40760F"/>
                </a:solidFill>
                <a:latin typeface="Trebuchet MS"/>
                <a:ea typeface="Trebuchet MS"/>
                <a:cs typeface="Trebuchet MS"/>
              </a:defRPr>
            </a:defPPr>
          </a:lstStyle>
          <a:p>
            <a:pPr>
              <a:defRPr sz="285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Caminhos separados de logs e traces</a:t>
            </a:r>
            <a:endParaRPr sz="3600" b="1">
              <a:solidFill>
                <a:srgbClr val="73A277"/>
              </a:solidFill>
              <a:latin typeface="Segoe UI" panose="020B0502040204020203" pitchFamily="34" charset="0"/>
              <a:ea typeface="Trebuchet MS"/>
              <a:cs typeface="Trebuchet MS"/>
            </a:endParaRPr>
          </a:p>
        </p:txBody>
      </p:sp>
      <p:sp>
        <p:nvSpPr>
          <p:cNvPr id="2" name="Arquitetura app">
            <a:extLst>
              <a:ext uri="{FF2B5EF4-FFF2-40B4-BE49-F238E27FC236}">
                <a16:creationId xmlns:a16="http://schemas.microsoft.com/office/drawing/2014/main" id="{426017C3-7227-42C0-ADC7-87D136C05A16}"/>
              </a:ext>
            </a:extLst>
          </p:cNvPr>
          <p:cNvSpPr>
            <a:spLocks noGrp="1"/>
          </p:cNvSpPr>
          <p:nvPr/>
        </p:nvSpPr>
        <p:spPr>
          <a:xfrm>
            <a:off x="1039368" y="3152896"/>
            <a:ext cx="1997050" cy="762629"/>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Aplicação</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E-commerce</a:t>
            </a:r>
          </a:p>
        </p:txBody>
      </p:sp>
      <p:sp>
        <p:nvSpPr>
          <p:cNvPr id="3" name="Arquitetura stdout">
            <a:extLst>
              <a:ext uri="{FF2B5EF4-FFF2-40B4-BE49-F238E27FC236}">
                <a16:creationId xmlns:a16="http://schemas.microsoft.com/office/drawing/2014/main" id="{1CD6A2B5-F7BB-47E9-BFDF-ACCE286EB02A}"/>
              </a:ext>
            </a:extLst>
          </p:cNvPr>
          <p:cNvSpPr>
            <a:spLocks noGrp="1"/>
          </p:cNvSpPr>
          <p:nvPr/>
        </p:nvSpPr>
        <p:spPr>
          <a:xfrm>
            <a:off x="3607003" y="2109299"/>
            <a:ext cx="1997050" cy="642214"/>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stdout / arquivos</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Eventos em JSON</a:t>
            </a:r>
          </a:p>
        </p:txBody>
      </p:sp>
      <p:sp>
        <p:nvSpPr>
          <p:cNvPr id="4" name="Arquitetura agent">
            <a:extLst>
              <a:ext uri="{FF2B5EF4-FFF2-40B4-BE49-F238E27FC236}">
                <a16:creationId xmlns:a16="http://schemas.microsoft.com/office/drawing/2014/main" id="{1700174C-0F40-44E3-A820-A72227CACD5A}"/>
              </a:ext>
            </a:extLst>
          </p:cNvPr>
          <p:cNvSpPr>
            <a:spLocks noGrp="1"/>
          </p:cNvSpPr>
          <p:nvPr/>
        </p:nvSpPr>
        <p:spPr>
          <a:xfrm>
            <a:off x="6079541" y="2109299"/>
            <a:ext cx="1997050" cy="642214"/>
          </a:xfrm>
          <a:prstGeom prst="rect">
            <a:avLst/>
          </a:prstGeom>
          <a:solidFill>
            <a:srgbClr val="73A277"/>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Promtail</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Coleta e labels</a:t>
            </a:r>
          </a:p>
        </p:txBody>
      </p:sp>
      <p:sp>
        <p:nvSpPr>
          <p:cNvPr id="5" name="Arquitetura loki">
            <a:extLst>
              <a:ext uri="{FF2B5EF4-FFF2-40B4-BE49-F238E27FC236}">
                <a16:creationId xmlns:a16="http://schemas.microsoft.com/office/drawing/2014/main" id="{F647F13C-77AC-4F1C-887B-56EE1ED2B0A9}"/>
              </a:ext>
            </a:extLst>
          </p:cNvPr>
          <p:cNvSpPr>
            <a:spLocks noGrp="1"/>
          </p:cNvSpPr>
          <p:nvPr/>
        </p:nvSpPr>
        <p:spPr>
          <a:xfrm>
            <a:off x="8552078" y="2109299"/>
            <a:ext cx="1997050" cy="642214"/>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Loki :3100</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Logs</a:t>
            </a:r>
          </a:p>
        </p:txBody>
      </p:sp>
      <p:sp>
        <p:nvSpPr>
          <p:cNvPr id="6" name="Arquitetura sdk">
            <a:extLst>
              <a:ext uri="{FF2B5EF4-FFF2-40B4-BE49-F238E27FC236}">
                <a16:creationId xmlns:a16="http://schemas.microsoft.com/office/drawing/2014/main" id="{C958CEFC-BF2C-4E58-845B-FD08156602EE}"/>
              </a:ext>
            </a:extLst>
          </p:cNvPr>
          <p:cNvSpPr>
            <a:spLocks noGrp="1"/>
          </p:cNvSpPr>
          <p:nvPr/>
        </p:nvSpPr>
        <p:spPr>
          <a:xfrm>
            <a:off x="3607003" y="4517600"/>
            <a:ext cx="2377440" cy="722490"/>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OpenTelemetry SDK</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Spans e contexto</a:t>
            </a:r>
          </a:p>
        </p:txBody>
      </p:sp>
      <p:sp>
        <p:nvSpPr>
          <p:cNvPr id="7" name="Arquitetura tempo">
            <a:extLst>
              <a:ext uri="{FF2B5EF4-FFF2-40B4-BE49-F238E27FC236}">
                <a16:creationId xmlns:a16="http://schemas.microsoft.com/office/drawing/2014/main" id="{F01B7D26-5E33-4B90-8F01-644AF61345DA}"/>
              </a:ext>
            </a:extLst>
          </p:cNvPr>
          <p:cNvSpPr>
            <a:spLocks noGrp="1"/>
          </p:cNvSpPr>
          <p:nvPr/>
        </p:nvSpPr>
        <p:spPr>
          <a:xfrm>
            <a:off x="8076590" y="4517600"/>
            <a:ext cx="2472538" cy="722490"/>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Tempo</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Recebe e armazena spans</a:t>
            </a:r>
          </a:p>
        </p:txBody>
      </p:sp>
      <p:cxnSp>
        <p:nvCxnSpPr>
          <p:cNvPr id="8" name="Fluxo app stdout 1">
            <a:extLst>
              <a:ext uri="{FF2B5EF4-FFF2-40B4-BE49-F238E27FC236}">
                <a16:creationId xmlns:a16="http://schemas.microsoft.com/office/drawing/2014/main" id="{1DCF67F2-4A9A-4F35-A237-D700E0913F5F}"/>
              </a:ext>
            </a:extLst>
          </p:cNvPr>
          <p:cNvCxnSpPr/>
          <p:nvPr/>
        </p:nvCxnSpPr>
        <p:spPr>
          <a:xfrm>
            <a:off x="3036418" y="3534210"/>
            <a:ext cx="285293" cy="0"/>
          </a:xfrm>
          <a:prstGeom prst="straightConnector1">
            <a:avLst/>
          </a:prstGeom>
          <a:ln w="17145">
            <a:solidFill>
              <a:srgbClr val="3D588B"/>
            </a:solidFill>
            <a:headEnd type="none" w="med" len="med"/>
            <a:tailEnd type="none" w="med" len="med"/>
          </a:ln>
        </p:spPr>
      </p:cxnSp>
      <p:cxnSp>
        <p:nvCxnSpPr>
          <p:cNvPr id="9" name="Fluxo app stdout 2">
            <a:extLst>
              <a:ext uri="{FF2B5EF4-FFF2-40B4-BE49-F238E27FC236}">
                <a16:creationId xmlns:a16="http://schemas.microsoft.com/office/drawing/2014/main" id="{50CC14A9-D6BF-4AAE-BBBA-E769FE396AC1}"/>
              </a:ext>
            </a:extLst>
          </p:cNvPr>
          <p:cNvCxnSpPr/>
          <p:nvPr/>
        </p:nvCxnSpPr>
        <p:spPr>
          <a:xfrm>
            <a:off x="3321710" y="2430406"/>
            <a:ext cx="0" cy="1103804"/>
          </a:xfrm>
          <a:prstGeom prst="straightConnector1">
            <a:avLst/>
          </a:prstGeom>
          <a:ln w="17145">
            <a:solidFill>
              <a:srgbClr val="3D588B"/>
            </a:solidFill>
            <a:headEnd type="none" w="med" len="med"/>
            <a:tailEnd type="none" w="med" len="med"/>
          </a:ln>
        </p:spPr>
      </p:cxnSp>
      <p:cxnSp>
        <p:nvCxnSpPr>
          <p:cNvPr id="10" name="Fluxo app stdout 3">
            <a:extLst>
              <a:ext uri="{FF2B5EF4-FFF2-40B4-BE49-F238E27FC236}">
                <a16:creationId xmlns:a16="http://schemas.microsoft.com/office/drawing/2014/main" id="{6F4888B1-8848-40C3-AA14-2B8CBC616B69}"/>
              </a:ext>
            </a:extLst>
          </p:cNvPr>
          <p:cNvCxnSpPr/>
          <p:nvPr/>
        </p:nvCxnSpPr>
        <p:spPr>
          <a:xfrm>
            <a:off x="3321710" y="2430406"/>
            <a:ext cx="285293" cy="0"/>
          </a:xfrm>
          <a:prstGeom prst="straightConnector1">
            <a:avLst/>
          </a:prstGeom>
          <a:ln w="17145">
            <a:solidFill>
              <a:srgbClr val="3D588B"/>
            </a:solidFill>
            <a:headEnd type="none" w="med" len="med"/>
            <a:tailEnd type="arrow" w="med" len="med"/>
          </a:ln>
        </p:spPr>
      </p:cxnSp>
      <p:cxnSp>
        <p:nvCxnSpPr>
          <p:cNvPr id="11" name="Fluxo stdout agent 1">
            <a:extLst>
              <a:ext uri="{FF2B5EF4-FFF2-40B4-BE49-F238E27FC236}">
                <a16:creationId xmlns:a16="http://schemas.microsoft.com/office/drawing/2014/main" id="{1E01DC99-0D5A-4705-9E98-FC29202B70F5}"/>
              </a:ext>
            </a:extLst>
          </p:cNvPr>
          <p:cNvCxnSpPr/>
          <p:nvPr/>
        </p:nvCxnSpPr>
        <p:spPr>
          <a:xfrm>
            <a:off x="5604053" y="2430406"/>
            <a:ext cx="237744" cy="0"/>
          </a:xfrm>
          <a:prstGeom prst="straightConnector1">
            <a:avLst/>
          </a:prstGeom>
          <a:ln w="17145">
            <a:solidFill>
              <a:srgbClr val="3D588B"/>
            </a:solidFill>
            <a:headEnd type="none" w="med" len="med"/>
            <a:tailEnd type="none" w="med" len="med"/>
          </a:ln>
        </p:spPr>
      </p:cxnSp>
      <p:cxnSp>
        <p:nvCxnSpPr>
          <p:cNvPr id="12" name="Fluxo stdout agent 3">
            <a:extLst>
              <a:ext uri="{FF2B5EF4-FFF2-40B4-BE49-F238E27FC236}">
                <a16:creationId xmlns:a16="http://schemas.microsoft.com/office/drawing/2014/main" id="{2A837FED-165E-4606-9E30-5CFA23C7474F}"/>
              </a:ext>
            </a:extLst>
          </p:cNvPr>
          <p:cNvCxnSpPr/>
          <p:nvPr/>
        </p:nvCxnSpPr>
        <p:spPr>
          <a:xfrm>
            <a:off x="5841797" y="2430406"/>
            <a:ext cx="237744" cy="0"/>
          </a:xfrm>
          <a:prstGeom prst="straightConnector1">
            <a:avLst/>
          </a:prstGeom>
          <a:ln w="17145">
            <a:solidFill>
              <a:srgbClr val="3D588B"/>
            </a:solidFill>
            <a:headEnd type="none" w="med" len="med"/>
            <a:tailEnd type="arrow" w="med" len="med"/>
          </a:ln>
        </p:spPr>
      </p:cxnSp>
      <p:cxnSp>
        <p:nvCxnSpPr>
          <p:cNvPr id="13" name="Fluxo agent loki 1">
            <a:extLst>
              <a:ext uri="{FF2B5EF4-FFF2-40B4-BE49-F238E27FC236}">
                <a16:creationId xmlns:a16="http://schemas.microsoft.com/office/drawing/2014/main" id="{79B9CF41-449A-477D-B575-27BB8606EDC4}"/>
              </a:ext>
            </a:extLst>
          </p:cNvPr>
          <p:cNvCxnSpPr/>
          <p:nvPr/>
        </p:nvCxnSpPr>
        <p:spPr>
          <a:xfrm>
            <a:off x="8076590" y="2430406"/>
            <a:ext cx="237744" cy="0"/>
          </a:xfrm>
          <a:prstGeom prst="straightConnector1">
            <a:avLst/>
          </a:prstGeom>
          <a:ln w="17145">
            <a:solidFill>
              <a:srgbClr val="3D588B"/>
            </a:solidFill>
            <a:headEnd type="none" w="med" len="med"/>
            <a:tailEnd type="none" w="med" len="med"/>
          </a:ln>
        </p:spPr>
      </p:cxnSp>
      <p:cxnSp>
        <p:nvCxnSpPr>
          <p:cNvPr id="14" name="Fluxo agent loki 3">
            <a:extLst>
              <a:ext uri="{FF2B5EF4-FFF2-40B4-BE49-F238E27FC236}">
                <a16:creationId xmlns:a16="http://schemas.microsoft.com/office/drawing/2014/main" id="{E0343230-601A-448F-9437-B795B21CC424}"/>
              </a:ext>
            </a:extLst>
          </p:cNvPr>
          <p:cNvCxnSpPr/>
          <p:nvPr/>
        </p:nvCxnSpPr>
        <p:spPr>
          <a:xfrm>
            <a:off x="8314334" y="2430406"/>
            <a:ext cx="237744" cy="0"/>
          </a:xfrm>
          <a:prstGeom prst="straightConnector1">
            <a:avLst/>
          </a:prstGeom>
          <a:ln w="17145">
            <a:solidFill>
              <a:srgbClr val="3D588B"/>
            </a:solidFill>
            <a:headEnd type="none" w="med" len="med"/>
            <a:tailEnd type="arrow" w="med" len="med"/>
          </a:ln>
        </p:spPr>
      </p:cxnSp>
      <p:cxnSp>
        <p:nvCxnSpPr>
          <p:cNvPr id="15" name="Fluxo app sdk 1">
            <a:extLst>
              <a:ext uri="{FF2B5EF4-FFF2-40B4-BE49-F238E27FC236}">
                <a16:creationId xmlns:a16="http://schemas.microsoft.com/office/drawing/2014/main" id="{4CD3FC33-262B-4DFD-9F6A-6E4276967572}"/>
              </a:ext>
            </a:extLst>
          </p:cNvPr>
          <p:cNvCxnSpPr/>
          <p:nvPr/>
        </p:nvCxnSpPr>
        <p:spPr>
          <a:xfrm>
            <a:off x="3036418" y="3534210"/>
            <a:ext cx="285293" cy="0"/>
          </a:xfrm>
          <a:prstGeom prst="straightConnector1">
            <a:avLst/>
          </a:prstGeom>
          <a:ln w="17145">
            <a:solidFill>
              <a:srgbClr val="3D588B"/>
            </a:solidFill>
            <a:headEnd type="none" w="med" len="med"/>
            <a:tailEnd type="none" w="med" len="med"/>
          </a:ln>
        </p:spPr>
      </p:cxnSp>
      <p:cxnSp>
        <p:nvCxnSpPr>
          <p:cNvPr id="16" name="Fluxo app sdk 2">
            <a:extLst>
              <a:ext uri="{FF2B5EF4-FFF2-40B4-BE49-F238E27FC236}">
                <a16:creationId xmlns:a16="http://schemas.microsoft.com/office/drawing/2014/main" id="{710C48C7-FFC9-42B8-B8BC-058EB02FCC6F}"/>
              </a:ext>
            </a:extLst>
          </p:cNvPr>
          <p:cNvCxnSpPr/>
          <p:nvPr/>
        </p:nvCxnSpPr>
        <p:spPr>
          <a:xfrm>
            <a:off x="3321710" y="3534210"/>
            <a:ext cx="0" cy="1344634"/>
          </a:xfrm>
          <a:prstGeom prst="straightConnector1">
            <a:avLst/>
          </a:prstGeom>
          <a:ln w="17145">
            <a:solidFill>
              <a:srgbClr val="3D588B"/>
            </a:solidFill>
            <a:headEnd type="none" w="med" len="med"/>
            <a:tailEnd type="none" w="med" len="med"/>
          </a:ln>
        </p:spPr>
      </p:cxnSp>
      <p:cxnSp>
        <p:nvCxnSpPr>
          <p:cNvPr id="17" name="Fluxo app sdk 3">
            <a:extLst>
              <a:ext uri="{FF2B5EF4-FFF2-40B4-BE49-F238E27FC236}">
                <a16:creationId xmlns:a16="http://schemas.microsoft.com/office/drawing/2014/main" id="{F703AA71-3F31-4E47-82A6-D0C6C9B7BF8B}"/>
              </a:ext>
            </a:extLst>
          </p:cNvPr>
          <p:cNvCxnSpPr/>
          <p:nvPr/>
        </p:nvCxnSpPr>
        <p:spPr>
          <a:xfrm>
            <a:off x="3321710" y="4878845"/>
            <a:ext cx="285293" cy="0"/>
          </a:xfrm>
          <a:prstGeom prst="straightConnector1">
            <a:avLst/>
          </a:prstGeom>
          <a:ln w="17145">
            <a:solidFill>
              <a:srgbClr val="3D588B"/>
            </a:solidFill>
            <a:headEnd type="none" w="med" len="med"/>
            <a:tailEnd type="arrow" w="med" len="med"/>
          </a:ln>
        </p:spPr>
      </p:cxnSp>
      <p:cxnSp>
        <p:nvCxnSpPr>
          <p:cNvPr id="18" name="Fluxo sdk tempo 1">
            <a:extLst>
              <a:ext uri="{FF2B5EF4-FFF2-40B4-BE49-F238E27FC236}">
                <a16:creationId xmlns:a16="http://schemas.microsoft.com/office/drawing/2014/main" id="{52FCF643-8E9C-4082-B28D-8A15CA1BFA1D}"/>
              </a:ext>
            </a:extLst>
          </p:cNvPr>
          <p:cNvCxnSpPr/>
          <p:nvPr/>
        </p:nvCxnSpPr>
        <p:spPr>
          <a:xfrm>
            <a:off x="5984443" y="4878845"/>
            <a:ext cx="1046074" cy="0"/>
          </a:xfrm>
          <a:prstGeom prst="straightConnector1">
            <a:avLst/>
          </a:prstGeom>
          <a:ln w="17145">
            <a:solidFill>
              <a:srgbClr val="3D588B"/>
            </a:solidFill>
            <a:headEnd type="none" w="med" len="med"/>
            <a:tailEnd type="none" w="med" len="med"/>
          </a:ln>
        </p:spPr>
      </p:cxnSp>
      <p:cxnSp>
        <p:nvCxnSpPr>
          <p:cNvPr id="19" name="Fluxo sdk tempo 3">
            <a:extLst>
              <a:ext uri="{FF2B5EF4-FFF2-40B4-BE49-F238E27FC236}">
                <a16:creationId xmlns:a16="http://schemas.microsoft.com/office/drawing/2014/main" id="{53FC99B7-FB1D-4B52-B080-E11E0655B6D0}"/>
              </a:ext>
            </a:extLst>
          </p:cNvPr>
          <p:cNvCxnSpPr/>
          <p:nvPr/>
        </p:nvCxnSpPr>
        <p:spPr>
          <a:xfrm>
            <a:off x="7030517" y="4878845"/>
            <a:ext cx="1046074" cy="0"/>
          </a:xfrm>
          <a:prstGeom prst="straightConnector1">
            <a:avLst/>
          </a:prstGeom>
          <a:ln w="17145">
            <a:solidFill>
              <a:srgbClr val="3D588B"/>
            </a:solidFill>
            <a:headEnd type="none" w="med" len="med"/>
            <a:tailEnd type="arrow" w="med" len="med"/>
          </a:ln>
        </p:spPr>
      </p:cxnSp>
      <p:sp>
        <p:nvSpPr>
          <p:cNvPr id="20" name="diagrama-legenda">
            <a:extLst>
              <a:ext uri="{FF2B5EF4-FFF2-40B4-BE49-F238E27FC236}">
                <a16:creationId xmlns:a16="http://schemas.microsoft.com/office/drawing/2014/main" id="{778D4978-696F-4D78-8588-463BFAC57864}"/>
              </a:ext>
            </a:extLst>
          </p:cNvPr>
          <p:cNvSpPr>
            <a:spLocks noGrp="1"/>
          </p:cNvSpPr>
          <p:nvPr/>
        </p:nvSpPr>
        <p:spPr>
          <a:xfrm>
            <a:off x="3589172" y="4044340"/>
            <a:ext cx="1367028"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instrumentação</a:t>
            </a:r>
          </a:p>
        </p:txBody>
      </p:sp>
      <p:sp>
        <p:nvSpPr>
          <p:cNvPr id="21" name="diagrama-legenda">
            <a:extLst>
              <a:ext uri="{FF2B5EF4-FFF2-40B4-BE49-F238E27FC236}">
                <a16:creationId xmlns:a16="http://schemas.microsoft.com/office/drawing/2014/main" id="{1C266427-B8C9-49D3-BC46-FD399D2936AD}"/>
              </a:ext>
            </a:extLst>
          </p:cNvPr>
          <p:cNvSpPr>
            <a:spLocks noGrp="1"/>
          </p:cNvSpPr>
          <p:nvPr/>
        </p:nvSpPr>
        <p:spPr>
          <a:xfrm>
            <a:off x="6302425" y="4726693"/>
            <a:ext cx="1456182"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OTLP HTTP :4318</a:t>
            </a:r>
          </a:p>
        </p:txBody>
      </p:sp>
      <p:sp>
        <p:nvSpPr>
          <p:cNvPr id="22" name="diagrama-legenda">
            <a:extLst>
              <a:ext uri="{FF2B5EF4-FFF2-40B4-BE49-F238E27FC236}">
                <a16:creationId xmlns:a16="http://schemas.microsoft.com/office/drawing/2014/main" id="{8B1DFFF0-189F-4CCB-811B-3447D8C473A2}"/>
              </a:ext>
            </a:extLst>
          </p:cNvPr>
          <p:cNvSpPr>
            <a:spLocks noGrp="1"/>
          </p:cNvSpPr>
          <p:nvPr/>
        </p:nvSpPr>
        <p:spPr>
          <a:xfrm>
            <a:off x="7675397" y="1796593"/>
            <a:ext cx="1277874"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Loki Push API</a:t>
            </a:r>
          </a:p>
        </p:txBody>
      </p:sp>
      <p:sp>
        <p:nvSpPr>
          <p:cNvPr id="23" name="diagrama-legenda">
            <a:extLst>
              <a:ext uri="{FF2B5EF4-FFF2-40B4-BE49-F238E27FC236}">
                <a16:creationId xmlns:a16="http://schemas.microsoft.com/office/drawing/2014/main" id="{E9310F96-7AFA-4918-BC98-7708677996D3}"/>
              </a:ext>
            </a:extLst>
          </p:cNvPr>
          <p:cNvSpPr>
            <a:spLocks noGrp="1"/>
          </p:cNvSpPr>
          <p:nvPr/>
        </p:nvSpPr>
        <p:spPr>
          <a:xfrm>
            <a:off x="1336548" y="5529460"/>
            <a:ext cx="8915400"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Promtail: legado. Migração para Alloy é uma etapa posterior.</a:t>
            </a:r>
          </a:p>
        </p:txBody>
      </p:sp>
      <p:sp>
        <p:nvSpPr>
          <p:cNvPr id="24" name="legenda">
            <a:extLst>
              <a:ext uri="{FF2B5EF4-FFF2-40B4-BE49-F238E27FC236}">
                <a16:creationId xmlns:a16="http://schemas.microsoft.com/office/drawing/2014/main" id="{0C18692F-670D-4ABF-A441-47D9F9EDDFC2}"/>
              </a:ext>
            </a:extLst>
          </p:cNvPr>
          <p:cNvSpPr>
            <a:spLocks noGrp="1"/>
          </p:cNvSpPr>
          <p:nvPr/>
        </p:nvSpPr>
        <p:spPr>
          <a:xfrm>
            <a:off x="1039368" y="5905500"/>
            <a:ext cx="10515600" cy="406400"/>
          </a:xfrm>
          <a:prstGeom prst="rect">
            <a:avLst/>
          </a:prstGeom>
          <a:noFill/>
          <a:ln w="0">
            <a:noFill/>
          </a:ln>
        </p:spPr>
        <p:txBody>
          <a:bodyPr wrap="square" lIns="0" tIns="0" rIns="0" bIns="0" anchor="t">
            <a:noAutofit/>
          </a:bodyPr>
          <a:lstStyle>
            <a:defPPr algn="l">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Promtail envia logs ao Loki. O SDK OpenTelemetry envia spans ao Tempo.</a:t>
            </a:r>
          </a:p>
        </p:txBody>
      </p:sp>
      <p:sp>
        <p:nvSpPr>
          <p:cNvPr id="25" name="pagina">
            <a:extLst>
              <a:ext uri="{FF2B5EF4-FFF2-40B4-BE49-F238E27FC236}">
                <a16:creationId xmlns:a16="http://schemas.microsoft.com/office/drawing/2014/main" id="{A66E96F8-4399-4FEB-99E6-1C1DF12DCAD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30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8485534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20182459-B5C8-4E69-B681-F7B0CE5DB1F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Tutorial do aluno e demonstração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6B597E6-B5AC-48E0-9B77-299C35C5E207}"/>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aluno usa Grafana News no ambiente local.</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professor também mostra host, containers e e-commerce na VM Azure. Os conceitos são os mesmos; as métricas e labels mudam.</a:t>
            </a:r>
          </a:p>
        </p:txBody>
      </p:sp>
      <p:sp>
        <p:nvSpPr>
          <p:cNvPr id="1057" name="apoio">
            <a:extLst>
              <a:ext uri="{FF2B5EF4-FFF2-40B4-BE49-F238E27FC236}">
                <a16:creationId xmlns:a16="http://schemas.microsoft.com/office/drawing/2014/main" id="{4B45D25C-74CB-499D-8C0F-73C768844923}"/>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Aluno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Grafana News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Professor</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Host e e-commerce</a:t>
            </a:r>
          </a:p>
        </p:txBody>
      </p:sp>
      <p:sp>
        <p:nvSpPr>
          <p:cNvPr id="1058" name="rodape">
            <a:extLst>
              <a:ext uri="{FF2B5EF4-FFF2-40B4-BE49-F238E27FC236}">
                <a16:creationId xmlns:a16="http://schemas.microsoft.com/office/drawing/2014/main" id="{2C2B2FC2-4438-4B90-8A24-6649ADB4A0F0}"/>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C188056D-D183-4D2C-AB24-3B46A843CA2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31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4596387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680EF79-BFB0-469E-BB65-61BA90E420E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Preparação para a demonstração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7B7F348-4F36-4DAC-A28C-95DFBFA3AF5A}"/>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Vamos observar a instalação Docker, a aplicação, as fontes e a navegação.</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roteiro Ubuntu explica a segunda instalação. Os scripts nativos serão validados antes da distribuição.</a:t>
            </a:r>
          </a:p>
        </p:txBody>
      </p:sp>
      <p:sp>
        <p:nvSpPr>
          <p:cNvPr id="1057" name="apoio">
            <a:extLst>
              <a:ext uri="{FF2B5EF4-FFF2-40B4-BE49-F238E27FC236}">
                <a16:creationId xmlns:a16="http://schemas.microsoft.com/office/drawing/2014/main" id="{D7E8FC1D-2215-4285-8BA2-C1126D9C5187}"/>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Docker</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Ambiente rápido</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Ubuntu</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Serviço do sistema</a:t>
            </a:r>
          </a:p>
        </p:txBody>
      </p:sp>
      <p:sp>
        <p:nvSpPr>
          <p:cNvPr id="1058" name="rodape">
            <a:extLst>
              <a:ext uri="{FF2B5EF4-FFF2-40B4-BE49-F238E27FC236}">
                <a16:creationId xmlns:a16="http://schemas.microsoft.com/office/drawing/2014/main" id="{4BEE0DD8-DBDA-4BD9-82E6-1A4FCC7530F3}"/>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4BEE6D34-6EFA-48CB-9326-D09AC2D9F19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32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1525531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E7F7E030-57B6-4BC2-B118-1C5E1DEF04FC}"/>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1</a:t>
            </a:r>
          </a:p>
        </p:txBody>
      </p:sp>
      <p:sp>
        <p:nvSpPr>
          <p:cNvPr id="121" name="titulo">
            <a:extLst>
              <a:ext uri="{FF2B5EF4-FFF2-40B4-BE49-F238E27FC236}">
                <a16:creationId xmlns:a16="http://schemas.microsoft.com/office/drawing/2014/main" id="{D300B06D-EFAD-443D-BD71-177A66CF375D}"/>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Demonstração</a:t>
            </a:r>
          </a:p>
        </p:txBody>
      </p:sp>
      <p:sp>
        <p:nvSpPr>
          <p:cNvPr id="122" name="subtitulo">
            <a:extLst>
              <a:ext uri="{FF2B5EF4-FFF2-40B4-BE49-F238E27FC236}">
                <a16:creationId xmlns:a16="http://schemas.microsoft.com/office/drawing/2014/main" id="{6FD8CB4F-7B9D-494F-8894-6D7543B50479}"/>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Professor apresenta · Aluno observa</a:t>
            </a:r>
          </a:p>
        </p:txBody>
      </p:sp>
      <p:sp>
        <p:nvSpPr>
          <p:cNvPr id="123" name="tempo">
            <a:extLst>
              <a:ext uri="{FF2B5EF4-FFF2-40B4-BE49-F238E27FC236}">
                <a16:creationId xmlns:a16="http://schemas.microsoft.com/office/drawing/2014/main" id="{489366BB-1D2C-4756-AF81-C96D10F004CF}"/>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19h55  ·  Demonstração</a:t>
            </a:r>
          </a:p>
        </p:txBody>
      </p:sp>
      <p:sp>
        <p:nvSpPr>
          <p:cNvPr id="124" name="pagina">
            <a:extLst>
              <a:ext uri="{FF2B5EF4-FFF2-40B4-BE49-F238E27FC236}">
                <a16:creationId xmlns:a16="http://schemas.microsoft.com/office/drawing/2014/main" id="{017A4704-3AB0-40D9-ABCD-FDCE27F430B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33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92DB63B6-6D02-4D8F-918C-331E1CD51C92}"/>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Demonstração: instalação Docker</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0F0A476-E141-4A89-B42B-DC9A2CE7C305}"/>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professor mostra o pacote da turma e inicia os serviços.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turma observa a execução e confere os endereços antes de praticar.</a:t>
            </a:r>
          </a:p>
        </p:txBody>
      </p:sp>
      <p:sp>
        <p:nvSpPr>
          <p:cNvPr id="1057" name="apoio">
            <a:extLst>
              <a:ext uri="{FF2B5EF4-FFF2-40B4-BE49-F238E27FC236}">
                <a16:creationId xmlns:a16="http://schemas.microsoft.com/office/drawing/2014/main" id="{24BFEFDA-6A19-407D-86C4-3757C01B6F06}"/>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docker compose</a:t>
            </a:r>
          </a:p>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 -p green-fundamentals</a:t>
            </a:r>
          </a:p>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 up -d --build</a:t>
            </a:r>
          </a:p>
        </p:txBody>
      </p:sp>
      <p:sp>
        <p:nvSpPr>
          <p:cNvPr id="1058" name="rodape">
            <a:extLst>
              <a:ext uri="{FF2B5EF4-FFF2-40B4-BE49-F238E27FC236}">
                <a16:creationId xmlns:a16="http://schemas.microsoft.com/office/drawing/2014/main" id="{8AAB677F-B2EE-4103-B4E6-99CBEF357334}"/>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Demonstração  ·  Fábio Silva</a:t>
            </a:r>
          </a:p>
        </p:txBody>
      </p:sp>
      <p:sp>
        <p:nvSpPr>
          <p:cNvPr id="1059" name="pagina">
            <a:extLst>
              <a:ext uri="{FF2B5EF4-FFF2-40B4-BE49-F238E27FC236}">
                <a16:creationId xmlns:a16="http://schemas.microsoft.com/office/drawing/2014/main" id="{1C223D03-0E74-49D6-96C6-46AA9551202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34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9CB55E3-2C1F-48DD-8A12-8290E1A845D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 aplicação Grafana News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2DFDC30-D37C-4B2D-9BB7-1F23FB785E7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Cadastre um título e uma URL válida.</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Vote no link e recarregue a página. Essas ações geram os dados usados nas próximas aulas.</a:t>
            </a:r>
          </a:p>
        </p:txBody>
      </p:sp>
      <p:pic>
        <p:nvPicPr>
          <p:cNvPr id="1057" name="Imagem 1056">
            <a:extLst>
              <a:ext uri="{FF2B5EF4-FFF2-40B4-BE49-F238E27FC236}">
                <a16:creationId xmlns:a16="http://schemas.microsoft.com/office/drawing/2014/main" id="{C57A2935-EEC8-4242-97E4-5B218D313507}"/>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9F5D1679-4B21-4287-9C32-FA03F9F4CC5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7C9D223B-EAE0-45A7-B1D2-1460C3F13A18}"/>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Demonstração  ·  Fábio Silva</a:t>
            </a:r>
          </a:p>
        </p:txBody>
      </p:sp>
      <p:sp>
        <p:nvSpPr>
          <p:cNvPr id="1060" name="pagina">
            <a:extLst>
              <a:ext uri="{FF2B5EF4-FFF2-40B4-BE49-F238E27FC236}">
                <a16:creationId xmlns:a16="http://schemas.microsoft.com/office/drawing/2014/main" id="{43425342-A300-446D-AA14-5F4571A8761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35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B00BF22C-E4B0-4D98-8BD3-EB9BEB729723}"/>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Primeiro acesso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9EC1AEA-3FF0-4CFA-A622-96C2BA33BE15}"/>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Abra o Grafana na porta do curso.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ambiente de demonstração permite acesso anônimo. Não há etapa de login nesse laboratório.</a:t>
            </a:r>
          </a:p>
        </p:txBody>
      </p:sp>
      <p:pic>
        <p:nvPicPr>
          <p:cNvPr id="1057" name="Imagem 1056">
            <a:extLst>
              <a:ext uri="{FF2B5EF4-FFF2-40B4-BE49-F238E27FC236}">
                <a16:creationId xmlns:a16="http://schemas.microsoft.com/office/drawing/2014/main" id="{7E7CC633-00F7-4C70-8F14-E602B5FF4AE6}"/>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5C4771FB-B969-4934-8559-6CFAA2C1B90A}"/>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F863BA6B-C5DA-49F6-AE3A-C6A7BD1D54B2}"/>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Demonstração  ·  Fábio Silva</a:t>
            </a:r>
          </a:p>
        </p:txBody>
      </p:sp>
      <p:sp>
        <p:nvSpPr>
          <p:cNvPr id="1060" name="pagina">
            <a:extLst>
              <a:ext uri="{FF2B5EF4-FFF2-40B4-BE49-F238E27FC236}">
                <a16:creationId xmlns:a16="http://schemas.microsoft.com/office/drawing/2014/main" id="{DBC68A9D-ACCC-420F-BD59-7683E0020F38}"/>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36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094D5E7C-0726-4777-9A2D-CD9475D45798}"/>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Fonte de dados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8E619E4-8A36-4411-83C5-3BAD305ED331}"/>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Prometheus já vem configurado no ambiente oficial.</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Localize a conexão e identifique sua URL interna antes de consultar métricas.</a:t>
            </a:r>
          </a:p>
        </p:txBody>
      </p:sp>
      <p:pic>
        <p:nvPicPr>
          <p:cNvPr id="1057" name="Imagem 1056">
            <a:extLst>
              <a:ext uri="{FF2B5EF4-FFF2-40B4-BE49-F238E27FC236}">
                <a16:creationId xmlns:a16="http://schemas.microsoft.com/office/drawing/2014/main" id="{FCBA7D0F-99DA-4419-80C7-DFA3E7EBF3EE}"/>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6CF0BF27-4E00-48B5-BF44-0AA164E08D3A}"/>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A0C5E911-7A77-409C-93AB-D8CC7AC2042C}"/>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Demonstração  ·  Fábio Silva</a:t>
            </a:r>
          </a:p>
        </p:txBody>
      </p:sp>
      <p:sp>
        <p:nvSpPr>
          <p:cNvPr id="1060" name="pagina">
            <a:extLst>
              <a:ext uri="{FF2B5EF4-FFF2-40B4-BE49-F238E27FC236}">
                <a16:creationId xmlns:a16="http://schemas.microsoft.com/office/drawing/2014/main" id="{3A3DDB07-80A0-4535-992E-1665C3A7258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37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06E851AA-6706-4795-8033-DB63EB33B13A}"/>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Demonstração: roteiro Ubuntu</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0F2C1B9-D026-4A65-8955-E6C0CA64EB14}"/>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professor explica a instalação nativa e os pontos de validação.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execução completa será liberada depois do teste dos scripts na VM Azure.</a:t>
            </a:r>
          </a:p>
        </p:txBody>
      </p:sp>
      <p:sp>
        <p:nvSpPr>
          <p:cNvPr id="1057" name="apoio">
            <a:extLst>
              <a:ext uri="{FF2B5EF4-FFF2-40B4-BE49-F238E27FC236}">
                <a16:creationId xmlns:a16="http://schemas.microsoft.com/office/drawing/2014/main" id="{EA02BB38-22A2-44ED-A5DF-D09A10E787BA}"/>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APT</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Pacote grafana</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systemd</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Serviço grafana-server</a:t>
            </a:r>
          </a:p>
        </p:txBody>
      </p:sp>
      <p:sp>
        <p:nvSpPr>
          <p:cNvPr id="1058" name="rodape">
            <a:extLst>
              <a:ext uri="{FF2B5EF4-FFF2-40B4-BE49-F238E27FC236}">
                <a16:creationId xmlns:a16="http://schemas.microsoft.com/office/drawing/2014/main" id="{80F34230-373F-4539-A0BB-DD1A2EF85A5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Demonstração  ·  Fábio Silva</a:t>
            </a:r>
          </a:p>
        </p:txBody>
      </p:sp>
      <p:sp>
        <p:nvSpPr>
          <p:cNvPr id="1059" name="pagina">
            <a:extLst>
              <a:ext uri="{FF2B5EF4-FFF2-40B4-BE49-F238E27FC236}">
                <a16:creationId xmlns:a16="http://schemas.microsoft.com/office/drawing/2014/main" id="{B66CB986-0A3A-4482-837B-97A4EF939BA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38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7A2DB167-D69C-41D7-AC80-A504F112ABFA}"/>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Demonstração no ambiente do professor</a:t>
            </a:r>
          </a:p>
        </p:txBody>
      </p:sp>
      <p:sp>
        <p:nvSpPr>
          <p:cNvPr id="2" name="titulo">
            <a:extLst>
              <a:ext uri="{FF2B5EF4-FFF2-40B4-BE49-F238E27FC236}">
                <a16:creationId xmlns:a16="http://schemas.microsoft.com/office/drawing/2014/main" id="{D34D7157-DE69-4E50-9F06-778770461FE7}"/>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Ambiente real do professor</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59FB357B-9DFB-4483-8747-96A34C92580D}"/>
              </a:ext>
            </a:extLst>
          </p:cNvPr>
          <p:cNvPicPr>
            <a:picLocks/>
          </p:cNvPicPr>
          <p:nvPr/>
        </p:nvPicPr>
        <p:blipFill>
          <a:blip r:embed="rId3"/>
          <a:stretch/>
        </p:blipFill>
        <p:spPr>
          <a:xfrm>
            <a:off x="2989154" y="1562100"/>
            <a:ext cx="6616027" cy="4216400"/>
          </a:xfrm>
          <a:prstGeom prst="rect">
            <a:avLst/>
          </a:prstGeom>
        </p:spPr>
      </p:pic>
      <p:sp>
        <p:nvSpPr>
          <p:cNvPr id="4" name="legenda">
            <a:extLst>
              <a:ext uri="{FF2B5EF4-FFF2-40B4-BE49-F238E27FC236}">
                <a16:creationId xmlns:a16="http://schemas.microsoft.com/office/drawing/2014/main" id="{2EEA9903-1923-4DB0-8A6E-9A72969B0E35}"/>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CPU, memória, disco e uptime do host da demonstração.</a:t>
            </a:r>
          </a:p>
        </p:txBody>
      </p:sp>
      <p:sp>
        <p:nvSpPr>
          <p:cNvPr id="5" name="pagina">
            <a:extLst>
              <a:ext uri="{FF2B5EF4-FFF2-40B4-BE49-F238E27FC236}">
                <a16:creationId xmlns:a16="http://schemas.microsoft.com/office/drawing/2014/main" id="{40B029D4-6DDE-4239-A91E-938FE4F5314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39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7829601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533DB526-B53C-47B2-B63C-7128EB4E3145}"/>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Demonstração no ambiente do professor</a:t>
            </a:r>
          </a:p>
        </p:txBody>
      </p:sp>
      <p:sp>
        <p:nvSpPr>
          <p:cNvPr id="2" name="titulo">
            <a:extLst>
              <a:ext uri="{FF2B5EF4-FFF2-40B4-BE49-F238E27FC236}">
                <a16:creationId xmlns:a16="http://schemas.microsoft.com/office/drawing/2014/main" id="{2BA45547-654A-42D0-AE3F-6AA6B4A9EA91}"/>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Fontes de dados do laboratório</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1BEB2EAA-A1DD-42F3-80CC-811AF13D16C6}"/>
              </a:ext>
            </a:extLst>
          </p:cNvPr>
          <p:cNvPicPr>
            <a:picLocks/>
          </p:cNvPicPr>
          <p:nvPr/>
        </p:nvPicPr>
        <p:blipFill>
          <a:blip r:embed="rId3"/>
          <a:stretch/>
        </p:blipFill>
        <p:spPr>
          <a:xfrm>
            <a:off x="3775364" y="1562100"/>
            <a:ext cx="5043608" cy="4216400"/>
          </a:xfrm>
          <a:prstGeom prst="rect">
            <a:avLst/>
          </a:prstGeom>
        </p:spPr>
      </p:pic>
      <p:sp>
        <p:nvSpPr>
          <p:cNvPr id="4" name="legenda">
            <a:extLst>
              <a:ext uri="{FF2B5EF4-FFF2-40B4-BE49-F238E27FC236}">
                <a16:creationId xmlns:a16="http://schemas.microsoft.com/office/drawing/2014/main" id="{F4B962F0-FF55-4FB3-8043-0F1C1E07E586}"/>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Connections &gt; Data sources: use Prometheus, Loki e Tempo.</a:t>
            </a:r>
          </a:p>
        </p:txBody>
      </p:sp>
      <p:sp>
        <p:nvSpPr>
          <p:cNvPr id="5" name="pagina">
            <a:extLst>
              <a:ext uri="{FF2B5EF4-FFF2-40B4-BE49-F238E27FC236}">
                <a16:creationId xmlns:a16="http://schemas.microsoft.com/office/drawing/2014/main" id="{2B76F53B-39EE-4C39-8B16-B197C1F3DA7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40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40664539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1A3C0AA9-CC54-4C4E-A27E-C18587381A2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Intervalo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E3854DD-FA54-43AD-8F22-E9FD427624DA}"/>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Pausa de 25 minutos.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Na volta, o professor apresentará os exercícios comentados antes da prática individual.</a:t>
            </a:r>
          </a:p>
        </p:txBody>
      </p:sp>
      <p:sp>
        <p:nvSpPr>
          <p:cNvPr id="1057" name="apoio">
            <a:extLst>
              <a:ext uri="{FF2B5EF4-FFF2-40B4-BE49-F238E27FC236}">
                <a16:creationId xmlns:a16="http://schemas.microsoft.com/office/drawing/2014/main" id="{F9E1154D-27F7-4318-819A-6CA466FD1287}"/>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20h20–20h45</a:t>
            </a:r>
          </a:p>
        </p:txBody>
      </p:sp>
      <p:sp>
        <p:nvSpPr>
          <p:cNvPr id="1058" name="rodape">
            <a:extLst>
              <a:ext uri="{FF2B5EF4-FFF2-40B4-BE49-F238E27FC236}">
                <a16:creationId xmlns:a16="http://schemas.microsoft.com/office/drawing/2014/main" id="{91AD016F-ED6A-4989-8F70-C784E1F354DD}"/>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Intervalo  ·  Fábio Silva</a:t>
            </a:r>
          </a:p>
        </p:txBody>
      </p:sp>
      <p:sp>
        <p:nvSpPr>
          <p:cNvPr id="1059" name="pagina">
            <a:extLst>
              <a:ext uri="{FF2B5EF4-FFF2-40B4-BE49-F238E27FC236}">
                <a16:creationId xmlns:a16="http://schemas.microsoft.com/office/drawing/2014/main" id="{E6A1BE80-B4F6-4060-8081-1E9ED69C794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41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F905D0F7-8330-4DFF-87FE-206DD98B660A}"/>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1</a:t>
            </a:r>
          </a:p>
        </p:txBody>
      </p:sp>
      <p:sp>
        <p:nvSpPr>
          <p:cNvPr id="121" name="titulo">
            <a:extLst>
              <a:ext uri="{FF2B5EF4-FFF2-40B4-BE49-F238E27FC236}">
                <a16:creationId xmlns:a16="http://schemas.microsoft.com/office/drawing/2014/main" id="{C9C860EC-6ED3-428E-9C2C-D671ABB125A2}"/>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Exercícios</a:t>
            </a:r>
          </a:p>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comentados</a:t>
            </a:r>
          </a:p>
        </p:txBody>
      </p:sp>
      <p:sp>
        <p:nvSpPr>
          <p:cNvPr id="122" name="subtitulo">
            <a:extLst>
              <a:ext uri="{FF2B5EF4-FFF2-40B4-BE49-F238E27FC236}">
                <a16:creationId xmlns:a16="http://schemas.microsoft.com/office/drawing/2014/main" id="{234A452B-53AB-462F-AC57-E447DF905A65}"/>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Professor explica · Turma acompanha</a:t>
            </a:r>
          </a:p>
        </p:txBody>
      </p:sp>
      <p:sp>
        <p:nvSpPr>
          <p:cNvPr id="123" name="tempo">
            <a:extLst>
              <a:ext uri="{FF2B5EF4-FFF2-40B4-BE49-F238E27FC236}">
                <a16:creationId xmlns:a16="http://schemas.microsoft.com/office/drawing/2014/main" id="{0326ADC6-866E-4F3F-A137-59495C562CD8}"/>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20h45  ·  Exercícios comentados</a:t>
            </a:r>
          </a:p>
        </p:txBody>
      </p:sp>
      <p:sp>
        <p:nvSpPr>
          <p:cNvPr id="124" name="pagina">
            <a:extLst>
              <a:ext uri="{FF2B5EF4-FFF2-40B4-BE49-F238E27FC236}">
                <a16:creationId xmlns:a16="http://schemas.microsoft.com/office/drawing/2014/main" id="{804D76A5-30C5-4A57-9097-15B0FEF7B91E}"/>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42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465B34CD-E864-4FCC-A4CA-98D33E390E3A}"/>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Exercícios comentados · Execução local</a:t>
            </a:r>
          </a:p>
        </p:txBody>
      </p:sp>
      <p:sp>
        <p:nvSpPr>
          <p:cNvPr id="2" name="titulo">
            <a:extLst>
              <a:ext uri="{FF2B5EF4-FFF2-40B4-BE49-F238E27FC236}">
                <a16:creationId xmlns:a16="http://schemas.microsoft.com/office/drawing/2014/main" id="{ABB9F60F-034C-4D78-8E63-EE4605611DFD}"/>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400" b="1">
                <a:solidFill>
                  <a:srgbClr val="73A277"/>
                </a:solidFill>
                <a:latin typeface="Segoe UI" panose="020B0502040204020203" pitchFamily="34" charset="0"/>
                <a:ea typeface="Trebuchet MS"/>
                <a:cs typeface="Trebuchet MS"/>
              </a:rPr>
              <a:t>Exercício 1.1 — Obter e iniciar o laboratório Docker</a:t>
            </a:r>
            <a:endParaRPr sz="34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53235BD1-3874-4C6A-B55D-A3551BE8634D}"/>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Baixe o pacote oficial da turma pelo GitHub ou Google Drive quando o professor disponibilizar o link.</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Extraia ou clone a pasta completa e abra lab/tutorial-environment.</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Confirme Docker ativo e inicie com o script de entrada ou Compose.</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Abra a aplicação e o Grafana nos endereços locais do pacote.</a:t>
            </a:r>
          </a:p>
        </p:txBody>
      </p:sp>
      <p:sp>
        <p:nvSpPr>
          <p:cNvPr id="4" name="comentario">
            <a:extLst>
              <a:ext uri="{FF2B5EF4-FFF2-40B4-BE49-F238E27FC236}">
                <a16:creationId xmlns:a16="http://schemas.microsoft.com/office/drawing/2014/main" id="{61ABEC4E-D4CC-40B0-AA94-A8C837DFFA1E}"/>
              </a:ext>
            </a:extLst>
          </p:cNvPr>
          <p:cNvSpPr>
            <a:spLocks noGrp="1"/>
          </p:cNvSpPr>
          <p:nvPr/>
        </p:nvSpPr>
        <p:spPr>
          <a:xfrm>
            <a:off x="1039368" y="382587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Comente onde o aluno abre o terminal e por que o download deve incluir os arquivos completos. GitHub e Drive são opções de distribuição: os links da turma ainda serão definidos. O clone direto do repositório upstream usa outras portas.</a:t>
            </a:r>
          </a:p>
        </p:txBody>
      </p:sp>
      <p:sp>
        <p:nvSpPr>
          <p:cNvPr id="5" name="resultado">
            <a:extLst>
              <a:ext uri="{FF2B5EF4-FFF2-40B4-BE49-F238E27FC236}">
                <a16:creationId xmlns:a16="http://schemas.microsoft.com/office/drawing/2014/main" id="{A74E1BAF-5296-4DB0-B349-5AD8F5E88AB5}"/>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Ambiente local iniciado e dois endereços acessíveis.</a:t>
            </a:r>
          </a:p>
        </p:txBody>
      </p:sp>
      <p:sp>
        <p:nvSpPr>
          <p:cNvPr id="6" name="pagina">
            <a:extLst>
              <a:ext uri="{FF2B5EF4-FFF2-40B4-BE49-F238E27FC236}">
                <a16:creationId xmlns:a16="http://schemas.microsoft.com/office/drawing/2014/main" id="{C66D30D3-378D-41E0-B30F-E943DC33F49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43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171E9ACA-737D-4B9C-A139-19E6DD6AA6C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Exercícios comentados · Navegação no navegador</a:t>
            </a:r>
          </a:p>
        </p:txBody>
      </p:sp>
      <p:sp>
        <p:nvSpPr>
          <p:cNvPr id="2" name="titulo">
            <a:extLst>
              <a:ext uri="{FF2B5EF4-FFF2-40B4-BE49-F238E27FC236}">
                <a16:creationId xmlns:a16="http://schemas.microsoft.com/office/drawing/2014/main" id="{7A2FDA80-F18B-4AFC-8EC5-B96342956CAF}"/>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1.2 — Gerar atividade conhecida</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CF39074C-5504-4FFB-B907-1FCA62326F6C}"/>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Na aplicação Grafana News, publique um link com título e URL válidos.</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Vote no link e atualize a página.</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Registre o horário e descreva as ações feitas.</a:t>
            </a:r>
          </a:p>
        </p:txBody>
      </p:sp>
      <p:sp>
        <p:nvSpPr>
          <p:cNvPr id="4" name="comentario">
            <a:extLst>
              <a:ext uri="{FF2B5EF4-FFF2-40B4-BE49-F238E27FC236}">
                <a16:creationId xmlns:a16="http://schemas.microsoft.com/office/drawing/2014/main" id="{491EFBB0-F160-47F0-8D04-5CB0628D1F89}"/>
              </a:ext>
            </a:extLst>
          </p:cNvPr>
          <p:cNvSpPr>
            <a:spLocks noGrp="1"/>
          </p:cNvSpPr>
          <p:nvPr/>
        </p:nvSpPr>
        <p:spPr>
          <a:xfrm>
            <a:off x="1039368" y="382587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Mostre os campos Title e URL. Explique que a ação conhecida será usada para interpretar métricas, sem ainda pedir consultas.</a:t>
            </a:r>
          </a:p>
        </p:txBody>
      </p:sp>
      <p:sp>
        <p:nvSpPr>
          <p:cNvPr id="5" name="resultado">
            <a:extLst>
              <a:ext uri="{FF2B5EF4-FFF2-40B4-BE49-F238E27FC236}">
                <a16:creationId xmlns:a16="http://schemas.microsoft.com/office/drawing/2014/main" id="{A8CDEE23-1235-4CE3-96E6-5A9F71CB5C5D}"/>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Link publicado, voto registrado e anotação do horário.</a:t>
            </a:r>
          </a:p>
        </p:txBody>
      </p:sp>
      <p:sp>
        <p:nvSpPr>
          <p:cNvPr id="6" name="pagina">
            <a:extLst>
              <a:ext uri="{FF2B5EF4-FFF2-40B4-BE49-F238E27FC236}">
                <a16:creationId xmlns:a16="http://schemas.microsoft.com/office/drawing/2014/main" id="{B56B5FFE-E66A-4D4C-AC4B-01ADB18A6C5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44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7BAF929E-EDD6-4887-92E8-5DED603E8F4B}"/>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Exercícios comentados · Navegação no Grafana</a:t>
            </a:r>
          </a:p>
        </p:txBody>
      </p:sp>
      <p:sp>
        <p:nvSpPr>
          <p:cNvPr id="2" name="titulo">
            <a:extLst>
              <a:ext uri="{FF2B5EF4-FFF2-40B4-BE49-F238E27FC236}">
                <a16:creationId xmlns:a16="http://schemas.microsoft.com/office/drawing/2014/main" id="{B092F1C4-8E6B-4236-A016-ACB4C22F77F4}"/>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400" b="1">
                <a:solidFill>
                  <a:srgbClr val="73A277"/>
                </a:solidFill>
                <a:latin typeface="Segoe UI" panose="020B0502040204020203" pitchFamily="34" charset="0"/>
                <a:ea typeface="Trebuchet MS"/>
                <a:cs typeface="Trebuchet MS"/>
              </a:rPr>
              <a:t>Exercício 1.3 — Reconhecer os recursos do Grafana</a:t>
            </a:r>
            <a:endParaRPr sz="34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AC4656AF-53F4-4B72-912A-9D0A0B7BEF3A}"/>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Localize Explore, Dashboards e Connections.</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Abra a fonte Prometheus já existente.</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Identifique a URL interna e teste a conexão quando disponível.</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Escreva uma frase sobre o papel de cada recurso.</a:t>
            </a:r>
          </a:p>
        </p:txBody>
      </p:sp>
      <p:sp>
        <p:nvSpPr>
          <p:cNvPr id="4" name="comentario">
            <a:extLst>
              <a:ext uri="{FF2B5EF4-FFF2-40B4-BE49-F238E27FC236}">
                <a16:creationId xmlns:a16="http://schemas.microsoft.com/office/drawing/2014/main" id="{90E6FA0E-4B3B-46A4-BAC2-4E69CC88A504}"/>
              </a:ext>
            </a:extLst>
          </p:cNvPr>
          <p:cNvSpPr>
            <a:spLocks noGrp="1"/>
          </p:cNvSpPr>
          <p:nvPr/>
        </p:nvSpPr>
        <p:spPr>
          <a:xfrm>
            <a:off x="1039368" y="382587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Comente o caminho do menu, a diferença entre fonte e painel e a URL interna. Não crie fontes duplicadas como primeira tentativa de corrigir um erro.</a:t>
            </a:r>
          </a:p>
        </p:txBody>
      </p:sp>
      <p:sp>
        <p:nvSpPr>
          <p:cNvPr id="5" name="resultado">
            <a:extLst>
              <a:ext uri="{FF2B5EF4-FFF2-40B4-BE49-F238E27FC236}">
                <a16:creationId xmlns:a16="http://schemas.microsoft.com/office/drawing/2014/main" id="{7E0EAFC9-B297-4056-8AD9-87FB9C2619D6}"/>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Fonte identificada e explicação dos recursos de navegação.</a:t>
            </a:r>
          </a:p>
        </p:txBody>
      </p:sp>
      <p:sp>
        <p:nvSpPr>
          <p:cNvPr id="6" name="pagina">
            <a:extLst>
              <a:ext uri="{FF2B5EF4-FFF2-40B4-BE49-F238E27FC236}">
                <a16:creationId xmlns:a16="http://schemas.microsoft.com/office/drawing/2014/main" id="{23847BE7-7E21-4B4C-BB30-7DE129802ABB}"/>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45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39264389-72FB-45E3-943E-8DA780E526C9}"/>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1</a:t>
            </a:r>
          </a:p>
        </p:txBody>
      </p:sp>
      <p:sp>
        <p:nvSpPr>
          <p:cNvPr id="121" name="titulo">
            <a:extLst>
              <a:ext uri="{FF2B5EF4-FFF2-40B4-BE49-F238E27FC236}">
                <a16:creationId xmlns:a16="http://schemas.microsoft.com/office/drawing/2014/main" id="{58F43E3F-C862-4AEC-9342-486DD231EFAA}"/>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Prática do aluno</a:t>
            </a:r>
          </a:p>
        </p:txBody>
      </p:sp>
      <p:sp>
        <p:nvSpPr>
          <p:cNvPr id="122" name="subtitulo">
            <a:extLst>
              <a:ext uri="{FF2B5EF4-FFF2-40B4-BE49-F238E27FC236}">
                <a16:creationId xmlns:a16="http://schemas.microsoft.com/office/drawing/2014/main" id="{A6FA6000-69BE-45E8-82E8-9CFDA00C558D}"/>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Receba a folha · Execute no seu ambiente</a:t>
            </a:r>
          </a:p>
        </p:txBody>
      </p:sp>
      <p:sp>
        <p:nvSpPr>
          <p:cNvPr id="123" name="tempo">
            <a:extLst>
              <a:ext uri="{FF2B5EF4-FFF2-40B4-BE49-F238E27FC236}">
                <a16:creationId xmlns:a16="http://schemas.microsoft.com/office/drawing/2014/main" id="{CFA51862-AC24-4224-9E47-432C50B36F47}"/>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21h00  ·  Prática do aluno</a:t>
            </a:r>
          </a:p>
        </p:txBody>
      </p:sp>
      <p:sp>
        <p:nvSpPr>
          <p:cNvPr id="124" name="pagina">
            <a:extLst>
              <a:ext uri="{FF2B5EF4-FFF2-40B4-BE49-F238E27FC236}">
                <a16:creationId xmlns:a16="http://schemas.microsoft.com/office/drawing/2014/main" id="{04F5778F-3654-4704-BF61-D005442B79D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46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7AE07045-850E-4441-A52B-19AC390CFED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Agora é com você</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179F6BE-9ECF-43FE-82ED-FC24560CF8C7}"/>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Execute as tarefas da folha da noite.</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Registre consultas, resultados e dúvidas. Peça ajuda quando encontrar um bloqueio e preserve seu trabalho.</a:t>
            </a:r>
          </a:p>
        </p:txBody>
      </p:sp>
      <p:sp>
        <p:nvSpPr>
          <p:cNvPr id="1057" name="apoio">
            <a:extLst>
              <a:ext uri="{FF2B5EF4-FFF2-40B4-BE49-F238E27FC236}">
                <a16:creationId xmlns:a16="http://schemas.microsoft.com/office/drawing/2014/main" id="{3D4555B0-47B1-49A4-BCBA-C4E663F07385}"/>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1.1  Obter e iniciar o laboratório Docker</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1.2  Gerar atividade conhecida</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1.3  Reconhecer os recursos do Grafana</a:t>
            </a:r>
          </a:p>
        </p:txBody>
      </p:sp>
      <p:sp>
        <p:nvSpPr>
          <p:cNvPr id="1058" name="rodape">
            <a:extLst>
              <a:ext uri="{FF2B5EF4-FFF2-40B4-BE49-F238E27FC236}">
                <a16:creationId xmlns:a16="http://schemas.microsoft.com/office/drawing/2014/main" id="{6388F2FB-73E7-42FC-B280-D4730C6FC188}"/>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Prática do aluno  ·  Fábio Silva</a:t>
            </a:r>
          </a:p>
        </p:txBody>
      </p:sp>
      <p:sp>
        <p:nvSpPr>
          <p:cNvPr id="1059" name="pagina">
            <a:extLst>
              <a:ext uri="{FF2B5EF4-FFF2-40B4-BE49-F238E27FC236}">
                <a16:creationId xmlns:a16="http://schemas.microsoft.com/office/drawing/2014/main" id="{E141051C-D530-4BFB-B97F-B8973DAEBB9B}"/>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47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D21FB2D7-19E9-4F94-BDA2-A12B663101CD}"/>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Correção e fechamento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EA05087C-B169-439C-94B7-E39E6DDD070A}"/>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Apresente uma evidência do que foi executado e explique o resultado.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Compare com os critérios da folha e registre o que precisa revisar.</a:t>
            </a:r>
          </a:p>
        </p:txBody>
      </p:sp>
      <p:sp>
        <p:nvSpPr>
          <p:cNvPr id="1057" name="apoio">
            <a:extLst>
              <a:ext uri="{FF2B5EF4-FFF2-40B4-BE49-F238E27FC236}">
                <a16:creationId xmlns:a16="http://schemas.microsoft.com/office/drawing/2014/main" id="{9F546C3C-8431-4154-94E8-2CF5DEE45EC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executei?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observei?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Como interpreto?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ficou pendente?</a:t>
            </a:r>
          </a:p>
        </p:txBody>
      </p:sp>
      <p:sp>
        <p:nvSpPr>
          <p:cNvPr id="1058" name="rodape">
            <a:extLst>
              <a:ext uri="{FF2B5EF4-FFF2-40B4-BE49-F238E27FC236}">
                <a16:creationId xmlns:a16="http://schemas.microsoft.com/office/drawing/2014/main" id="{2FB653B0-C0BC-4D87-903A-E8D8089D26CB}"/>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Correção  ·  Fábio Silva</a:t>
            </a:r>
          </a:p>
        </p:txBody>
      </p:sp>
      <p:sp>
        <p:nvSpPr>
          <p:cNvPr id="1059" name="pagina">
            <a:extLst>
              <a:ext uri="{FF2B5EF4-FFF2-40B4-BE49-F238E27FC236}">
                <a16:creationId xmlns:a16="http://schemas.microsoft.com/office/drawing/2014/main" id="{67D9C794-F3EE-44C5-98D7-E11F089D5D1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48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5CA5E710-1FB2-4659-B091-566B05457F35}"/>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2</a:t>
            </a:r>
          </a:p>
        </p:txBody>
      </p:sp>
      <p:sp>
        <p:nvSpPr>
          <p:cNvPr id="121" name="titulo">
            <a:extLst>
              <a:ext uri="{FF2B5EF4-FFF2-40B4-BE49-F238E27FC236}">
                <a16:creationId xmlns:a16="http://schemas.microsoft.com/office/drawing/2014/main" id="{98F94747-112F-4CD2-A8E9-9ECC8538FA08}"/>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Exploração de métricas</a:t>
            </a:r>
          </a:p>
        </p:txBody>
      </p:sp>
      <p:sp>
        <p:nvSpPr>
          <p:cNvPr id="122" name="subtitulo">
            <a:extLst>
              <a:ext uri="{FF2B5EF4-FFF2-40B4-BE49-F238E27FC236}">
                <a16:creationId xmlns:a16="http://schemas.microsoft.com/office/drawing/2014/main" id="{E90CCD03-28BB-41BD-9142-14B90BEFAA4C}"/>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Consultas e interpretação no Explore</a:t>
            </a:r>
          </a:p>
        </p:txBody>
      </p:sp>
      <p:sp>
        <p:nvSpPr>
          <p:cNvPr id="123" name="tempo">
            <a:extLst>
              <a:ext uri="{FF2B5EF4-FFF2-40B4-BE49-F238E27FC236}">
                <a16:creationId xmlns:a16="http://schemas.microsoft.com/office/drawing/2014/main" id="{63D79011-A632-4A50-983E-4BD100892486}"/>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18h30  ·  Teoria</a:t>
            </a:r>
          </a:p>
        </p:txBody>
      </p:sp>
      <p:sp>
        <p:nvSpPr>
          <p:cNvPr id="124" name="pagina">
            <a:extLst>
              <a:ext uri="{FF2B5EF4-FFF2-40B4-BE49-F238E27FC236}">
                <a16:creationId xmlns:a16="http://schemas.microsoft.com/office/drawing/2014/main" id="{8F105094-A613-4529-A75B-A934E33310E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49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E0C82A78-38ED-4A22-B6F7-B834104E8AD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Uma série temporal</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DF28211-526B-4ABA-8E8E-EAF151F57A21}"/>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série relaciona valores a instantes.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Os labels distinguem séries, como as requisições de uma rota ou de um código de resposta.</a:t>
            </a:r>
          </a:p>
        </p:txBody>
      </p:sp>
      <p:sp>
        <p:nvSpPr>
          <p:cNvPr id="1057" name="apoio">
            <a:extLst>
              <a:ext uri="{FF2B5EF4-FFF2-40B4-BE49-F238E27FC236}">
                <a16:creationId xmlns:a16="http://schemas.microsoft.com/office/drawing/2014/main" id="{F298046B-F3A6-4E80-946B-BC216DDFFE64}"/>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Instante + valor</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Labels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route</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status_code</a:t>
            </a:r>
          </a:p>
        </p:txBody>
      </p:sp>
      <p:sp>
        <p:nvSpPr>
          <p:cNvPr id="1058" name="rodape">
            <a:extLst>
              <a:ext uri="{FF2B5EF4-FFF2-40B4-BE49-F238E27FC236}">
                <a16:creationId xmlns:a16="http://schemas.microsoft.com/office/drawing/2014/main" id="{CB852E85-38F2-4FDE-BB06-3E4624FA0CEE}"/>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2  ·  Teoria  ·  Fábio Silva</a:t>
            </a:r>
          </a:p>
        </p:txBody>
      </p:sp>
      <p:sp>
        <p:nvSpPr>
          <p:cNvPr id="1059" name="pagina">
            <a:extLst>
              <a:ext uri="{FF2B5EF4-FFF2-40B4-BE49-F238E27FC236}">
                <a16:creationId xmlns:a16="http://schemas.microsoft.com/office/drawing/2014/main" id="{CE8BEBC3-2431-4DFE-B1E6-E29456823FF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50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429C601E-7E03-4EDD-9332-424B197B41C0}"/>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Métrica, valor e unidade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1F96460-FA17-49AF-A132-EF521CE912F5}"/>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100">
                <a:solidFill>
                  <a:srgbClr val="5F5F5F"/>
                </a:solidFill>
                <a:latin typeface="Segoe UI" panose="020B0502040204020203" pitchFamily="34" charset="0"/>
                <a:ea typeface="Trebuchet MS"/>
                <a:cs typeface="Trebuchet MS"/>
              </a:rPr>
              <a:t>O nome identifica o que se mede. O valor precisa de unidade e contexto.</a:t>
            </a:r>
          </a:p>
          <a:p>
            <a:endParaRPr sz="21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100">
                <a:solidFill>
                  <a:srgbClr val="5F5F5F"/>
                </a:solidFill>
                <a:latin typeface="Segoe UI" panose="020B0502040204020203" pitchFamily="34" charset="0"/>
                <a:ea typeface="Trebuchet MS"/>
                <a:cs typeface="Trebuchet MS"/>
              </a:rPr>
              <a:t>O sufixo _count indica uma contagem de observações, e não duração em segundos.</a:t>
            </a:r>
          </a:p>
        </p:txBody>
      </p:sp>
      <p:sp>
        <p:nvSpPr>
          <p:cNvPr id="1057" name="apoio">
            <a:extLst>
              <a:ext uri="{FF2B5EF4-FFF2-40B4-BE49-F238E27FC236}">
                <a16:creationId xmlns:a16="http://schemas.microsoft.com/office/drawing/2014/main" id="{198DE51F-7B8D-4E69-A8FB-CD3D283CC3E2}"/>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Nome da métrica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Valor observado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Unidade correta</a:t>
            </a:r>
          </a:p>
        </p:txBody>
      </p:sp>
      <p:sp>
        <p:nvSpPr>
          <p:cNvPr id="1058" name="rodape">
            <a:extLst>
              <a:ext uri="{FF2B5EF4-FFF2-40B4-BE49-F238E27FC236}">
                <a16:creationId xmlns:a16="http://schemas.microsoft.com/office/drawing/2014/main" id="{11668F4C-8E77-4795-85C6-9F88AD5E9255}"/>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2  ·  Teoria  ·  Fábio Silva</a:t>
            </a:r>
          </a:p>
        </p:txBody>
      </p:sp>
      <p:sp>
        <p:nvSpPr>
          <p:cNvPr id="1059" name="pagina">
            <a:extLst>
              <a:ext uri="{FF2B5EF4-FFF2-40B4-BE49-F238E27FC236}">
                <a16:creationId xmlns:a16="http://schemas.microsoft.com/office/drawing/2014/main" id="{0F57F23C-E9A9-4801-B2A4-02FEA8BD6C94}"/>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51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D4262560-6A3A-4C1E-AB82-4E7A35CEBFC0}"/>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Counter e gauge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CAFE929-24C7-4CBB-B905-1561603A13F2}"/>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Counter acumula ocorrências e pode reiniciar com o processo.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Gauge representa um valor que pode aumentar ou diminuir.</a:t>
            </a:r>
          </a:p>
        </p:txBody>
      </p:sp>
      <p:sp>
        <p:nvSpPr>
          <p:cNvPr id="1057" name="apoio">
            <a:extLst>
              <a:ext uri="{FF2B5EF4-FFF2-40B4-BE49-F238E27FC236}">
                <a16:creationId xmlns:a16="http://schemas.microsoft.com/office/drawing/2014/main" id="{03326864-9822-46D3-A819-D6514010E090}"/>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Counter</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Total de requisições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Gauge</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Memória em uso</a:t>
            </a:r>
          </a:p>
        </p:txBody>
      </p:sp>
      <p:sp>
        <p:nvSpPr>
          <p:cNvPr id="1058" name="rodape">
            <a:extLst>
              <a:ext uri="{FF2B5EF4-FFF2-40B4-BE49-F238E27FC236}">
                <a16:creationId xmlns:a16="http://schemas.microsoft.com/office/drawing/2014/main" id="{7A305703-4F8B-462C-8978-1BBDB0C23F68}"/>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2  ·  Teoria  ·  Fábio Silva</a:t>
            </a:r>
          </a:p>
        </p:txBody>
      </p:sp>
      <p:sp>
        <p:nvSpPr>
          <p:cNvPr id="1059" name="pagina">
            <a:extLst>
              <a:ext uri="{FF2B5EF4-FFF2-40B4-BE49-F238E27FC236}">
                <a16:creationId xmlns:a16="http://schemas.microsoft.com/office/drawing/2014/main" id="{B7A8F906-EE4A-48BB-98A4-C04C76C6F7A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52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259AB2DB-98AD-4BC3-87F1-FE756B63AB3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Contador e taxa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CCF5D08-2A3E-4AE3-992F-8802930AF9D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 contador acumula ocorrências. Pode reiniciar quando o processo reinicia.</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Para acompanhar o ritmo das requisições, usamos uma taxa por segundo.</a:t>
            </a:r>
          </a:p>
        </p:txBody>
      </p:sp>
      <p:sp>
        <p:nvSpPr>
          <p:cNvPr id="1057" name="apoio">
            <a:extLst>
              <a:ext uri="{FF2B5EF4-FFF2-40B4-BE49-F238E27FC236}">
                <a16:creationId xmlns:a16="http://schemas.microsoft.com/office/drawing/2014/main" id="{12C8D2F8-E1D3-4863-807B-869B9C8BC04F}"/>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Contador</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Total acumulado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Taxa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Ocorrências por segundo</a:t>
            </a:r>
          </a:p>
        </p:txBody>
      </p:sp>
      <p:sp>
        <p:nvSpPr>
          <p:cNvPr id="1058" name="rodape">
            <a:extLst>
              <a:ext uri="{FF2B5EF4-FFF2-40B4-BE49-F238E27FC236}">
                <a16:creationId xmlns:a16="http://schemas.microsoft.com/office/drawing/2014/main" id="{005E0115-B5D0-4E71-A369-0F2E0340020E}"/>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2  ·  Teoria  ·  Fábio Silva</a:t>
            </a:r>
          </a:p>
        </p:txBody>
      </p:sp>
      <p:sp>
        <p:nvSpPr>
          <p:cNvPr id="1059" name="pagina">
            <a:extLst>
              <a:ext uri="{FF2B5EF4-FFF2-40B4-BE49-F238E27FC236}">
                <a16:creationId xmlns:a16="http://schemas.microsoft.com/office/drawing/2014/main" id="{359FBCF9-9EAF-4AB2-B232-B78B0B98D1F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53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08EF2589-98D5-425A-8AC5-E97C97C072AA}"/>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 significado de uma taxa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5E001229-FF7C-4AA1-9EDC-AA26FEB606B5}"/>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 aumento de 120 ocorrências em 60 segundos sugere uma média de 2 ocorrências por segundo.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rate usa as amostras da janela para estimar essa taxa.</a:t>
            </a:r>
          </a:p>
        </p:txBody>
      </p:sp>
      <p:sp>
        <p:nvSpPr>
          <p:cNvPr id="1057" name="apoio">
            <a:extLst>
              <a:ext uri="{FF2B5EF4-FFF2-40B4-BE49-F238E27FC236}">
                <a16:creationId xmlns:a16="http://schemas.microsoft.com/office/drawing/2014/main" id="{853D5037-BB91-431A-AFA6-ABE9B1863605}"/>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Exemplo didático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120 ocorrências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60 segundos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Média: 2 por segundo</a:t>
            </a:r>
          </a:p>
        </p:txBody>
      </p:sp>
      <p:sp>
        <p:nvSpPr>
          <p:cNvPr id="1058" name="rodape">
            <a:extLst>
              <a:ext uri="{FF2B5EF4-FFF2-40B4-BE49-F238E27FC236}">
                <a16:creationId xmlns:a16="http://schemas.microsoft.com/office/drawing/2014/main" id="{5799EE19-23C6-4F89-ACA7-B258EDE683BB}"/>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2  ·  Teoria  ·  Fábio Silva</a:t>
            </a:r>
          </a:p>
        </p:txBody>
      </p:sp>
      <p:sp>
        <p:nvSpPr>
          <p:cNvPr id="1059" name="pagina">
            <a:extLst>
              <a:ext uri="{FF2B5EF4-FFF2-40B4-BE49-F238E27FC236}">
                <a16:creationId xmlns:a16="http://schemas.microsoft.com/office/drawing/2014/main" id="{8773BDDA-0769-48E1-93BA-252A2D86C624}"/>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54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D9070B78-F871-4C84-A5DB-6B519F7310D1}"/>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 função rate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749385C-EFBE-4FF5-8DF3-7FE2159B6F6A}"/>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janela de cinco minutos fornece amostras para calcular a taxa.</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resultado representa requisições por segundo para cada série.</a:t>
            </a:r>
          </a:p>
        </p:txBody>
      </p:sp>
      <p:sp>
        <p:nvSpPr>
          <p:cNvPr id="1057" name="apoio">
            <a:extLst>
              <a:ext uri="{FF2B5EF4-FFF2-40B4-BE49-F238E27FC236}">
                <a16:creationId xmlns:a16="http://schemas.microsoft.com/office/drawing/2014/main" id="{33027669-9BE6-42F6-859C-0F8A43DFCCC7}"/>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defRPr sz="2025" b="0">
                <a:solidFill>
                  <a:srgbClr val="40760F"/>
                </a:solidFill>
                <a:latin typeface="Trebuchet MS"/>
                <a:ea typeface="Trebuchet MS"/>
                <a:cs typeface="Trebuchet MS"/>
              </a:defRPr>
            </a:pPr>
            <a:r>
              <a:rPr sz="2000">
                <a:solidFill>
                  <a:srgbClr val="3D588B"/>
                </a:solidFill>
                <a:latin typeface="Segoe UI" panose="020B0502040204020203" pitchFamily="34" charset="0"/>
                <a:ea typeface="Trebuchet MS"/>
                <a:cs typeface="Trebuchet MS"/>
              </a:rPr>
              <a:t>rate(</a:t>
            </a:r>
          </a:p>
          <a:p>
            <a:pPr>
              <a:defRPr sz="2025" b="0">
                <a:solidFill>
                  <a:srgbClr val="40760F"/>
                </a:solidFill>
                <a:latin typeface="Trebuchet MS"/>
                <a:ea typeface="Trebuchet MS"/>
                <a:cs typeface="Trebuchet MS"/>
              </a:defRPr>
            </a:pPr>
            <a:r>
              <a:rPr sz="2000">
                <a:solidFill>
                  <a:srgbClr val="3D588B"/>
                </a:solidFill>
                <a:latin typeface="Segoe UI" panose="020B0502040204020203" pitchFamily="34" charset="0"/>
                <a:ea typeface="Trebuchet MS"/>
                <a:cs typeface="Trebuchet MS"/>
              </a:rPr>
              <a:t> tns_request_duration_seconds_count</a:t>
            </a:r>
          </a:p>
          <a:p>
            <a:pPr>
              <a:defRPr sz="2025" b="0">
                <a:solidFill>
                  <a:srgbClr val="40760F"/>
                </a:solidFill>
                <a:latin typeface="Trebuchet MS"/>
                <a:ea typeface="Trebuchet MS"/>
                <a:cs typeface="Trebuchet MS"/>
              </a:defRPr>
            </a:pPr>
            <a:r>
              <a:rPr sz="2000">
                <a:solidFill>
                  <a:srgbClr val="3D588B"/>
                </a:solidFill>
                <a:latin typeface="Segoe UI" panose="020B0502040204020203" pitchFamily="34" charset="0"/>
                <a:ea typeface="Trebuchet MS"/>
                <a:cs typeface="Trebuchet MS"/>
              </a:rPr>
              <a:t> [5m]</a:t>
            </a:r>
          </a:p>
          <a:p>
            <a:pPr>
              <a:defRPr sz="2025" b="0">
                <a:solidFill>
                  <a:srgbClr val="40760F"/>
                </a:solidFill>
                <a:latin typeface="Trebuchet MS"/>
                <a:ea typeface="Trebuchet MS"/>
                <a:cs typeface="Trebuchet MS"/>
              </a:defRPr>
            </a:pPr>
            <a:r>
              <a:rPr sz="2000">
                <a:solidFill>
                  <a:srgbClr val="3D588B"/>
                </a:solidFill>
                <a:latin typeface="Segoe UI" panose="020B0502040204020203" pitchFamily="34" charset="0"/>
                <a:ea typeface="Trebuchet MS"/>
                <a:cs typeface="Trebuchet MS"/>
              </a:rPr>
              <a:t>)</a:t>
            </a:r>
          </a:p>
        </p:txBody>
      </p:sp>
      <p:sp>
        <p:nvSpPr>
          <p:cNvPr id="1058" name="rodape">
            <a:extLst>
              <a:ext uri="{FF2B5EF4-FFF2-40B4-BE49-F238E27FC236}">
                <a16:creationId xmlns:a16="http://schemas.microsoft.com/office/drawing/2014/main" id="{EF0C420D-7F42-40AB-886B-CE5DA26130A2}"/>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2  ·  Teoria  ·  Fábio Silva</a:t>
            </a:r>
          </a:p>
        </p:txBody>
      </p:sp>
      <p:sp>
        <p:nvSpPr>
          <p:cNvPr id="1059" name="pagina">
            <a:extLst>
              <a:ext uri="{FF2B5EF4-FFF2-40B4-BE49-F238E27FC236}">
                <a16:creationId xmlns:a16="http://schemas.microsoft.com/office/drawing/2014/main" id="{778FE5B2-C4E5-4472-9C25-AB3F957E827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55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E4B3CD7D-0C4B-41E2-B864-8E71D1B16C4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Labels identificam séries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77400AD9-CBB0-48DC-BD8C-81D5A5FA2D97}"/>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Cada combinação de labels distingue uma série.</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route separa rotas e status_code separa códigos de resposta.</a:t>
            </a:r>
          </a:p>
        </p:txBody>
      </p:sp>
      <p:sp>
        <p:nvSpPr>
          <p:cNvPr id="1057" name="apoio">
            <a:extLst>
              <a:ext uri="{FF2B5EF4-FFF2-40B4-BE49-F238E27FC236}">
                <a16:creationId xmlns:a16="http://schemas.microsoft.com/office/drawing/2014/main" id="{B0D1F412-8722-4093-BE3C-AF58DF998A32}"/>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route="root"</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status_code="200"</a:t>
            </a:r>
          </a:p>
        </p:txBody>
      </p:sp>
      <p:sp>
        <p:nvSpPr>
          <p:cNvPr id="1058" name="rodape">
            <a:extLst>
              <a:ext uri="{FF2B5EF4-FFF2-40B4-BE49-F238E27FC236}">
                <a16:creationId xmlns:a16="http://schemas.microsoft.com/office/drawing/2014/main" id="{DCD27FAC-AE3C-4AAB-AC3C-C3F20805CD3D}"/>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2  ·  Teoria  ·  Fábio Silva</a:t>
            </a:r>
          </a:p>
        </p:txBody>
      </p:sp>
      <p:sp>
        <p:nvSpPr>
          <p:cNvPr id="1059" name="pagina">
            <a:extLst>
              <a:ext uri="{FF2B5EF4-FFF2-40B4-BE49-F238E27FC236}">
                <a16:creationId xmlns:a16="http://schemas.microsoft.com/office/drawing/2014/main" id="{E7F536B7-9998-491D-8AEF-EDC0F49980F1}"/>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56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B0F42E66-5F08-4D58-AFCC-0B4F33256DFC}"/>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Agrupamento por rota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68F00753-E536-42C8-93E6-0C8D5A12FD88}"/>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sum agrega valores de séries. by(route) preserva uma série para cada rota.</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legenda ajuda a relacionar cada linha à sua origem.</a:t>
            </a:r>
          </a:p>
        </p:txBody>
      </p:sp>
      <p:sp>
        <p:nvSpPr>
          <p:cNvPr id="1057" name="apoio">
            <a:extLst>
              <a:ext uri="{FF2B5EF4-FFF2-40B4-BE49-F238E27FC236}">
                <a16:creationId xmlns:a16="http://schemas.microsoft.com/office/drawing/2014/main" id="{A67FB5D5-C161-4B86-B814-9AE9FB8C77B0}"/>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defRPr sz="2025" b="0">
                <a:solidFill>
                  <a:srgbClr val="40760F"/>
                </a:solidFill>
                <a:latin typeface="Trebuchet MS"/>
                <a:ea typeface="Trebuchet MS"/>
                <a:cs typeface="Trebuchet MS"/>
              </a:defRPr>
            </a:pPr>
            <a:r>
              <a:rPr sz="2000">
                <a:solidFill>
                  <a:srgbClr val="3D588B"/>
                </a:solidFill>
                <a:latin typeface="Segoe UI" panose="020B0502040204020203" pitchFamily="34" charset="0"/>
                <a:ea typeface="Trebuchet MS"/>
                <a:cs typeface="Trebuchet MS"/>
              </a:rPr>
              <a:t>sum(</a:t>
            </a:r>
          </a:p>
          <a:p>
            <a:pPr>
              <a:defRPr sz="2025" b="0">
                <a:solidFill>
                  <a:srgbClr val="40760F"/>
                </a:solidFill>
                <a:latin typeface="Trebuchet MS"/>
                <a:ea typeface="Trebuchet MS"/>
                <a:cs typeface="Trebuchet MS"/>
              </a:defRPr>
            </a:pPr>
            <a:r>
              <a:rPr sz="2000">
                <a:solidFill>
                  <a:srgbClr val="3D588B"/>
                </a:solidFill>
                <a:latin typeface="Segoe UI" panose="020B0502040204020203" pitchFamily="34" charset="0"/>
                <a:ea typeface="Trebuchet MS"/>
                <a:cs typeface="Trebuchet MS"/>
              </a:rPr>
              <a:t> rate(</a:t>
            </a:r>
          </a:p>
          <a:p>
            <a:pPr>
              <a:defRPr sz="2025" b="0">
                <a:solidFill>
                  <a:srgbClr val="40760F"/>
                </a:solidFill>
                <a:latin typeface="Trebuchet MS"/>
                <a:ea typeface="Trebuchet MS"/>
                <a:cs typeface="Trebuchet MS"/>
              </a:defRPr>
            </a:pPr>
            <a:r>
              <a:rPr sz="2000">
                <a:solidFill>
                  <a:srgbClr val="3D588B"/>
                </a:solidFill>
                <a:latin typeface="Segoe UI" panose="020B0502040204020203" pitchFamily="34" charset="0"/>
                <a:ea typeface="Trebuchet MS"/>
                <a:cs typeface="Trebuchet MS"/>
              </a:rPr>
              <a:t>  tns_request_duration_seconds_count</a:t>
            </a:r>
          </a:p>
          <a:p>
            <a:pPr>
              <a:defRPr sz="2025" b="0">
                <a:solidFill>
                  <a:srgbClr val="40760F"/>
                </a:solidFill>
                <a:latin typeface="Trebuchet MS"/>
                <a:ea typeface="Trebuchet MS"/>
                <a:cs typeface="Trebuchet MS"/>
              </a:defRPr>
            </a:pPr>
            <a:r>
              <a:rPr sz="2000">
                <a:solidFill>
                  <a:srgbClr val="3D588B"/>
                </a:solidFill>
                <a:latin typeface="Segoe UI" panose="020B0502040204020203" pitchFamily="34" charset="0"/>
                <a:ea typeface="Trebuchet MS"/>
                <a:cs typeface="Trebuchet MS"/>
              </a:rPr>
              <a:t>  [5m]</a:t>
            </a:r>
          </a:p>
          <a:p>
            <a:pPr>
              <a:defRPr sz="2025" b="0">
                <a:solidFill>
                  <a:srgbClr val="40760F"/>
                </a:solidFill>
                <a:latin typeface="Trebuchet MS"/>
                <a:ea typeface="Trebuchet MS"/>
                <a:cs typeface="Trebuchet MS"/>
              </a:defRPr>
            </a:pPr>
            <a:r>
              <a:rPr sz="2000">
                <a:solidFill>
                  <a:srgbClr val="3D588B"/>
                </a:solidFill>
                <a:latin typeface="Segoe UI" panose="020B0502040204020203" pitchFamily="34" charset="0"/>
                <a:ea typeface="Trebuchet MS"/>
                <a:cs typeface="Trebuchet MS"/>
              </a:rPr>
              <a:t> )</a:t>
            </a:r>
          </a:p>
          <a:p>
            <a:pPr>
              <a:defRPr sz="2025" b="0">
                <a:solidFill>
                  <a:srgbClr val="40760F"/>
                </a:solidFill>
                <a:latin typeface="Trebuchet MS"/>
                <a:ea typeface="Trebuchet MS"/>
                <a:cs typeface="Trebuchet MS"/>
              </a:defRPr>
            </a:pPr>
            <a:r>
              <a:rPr sz="2000">
                <a:solidFill>
                  <a:srgbClr val="3D588B"/>
                </a:solidFill>
                <a:latin typeface="Segoe UI" panose="020B0502040204020203" pitchFamily="34" charset="0"/>
                <a:ea typeface="Trebuchet MS"/>
                <a:cs typeface="Trebuchet MS"/>
              </a:rPr>
              <a:t>) by (route)</a:t>
            </a:r>
          </a:p>
        </p:txBody>
      </p:sp>
      <p:sp>
        <p:nvSpPr>
          <p:cNvPr id="1058" name="rodape">
            <a:extLst>
              <a:ext uri="{FF2B5EF4-FFF2-40B4-BE49-F238E27FC236}">
                <a16:creationId xmlns:a16="http://schemas.microsoft.com/office/drawing/2014/main" id="{7355A604-DFD6-4EC7-B9BB-8DFCE54C3546}"/>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2  ·  Teoria  ·  Fábio Silva</a:t>
            </a:r>
          </a:p>
        </p:txBody>
      </p:sp>
      <p:sp>
        <p:nvSpPr>
          <p:cNvPr id="1059" name="pagina">
            <a:extLst>
              <a:ext uri="{FF2B5EF4-FFF2-40B4-BE49-F238E27FC236}">
                <a16:creationId xmlns:a16="http://schemas.microsoft.com/office/drawing/2014/main" id="{4A0CFC46-E518-4B06-B431-986A40EED52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57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4C10EC43-7EED-4B7F-9BD2-85BCB07D2F23}"/>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Agrupamento por status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5D11838C-2076-4332-93C8-ECEADC9201C4}"/>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Troque route por status_code.</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mesma métrica agora responde a uma pergunta diferente sobre as respostas da aplicação.</a:t>
            </a:r>
          </a:p>
        </p:txBody>
      </p:sp>
      <p:sp>
        <p:nvSpPr>
          <p:cNvPr id="1057" name="apoio">
            <a:extLst>
              <a:ext uri="{FF2B5EF4-FFF2-40B4-BE49-F238E27FC236}">
                <a16:creationId xmlns:a16="http://schemas.microsoft.com/office/drawing/2014/main" id="{96E2BD3C-F770-474F-9793-E172B1AF938F}"/>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defRPr sz="2025" b="0">
                <a:solidFill>
                  <a:srgbClr val="40760F"/>
                </a:solidFill>
                <a:latin typeface="Trebuchet MS"/>
                <a:ea typeface="Trebuchet MS"/>
                <a:cs typeface="Trebuchet MS"/>
              </a:defRPr>
            </a:pPr>
            <a:r>
              <a:rPr sz="2000">
                <a:solidFill>
                  <a:srgbClr val="3D588B"/>
                </a:solidFill>
                <a:latin typeface="Segoe UI" panose="020B0502040204020203" pitchFamily="34" charset="0"/>
                <a:ea typeface="Trebuchet MS"/>
                <a:cs typeface="Trebuchet MS"/>
              </a:rPr>
              <a:t>sum(</a:t>
            </a:r>
          </a:p>
          <a:p>
            <a:pPr>
              <a:defRPr sz="2025" b="0">
                <a:solidFill>
                  <a:srgbClr val="40760F"/>
                </a:solidFill>
                <a:latin typeface="Trebuchet MS"/>
                <a:ea typeface="Trebuchet MS"/>
                <a:cs typeface="Trebuchet MS"/>
              </a:defRPr>
            </a:pPr>
            <a:r>
              <a:rPr sz="2000">
                <a:solidFill>
                  <a:srgbClr val="3D588B"/>
                </a:solidFill>
                <a:latin typeface="Segoe UI" panose="020B0502040204020203" pitchFamily="34" charset="0"/>
                <a:ea typeface="Trebuchet MS"/>
                <a:cs typeface="Trebuchet MS"/>
              </a:rPr>
              <a:t> rate(</a:t>
            </a:r>
          </a:p>
          <a:p>
            <a:pPr>
              <a:defRPr sz="2025" b="0">
                <a:solidFill>
                  <a:srgbClr val="40760F"/>
                </a:solidFill>
                <a:latin typeface="Trebuchet MS"/>
                <a:ea typeface="Trebuchet MS"/>
                <a:cs typeface="Trebuchet MS"/>
              </a:defRPr>
            </a:pPr>
            <a:r>
              <a:rPr sz="2000">
                <a:solidFill>
                  <a:srgbClr val="3D588B"/>
                </a:solidFill>
                <a:latin typeface="Segoe UI" panose="020B0502040204020203" pitchFamily="34" charset="0"/>
                <a:ea typeface="Trebuchet MS"/>
                <a:cs typeface="Trebuchet MS"/>
              </a:rPr>
              <a:t>  tns_request_duration_seconds_count</a:t>
            </a:r>
          </a:p>
          <a:p>
            <a:pPr>
              <a:defRPr sz="2025" b="0">
                <a:solidFill>
                  <a:srgbClr val="40760F"/>
                </a:solidFill>
                <a:latin typeface="Trebuchet MS"/>
                <a:ea typeface="Trebuchet MS"/>
                <a:cs typeface="Trebuchet MS"/>
              </a:defRPr>
            </a:pPr>
            <a:r>
              <a:rPr sz="2000">
                <a:solidFill>
                  <a:srgbClr val="3D588B"/>
                </a:solidFill>
                <a:latin typeface="Segoe UI" panose="020B0502040204020203" pitchFamily="34" charset="0"/>
                <a:ea typeface="Trebuchet MS"/>
                <a:cs typeface="Trebuchet MS"/>
              </a:rPr>
              <a:t>  [5m]</a:t>
            </a:r>
          </a:p>
          <a:p>
            <a:pPr>
              <a:defRPr sz="2025" b="0">
                <a:solidFill>
                  <a:srgbClr val="40760F"/>
                </a:solidFill>
                <a:latin typeface="Trebuchet MS"/>
                <a:ea typeface="Trebuchet MS"/>
                <a:cs typeface="Trebuchet MS"/>
              </a:defRPr>
            </a:pPr>
            <a:r>
              <a:rPr sz="2000">
                <a:solidFill>
                  <a:srgbClr val="3D588B"/>
                </a:solidFill>
                <a:latin typeface="Segoe UI" panose="020B0502040204020203" pitchFamily="34" charset="0"/>
                <a:ea typeface="Trebuchet MS"/>
                <a:cs typeface="Trebuchet MS"/>
              </a:rPr>
              <a:t> )</a:t>
            </a:r>
          </a:p>
          <a:p>
            <a:pPr>
              <a:defRPr sz="2025" b="0">
                <a:solidFill>
                  <a:srgbClr val="40760F"/>
                </a:solidFill>
                <a:latin typeface="Trebuchet MS"/>
                <a:ea typeface="Trebuchet MS"/>
                <a:cs typeface="Trebuchet MS"/>
              </a:defRPr>
            </a:pPr>
            <a:r>
              <a:rPr sz="2000">
                <a:solidFill>
                  <a:srgbClr val="3D588B"/>
                </a:solidFill>
                <a:latin typeface="Segoe UI" panose="020B0502040204020203" pitchFamily="34" charset="0"/>
                <a:ea typeface="Trebuchet MS"/>
                <a:cs typeface="Trebuchet MS"/>
              </a:rPr>
              <a:t>) by (status_code)</a:t>
            </a:r>
          </a:p>
        </p:txBody>
      </p:sp>
      <p:sp>
        <p:nvSpPr>
          <p:cNvPr id="1058" name="rodape">
            <a:extLst>
              <a:ext uri="{FF2B5EF4-FFF2-40B4-BE49-F238E27FC236}">
                <a16:creationId xmlns:a16="http://schemas.microsoft.com/office/drawing/2014/main" id="{C8A94D71-1D9E-46D0-83C7-4AFC259C5B59}"/>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2  ·  Teoria  ·  Fábio Silva</a:t>
            </a:r>
          </a:p>
        </p:txBody>
      </p:sp>
      <p:sp>
        <p:nvSpPr>
          <p:cNvPr id="1059" name="pagina">
            <a:extLst>
              <a:ext uri="{FF2B5EF4-FFF2-40B4-BE49-F238E27FC236}">
                <a16:creationId xmlns:a16="http://schemas.microsoft.com/office/drawing/2014/main" id="{2BA29B43-1624-49AA-B966-D672931A51E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58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91F93D25-1CCE-46CD-AA90-4919474730DE}"/>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Filtro e agrupamento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A9ECA8A7-B82E-43B4-A0F8-00BEFD462727}"/>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Um filtro restringe as séries selecionadas.</a:t>
            </a:r>
          </a:p>
          <a:p>
            <a:endParaRPr sz="215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Uma agregação combina valores; by preserva os grupos escolhidos.</a:t>
            </a:r>
          </a:p>
        </p:txBody>
      </p:sp>
      <p:sp>
        <p:nvSpPr>
          <p:cNvPr id="1057" name="apoio">
            <a:extLst>
              <a:ext uri="{FF2B5EF4-FFF2-40B4-BE49-F238E27FC236}">
                <a16:creationId xmlns:a16="http://schemas.microsoft.com/office/drawing/2014/main" id="{211A3784-2A5B-4F4D-A160-DC0302C3BAE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Selecionar</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Quais séries entram?</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Agrupar</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Como combinar valores?</a:t>
            </a:r>
          </a:p>
        </p:txBody>
      </p:sp>
      <p:sp>
        <p:nvSpPr>
          <p:cNvPr id="1058" name="rodape">
            <a:extLst>
              <a:ext uri="{FF2B5EF4-FFF2-40B4-BE49-F238E27FC236}">
                <a16:creationId xmlns:a16="http://schemas.microsoft.com/office/drawing/2014/main" id="{382DC9FB-AE52-4865-9A79-88B67F3EFF4C}"/>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2  ·  Teoria  ·  Fábio Silva</a:t>
            </a:r>
          </a:p>
        </p:txBody>
      </p:sp>
      <p:sp>
        <p:nvSpPr>
          <p:cNvPr id="1059" name="pagina">
            <a:extLst>
              <a:ext uri="{FF2B5EF4-FFF2-40B4-BE49-F238E27FC236}">
                <a16:creationId xmlns:a16="http://schemas.microsoft.com/office/drawing/2014/main" id="{C39463DF-0D4E-4C27-B63F-563980F06B2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59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AB5E18E6-6C52-4A4D-B65A-652F1033F08E}"/>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Intervalo e atualização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736F5953-C6F1-4D81-B86B-440A11978ACA}"/>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seletor de tempo define o período exibido.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atualização automática executa novamente a consulta. Ela não muda o intervalo de coleta do Prometheus.</a:t>
            </a:r>
          </a:p>
        </p:txBody>
      </p:sp>
      <p:sp>
        <p:nvSpPr>
          <p:cNvPr id="1057" name="apoio">
            <a:extLst>
              <a:ext uri="{FF2B5EF4-FFF2-40B4-BE49-F238E27FC236}">
                <a16:creationId xmlns:a16="http://schemas.microsoft.com/office/drawing/2014/main" id="{EEA6AF32-4F52-4FAF-ADEE-42F637000430}"/>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Últimos 5 minutos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Atualização: 5 segundos</a:t>
            </a:r>
          </a:p>
        </p:txBody>
      </p:sp>
      <p:sp>
        <p:nvSpPr>
          <p:cNvPr id="1058" name="rodape">
            <a:extLst>
              <a:ext uri="{FF2B5EF4-FFF2-40B4-BE49-F238E27FC236}">
                <a16:creationId xmlns:a16="http://schemas.microsoft.com/office/drawing/2014/main" id="{ABD0A39F-4C22-4489-AA93-A932B0945DF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2  ·  Teoria  ·  Fábio Silva</a:t>
            </a:r>
          </a:p>
        </p:txBody>
      </p:sp>
      <p:sp>
        <p:nvSpPr>
          <p:cNvPr id="1059" name="pagina">
            <a:extLst>
              <a:ext uri="{FF2B5EF4-FFF2-40B4-BE49-F238E27FC236}">
                <a16:creationId xmlns:a16="http://schemas.microsoft.com/office/drawing/2014/main" id="{0EA3AC38-ADD4-4296-9098-F98E0FE9185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60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896B684-F689-4F26-AEBC-AE35567DC129}"/>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Sem dados no gráfico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0BEBD31-4229-4422-B54E-597B85515B67}"/>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Confira a fonte, o nome da métrica e o período.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consulta rate precisa de amostras suficientes na janela selecionada.</a:t>
            </a:r>
          </a:p>
        </p:txBody>
      </p:sp>
      <p:sp>
        <p:nvSpPr>
          <p:cNvPr id="1057" name="apoio">
            <a:extLst>
              <a:ext uri="{FF2B5EF4-FFF2-40B4-BE49-F238E27FC236}">
                <a16:creationId xmlns:a16="http://schemas.microsoft.com/office/drawing/2014/main" id="{4E8DB3CB-F8E2-4D20-A959-630B02CFECDC}"/>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Fonte correta?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Métrica correta?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Aplicação ativa?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Tempo suficiente?</a:t>
            </a:r>
          </a:p>
        </p:txBody>
      </p:sp>
      <p:sp>
        <p:nvSpPr>
          <p:cNvPr id="1058" name="rodape">
            <a:extLst>
              <a:ext uri="{FF2B5EF4-FFF2-40B4-BE49-F238E27FC236}">
                <a16:creationId xmlns:a16="http://schemas.microsoft.com/office/drawing/2014/main" id="{424A909C-574C-433B-960D-C23D7687BF85}"/>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2  ·  Teoria  ·  Fábio Silva</a:t>
            </a:r>
          </a:p>
        </p:txBody>
      </p:sp>
      <p:sp>
        <p:nvSpPr>
          <p:cNvPr id="1059" name="pagina">
            <a:extLst>
              <a:ext uri="{FF2B5EF4-FFF2-40B4-BE49-F238E27FC236}">
                <a16:creationId xmlns:a16="http://schemas.microsoft.com/office/drawing/2014/main" id="{A78CDB36-99C0-4551-A827-F2EE9C12A43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61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7D9FA502-A11C-43D2-90A0-E1F7B74CB9A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Leitura crítica do resultado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F41AA6B-FD12-46B3-BBC4-DB188E958ED6}"/>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Interprete o número com unidade, período e agrupamento.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Compare as séries antes de concluir que uma mudança representa um problema.</a:t>
            </a:r>
          </a:p>
        </p:txBody>
      </p:sp>
      <p:sp>
        <p:nvSpPr>
          <p:cNvPr id="1057" name="apoio">
            <a:extLst>
              <a:ext uri="{FF2B5EF4-FFF2-40B4-BE49-F238E27FC236}">
                <a16:creationId xmlns:a16="http://schemas.microsoft.com/office/drawing/2014/main" id="{34244BB9-FCA2-45B4-865A-ACBA07008792}"/>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se mede?</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Em qual período?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Para qual grupo?</a:t>
            </a:r>
          </a:p>
        </p:txBody>
      </p:sp>
      <p:sp>
        <p:nvSpPr>
          <p:cNvPr id="1058" name="rodape">
            <a:extLst>
              <a:ext uri="{FF2B5EF4-FFF2-40B4-BE49-F238E27FC236}">
                <a16:creationId xmlns:a16="http://schemas.microsoft.com/office/drawing/2014/main" id="{B9B104C0-0C56-4F7B-870F-DF83705D8AD3}"/>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2  ·  Teoria  ·  Fábio Silva</a:t>
            </a:r>
          </a:p>
        </p:txBody>
      </p:sp>
      <p:sp>
        <p:nvSpPr>
          <p:cNvPr id="1059" name="pagina">
            <a:extLst>
              <a:ext uri="{FF2B5EF4-FFF2-40B4-BE49-F238E27FC236}">
                <a16:creationId xmlns:a16="http://schemas.microsoft.com/office/drawing/2014/main" id="{373E90A4-9E6A-4D78-B307-0D5CAD7261F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62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5A9AC1A1-53A6-4EEB-A0D7-2831E7F69676}"/>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2</a:t>
            </a:r>
          </a:p>
        </p:txBody>
      </p:sp>
      <p:sp>
        <p:nvSpPr>
          <p:cNvPr id="121" name="titulo">
            <a:extLst>
              <a:ext uri="{FF2B5EF4-FFF2-40B4-BE49-F238E27FC236}">
                <a16:creationId xmlns:a16="http://schemas.microsoft.com/office/drawing/2014/main" id="{94094083-B478-421B-BE0B-5E3720B58626}"/>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Demonstração</a:t>
            </a:r>
          </a:p>
        </p:txBody>
      </p:sp>
      <p:sp>
        <p:nvSpPr>
          <p:cNvPr id="122" name="subtitulo">
            <a:extLst>
              <a:ext uri="{FF2B5EF4-FFF2-40B4-BE49-F238E27FC236}">
                <a16:creationId xmlns:a16="http://schemas.microsoft.com/office/drawing/2014/main" id="{6ACCBB71-4555-4B39-9495-2F23C60BD67B}"/>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Professor apresenta · Aluno observa</a:t>
            </a:r>
          </a:p>
        </p:txBody>
      </p:sp>
      <p:sp>
        <p:nvSpPr>
          <p:cNvPr id="123" name="tempo">
            <a:extLst>
              <a:ext uri="{FF2B5EF4-FFF2-40B4-BE49-F238E27FC236}">
                <a16:creationId xmlns:a16="http://schemas.microsoft.com/office/drawing/2014/main" id="{424901C8-B5FA-42C9-BFE2-A564319A950D}"/>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19h55  ·  Demonstração</a:t>
            </a:r>
          </a:p>
        </p:txBody>
      </p:sp>
      <p:sp>
        <p:nvSpPr>
          <p:cNvPr id="124" name="pagina">
            <a:extLst>
              <a:ext uri="{FF2B5EF4-FFF2-40B4-BE49-F238E27FC236}">
                <a16:creationId xmlns:a16="http://schemas.microsoft.com/office/drawing/2014/main" id="{2DBC9454-7118-44E5-94C5-3F67E84ED471}"/>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63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4F319EDE-6999-401C-B583-8DB7FC1E85E9}"/>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Primeira consulta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183732B-B779-45D9-8FD5-6708E5DCF3EA}"/>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Digite a métrica em Code e execute a consulta.</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Observe as séries e seus labels antes de aplicar funções.</a:t>
            </a:r>
          </a:p>
        </p:txBody>
      </p:sp>
      <p:pic>
        <p:nvPicPr>
          <p:cNvPr id="1057" name="Imagem 1056">
            <a:extLst>
              <a:ext uri="{FF2B5EF4-FFF2-40B4-BE49-F238E27FC236}">
                <a16:creationId xmlns:a16="http://schemas.microsoft.com/office/drawing/2014/main" id="{5060D1FC-7989-44DE-B8F6-51FB10319757}"/>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16213A05-ADFB-4622-BD5B-76F3B388AC01}"/>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4A0BFD14-F7EF-4EC8-BDF5-4D7C23834766}"/>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2  ·  Demonstração  ·  Fábio Silva</a:t>
            </a:r>
          </a:p>
        </p:txBody>
      </p:sp>
      <p:sp>
        <p:nvSpPr>
          <p:cNvPr id="1060" name="pagina">
            <a:extLst>
              <a:ext uri="{FF2B5EF4-FFF2-40B4-BE49-F238E27FC236}">
                <a16:creationId xmlns:a16="http://schemas.microsoft.com/office/drawing/2014/main" id="{063376C1-E252-4062-894C-7A91282293A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64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6E99FEE6-11A0-471F-9BA6-E02D57851D4E}"/>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 função rate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D197D07E-4114-43C9-8D3E-366F26827EC5}"/>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janela de cinco minutos fornece amostras para calcular a taxa.</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resultado representa requisições por segundo para cada série.</a:t>
            </a:r>
          </a:p>
        </p:txBody>
      </p:sp>
      <p:pic>
        <p:nvPicPr>
          <p:cNvPr id="1057" name="Imagem 1056">
            <a:extLst>
              <a:ext uri="{FF2B5EF4-FFF2-40B4-BE49-F238E27FC236}">
                <a16:creationId xmlns:a16="http://schemas.microsoft.com/office/drawing/2014/main" id="{05CD2A6A-B428-4E2A-95EF-069A378D391F}"/>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E1B07AA7-453C-4486-B644-0785188AE4A3}"/>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73206216-FB75-4A57-9D06-23C8152A566C}"/>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2  ·  Demonstração  ·  Fábio Silva</a:t>
            </a:r>
          </a:p>
        </p:txBody>
      </p:sp>
      <p:sp>
        <p:nvSpPr>
          <p:cNvPr id="1060" name="pagina">
            <a:extLst>
              <a:ext uri="{FF2B5EF4-FFF2-40B4-BE49-F238E27FC236}">
                <a16:creationId xmlns:a16="http://schemas.microsoft.com/office/drawing/2014/main" id="{8F7168EC-7E25-47B2-A852-9B3FFC86B8C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65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9A425AE1-E7E6-4C0F-B12F-3F6B620C8530}"/>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Agrupamento por rota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543A53C-C460-409D-B020-C1E9C72F487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sum agrega valores de séries. by(route) preserva uma série para cada rota.</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legenda ajuda a relacionar cada linha à sua origem.</a:t>
            </a:r>
          </a:p>
        </p:txBody>
      </p:sp>
      <p:pic>
        <p:nvPicPr>
          <p:cNvPr id="1057" name="Imagem 1056">
            <a:extLst>
              <a:ext uri="{FF2B5EF4-FFF2-40B4-BE49-F238E27FC236}">
                <a16:creationId xmlns:a16="http://schemas.microsoft.com/office/drawing/2014/main" id="{97BD2409-418C-4560-B696-F2378FC6D204}"/>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4F7D73AF-A1C3-49E0-875A-5DBCA12BD106}"/>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828E6134-93C9-441B-AFED-DAFB6ADB480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2  ·  Demonstração  ·  Fábio Silva</a:t>
            </a:r>
          </a:p>
        </p:txBody>
      </p:sp>
      <p:sp>
        <p:nvSpPr>
          <p:cNvPr id="1060" name="pagina">
            <a:extLst>
              <a:ext uri="{FF2B5EF4-FFF2-40B4-BE49-F238E27FC236}">
                <a16:creationId xmlns:a16="http://schemas.microsoft.com/office/drawing/2014/main" id="{A9F757FE-5C6F-4EBF-A65F-5798F648225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66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5C8A062D-4DBD-404D-8462-03599BD09637}"/>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2 · Demonstração no ambiente do professor</a:t>
            </a:r>
          </a:p>
        </p:txBody>
      </p:sp>
      <p:sp>
        <p:nvSpPr>
          <p:cNvPr id="2" name="titulo">
            <a:extLst>
              <a:ext uri="{FF2B5EF4-FFF2-40B4-BE49-F238E27FC236}">
                <a16:creationId xmlns:a16="http://schemas.microsoft.com/office/drawing/2014/main" id="{E75D897D-1AD5-4EEF-A809-238C77AE8684}"/>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Consulta de CPU no Explore</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1B4885C6-E54D-454E-8446-9F7CA973C1EE}"/>
              </a:ext>
            </a:extLst>
          </p:cNvPr>
          <p:cNvPicPr>
            <a:picLocks/>
          </p:cNvPicPr>
          <p:nvPr/>
        </p:nvPicPr>
        <p:blipFill>
          <a:blip r:embed="rId3"/>
          <a:stretch/>
        </p:blipFill>
        <p:spPr>
          <a:xfrm>
            <a:off x="3775364" y="1562100"/>
            <a:ext cx="5043608" cy="4216400"/>
          </a:xfrm>
          <a:prstGeom prst="rect">
            <a:avLst/>
          </a:prstGeom>
        </p:spPr>
      </p:pic>
      <p:sp>
        <p:nvSpPr>
          <p:cNvPr id="4" name="legenda">
            <a:extLst>
              <a:ext uri="{FF2B5EF4-FFF2-40B4-BE49-F238E27FC236}">
                <a16:creationId xmlns:a16="http://schemas.microsoft.com/office/drawing/2014/main" id="{F62FDAD0-BFAB-422E-8D54-63B430B9CC6A}"/>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rate calcula a taxa; avg by (instance) combina os núcleos.</a:t>
            </a:r>
          </a:p>
        </p:txBody>
      </p:sp>
      <p:sp>
        <p:nvSpPr>
          <p:cNvPr id="5" name="pagina">
            <a:extLst>
              <a:ext uri="{FF2B5EF4-FFF2-40B4-BE49-F238E27FC236}">
                <a16:creationId xmlns:a16="http://schemas.microsoft.com/office/drawing/2014/main" id="{1E9E5071-DE0B-4212-A335-34EF9C536C4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67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71601999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E65C738A-33D1-4504-B56D-FC0097F56752}"/>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2 · Demonstração no ambiente do professor</a:t>
            </a:r>
          </a:p>
        </p:txBody>
      </p:sp>
      <p:sp>
        <p:nvSpPr>
          <p:cNvPr id="2" name="titulo">
            <a:extLst>
              <a:ext uri="{FF2B5EF4-FFF2-40B4-BE49-F238E27FC236}">
                <a16:creationId xmlns:a16="http://schemas.microsoft.com/office/drawing/2014/main" id="{C3BCFAE6-46EA-46B8-8934-C006E80533A7}"/>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Filtro por variável de host</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0E127A1C-4EC4-441D-8BAB-5CEEF4B4B896}"/>
              </a:ext>
            </a:extLst>
          </p:cNvPr>
          <p:cNvPicPr>
            <a:picLocks/>
          </p:cNvPicPr>
          <p:nvPr/>
        </p:nvPicPr>
        <p:blipFill>
          <a:blip r:embed="rId3"/>
          <a:stretch/>
        </p:blipFill>
        <p:spPr>
          <a:xfrm>
            <a:off x="4152268" y="1562100"/>
            <a:ext cx="4289800" cy="4216400"/>
          </a:xfrm>
          <a:prstGeom prst="rect">
            <a:avLst/>
          </a:prstGeom>
        </p:spPr>
      </p:pic>
      <p:sp>
        <p:nvSpPr>
          <p:cNvPr id="4" name="legenda">
            <a:extLst>
              <a:ext uri="{FF2B5EF4-FFF2-40B4-BE49-F238E27FC236}">
                <a16:creationId xmlns:a16="http://schemas.microsoft.com/office/drawing/2014/main" id="{102ACBBC-DC01-4596-9280-8453D72701B2}"/>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A seleção de host altera os títulos e as séries consultadas.</a:t>
            </a:r>
          </a:p>
        </p:txBody>
      </p:sp>
      <p:sp>
        <p:nvSpPr>
          <p:cNvPr id="5" name="pagina">
            <a:extLst>
              <a:ext uri="{FF2B5EF4-FFF2-40B4-BE49-F238E27FC236}">
                <a16:creationId xmlns:a16="http://schemas.microsoft.com/office/drawing/2014/main" id="{28C0605E-9283-437B-AB7B-9F57705EE4C1}"/>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68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2180432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1BF2E073-0C37-4674-A0B8-A2823377D25E}"/>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2 · Demonstração no ambiente do professor</a:t>
            </a:r>
          </a:p>
        </p:txBody>
      </p:sp>
      <p:sp>
        <p:nvSpPr>
          <p:cNvPr id="2" name="titulo">
            <a:extLst>
              <a:ext uri="{FF2B5EF4-FFF2-40B4-BE49-F238E27FC236}">
                <a16:creationId xmlns:a16="http://schemas.microsoft.com/office/drawing/2014/main" id="{F7C2EB26-4AF3-4918-8C18-741AB85DCE2A}"/>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CPU e memória de containers</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AD2C6C19-30AA-461A-8B9B-7262763C443B}"/>
              </a:ext>
            </a:extLst>
          </p:cNvPr>
          <p:cNvPicPr>
            <a:picLocks/>
          </p:cNvPicPr>
          <p:nvPr/>
        </p:nvPicPr>
        <p:blipFill>
          <a:blip r:embed="rId3"/>
          <a:stretch/>
        </p:blipFill>
        <p:spPr>
          <a:xfrm>
            <a:off x="3257371" y="1562100"/>
            <a:ext cx="6079594" cy="4216400"/>
          </a:xfrm>
          <a:prstGeom prst="rect">
            <a:avLst/>
          </a:prstGeom>
        </p:spPr>
      </p:pic>
      <p:sp>
        <p:nvSpPr>
          <p:cNvPr id="4" name="legenda">
            <a:extLst>
              <a:ext uri="{FF2B5EF4-FFF2-40B4-BE49-F238E27FC236}">
                <a16:creationId xmlns:a16="http://schemas.microsoft.com/office/drawing/2014/main" id="{C72A24A5-7BF3-40FC-AA04-3380953F673C}"/>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Os nomes dos containers permitem relacionar cada série ao serviço.</a:t>
            </a:r>
          </a:p>
        </p:txBody>
      </p:sp>
      <p:sp>
        <p:nvSpPr>
          <p:cNvPr id="5" name="pagina">
            <a:extLst>
              <a:ext uri="{FF2B5EF4-FFF2-40B4-BE49-F238E27FC236}">
                <a16:creationId xmlns:a16="http://schemas.microsoft.com/office/drawing/2014/main" id="{ECA36309-476A-42A1-BDB0-2E5715FE1C44}"/>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69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31833042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78180781-F28D-4D6A-AD30-4D48DFF1870F}"/>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2 · Demonstração no ambiente do professor</a:t>
            </a:r>
          </a:p>
        </p:txBody>
      </p:sp>
      <p:sp>
        <p:nvSpPr>
          <p:cNvPr id="2" name="titulo">
            <a:extLst>
              <a:ext uri="{FF2B5EF4-FFF2-40B4-BE49-F238E27FC236}">
                <a16:creationId xmlns:a16="http://schemas.microsoft.com/office/drawing/2014/main" id="{6F871755-CF5E-4927-B3A7-36BD9EF22828}"/>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Métricas da aplicação de e-commerce</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E5FE245E-0576-4639-B728-47CABD47E715}"/>
              </a:ext>
            </a:extLst>
          </p:cNvPr>
          <p:cNvPicPr>
            <a:picLocks/>
          </p:cNvPicPr>
          <p:nvPr/>
        </p:nvPicPr>
        <p:blipFill>
          <a:blip r:embed="rId3"/>
          <a:stretch/>
        </p:blipFill>
        <p:spPr>
          <a:xfrm>
            <a:off x="3775364" y="1562100"/>
            <a:ext cx="5043608" cy="4216400"/>
          </a:xfrm>
          <a:prstGeom prst="rect">
            <a:avLst/>
          </a:prstGeom>
        </p:spPr>
      </p:pic>
      <p:sp>
        <p:nvSpPr>
          <p:cNvPr id="4" name="legenda">
            <a:extLst>
              <a:ext uri="{FF2B5EF4-FFF2-40B4-BE49-F238E27FC236}">
                <a16:creationId xmlns:a16="http://schemas.microsoft.com/office/drawing/2014/main" id="{A6A8C7C0-EA57-46EA-A528-0CC28F5ED535}"/>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A aplicação de demonstração mantém tráfego e erros simulados.</a:t>
            </a:r>
          </a:p>
        </p:txBody>
      </p:sp>
      <p:sp>
        <p:nvSpPr>
          <p:cNvPr id="5" name="pagina">
            <a:extLst>
              <a:ext uri="{FF2B5EF4-FFF2-40B4-BE49-F238E27FC236}">
                <a16:creationId xmlns:a16="http://schemas.microsoft.com/office/drawing/2014/main" id="{8ACF8543-CCA0-4B5F-B71E-02098CE223B4}"/>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70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1334027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3DA0160-B571-4A76-B30D-61ED2364CF7E}"/>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Intervalo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6C5C1302-4F3D-48C7-9379-476B489874A2}"/>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Pausa de 25 minutos.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Na volta, o professor apresentará os exercícios comentados antes da prática individual.</a:t>
            </a:r>
          </a:p>
        </p:txBody>
      </p:sp>
      <p:sp>
        <p:nvSpPr>
          <p:cNvPr id="1057" name="apoio">
            <a:extLst>
              <a:ext uri="{FF2B5EF4-FFF2-40B4-BE49-F238E27FC236}">
                <a16:creationId xmlns:a16="http://schemas.microsoft.com/office/drawing/2014/main" id="{441BA0C3-B128-4711-8655-35EF4D8189BE}"/>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20h20–20h45</a:t>
            </a:r>
          </a:p>
        </p:txBody>
      </p:sp>
      <p:sp>
        <p:nvSpPr>
          <p:cNvPr id="1058" name="rodape">
            <a:extLst>
              <a:ext uri="{FF2B5EF4-FFF2-40B4-BE49-F238E27FC236}">
                <a16:creationId xmlns:a16="http://schemas.microsoft.com/office/drawing/2014/main" id="{6DF903AB-80E9-4E34-9154-7509AFE6AAC5}"/>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2  ·  Intervalo  ·  Fábio Silva</a:t>
            </a:r>
          </a:p>
        </p:txBody>
      </p:sp>
      <p:sp>
        <p:nvSpPr>
          <p:cNvPr id="1059" name="pagina">
            <a:extLst>
              <a:ext uri="{FF2B5EF4-FFF2-40B4-BE49-F238E27FC236}">
                <a16:creationId xmlns:a16="http://schemas.microsoft.com/office/drawing/2014/main" id="{7438E9DE-BAD9-437B-B775-E1236871FBF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71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038B4B65-E2F4-4353-8AD0-EAD81AD3519F}"/>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2</a:t>
            </a:r>
          </a:p>
        </p:txBody>
      </p:sp>
      <p:sp>
        <p:nvSpPr>
          <p:cNvPr id="121" name="titulo">
            <a:extLst>
              <a:ext uri="{FF2B5EF4-FFF2-40B4-BE49-F238E27FC236}">
                <a16:creationId xmlns:a16="http://schemas.microsoft.com/office/drawing/2014/main" id="{D47491F2-1CAA-4C3F-AF62-8E2C5D03545F}"/>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Exercícios</a:t>
            </a:r>
          </a:p>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comentados</a:t>
            </a:r>
          </a:p>
        </p:txBody>
      </p:sp>
      <p:sp>
        <p:nvSpPr>
          <p:cNvPr id="122" name="subtitulo">
            <a:extLst>
              <a:ext uri="{FF2B5EF4-FFF2-40B4-BE49-F238E27FC236}">
                <a16:creationId xmlns:a16="http://schemas.microsoft.com/office/drawing/2014/main" id="{A8ED677D-6382-455C-8563-4D2108D8E188}"/>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Professor explica · Turma acompanha</a:t>
            </a:r>
          </a:p>
        </p:txBody>
      </p:sp>
      <p:sp>
        <p:nvSpPr>
          <p:cNvPr id="123" name="tempo">
            <a:extLst>
              <a:ext uri="{FF2B5EF4-FFF2-40B4-BE49-F238E27FC236}">
                <a16:creationId xmlns:a16="http://schemas.microsoft.com/office/drawing/2014/main" id="{AAFD90B4-BEB6-49A0-9938-17E0D4FDAB53}"/>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20h45  ·  Exercícios comentados</a:t>
            </a:r>
          </a:p>
        </p:txBody>
      </p:sp>
      <p:sp>
        <p:nvSpPr>
          <p:cNvPr id="124" name="pagina">
            <a:extLst>
              <a:ext uri="{FF2B5EF4-FFF2-40B4-BE49-F238E27FC236}">
                <a16:creationId xmlns:a16="http://schemas.microsoft.com/office/drawing/2014/main" id="{1D4A5527-6AC9-4BE4-AAFF-1F2B144DA0F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72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tapa">
            <a:extLst>
              <a:ext uri="{FF2B5EF4-FFF2-40B4-BE49-F238E27FC236}">
                <a16:creationId xmlns:a16="http://schemas.microsoft.com/office/drawing/2014/main" id="{43FAB368-4D23-466C-B93D-2375885957A3}"/>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2 · Exercícios comentados · Consulta no navegador</a:t>
            </a:r>
          </a:p>
        </p:txBody>
      </p:sp>
      <p:sp>
        <p:nvSpPr>
          <p:cNvPr id="2" name="titulo">
            <a:extLst>
              <a:ext uri="{FF2B5EF4-FFF2-40B4-BE49-F238E27FC236}">
                <a16:creationId xmlns:a16="http://schemas.microsoft.com/office/drawing/2014/main" id="{0412B5B3-83BF-436E-BAFA-9F70F3A6E2F6}"/>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2.1 — Explorar a métrica da aplicação</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52AC4AB7-5CDF-4374-94A9-E3E2602C4EFA}"/>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Abra Explore e selecione Prometheus.</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Execute a métrica bruta.</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Identifique dois labels disponíveis e registre o significado do valor.</a:t>
            </a:r>
          </a:p>
        </p:txBody>
      </p:sp>
      <p:sp>
        <p:nvSpPr>
          <p:cNvPr id="4" name="consulta">
            <a:extLst>
              <a:ext uri="{FF2B5EF4-FFF2-40B4-BE49-F238E27FC236}">
                <a16:creationId xmlns:a16="http://schemas.microsoft.com/office/drawing/2014/main" id="{C3DF823E-6345-4AE9-AD1E-4F76B1710649}"/>
              </a:ext>
            </a:extLst>
          </p:cNvPr>
          <p:cNvSpPr>
            <a:spLocks noGrp="1"/>
          </p:cNvSpPr>
          <p:nvPr/>
        </p:nvSpPr>
        <p:spPr>
          <a:xfrm>
            <a:off x="1039368" y="3691572"/>
            <a:ext cx="10515600" cy="761047"/>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defRPr sz="1725" b="0">
                <a:solidFill>
                  <a:srgbClr val="40760F"/>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tns_request_duration_seconds_count</a:t>
            </a:r>
          </a:p>
        </p:txBody>
      </p:sp>
      <p:sp>
        <p:nvSpPr>
          <p:cNvPr id="5" name="comentario">
            <a:extLst>
              <a:ext uri="{FF2B5EF4-FFF2-40B4-BE49-F238E27FC236}">
                <a16:creationId xmlns:a16="http://schemas.microsoft.com/office/drawing/2014/main" id="{491E532F-39A7-45E0-AD61-410134A0E3D6}"/>
              </a:ext>
            </a:extLst>
          </p:cNvPr>
          <p:cNvSpPr>
            <a:spLocks noGrp="1"/>
          </p:cNvSpPr>
          <p:nvPr/>
        </p:nvSpPr>
        <p:spPr>
          <a:xfrm>
            <a:off x="1039368" y="454215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Comente o nome da métrica, a seleção da fonte e a leitura dos labels. Explique o erro de interpretar a contagem como duração.</a:t>
            </a:r>
          </a:p>
        </p:txBody>
      </p:sp>
      <p:sp>
        <p:nvSpPr>
          <p:cNvPr id="6" name="resultado">
            <a:extLst>
              <a:ext uri="{FF2B5EF4-FFF2-40B4-BE49-F238E27FC236}">
                <a16:creationId xmlns:a16="http://schemas.microsoft.com/office/drawing/2014/main" id="{10C6C39C-6F5D-46B6-BF13-0F0DF2403798}"/>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Consulta executada e interpretação da contagem.</a:t>
            </a:r>
          </a:p>
        </p:txBody>
      </p:sp>
      <p:sp>
        <p:nvSpPr>
          <p:cNvPr id="7" name="pagina">
            <a:extLst>
              <a:ext uri="{FF2B5EF4-FFF2-40B4-BE49-F238E27FC236}">
                <a16:creationId xmlns:a16="http://schemas.microsoft.com/office/drawing/2014/main" id="{3F47194E-FBC1-4A1F-B0BF-3CE98874ED2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73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tapa">
            <a:extLst>
              <a:ext uri="{FF2B5EF4-FFF2-40B4-BE49-F238E27FC236}">
                <a16:creationId xmlns:a16="http://schemas.microsoft.com/office/drawing/2014/main" id="{32A5991E-E88C-4808-9D66-F1C6C7F97D3C}"/>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2 · Exercícios comentados · Consulta no navegador</a:t>
            </a:r>
          </a:p>
        </p:txBody>
      </p:sp>
      <p:sp>
        <p:nvSpPr>
          <p:cNvPr id="2" name="titulo">
            <a:extLst>
              <a:ext uri="{FF2B5EF4-FFF2-40B4-BE49-F238E27FC236}">
                <a16:creationId xmlns:a16="http://schemas.microsoft.com/office/drawing/2014/main" id="{4D4C1BD6-B899-4C40-9F81-0B6FCFEDC50A}"/>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2.2 — Consultar a taxa por rota</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DB313C18-0F03-46B0-AE47-23AC0E2F07C0}"/>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Execute a consulta de taxa por rota.</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Gere atividade na aplicação e aguarde a coleta.</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Escolha Last 5 minutes e compare as séries.</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Registre a unidade e a rota identificada.</a:t>
            </a:r>
          </a:p>
        </p:txBody>
      </p:sp>
      <p:sp>
        <p:nvSpPr>
          <p:cNvPr id="4" name="consulta">
            <a:extLst>
              <a:ext uri="{FF2B5EF4-FFF2-40B4-BE49-F238E27FC236}">
                <a16:creationId xmlns:a16="http://schemas.microsoft.com/office/drawing/2014/main" id="{33D8C6C3-FED9-4F5D-96FF-5764B128E498}"/>
              </a:ext>
            </a:extLst>
          </p:cNvPr>
          <p:cNvSpPr>
            <a:spLocks noGrp="1"/>
          </p:cNvSpPr>
          <p:nvPr/>
        </p:nvSpPr>
        <p:spPr>
          <a:xfrm>
            <a:off x="1039368" y="3691572"/>
            <a:ext cx="10515600" cy="761047"/>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defRPr sz="1725" b="0">
                <a:solidFill>
                  <a:srgbClr val="40760F"/>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sum(rate(tns_request_duration_seconds_count[5m])) by (route)</a:t>
            </a:r>
          </a:p>
        </p:txBody>
      </p:sp>
      <p:sp>
        <p:nvSpPr>
          <p:cNvPr id="5" name="comentario">
            <a:extLst>
              <a:ext uri="{FF2B5EF4-FFF2-40B4-BE49-F238E27FC236}">
                <a16:creationId xmlns:a16="http://schemas.microsoft.com/office/drawing/2014/main" id="{37622941-7F57-4C58-9770-9F67986E2639}"/>
              </a:ext>
            </a:extLst>
          </p:cNvPr>
          <p:cNvSpPr>
            <a:spLocks noGrp="1"/>
          </p:cNvSpPr>
          <p:nvPr/>
        </p:nvSpPr>
        <p:spPr>
          <a:xfrm>
            <a:off x="1039368" y="454215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Mostre rate primeiro e depois sum by. Explique que a atualização da tela não cria amostras novas no Prometheus.</a:t>
            </a:r>
          </a:p>
        </p:txBody>
      </p:sp>
      <p:sp>
        <p:nvSpPr>
          <p:cNvPr id="6" name="resultado">
            <a:extLst>
              <a:ext uri="{FF2B5EF4-FFF2-40B4-BE49-F238E27FC236}">
                <a16:creationId xmlns:a16="http://schemas.microsoft.com/office/drawing/2014/main" id="{26D2D7C8-C8A1-466A-830C-44766716A1FB}"/>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Taxa interpretada com unidade e agrupamento.</a:t>
            </a:r>
          </a:p>
        </p:txBody>
      </p:sp>
      <p:sp>
        <p:nvSpPr>
          <p:cNvPr id="7" name="pagina">
            <a:extLst>
              <a:ext uri="{FF2B5EF4-FFF2-40B4-BE49-F238E27FC236}">
                <a16:creationId xmlns:a16="http://schemas.microsoft.com/office/drawing/2014/main" id="{16A3347F-33D3-4B90-B50A-6FAFE09414C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74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tapa">
            <a:extLst>
              <a:ext uri="{FF2B5EF4-FFF2-40B4-BE49-F238E27FC236}">
                <a16:creationId xmlns:a16="http://schemas.microsoft.com/office/drawing/2014/main" id="{A926A1C9-B244-4086-9B9C-E58340DA7E8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2 · Exercícios comentados · Consulta e navegação</a:t>
            </a:r>
          </a:p>
        </p:txBody>
      </p:sp>
      <p:sp>
        <p:nvSpPr>
          <p:cNvPr id="2" name="titulo">
            <a:extLst>
              <a:ext uri="{FF2B5EF4-FFF2-40B4-BE49-F238E27FC236}">
                <a16:creationId xmlns:a16="http://schemas.microsoft.com/office/drawing/2014/main" id="{6D4A430B-8491-413F-8835-3A3C98FD96D1}"/>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2.3 — Comparar agrupamentos</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FB7C3D4B-7C3E-4AFC-BE79-244D0EC08006}"/>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Troque o agrupamento por status_code.</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Compare o resultado com o agrupamento por rota.</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Mude o período mostrado e descreva o efeito.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Entregue uma frase explicando cada consulta.</a:t>
            </a:r>
          </a:p>
        </p:txBody>
      </p:sp>
      <p:sp>
        <p:nvSpPr>
          <p:cNvPr id="4" name="consulta">
            <a:extLst>
              <a:ext uri="{FF2B5EF4-FFF2-40B4-BE49-F238E27FC236}">
                <a16:creationId xmlns:a16="http://schemas.microsoft.com/office/drawing/2014/main" id="{FBDF8C7E-8C54-4938-A4C8-6AA2BA6138D6}"/>
              </a:ext>
            </a:extLst>
          </p:cNvPr>
          <p:cNvSpPr>
            <a:spLocks noGrp="1"/>
          </p:cNvSpPr>
          <p:nvPr/>
        </p:nvSpPr>
        <p:spPr>
          <a:xfrm>
            <a:off x="1039368" y="3691572"/>
            <a:ext cx="10515600" cy="761047"/>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defRPr sz="1725" b="0">
                <a:solidFill>
                  <a:srgbClr val="40760F"/>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sum(rate(tns_request_duration_seconds_count[5m])) by (status_code)</a:t>
            </a:r>
          </a:p>
        </p:txBody>
      </p:sp>
      <p:sp>
        <p:nvSpPr>
          <p:cNvPr id="5" name="comentario">
            <a:extLst>
              <a:ext uri="{FF2B5EF4-FFF2-40B4-BE49-F238E27FC236}">
                <a16:creationId xmlns:a16="http://schemas.microsoft.com/office/drawing/2014/main" id="{9D2C4CF7-7EDE-4AC2-B2F5-F67727E8324B}"/>
              </a:ext>
            </a:extLst>
          </p:cNvPr>
          <p:cNvSpPr>
            <a:spLocks noGrp="1"/>
          </p:cNvSpPr>
          <p:nvPr/>
        </p:nvSpPr>
        <p:spPr>
          <a:xfrm>
            <a:off x="1039368" y="454215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Comente que a pergunta muda ao trocar o agrupamento. Se não houver série de erro, não invente um código inexistente no resultado.</a:t>
            </a:r>
          </a:p>
        </p:txBody>
      </p:sp>
      <p:sp>
        <p:nvSpPr>
          <p:cNvPr id="6" name="resultado">
            <a:extLst>
              <a:ext uri="{FF2B5EF4-FFF2-40B4-BE49-F238E27FC236}">
                <a16:creationId xmlns:a16="http://schemas.microsoft.com/office/drawing/2014/main" id="{8549E436-0607-44B8-9B44-827E2F793F32}"/>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Duas consultas comparadas e uma conclusão sustentada.</a:t>
            </a:r>
          </a:p>
        </p:txBody>
      </p:sp>
      <p:sp>
        <p:nvSpPr>
          <p:cNvPr id="7" name="pagina">
            <a:extLst>
              <a:ext uri="{FF2B5EF4-FFF2-40B4-BE49-F238E27FC236}">
                <a16:creationId xmlns:a16="http://schemas.microsoft.com/office/drawing/2014/main" id="{73442F83-5B87-4362-B11A-01B9DD0F4A9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75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4EE2AEE6-6DAF-4B12-A5C8-D97F9A1DAD51}"/>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2</a:t>
            </a:r>
          </a:p>
        </p:txBody>
      </p:sp>
      <p:sp>
        <p:nvSpPr>
          <p:cNvPr id="121" name="titulo">
            <a:extLst>
              <a:ext uri="{FF2B5EF4-FFF2-40B4-BE49-F238E27FC236}">
                <a16:creationId xmlns:a16="http://schemas.microsoft.com/office/drawing/2014/main" id="{97DEFFB7-BFE7-44D0-A6F6-BC5B7C30F6D8}"/>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Prática do aluno</a:t>
            </a:r>
          </a:p>
        </p:txBody>
      </p:sp>
      <p:sp>
        <p:nvSpPr>
          <p:cNvPr id="122" name="subtitulo">
            <a:extLst>
              <a:ext uri="{FF2B5EF4-FFF2-40B4-BE49-F238E27FC236}">
                <a16:creationId xmlns:a16="http://schemas.microsoft.com/office/drawing/2014/main" id="{033E2672-AE9C-4388-BE28-28EA3D3E4DC1}"/>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Receba a folha · Execute no seu ambiente</a:t>
            </a:r>
          </a:p>
        </p:txBody>
      </p:sp>
      <p:sp>
        <p:nvSpPr>
          <p:cNvPr id="123" name="tempo">
            <a:extLst>
              <a:ext uri="{FF2B5EF4-FFF2-40B4-BE49-F238E27FC236}">
                <a16:creationId xmlns:a16="http://schemas.microsoft.com/office/drawing/2014/main" id="{58437191-E86E-48D8-9FAA-876F2DA89A18}"/>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21h00  ·  Prática do aluno</a:t>
            </a:r>
          </a:p>
        </p:txBody>
      </p:sp>
      <p:sp>
        <p:nvSpPr>
          <p:cNvPr id="124" name="pagina">
            <a:extLst>
              <a:ext uri="{FF2B5EF4-FFF2-40B4-BE49-F238E27FC236}">
                <a16:creationId xmlns:a16="http://schemas.microsoft.com/office/drawing/2014/main" id="{249FF29B-5C1D-495B-86A8-7A0FBEBE3AA1}"/>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76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38386D1-75F4-4C77-9D19-7F004A30CA6A}"/>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Agora é com você</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58DDE9C-A87B-4BA2-858A-EA0F67328FD6}"/>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Execute as tarefas da folha da noite.</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Registre consultas, resultados e dúvidas. Peça ajuda quando encontrar um bloqueio e preserve seu trabalho.</a:t>
            </a:r>
          </a:p>
        </p:txBody>
      </p:sp>
      <p:sp>
        <p:nvSpPr>
          <p:cNvPr id="1057" name="apoio">
            <a:extLst>
              <a:ext uri="{FF2B5EF4-FFF2-40B4-BE49-F238E27FC236}">
                <a16:creationId xmlns:a16="http://schemas.microsoft.com/office/drawing/2014/main" id="{C012AA50-B5C2-4E98-92D5-8B9AC11A9DE0}"/>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2.1  Explorar a métrica da aplicação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2.2  Consultar a taxa por rota</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2.3  Comparar agrupamentos</a:t>
            </a:r>
          </a:p>
        </p:txBody>
      </p:sp>
      <p:sp>
        <p:nvSpPr>
          <p:cNvPr id="1058" name="rodape">
            <a:extLst>
              <a:ext uri="{FF2B5EF4-FFF2-40B4-BE49-F238E27FC236}">
                <a16:creationId xmlns:a16="http://schemas.microsoft.com/office/drawing/2014/main" id="{2944D451-31BF-43BA-B74A-D5CC6C92AB2F}"/>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2  ·  Prática do aluno  ·  Fábio Silva</a:t>
            </a:r>
          </a:p>
        </p:txBody>
      </p:sp>
      <p:sp>
        <p:nvSpPr>
          <p:cNvPr id="1059" name="pagina">
            <a:extLst>
              <a:ext uri="{FF2B5EF4-FFF2-40B4-BE49-F238E27FC236}">
                <a16:creationId xmlns:a16="http://schemas.microsoft.com/office/drawing/2014/main" id="{C6921175-0D9C-4D75-B9E8-7D436C6D547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77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556726A-4EA3-451F-BA89-9857A7845262}"/>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Correção e fechamento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D4D0335-8E5D-4E72-AD1A-ECAC2B1A209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Apresente uma evidência do que foi executado e explique o resultado.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Compare com os critérios da folha e registre o que precisa revisar.</a:t>
            </a:r>
          </a:p>
        </p:txBody>
      </p:sp>
      <p:sp>
        <p:nvSpPr>
          <p:cNvPr id="1057" name="apoio">
            <a:extLst>
              <a:ext uri="{FF2B5EF4-FFF2-40B4-BE49-F238E27FC236}">
                <a16:creationId xmlns:a16="http://schemas.microsoft.com/office/drawing/2014/main" id="{3799E348-4B5E-460A-978F-ABD3114F004D}"/>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executei?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observei?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Como interpreto?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ficou pendente?</a:t>
            </a:r>
          </a:p>
        </p:txBody>
      </p:sp>
      <p:sp>
        <p:nvSpPr>
          <p:cNvPr id="1058" name="rodape">
            <a:extLst>
              <a:ext uri="{FF2B5EF4-FFF2-40B4-BE49-F238E27FC236}">
                <a16:creationId xmlns:a16="http://schemas.microsoft.com/office/drawing/2014/main" id="{D378DCBE-115A-4D48-938B-B061B503ECF4}"/>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2  ·  Correção  ·  Fábio Silva</a:t>
            </a:r>
          </a:p>
        </p:txBody>
      </p:sp>
      <p:sp>
        <p:nvSpPr>
          <p:cNvPr id="1059" name="pagina">
            <a:extLst>
              <a:ext uri="{FF2B5EF4-FFF2-40B4-BE49-F238E27FC236}">
                <a16:creationId xmlns:a16="http://schemas.microsoft.com/office/drawing/2014/main" id="{AEE4FC37-1FFE-41C4-B291-A8349A32FE0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78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CA5C647C-7EE0-4030-96CD-7794DAEB9E92}"/>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3</a:t>
            </a:r>
          </a:p>
        </p:txBody>
      </p:sp>
      <p:sp>
        <p:nvSpPr>
          <p:cNvPr id="121" name="titulo">
            <a:extLst>
              <a:ext uri="{FF2B5EF4-FFF2-40B4-BE49-F238E27FC236}">
                <a16:creationId xmlns:a16="http://schemas.microsoft.com/office/drawing/2014/main" id="{53C94AA6-F816-43C6-B846-705B75C85885}"/>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Exploração de logs</a:t>
            </a:r>
          </a:p>
        </p:txBody>
      </p:sp>
      <p:sp>
        <p:nvSpPr>
          <p:cNvPr id="122" name="subtitulo">
            <a:extLst>
              <a:ext uri="{FF2B5EF4-FFF2-40B4-BE49-F238E27FC236}">
                <a16:creationId xmlns:a16="http://schemas.microsoft.com/office/drawing/2014/main" id="{D5B20F22-A029-48CF-9119-DB03FEB80A3B}"/>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Loki e investigação de erros</a:t>
            </a:r>
          </a:p>
        </p:txBody>
      </p:sp>
      <p:sp>
        <p:nvSpPr>
          <p:cNvPr id="123" name="tempo">
            <a:extLst>
              <a:ext uri="{FF2B5EF4-FFF2-40B4-BE49-F238E27FC236}">
                <a16:creationId xmlns:a16="http://schemas.microsoft.com/office/drawing/2014/main" id="{E20D4B9B-6E12-4B0F-9EAA-947C59B284EA}"/>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18h30  ·  Teoria</a:t>
            </a:r>
          </a:p>
        </p:txBody>
      </p:sp>
      <p:sp>
        <p:nvSpPr>
          <p:cNvPr id="124" name="pagina">
            <a:extLst>
              <a:ext uri="{FF2B5EF4-FFF2-40B4-BE49-F238E27FC236}">
                <a16:creationId xmlns:a16="http://schemas.microsoft.com/office/drawing/2014/main" id="{F2F5D577-2528-4194-AA0E-4F3200495F6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79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B051EDB3-C51F-4292-8C78-4F390BE8BCE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Métricas e eventos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B5ED1C4-0766-40F2-A08F-321D124A9F4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Uma métrica ajuda a perceber uma mudança.</a:t>
            </a:r>
          </a:p>
          <a:p>
            <a:endParaRPr sz="215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Um log pode trazer o contexto do evento que ocorreu naquele instante.</a:t>
            </a:r>
          </a:p>
        </p:txBody>
      </p:sp>
      <p:sp>
        <p:nvSpPr>
          <p:cNvPr id="1057" name="apoio">
            <a:extLst>
              <a:ext uri="{FF2B5EF4-FFF2-40B4-BE49-F238E27FC236}">
                <a16:creationId xmlns:a16="http://schemas.microsoft.com/office/drawing/2014/main" id="{ABC5D1BB-092F-4399-BC4D-7DDF01305A28}"/>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mudou?</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Métricas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aconteceu?</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Logs</a:t>
            </a:r>
          </a:p>
        </p:txBody>
      </p:sp>
      <p:sp>
        <p:nvSpPr>
          <p:cNvPr id="1058" name="rodape">
            <a:extLst>
              <a:ext uri="{FF2B5EF4-FFF2-40B4-BE49-F238E27FC236}">
                <a16:creationId xmlns:a16="http://schemas.microsoft.com/office/drawing/2014/main" id="{9761E135-7497-4372-9155-EB7525A595F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7CC88D6C-3760-49F3-8491-1742E465CD2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80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406B875E-A10D-4054-899F-43C2415B9308}"/>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Estrutura de um evento de log</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28797D5-4F99-4F91-9E0F-ADE33C35C7F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 evento tem horário e conteúdo.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mensagem e os campos disponíveis ajudam a relacionar o registro ao que a aplicação executou.</a:t>
            </a:r>
          </a:p>
        </p:txBody>
      </p:sp>
      <p:sp>
        <p:nvSpPr>
          <p:cNvPr id="1057" name="apoio">
            <a:extLst>
              <a:ext uri="{FF2B5EF4-FFF2-40B4-BE49-F238E27FC236}">
                <a16:creationId xmlns:a16="http://schemas.microsoft.com/office/drawing/2014/main" id="{AD481E82-849F-4956-B300-828AC490B59F}"/>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Horário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Nível</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Mensagem</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Contexto</a:t>
            </a:r>
          </a:p>
        </p:txBody>
      </p:sp>
      <p:sp>
        <p:nvSpPr>
          <p:cNvPr id="1058" name="rodape">
            <a:extLst>
              <a:ext uri="{FF2B5EF4-FFF2-40B4-BE49-F238E27FC236}">
                <a16:creationId xmlns:a16="http://schemas.microsoft.com/office/drawing/2014/main" id="{4875C4EE-54FD-403E-AEF2-8FB3C45EFD88}"/>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4A039684-EAA4-46BF-8D23-EF9C71DD3E98}"/>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81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0BEE5C91-7592-4CBE-B0FA-035D9B8092AE}"/>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Labels e conteúdo no Loki</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A0734C12-A75B-4180-A348-3D9A5748D7F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Os labels selecionam os fluxos de logs.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Os filtros de linha restringem o conteúdo retornado.</a:t>
            </a:r>
          </a:p>
        </p:txBody>
      </p:sp>
      <p:sp>
        <p:nvSpPr>
          <p:cNvPr id="1057" name="apoio">
            <a:extLst>
              <a:ext uri="{FF2B5EF4-FFF2-40B4-BE49-F238E27FC236}">
                <a16:creationId xmlns:a16="http://schemas.microsoft.com/office/drawing/2014/main" id="{BE4171C5-3A34-4D66-A89B-AE21A130EB64}"/>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Seletor por labels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Filtro de conteúdo</a:t>
            </a:r>
          </a:p>
        </p:txBody>
      </p:sp>
      <p:sp>
        <p:nvSpPr>
          <p:cNvPr id="1058" name="rodape">
            <a:extLst>
              <a:ext uri="{FF2B5EF4-FFF2-40B4-BE49-F238E27FC236}">
                <a16:creationId xmlns:a16="http://schemas.microsoft.com/office/drawing/2014/main" id="{C35584D6-90FE-460A-AEB8-66B86456F3D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51EAF2CB-C43E-407F-AA30-CDC2FDC59AE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82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A2A5EA8-E6EF-4042-B50E-83F85ECC532A}"/>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Leitura do seletor LogQL</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569DB298-B255-43AB-B5C1-A9AF5F025BE3}"/>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As chaves delimitam o seletor.</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label filename identifica o arquivo usado neste ambiente de demonstração.</a:t>
            </a:r>
          </a:p>
        </p:txBody>
      </p:sp>
      <p:sp>
        <p:nvSpPr>
          <p:cNvPr id="1057" name="apoio">
            <a:extLst>
              <a:ext uri="{FF2B5EF4-FFF2-40B4-BE49-F238E27FC236}">
                <a16:creationId xmlns:a16="http://schemas.microsoft.com/office/drawing/2014/main" id="{394D3F88-051A-49CC-A0FE-D7CF5F5C2BFB}"/>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{filename=</a:t>
            </a:r>
          </a:p>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 "/var/log/tns-app.log"}</a:t>
            </a:r>
          </a:p>
        </p:txBody>
      </p:sp>
      <p:sp>
        <p:nvSpPr>
          <p:cNvPr id="1058" name="rodape">
            <a:extLst>
              <a:ext uri="{FF2B5EF4-FFF2-40B4-BE49-F238E27FC236}">
                <a16:creationId xmlns:a16="http://schemas.microsoft.com/office/drawing/2014/main" id="{FB7640A8-13C3-44A7-9509-8DDD148B4AC6}"/>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8F245949-D596-4DEA-99B0-65B925559CB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83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18365AA7-DAF7-4915-A0A9-7E5C617A42A5}"/>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Filtro por texto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E6610D7-4B87-403F-A3F2-C988472D15B5}"/>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operador |= mantém as linhas que contêm o texto indicado.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seleção do fluxo continua valendo.</a:t>
            </a:r>
          </a:p>
        </p:txBody>
      </p:sp>
      <p:sp>
        <p:nvSpPr>
          <p:cNvPr id="1057" name="apoio">
            <a:extLst>
              <a:ext uri="{FF2B5EF4-FFF2-40B4-BE49-F238E27FC236}">
                <a16:creationId xmlns:a16="http://schemas.microsoft.com/office/drawing/2014/main" id="{6C2421D6-672D-44BA-BE2B-6E09E4305360}"/>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{filename="/var/log/tns-app.log"}</a:t>
            </a:r>
          </a:p>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  |= "error"</a:t>
            </a:r>
          </a:p>
        </p:txBody>
      </p:sp>
      <p:sp>
        <p:nvSpPr>
          <p:cNvPr id="1058" name="rodape">
            <a:extLst>
              <a:ext uri="{FF2B5EF4-FFF2-40B4-BE49-F238E27FC236}">
                <a16:creationId xmlns:a16="http://schemas.microsoft.com/office/drawing/2014/main" id="{89836AA2-F36D-4EEC-A3E0-AC18C78F4FDE}"/>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DB3C2790-CFB9-4C48-BE44-B7E3108D990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84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B00E4088-9703-41DE-889C-F68B5374A56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Leitura de uma linha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9410C72-7A0F-4901-9E53-AD0D0CA6E061}"/>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Observe o horário e o conteúdo do evento.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Expanda uma linha para inspecionar os campos disponíveis e relacioná-los à ação no navegador.</a:t>
            </a:r>
          </a:p>
        </p:txBody>
      </p:sp>
      <p:sp>
        <p:nvSpPr>
          <p:cNvPr id="1057" name="apoio">
            <a:extLst>
              <a:ext uri="{FF2B5EF4-FFF2-40B4-BE49-F238E27FC236}">
                <a16:creationId xmlns:a16="http://schemas.microsoft.com/office/drawing/2014/main" id="{9F8D599A-874A-4BF1-93E5-88B74185B3EE}"/>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Quando ocorreu?</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mensagem?</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contexto?</a:t>
            </a:r>
          </a:p>
        </p:txBody>
      </p:sp>
      <p:sp>
        <p:nvSpPr>
          <p:cNvPr id="1058" name="rodape">
            <a:extLst>
              <a:ext uri="{FF2B5EF4-FFF2-40B4-BE49-F238E27FC236}">
                <a16:creationId xmlns:a16="http://schemas.microsoft.com/office/drawing/2014/main" id="{9C6489F0-38DB-4EBB-A9E2-61F28ABC6739}"/>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EC9C9C9A-B5DD-42A8-89E7-B1E252142E6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85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99C1898-6283-49CB-9924-81A1997C42DD}"/>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Erro, evento e diagnóstico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21EA53E8-E6D7-4A33-9205-307709E6B606}"/>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 erro conhecido ajuda a validar o caminho de observação.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registro encontrado precisa corresponder à ação e ao período investigados.</a:t>
            </a:r>
          </a:p>
        </p:txBody>
      </p:sp>
      <p:sp>
        <p:nvSpPr>
          <p:cNvPr id="1057" name="apoio">
            <a:extLst>
              <a:ext uri="{FF2B5EF4-FFF2-40B4-BE49-F238E27FC236}">
                <a16:creationId xmlns:a16="http://schemas.microsoft.com/office/drawing/2014/main" id="{1A64D126-2D59-4D11-95AA-CE5446509CC2}"/>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Ação conhecida</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Evento localizado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Conclusão explicada</a:t>
            </a:r>
          </a:p>
        </p:txBody>
      </p:sp>
      <p:sp>
        <p:nvSpPr>
          <p:cNvPr id="1058" name="rodape">
            <a:extLst>
              <a:ext uri="{FF2B5EF4-FFF2-40B4-BE49-F238E27FC236}">
                <a16:creationId xmlns:a16="http://schemas.microsoft.com/office/drawing/2014/main" id="{EA33266C-F44D-4733-A4A6-52F08A1E1E1D}"/>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7F2B92E5-751C-4CB1-9F4A-8930451C171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86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4D275B9B-B49D-40FB-B899-A53410A54761}"/>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 janela da investigação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2286C1D3-10DC-4528-A39B-63DF661DDEC3}"/>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Use o horário do evento para reduzir o período.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Compare os logs próximos ao erro com as ações executadas na aplicação.</a:t>
            </a:r>
          </a:p>
        </p:txBody>
      </p:sp>
      <p:sp>
        <p:nvSpPr>
          <p:cNvPr id="1057" name="apoio">
            <a:extLst>
              <a:ext uri="{FF2B5EF4-FFF2-40B4-BE49-F238E27FC236}">
                <a16:creationId xmlns:a16="http://schemas.microsoft.com/office/drawing/2014/main" id="{A6BBD292-9718-431C-9CBB-594B6BBEA4D3}"/>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Últimos 5 minutos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Seleção de uma região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Inspeção do evento</a:t>
            </a:r>
          </a:p>
        </p:txBody>
      </p:sp>
      <p:sp>
        <p:nvSpPr>
          <p:cNvPr id="1058" name="rodape">
            <a:extLst>
              <a:ext uri="{FF2B5EF4-FFF2-40B4-BE49-F238E27FC236}">
                <a16:creationId xmlns:a16="http://schemas.microsoft.com/office/drawing/2014/main" id="{EA565B00-7A27-495B-BA2E-4A46E3A4D28E}"/>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1AB8AA90-3B86-40CD-86C1-73D807B578B1}"/>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87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A8CD35C8-7A3B-4C48-8725-36C7011D6E5E}"/>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Live e histórico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FB8FD54-D758-4F4E-8CA9-03AD78406EF2}"/>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Live acompanha os novos eventos.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Para analisar uma linha com calma, pare o acompanhamento e use uma consulta histórica.</a:t>
            </a:r>
          </a:p>
        </p:txBody>
      </p:sp>
      <p:sp>
        <p:nvSpPr>
          <p:cNvPr id="1057" name="apoio">
            <a:extLst>
              <a:ext uri="{FF2B5EF4-FFF2-40B4-BE49-F238E27FC236}">
                <a16:creationId xmlns:a16="http://schemas.microsoft.com/office/drawing/2014/main" id="{8CB07921-CA6F-46FE-8F5C-18CD8DD60043}"/>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Acompanhar</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Novos eventos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Investigar</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Intervalo definido</a:t>
            </a:r>
          </a:p>
        </p:txBody>
      </p:sp>
      <p:sp>
        <p:nvSpPr>
          <p:cNvPr id="1058" name="rodape">
            <a:extLst>
              <a:ext uri="{FF2B5EF4-FFF2-40B4-BE49-F238E27FC236}">
                <a16:creationId xmlns:a16="http://schemas.microsoft.com/office/drawing/2014/main" id="{E2AFDFD2-97F9-4A7B-8F64-33E0CB6BE588}"/>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BE17FB77-16EA-46E2-9507-99D57CCA8B2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88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8BF6EC9-805A-4A80-952E-9D561D43C0A0}"/>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Volume de logs e detalhes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93FE4D6-2E38-4790-ABD8-7A2F098E9BE8}"/>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contagem por período mostra a concentração de eventos.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linha expandida fornece o conteúdo necessário para investigar um evento específico.</a:t>
            </a:r>
          </a:p>
        </p:txBody>
      </p:sp>
      <p:sp>
        <p:nvSpPr>
          <p:cNvPr id="1057" name="apoio">
            <a:extLst>
              <a:ext uri="{FF2B5EF4-FFF2-40B4-BE49-F238E27FC236}">
                <a16:creationId xmlns:a16="http://schemas.microsoft.com/office/drawing/2014/main" id="{9BF1238A-FE47-44EF-90C8-9A49EBBF6BD5}"/>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Visão agregada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Quando ocorreram eventos?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Detalhe</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foi registrado?</a:t>
            </a:r>
          </a:p>
        </p:txBody>
      </p:sp>
      <p:sp>
        <p:nvSpPr>
          <p:cNvPr id="1058" name="rodape">
            <a:extLst>
              <a:ext uri="{FF2B5EF4-FFF2-40B4-BE49-F238E27FC236}">
                <a16:creationId xmlns:a16="http://schemas.microsoft.com/office/drawing/2014/main" id="{3F7ECFF3-1706-4757-BE98-50494B8A685F}"/>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7CD574BE-34F4-47F8-A970-65AEF08ADF5B}"/>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89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6A593415-1304-478C-AC45-70F87E1BF6B1}"/>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Evidência e hipótese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560D938C-6937-42DF-BCA0-A5181BB7682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evidência descreve o que foi observado.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hipótese propõe uma explicação que ainda precisa ser verificada.</a:t>
            </a:r>
          </a:p>
        </p:txBody>
      </p:sp>
      <p:sp>
        <p:nvSpPr>
          <p:cNvPr id="1057" name="apoio">
            <a:extLst>
              <a:ext uri="{FF2B5EF4-FFF2-40B4-BE49-F238E27FC236}">
                <a16:creationId xmlns:a16="http://schemas.microsoft.com/office/drawing/2014/main" id="{C33508A1-B129-41E5-A0A5-0CA336436798}"/>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Evidência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Mensagem empty url</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Hipótese</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Campo não preenchido</a:t>
            </a:r>
          </a:p>
        </p:txBody>
      </p:sp>
      <p:sp>
        <p:nvSpPr>
          <p:cNvPr id="1058" name="rodape">
            <a:extLst>
              <a:ext uri="{FF2B5EF4-FFF2-40B4-BE49-F238E27FC236}">
                <a16:creationId xmlns:a16="http://schemas.microsoft.com/office/drawing/2014/main" id="{1B149342-84E4-4ADA-A35B-F23773572253}"/>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FB098A25-5BFE-4053-A909-0C10421EE1B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90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A2B0BD3-D174-4168-A24B-445FC14728B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Roteiro de investigação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413E7A4-B8E5-4AF5-B1D4-4C0846F11187}"/>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Defina a pergunta, selecione a fonte e delimite o período.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Leia os eventos e registre a conclusão com a consulta usada.</a:t>
            </a:r>
          </a:p>
        </p:txBody>
      </p:sp>
      <p:sp>
        <p:nvSpPr>
          <p:cNvPr id="1057" name="apoio">
            <a:extLst>
              <a:ext uri="{FF2B5EF4-FFF2-40B4-BE49-F238E27FC236}">
                <a16:creationId xmlns:a16="http://schemas.microsoft.com/office/drawing/2014/main" id="{771F24C5-9FD4-436E-8FDF-4DF7C2FEF6D6}"/>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Pergunta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Fonte</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Período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Consulta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Evidência</a:t>
            </a:r>
          </a:p>
        </p:txBody>
      </p:sp>
      <p:sp>
        <p:nvSpPr>
          <p:cNvPr id="1058" name="rodape">
            <a:extLst>
              <a:ext uri="{FF2B5EF4-FFF2-40B4-BE49-F238E27FC236}">
                <a16:creationId xmlns:a16="http://schemas.microsoft.com/office/drawing/2014/main" id="{C8D38107-D476-4CCE-8574-AB2872DD91B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CA3DB180-32C2-418B-B542-C5C6636FFD2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91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FAF98246-6F94-4A8A-850D-198E6573812D}"/>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3</a:t>
            </a:r>
          </a:p>
        </p:txBody>
      </p:sp>
      <p:sp>
        <p:nvSpPr>
          <p:cNvPr id="121" name="titulo">
            <a:extLst>
              <a:ext uri="{FF2B5EF4-FFF2-40B4-BE49-F238E27FC236}">
                <a16:creationId xmlns:a16="http://schemas.microsoft.com/office/drawing/2014/main" id="{573D7FCE-639A-4C63-AF55-2BF9C69D27E3}"/>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Demonstração</a:t>
            </a:r>
          </a:p>
        </p:txBody>
      </p:sp>
      <p:sp>
        <p:nvSpPr>
          <p:cNvPr id="122" name="subtitulo">
            <a:extLst>
              <a:ext uri="{FF2B5EF4-FFF2-40B4-BE49-F238E27FC236}">
                <a16:creationId xmlns:a16="http://schemas.microsoft.com/office/drawing/2014/main" id="{E5353D88-7262-4F42-AB72-7E12BED531EB}"/>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Professor apresenta · Aluno observa</a:t>
            </a:r>
          </a:p>
        </p:txBody>
      </p:sp>
      <p:sp>
        <p:nvSpPr>
          <p:cNvPr id="123" name="tempo">
            <a:extLst>
              <a:ext uri="{FF2B5EF4-FFF2-40B4-BE49-F238E27FC236}">
                <a16:creationId xmlns:a16="http://schemas.microsoft.com/office/drawing/2014/main" id="{2AE91A03-869B-449D-8439-17530EC005FC}"/>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19h55  ·  Demonstração</a:t>
            </a:r>
          </a:p>
        </p:txBody>
      </p:sp>
      <p:sp>
        <p:nvSpPr>
          <p:cNvPr id="124" name="pagina">
            <a:extLst>
              <a:ext uri="{FF2B5EF4-FFF2-40B4-BE49-F238E27FC236}">
                <a16:creationId xmlns:a16="http://schemas.microsoft.com/office/drawing/2014/main" id="{0131FBEF-31D0-4CE9-9116-24B623DC2C7B}"/>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92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9E55047A-866C-4253-98DA-D90128E46331}"/>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Conexão com o Loki</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4519A1E2-4445-460A-815D-692382D17E2C}"/>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Abra Connections e adicione uma fonte Loki.</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Use a URL interna do serviço e teste a conexão.</a:t>
            </a:r>
          </a:p>
        </p:txBody>
      </p:sp>
      <p:pic>
        <p:nvPicPr>
          <p:cNvPr id="1057" name="Imagem 1056">
            <a:extLst>
              <a:ext uri="{FF2B5EF4-FFF2-40B4-BE49-F238E27FC236}">
                <a16:creationId xmlns:a16="http://schemas.microsoft.com/office/drawing/2014/main" id="{93674092-C87A-4171-B1BB-F7E511F8B114}"/>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CFB9403F-646F-46A4-81EC-16F1712C7383}"/>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29243420-346D-494E-BB96-B2D713E2042B}"/>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Demonstração  ·  Fábio Silva</a:t>
            </a:r>
          </a:p>
        </p:txBody>
      </p:sp>
      <p:sp>
        <p:nvSpPr>
          <p:cNvPr id="1060" name="pagina">
            <a:extLst>
              <a:ext uri="{FF2B5EF4-FFF2-40B4-BE49-F238E27FC236}">
                <a16:creationId xmlns:a16="http://schemas.microsoft.com/office/drawing/2014/main" id="{1A10992C-BA46-4DB3-894A-C7340CA7D7E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93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9EAE3C32-8273-4F85-BA77-A863459D287D}"/>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Uma consulta de logs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35537D7C-EFD5-4DBB-B075-EFC42A4B7B95}"/>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No Explore, selecione Loki.</a:t>
            </a:r>
          </a:p>
          <a:p>
            <a:endParaRPr sz="215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O seletor identifica os logs do arquivo da aplicação.</a:t>
            </a:r>
          </a:p>
        </p:txBody>
      </p:sp>
      <p:pic>
        <p:nvPicPr>
          <p:cNvPr id="1057" name="Imagem 1056">
            <a:extLst>
              <a:ext uri="{FF2B5EF4-FFF2-40B4-BE49-F238E27FC236}">
                <a16:creationId xmlns:a16="http://schemas.microsoft.com/office/drawing/2014/main" id="{B94F49D6-4093-4615-B7A0-873E7FF37D9A}"/>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C0BBF1BD-31F6-43A2-A319-E6FD7F751C0B}"/>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A744E3C8-FD94-434A-9430-580A95C4B292}"/>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Demonstração  ·  Fábio Silva</a:t>
            </a:r>
          </a:p>
        </p:txBody>
      </p:sp>
      <p:sp>
        <p:nvSpPr>
          <p:cNvPr id="1060" name="pagina">
            <a:extLst>
              <a:ext uri="{FF2B5EF4-FFF2-40B4-BE49-F238E27FC236}">
                <a16:creationId xmlns:a16="http://schemas.microsoft.com/office/drawing/2014/main" id="{4DF83899-ECDF-4703-BA23-816908D4E93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94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90ABD55-5CF0-4347-88BB-6A6D88886F2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Um erro controlado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5521470-44CB-45A3-866F-FD6AFC0A2D62}"/>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Na aplicação, envie um título sem preencher a URL.</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Observe a mensagem e anote o horário para procurar o evento no Grafana.</a:t>
            </a:r>
          </a:p>
        </p:txBody>
      </p:sp>
      <p:pic>
        <p:nvPicPr>
          <p:cNvPr id="1057" name="Imagem 1056">
            <a:extLst>
              <a:ext uri="{FF2B5EF4-FFF2-40B4-BE49-F238E27FC236}">
                <a16:creationId xmlns:a16="http://schemas.microsoft.com/office/drawing/2014/main" id="{9BA7F90A-B339-4100-BCA5-A5B4DBFBE818}"/>
              </a:ext>
            </a:extLst>
          </p:cNvPr>
          <p:cNvPicPr>
            <a:picLocks/>
          </p:cNvPicPr>
          <p:nvPr/>
        </p:nvPicPr>
        <p:blipFill>
          <a:blip r:embed="rId3"/>
          <a:srcRect l="2" t="603" r="85936" b="89985"/>
          <a:stretch>
            <a:fillRect/>
          </a:stretch>
        </p:blipFill>
        <p:spPr>
          <a:xfrm>
            <a:off x="1039875" y="2286000"/>
            <a:ext cx="4891024" cy="2173787"/>
          </a:xfrm>
          <a:prstGeom prst="rect">
            <a:avLst/>
          </a:prstGeom>
        </p:spPr>
      </p:pic>
      <p:sp>
        <p:nvSpPr>
          <p:cNvPr id="1058" name="legenda">
            <a:extLst>
              <a:ext uri="{FF2B5EF4-FFF2-40B4-BE49-F238E27FC236}">
                <a16:creationId xmlns:a16="http://schemas.microsoft.com/office/drawing/2014/main" id="{AF07EFC1-045E-4BA8-8EC2-F27E0B79EF74}"/>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7517C75D-5C4C-46AE-B8C0-E3A913D6DF71}"/>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Demonstração  ·  Fábio Silva</a:t>
            </a:r>
          </a:p>
        </p:txBody>
      </p:sp>
      <p:sp>
        <p:nvSpPr>
          <p:cNvPr id="1060" name="pagina">
            <a:extLst>
              <a:ext uri="{FF2B5EF4-FFF2-40B4-BE49-F238E27FC236}">
                <a16:creationId xmlns:a16="http://schemas.microsoft.com/office/drawing/2014/main" id="{E6EA7C04-59B5-4F19-B998-471CDFD69551}"/>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95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43516B86-5588-4C7B-A556-5BC46CA278C0}"/>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Filtro por conteúdo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5356965E-9A1F-4C76-887F-16AC3E1C2612}"/>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operador |= seleciona linhas que contêm o texto indicado.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Filtre os erros sem perder o seletor do arquivo.</a:t>
            </a:r>
          </a:p>
        </p:txBody>
      </p:sp>
      <p:pic>
        <p:nvPicPr>
          <p:cNvPr id="1057" name="Imagem 1056">
            <a:extLst>
              <a:ext uri="{FF2B5EF4-FFF2-40B4-BE49-F238E27FC236}">
                <a16:creationId xmlns:a16="http://schemas.microsoft.com/office/drawing/2014/main" id="{57F5E96C-47BF-44A2-B55E-F780F1A17E71}"/>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75FF114D-C197-48D6-9979-738588E47CE4}"/>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5741E78D-F811-47E2-8D6A-F62479F9DDB2}"/>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Demonstração  ·  Fábio Silva</a:t>
            </a:r>
          </a:p>
        </p:txBody>
      </p:sp>
      <p:sp>
        <p:nvSpPr>
          <p:cNvPr id="1060" name="pagina">
            <a:extLst>
              <a:ext uri="{FF2B5EF4-FFF2-40B4-BE49-F238E27FC236}">
                <a16:creationId xmlns:a16="http://schemas.microsoft.com/office/drawing/2014/main" id="{32B6F693-4DCC-44E5-8414-BBE41251F76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96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F6612990-5E57-48C7-ACF8-C56098A4FB7E}"/>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Demonstração no ambiente do professor</a:t>
            </a:r>
          </a:p>
        </p:txBody>
      </p:sp>
      <p:sp>
        <p:nvSpPr>
          <p:cNvPr id="2" name="titulo">
            <a:extLst>
              <a:ext uri="{FF2B5EF4-FFF2-40B4-BE49-F238E27FC236}">
                <a16:creationId xmlns:a16="http://schemas.microsoft.com/office/drawing/2014/main" id="{3A9F6F1B-7883-41C5-AF33-F084D0E0A638}"/>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Erros de pagamento no Loki</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7C689FF6-E1E3-4B40-9B0C-B1EC8418DBE6}"/>
              </a:ext>
            </a:extLst>
          </p:cNvPr>
          <p:cNvPicPr>
            <a:picLocks/>
          </p:cNvPicPr>
          <p:nvPr/>
        </p:nvPicPr>
        <p:blipFill>
          <a:blip r:embed="rId3"/>
          <a:stretch/>
        </p:blipFill>
        <p:spPr>
          <a:xfrm>
            <a:off x="3775364" y="1562100"/>
            <a:ext cx="5043608" cy="4216400"/>
          </a:xfrm>
          <a:prstGeom prst="rect">
            <a:avLst/>
          </a:prstGeom>
        </p:spPr>
      </p:pic>
      <p:sp>
        <p:nvSpPr>
          <p:cNvPr id="4" name="legenda">
            <a:extLst>
              <a:ext uri="{FF2B5EF4-FFF2-40B4-BE49-F238E27FC236}">
                <a16:creationId xmlns:a16="http://schemas.microsoft.com/office/drawing/2014/main" id="{0A4314F7-B6CC-4BB7-A2E7-048B40D45689}"/>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O seletor service limita a busca à aplicação de e-commerce.</a:t>
            </a:r>
          </a:p>
        </p:txBody>
      </p:sp>
      <p:sp>
        <p:nvSpPr>
          <p:cNvPr id="5" name="pagina">
            <a:extLst>
              <a:ext uri="{FF2B5EF4-FFF2-40B4-BE49-F238E27FC236}">
                <a16:creationId xmlns:a16="http://schemas.microsoft.com/office/drawing/2014/main" id="{41E9DF47-CA86-47EE-93BB-B1F9F44EB5F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97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60957735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C34EE6D0-0D69-4612-9419-E0C0619AF7AC}"/>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Demonstração no ambiente do professor</a:t>
            </a:r>
          </a:p>
        </p:txBody>
      </p:sp>
      <p:sp>
        <p:nvSpPr>
          <p:cNvPr id="2" name="titulo">
            <a:extLst>
              <a:ext uri="{FF2B5EF4-FFF2-40B4-BE49-F238E27FC236}">
                <a16:creationId xmlns:a16="http://schemas.microsoft.com/office/drawing/2014/main" id="{5629C0BA-0927-46C7-9F75-0AEDF2D0AD25}"/>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JSON do Docker e evento da aplicação</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68DA9F7A-C2D7-4770-A135-6801F1097682}"/>
              </a:ext>
            </a:extLst>
          </p:cNvPr>
          <p:cNvPicPr>
            <a:picLocks/>
          </p:cNvPicPr>
          <p:nvPr/>
        </p:nvPicPr>
        <p:blipFill>
          <a:blip r:embed="rId3"/>
          <a:stretch/>
        </p:blipFill>
        <p:spPr>
          <a:xfrm>
            <a:off x="2549257" y="1562100"/>
            <a:ext cx="7495822" cy="4216400"/>
          </a:xfrm>
          <a:prstGeom prst="rect">
            <a:avLst/>
          </a:prstGeom>
        </p:spPr>
      </p:pic>
      <p:sp>
        <p:nvSpPr>
          <p:cNvPr id="4" name="legenda">
            <a:extLst>
              <a:ext uri="{FF2B5EF4-FFF2-40B4-BE49-F238E27FC236}">
                <a16:creationId xmlns:a16="http://schemas.microsoft.com/office/drawing/2014/main" id="{88E897E7-A6DC-43EE-AE59-384A9FBA2717}"/>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A formatação remove o envelope Docker e permite exibir o TraceID.</a:t>
            </a:r>
          </a:p>
        </p:txBody>
      </p:sp>
      <p:sp>
        <p:nvSpPr>
          <p:cNvPr id="5" name="pagina">
            <a:extLst>
              <a:ext uri="{FF2B5EF4-FFF2-40B4-BE49-F238E27FC236}">
                <a16:creationId xmlns:a16="http://schemas.microsoft.com/office/drawing/2014/main" id="{AE9E5B1E-076F-4B7A-B637-5698D45F8C2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98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57924420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256FEFA7-3E4C-4E0E-BEA1-F7BA559C48E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Demonstração no ambiente do professor</a:t>
            </a:r>
          </a:p>
        </p:txBody>
      </p:sp>
      <p:sp>
        <p:nvSpPr>
          <p:cNvPr id="2" name="titulo">
            <a:extLst>
              <a:ext uri="{FF2B5EF4-FFF2-40B4-BE49-F238E27FC236}">
                <a16:creationId xmlns:a16="http://schemas.microsoft.com/office/drawing/2014/main" id="{8EFD93D4-CCF1-407E-9AB0-EFBA02E67071}"/>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Do log ao trace no Tempo</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A9D61879-4DB7-47F5-80F2-10FB654843FF}"/>
              </a:ext>
            </a:extLst>
          </p:cNvPr>
          <p:cNvPicPr>
            <a:picLocks/>
          </p:cNvPicPr>
          <p:nvPr/>
        </p:nvPicPr>
        <p:blipFill>
          <a:blip r:embed="rId3"/>
          <a:stretch/>
        </p:blipFill>
        <p:spPr>
          <a:xfrm>
            <a:off x="3775364" y="1562100"/>
            <a:ext cx="5043608" cy="4216400"/>
          </a:xfrm>
          <a:prstGeom prst="rect">
            <a:avLst/>
          </a:prstGeom>
        </p:spPr>
      </p:pic>
      <p:sp>
        <p:nvSpPr>
          <p:cNvPr id="4" name="legenda">
            <a:extLst>
              <a:ext uri="{FF2B5EF4-FFF2-40B4-BE49-F238E27FC236}">
                <a16:creationId xmlns:a16="http://schemas.microsoft.com/office/drawing/2014/main" id="{5B377B3E-1ECC-4C74-AA6F-341FB5100ACE}"/>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Mesmo trace_id: checkout, autenticação, banco e pagamento.</a:t>
            </a:r>
          </a:p>
        </p:txBody>
      </p:sp>
      <p:sp>
        <p:nvSpPr>
          <p:cNvPr id="5" name="pagina">
            <a:extLst>
              <a:ext uri="{FF2B5EF4-FFF2-40B4-BE49-F238E27FC236}">
                <a16:creationId xmlns:a16="http://schemas.microsoft.com/office/drawing/2014/main" id="{22D98D84-E43F-4049-B3E4-BAAE21586458}"/>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99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37575283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B746321-5E0E-4567-AD2C-9087C45A93A3}"/>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Intervalo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30F6F256-49B5-451F-A9F6-9B14294A9568}"/>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Pausa de 25 minutos.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Na volta, o professor apresentará os exercícios comentados antes da prática individual.</a:t>
            </a:r>
          </a:p>
        </p:txBody>
      </p:sp>
      <p:sp>
        <p:nvSpPr>
          <p:cNvPr id="1057" name="apoio">
            <a:extLst>
              <a:ext uri="{FF2B5EF4-FFF2-40B4-BE49-F238E27FC236}">
                <a16:creationId xmlns:a16="http://schemas.microsoft.com/office/drawing/2014/main" id="{3B6C39CA-34E5-41AE-80F9-ADECF71921A2}"/>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20h20–20h45</a:t>
            </a:r>
          </a:p>
        </p:txBody>
      </p:sp>
      <p:sp>
        <p:nvSpPr>
          <p:cNvPr id="1058" name="rodape">
            <a:extLst>
              <a:ext uri="{FF2B5EF4-FFF2-40B4-BE49-F238E27FC236}">
                <a16:creationId xmlns:a16="http://schemas.microsoft.com/office/drawing/2014/main" id="{008181CA-15F2-4ADB-A9A4-645C8F37344B}"/>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Intervalo  ·  Fábio Silva</a:t>
            </a:r>
          </a:p>
        </p:txBody>
      </p:sp>
      <p:sp>
        <p:nvSpPr>
          <p:cNvPr id="1059" name="pagina">
            <a:extLst>
              <a:ext uri="{FF2B5EF4-FFF2-40B4-BE49-F238E27FC236}">
                <a16:creationId xmlns:a16="http://schemas.microsoft.com/office/drawing/2014/main" id="{ACA210E7-F449-4455-ABF4-A90CFBBD195E}"/>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100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835D93B8-A71F-4468-9AEC-10EBF71BA31B}"/>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3</a:t>
            </a:r>
          </a:p>
        </p:txBody>
      </p:sp>
      <p:sp>
        <p:nvSpPr>
          <p:cNvPr id="121" name="titulo">
            <a:extLst>
              <a:ext uri="{FF2B5EF4-FFF2-40B4-BE49-F238E27FC236}">
                <a16:creationId xmlns:a16="http://schemas.microsoft.com/office/drawing/2014/main" id="{9026B779-CF16-4886-BBCB-08C0C1C59F03}"/>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Exercícios</a:t>
            </a:r>
          </a:p>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comentados</a:t>
            </a:r>
          </a:p>
        </p:txBody>
      </p:sp>
      <p:sp>
        <p:nvSpPr>
          <p:cNvPr id="122" name="subtitulo">
            <a:extLst>
              <a:ext uri="{FF2B5EF4-FFF2-40B4-BE49-F238E27FC236}">
                <a16:creationId xmlns:a16="http://schemas.microsoft.com/office/drawing/2014/main" id="{5699EFC5-91A9-4270-9BC9-7E6AC2BB0B5B}"/>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Professor explica · Turma acompanha</a:t>
            </a:r>
          </a:p>
        </p:txBody>
      </p:sp>
      <p:sp>
        <p:nvSpPr>
          <p:cNvPr id="123" name="tempo">
            <a:extLst>
              <a:ext uri="{FF2B5EF4-FFF2-40B4-BE49-F238E27FC236}">
                <a16:creationId xmlns:a16="http://schemas.microsoft.com/office/drawing/2014/main" id="{2CC79817-DB88-454F-9477-E48069F893AF}"/>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20h45  ·  Exercícios comentados</a:t>
            </a:r>
          </a:p>
        </p:txBody>
      </p:sp>
      <p:sp>
        <p:nvSpPr>
          <p:cNvPr id="124" name="pagina">
            <a:extLst>
              <a:ext uri="{FF2B5EF4-FFF2-40B4-BE49-F238E27FC236}">
                <a16:creationId xmlns:a16="http://schemas.microsoft.com/office/drawing/2014/main" id="{81EE587D-065E-4DF2-AF6A-5B47AF5FFA5E}"/>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101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tapa">
            <a:extLst>
              <a:ext uri="{FF2B5EF4-FFF2-40B4-BE49-F238E27FC236}">
                <a16:creationId xmlns:a16="http://schemas.microsoft.com/office/drawing/2014/main" id="{33C2B4D0-0F1B-41F1-9B74-E63BBD10E26C}"/>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Exercícios comentados · Configuração no navegador</a:t>
            </a:r>
          </a:p>
        </p:txBody>
      </p:sp>
      <p:sp>
        <p:nvSpPr>
          <p:cNvPr id="2" name="titulo">
            <a:extLst>
              <a:ext uri="{FF2B5EF4-FFF2-40B4-BE49-F238E27FC236}">
                <a16:creationId xmlns:a16="http://schemas.microsoft.com/office/drawing/2014/main" id="{A14E823C-A7D6-4848-B645-C2472B96DE68}"/>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3.1 — Conectar e explorar Loki</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95DF4CA5-CA45-4B5A-9263-866B689C1CAD}"/>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Adicione a fonte Loki se ela ainda não existir no seu ambiente.</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Use a URL interna http://loki:3100 no laboratório local. Em ambiente fornecido, use a conexão indicada pelo professor.</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Teste a conexão e execute o seletor do arquivo.</a:t>
            </a:r>
          </a:p>
        </p:txBody>
      </p:sp>
      <p:sp>
        <p:nvSpPr>
          <p:cNvPr id="4" name="consulta">
            <a:extLst>
              <a:ext uri="{FF2B5EF4-FFF2-40B4-BE49-F238E27FC236}">
                <a16:creationId xmlns:a16="http://schemas.microsoft.com/office/drawing/2014/main" id="{BAE8A6BF-6311-4FF3-95CD-217E9E636CBD}"/>
              </a:ext>
            </a:extLst>
          </p:cNvPr>
          <p:cNvSpPr>
            <a:spLocks noGrp="1"/>
          </p:cNvSpPr>
          <p:nvPr/>
        </p:nvSpPr>
        <p:spPr>
          <a:xfrm>
            <a:off x="1039368" y="3691572"/>
            <a:ext cx="10515600" cy="761047"/>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defRPr sz="1725" b="0">
                <a:solidFill>
                  <a:srgbClr val="40760F"/>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{filename="/var/log/tns-app.log"}</a:t>
            </a:r>
          </a:p>
        </p:txBody>
      </p:sp>
      <p:sp>
        <p:nvSpPr>
          <p:cNvPr id="5" name="comentario">
            <a:extLst>
              <a:ext uri="{FF2B5EF4-FFF2-40B4-BE49-F238E27FC236}">
                <a16:creationId xmlns:a16="http://schemas.microsoft.com/office/drawing/2014/main" id="{525C8627-D5E7-48C1-AC03-8D6B291A493E}"/>
              </a:ext>
            </a:extLst>
          </p:cNvPr>
          <p:cNvSpPr>
            <a:spLocks noGrp="1"/>
          </p:cNvSpPr>
          <p:nvPr/>
        </p:nvSpPr>
        <p:spPr>
          <a:xfrm>
            <a:off x="1039368" y="454215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Comente o endereço interno e a importância de não duplicar a fonte. A turma consulta Loki, não Prometheus.</a:t>
            </a:r>
          </a:p>
        </p:txBody>
      </p:sp>
      <p:sp>
        <p:nvSpPr>
          <p:cNvPr id="6" name="resultado">
            <a:extLst>
              <a:ext uri="{FF2B5EF4-FFF2-40B4-BE49-F238E27FC236}">
                <a16:creationId xmlns:a16="http://schemas.microsoft.com/office/drawing/2014/main" id="{EABACC62-E95F-458A-9492-5BDC07199D4D}"/>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Fonte conectada e linhas da aplicação visíveis.</a:t>
            </a:r>
          </a:p>
        </p:txBody>
      </p:sp>
      <p:sp>
        <p:nvSpPr>
          <p:cNvPr id="7" name="pagina">
            <a:extLst>
              <a:ext uri="{FF2B5EF4-FFF2-40B4-BE49-F238E27FC236}">
                <a16:creationId xmlns:a16="http://schemas.microsoft.com/office/drawing/2014/main" id="{BB2E0348-59BA-4CF9-BE01-8B5090B5C32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102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tapa">
            <a:extLst>
              <a:ext uri="{FF2B5EF4-FFF2-40B4-BE49-F238E27FC236}">
                <a16:creationId xmlns:a16="http://schemas.microsoft.com/office/drawing/2014/main" id="{A868DDE8-0DC9-4B61-A61F-796E849DC24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Exercícios comentados · Navegação e consulta</a:t>
            </a:r>
          </a:p>
        </p:txBody>
      </p:sp>
      <p:sp>
        <p:nvSpPr>
          <p:cNvPr id="2" name="titulo">
            <a:extLst>
              <a:ext uri="{FF2B5EF4-FFF2-40B4-BE49-F238E27FC236}">
                <a16:creationId xmlns:a16="http://schemas.microsoft.com/office/drawing/2014/main" id="{07219290-662D-4D47-A57C-81B32140987B}"/>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3.2 — Gerar e localizar um erro</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AD367366-290D-4F10-8700-99123BFF44AE}"/>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Envie um título sem URL na aplicação.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Anote o horário da ação.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No Explore, filtre as linhas de erro.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Abra o evento correspondente e registre a mensagem.</a:t>
            </a:r>
          </a:p>
        </p:txBody>
      </p:sp>
      <p:sp>
        <p:nvSpPr>
          <p:cNvPr id="4" name="consulta">
            <a:extLst>
              <a:ext uri="{FF2B5EF4-FFF2-40B4-BE49-F238E27FC236}">
                <a16:creationId xmlns:a16="http://schemas.microsoft.com/office/drawing/2014/main" id="{808DCD05-6A7D-4D46-B9D8-77707877BDB9}"/>
              </a:ext>
            </a:extLst>
          </p:cNvPr>
          <p:cNvSpPr>
            <a:spLocks noGrp="1"/>
          </p:cNvSpPr>
          <p:nvPr/>
        </p:nvSpPr>
        <p:spPr>
          <a:xfrm>
            <a:off x="1039368" y="3691572"/>
            <a:ext cx="10515600" cy="761047"/>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defRPr sz="1725" b="0">
                <a:solidFill>
                  <a:srgbClr val="40760F"/>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{filename="/var/log/tns-app.log"} |= "error"</a:t>
            </a:r>
          </a:p>
        </p:txBody>
      </p:sp>
      <p:sp>
        <p:nvSpPr>
          <p:cNvPr id="5" name="comentario">
            <a:extLst>
              <a:ext uri="{FF2B5EF4-FFF2-40B4-BE49-F238E27FC236}">
                <a16:creationId xmlns:a16="http://schemas.microsoft.com/office/drawing/2014/main" id="{18EFF562-142C-4CEE-8318-D94D0147CAC5}"/>
              </a:ext>
            </a:extLst>
          </p:cNvPr>
          <p:cNvSpPr>
            <a:spLocks noGrp="1"/>
          </p:cNvSpPr>
          <p:nvPr/>
        </p:nvSpPr>
        <p:spPr>
          <a:xfrm>
            <a:off x="1039368" y="454215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Demonstre o erro sem ocultar a resposta HTTP. Comente por que a janela de tempo precisa incluir a ação.</a:t>
            </a:r>
          </a:p>
        </p:txBody>
      </p:sp>
      <p:sp>
        <p:nvSpPr>
          <p:cNvPr id="6" name="resultado">
            <a:extLst>
              <a:ext uri="{FF2B5EF4-FFF2-40B4-BE49-F238E27FC236}">
                <a16:creationId xmlns:a16="http://schemas.microsoft.com/office/drawing/2014/main" id="{62FD467E-9014-414F-A6B5-A868CBBE3317}"/>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Consulta, horário e mensagem relacionados à ação.</a:t>
            </a:r>
          </a:p>
        </p:txBody>
      </p:sp>
      <p:sp>
        <p:nvSpPr>
          <p:cNvPr id="7" name="pagina">
            <a:extLst>
              <a:ext uri="{FF2B5EF4-FFF2-40B4-BE49-F238E27FC236}">
                <a16:creationId xmlns:a16="http://schemas.microsoft.com/office/drawing/2014/main" id="{4DDDD5A9-B330-48E9-90F3-5E224765C47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103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DEBA279D-00EF-46B7-9875-B8E113D811B7}"/>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Exercícios comentados · Navegação e interpretação</a:t>
            </a:r>
          </a:p>
        </p:txBody>
      </p:sp>
      <p:sp>
        <p:nvSpPr>
          <p:cNvPr id="2" name="titulo">
            <a:extLst>
              <a:ext uri="{FF2B5EF4-FFF2-40B4-BE49-F238E27FC236}">
                <a16:creationId xmlns:a16="http://schemas.microsoft.com/office/drawing/2014/main" id="{B57164C9-C710-4343-9AF1-C9C2CEA91B6F}"/>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3.3 — Explicar a investigação</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0ED31893-C9E4-4DFD-8E2E-A9856382380B}"/>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Compare a consulta do arquivo com a consulta filtrada.</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Ajuste o período e observe a mudança no resultado.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Explique o que é evidência e o que seria uma hipótese.</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Entregue os passos para um colega reproduzir a busca.</a:t>
            </a:r>
          </a:p>
        </p:txBody>
      </p:sp>
      <p:sp>
        <p:nvSpPr>
          <p:cNvPr id="4" name="comentario">
            <a:extLst>
              <a:ext uri="{FF2B5EF4-FFF2-40B4-BE49-F238E27FC236}">
                <a16:creationId xmlns:a16="http://schemas.microsoft.com/office/drawing/2014/main" id="{95FD5BF4-FFEF-4F03-BA2B-BB748D32DCC7}"/>
              </a:ext>
            </a:extLst>
          </p:cNvPr>
          <p:cNvSpPr>
            <a:spLocks noGrp="1"/>
          </p:cNvSpPr>
          <p:nvPr/>
        </p:nvSpPr>
        <p:spPr>
          <a:xfrm>
            <a:off x="1039368" y="382587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Peça uma explicação própria. Um print sem consulta e sem período não deve ser a única entrega.</a:t>
            </a:r>
          </a:p>
        </p:txBody>
      </p:sp>
      <p:sp>
        <p:nvSpPr>
          <p:cNvPr id="5" name="resultado">
            <a:extLst>
              <a:ext uri="{FF2B5EF4-FFF2-40B4-BE49-F238E27FC236}">
                <a16:creationId xmlns:a16="http://schemas.microsoft.com/office/drawing/2014/main" id="{D38B8C1E-89EA-49CD-9661-680F8A047D84}"/>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Roteiro de investigação com conclusão e evidência.</a:t>
            </a:r>
          </a:p>
        </p:txBody>
      </p:sp>
      <p:sp>
        <p:nvSpPr>
          <p:cNvPr id="6" name="pagina">
            <a:extLst>
              <a:ext uri="{FF2B5EF4-FFF2-40B4-BE49-F238E27FC236}">
                <a16:creationId xmlns:a16="http://schemas.microsoft.com/office/drawing/2014/main" id="{11CD7E1F-34CC-4228-8D64-02A936A5F57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104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F6BA907A-E00B-4195-977C-4311F613D6BA}"/>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3</a:t>
            </a:r>
          </a:p>
        </p:txBody>
      </p:sp>
      <p:sp>
        <p:nvSpPr>
          <p:cNvPr id="121" name="titulo">
            <a:extLst>
              <a:ext uri="{FF2B5EF4-FFF2-40B4-BE49-F238E27FC236}">
                <a16:creationId xmlns:a16="http://schemas.microsoft.com/office/drawing/2014/main" id="{8267EA9B-F30B-4F67-B9FF-4B6DB844408C}"/>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Prática do aluno</a:t>
            </a:r>
          </a:p>
        </p:txBody>
      </p:sp>
      <p:sp>
        <p:nvSpPr>
          <p:cNvPr id="122" name="subtitulo">
            <a:extLst>
              <a:ext uri="{FF2B5EF4-FFF2-40B4-BE49-F238E27FC236}">
                <a16:creationId xmlns:a16="http://schemas.microsoft.com/office/drawing/2014/main" id="{1493467A-B619-4D89-9060-13DC3ADF40A8}"/>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Receba a folha · Execute no seu ambiente</a:t>
            </a:r>
          </a:p>
        </p:txBody>
      </p:sp>
      <p:sp>
        <p:nvSpPr>
          <p:cNvPr id="123" name="tempo">
            <a:extLst>
              <a:ext uri="{FF2B5EF4-FFF2-40B4-BE49-F238E27FC236}">
                <a16:creationId xmlns:a16="http://schemas.microsoft.com/office/drawing/2014/main" id="{D00CF93E-3B7B-4BA4-ADFC-318B574EC92C}"/>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21h00  ·  Prática do aluno</a:t>
            </a:r>
          </a:p>
        </p:txBody>
      </p:sp>
      <p:sp>
        <p:nvSpPr>
          <p:cNvPr id="124" name="pagina">
            <a:extLst>
              <a:ext uri="{FF2B5EF4-FFF2-40B4-BE49-F238E27FC236}">
                <a16:creationId xmlns:a16="http://schemas.microsoft.com/office/drawing/2014/main" id="{C44E4B7A-28D2-4689-B8F8-1E916A27462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105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15A58C91-BDE4-4BE4-83C5-F3682BD0B873}"/>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Agora é com você</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9398F80-61ED-436F-8DCD-525B2CEB1C2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Execute as tarefas da folha da noite.</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Registre consultas, resultados e dúvidas. Peça ajuda quando encontrar um bloqueio e preserve seu trabalho.</a:t>
            </a:r>
          </a:p>
        </p:txBody>
      </p:sp>
      <p:sp>
        <p:nvSpPr>
          <p:cNvPr id="1057" name="apoio">
            <a:extLst>
              <a:ext uri="{FF2B5EF4-FFF2-40B4-BE49-F238E27FC236}">
                <a16:creationId xmlns:a16="http://schemas.microsoft.com/office/drawing/2014/main" id="{B17B4A7E-9F0E-4DDF-8281-19354006F53F}"/>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3.1  Conectar e explorar Loki</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3.2  Gerar e localizar um erro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3.3  Explicar a investigação</a:t>
            </a:r>
          </a:p>
        </p:txBody>
      </p:sp>
      <p:sp>
        <p:nvSpPr>
          <p:cNvPr id="1058" name="rodape">
            <a:extLst>
              <a:ext uri="{FF2B5EF4-FFF2-40B4-BE49-F238E27FC236}">
                <a16:creationId xmlns:a16="http://schemas.microsoft.com/office/drawing/2014/main" id="{784336B9-A629-4067-BAEF-4A53B7AC9FE9}"/>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Prática do aluno  ·  Fábio Silva</a:t>
            </a:r>
          </a:p>
        </p:txBody>
      </p:sp>
      <p:sp>
        <p:nvSpPr>
          <p:cNvPr id="1059" name="pagina">
            <a:extLst>
              <a:ext uri="{FF2B5EF4-FFF2-40B4-BE49-F238E27FC236}">
                <a16:creationId xmlns:a16="http://schemas.microsoft.com/office/drawing/2014/main" id="{2F149539-5481-410C-9E2F-97596E1A755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106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96297046-1AE8-4A29-BF8E-F5865456CCA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Correção e fechamento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2DDB3F6-FF5E-4B81-B185-0E90ED96709C}"/>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Apresente uma evidência do que foi executado e explique o resultado.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Compare com os critérios da folha e registre o que precisa revisar.</a:t>
            </a:r>
          </a:p>
        </p:txBody>
      </p:sp>
      <p:sp>
        <p:nvSpPr>
          <p:cNvPr id="1057" name="apoio">
            <a:extLst>
              <a:ext uri="{FF2B5EF4-FFF2-40B4-BE49-F238E27FC236}">
                <a16:creationId xmlns:a16="http://schemas.microsoft.com/office/drawing/2014/main" id="{518C49AB-C27D-483B-8433-3F43BECD6658}"/>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executei?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observei?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Como interpreto?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ficou pendente?</a:t>
            </a:r>
          </a:p>
        </p:txBody>
      </p:sp>
      <p:sp>
        <p:nvSpPr>
          <p:cNvPr id="1058" name="rodape">
            <a:extLst>
              <a:ext uri="{FF2B5EF4-FFF2-40B4-BE49-F238E27FC236}">
                <a16:creationId xmlns:a16="http://schemas.microsoft.com/office/drawing/2014/main" id="{5B46DB07-022D-4372-B250-CDCE75055E84}"/>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Correção  ·  Fábio Silva</a:t>
            </a:r>
          </a:p>
        </p:txBody>
      </p:sp>
      <p:sp>
        <p:nvSpPr>
          <p:cNvPr id="1059" name="pagina">
            <a:extLst>
              <a:ext uri="{FF2B5EF4-FFF2-40B4-BE49-F238E27FC236}">
                <a16:creationId xmlns:a16="http://schemas.microsoft.com/office/drawing/2014/main" id="{5F747031-B109-4479-BCB3-7C9A7D754AE6}"/>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107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0EFB17DE-185C-4271-BB30-D4D5FCED86C2}"/>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4</a:t>
            </a:r>
          </a:p>
        </p:txBody>
      </p:sp>
      <p:sp>
        <p:nvSpPr>
          <p:cNvPr id="121" name="titulo">
            <a:extLst>
              <a:ext uri="{FF2B5EF4-FFF2-40B4-BE49-F238E27FC236}">
                <a16:creationId xmlns:a16="http://schemas.microsoft.com/office/drawing/2014/main" id="{43D949B0-CF0F-4AD6-B52F-7E7F5D1EDC6D}"/>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Dashboards e anotações</a:t>
            </a:r>
          </a:p>
        </p:txBody>
      </p:sp>
      <p:sp>
        <p:nvSpPr>
          <p:cNvPr id="122" name="subtitulo">
            <a:extLst>
              <a:ext uri="{FF2B5EF4-FFF2-40B4-BE49-F238E27FC236}">
                <a16:creationId xmlns:a16="http://schemas.microsoft.com/office/drawing/2014/main" id="{073A5ACF-10FF-433A-A12F-8B713E83EE7D}"/>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Painéis e correlação de eventos</a:t>
            </a:r>
          </a:p>
        </p:txBody>
      </p:sp>
      <p:sp>
        <p:nvSpPr>
          <p:cNvPr id="123" name="tempo">
            <a:extLst>
              <a:ext uri="{FF2B5EF4-FFF2-40B4-BE49-F238E27FC236}">
                <a16:creationId xmlns:a16="http://schemas.microsoft.com/office/drawing/2014/main" id="{C64FFD26-4CEF-4425-9267-D0CD1C0A33F3}"/>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18h30  ·  Teoria</a:t>
            </a:r>
          </a:p>
        </p:txBody>
      </p:sp>
      <p:sp>
        <p:nvSpPr>
          <p:cNvPr id="124" name="pagina">
            <a:extLst>
              <a:ext uri="{FF2B5EF4-FFF2-40B4-BE49-F238E27FC236}">
                <a16:creationId xmlns:a16="http://schemas.microsoft.com/office/drawing/2014/main" id="{F3B14A2B-FE30-41ED-8678-7D5003B28B3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108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B9EE4D23-0A14-4976-BE3E-0FE2E5060DC0}"/>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Uma pergunta por painel</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EF1BD0D-A906-43A2-94F5-EF0B7594637A}"/>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Defina a pergunta antes de escolher o gráfico.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Nosso painel vai mostrar a taxa de requisições por rota.</a:t>
            </a:r>
          </a:p>
        </p:txBody>
      </p:sp>
      <p:sp>
        <p:nvSpPr>
          <p:cNvPr id="1057" name="apoio">
            <a:extLst>
              <a:ext uri="{FF2B5EF4-FFF2-40B4-BE49-F238E27FC236}">
                <a16:creationId xmlns:a16="http://schemas.microsoft.com/office/drawing/2014/main" id="{80A02B35-A8D8-4A84-BF5A-63F11CE17B55}"/>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Pergunta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rota recebe tráfego?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Unidade</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Requisições por segundo</a:t>
            </a:r>
          </a:p>
        </p:txBody>
      </p:sp>
      <p:sp>
        <p:nvSpPr>
          <p:cNvPr id="1058" name="rodape">
            <a:extLst>
              <a:ext uri="{FF2B5EF4-FFF2-40B4-BE49-F238E27FC236}">
                <a16:creationId xmlns:a16="http://schemas.microsoft.com/office/drawing/2014/main" id="{1DC92A39-F321-41DE-BA94-3AD093150724}"/>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4A644B63-92EE-4664-837C-04F1DF33B24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109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9AD6319-EBD6-4B4F-BBAB-DEA0E6313FA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Dashboard e painel</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352C88B4-4203-4694-A564-3C5C4926D64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 dashboard reúne painéis relacionados.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Cada painel combina uma consulta e uma forma de apresentar seu resultado.</a:t>
            </a:r>
          </a:p>
        </p:txBody>
      </p:sp>
      <p:sp>
        <p:nvSpPr>
          <p:cNvPr id="1057" name="apoio">
            <a:extLst>
              <a:ext uri="{FF2B5EF4-FFF2-40B4-BE49-F238E27FC236}">
                <a16:creationId xmlns:a16="http://schemas.microsoft.com/office/drawing/2014/main" id="{5860AF0A-6F19-45DB-A907-B606472946C6}"/>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Dashboard</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Contexto da aplicação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Painel</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Uma pergunta específica</a:t>
            </a:r>
          </a:p>
        </p:txBody>
      </p:sp>
      <p:sp>
        <p:nvSpPr>
          <p:cNvPr id="1058" name="rodape">
            <a:extLst>
              <a:ext uri="{FF2B5EF4-FFF2-40B4-BE49-F238E27FC236}">
                <a16:creationId xmlns:a16="http://schemas.microsoft.com/office/drawing/2014/main" id="{3E2E7656-D4C6-4B7F-87F8-B5D4203F2036}"/>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76DE4A95-BE53-4D93-97FF-EA7BA9CD1A46}"/>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110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D9B7754D-4E14-4976-B73F-02B10D56FCC3}"/>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Consulta e apresentação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19E263A-733A-460B-A26D-E787E746A0B8}"/>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consulta determina os dados retornados.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visualização deve representar esses dados sem alterar seu significado.</a:t>
            </a:r>
          </a:p>
        </p:txBody>
      </p:sp>
      <p:sp>
        <p:nvSpPr>
          <p:cNvPr id="1057" name="apoio">
            <a:extLst>
              <a:ext uri="{FF2B5EF4-FFF2-40B4-BE49-F238E27FC236}">
                <a16:creationId xmlns:a16="http://schemas.microsoft.com/office/drawing/2014/main" id="{4EAE0BEF-E7C7-4AA2-9B43-8DFEEE620FE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Consulta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Seleciona os dados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Visualização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Apresenta o resultado</a:t>
            </a:r>
          </a:p>
        </p:txBody>
      </p:sp>
      <p:sp>
        <p:nvSpPr>
          <p:cNvPr id="1058" name="rodape">
            <a:extLst>
              <a:ext uri="{FF2B5EF4-FFF2-40B4-BE49-F238E27FC236}">
                <a16:creationId xmlns:a16="http://schemas.microsoft.com/office/drawing/2014/main" id="{6AD48261-39A7-41E1-99BE-5657C895187D}"/>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5CBB7FC0-04E5-4A2F-863B-FE86DDBA6C06}"/>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111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260928AF-20FE-4BC3-A21F-BD41C867B0F1}"/>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Escolha da visualização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DB9AF9D9-22AE-4632-AD30-11569AC4776C}"/>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Time series ajuda a observar a evolução no tempo.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Stat destaca um valor resumido. Table permite comparar campos e valores em linhas.</a:t>
            </a:r>
          </a:p>
        </p:txBody>
      </p:sp>
      <p:sp>
        <p:nvSpPr>
          <p:cNvPr id="1057" name="apoio">
            <a:extLst>
              <a:ext uri="{FF2B5EF4-FFF2-40B4-BE49-F238E27FC236}">
                <a16:creationId xmlns:a16="http://schemas.microsoft.com/office/drawing/2014/main" id="{627B9605-A944-42A2-9EC5-24045FB3FEF7}"/>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Time series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Evolução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Stat</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Resumo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Table</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Detalhes</a:t>
            </a:r>
          </a:p>
        </p:txBody>
      </p:sp>
      <p:sp>
        <p:nvSpPr>
          <p:cNvPr id="1058" name="rodape">
            <a:extLst>
              <a:ext uri="{FF2B5EF4-FFF2-40B4-BE49-F238E27FC236}">
                <a16:creationId xmlns:a16="http://schemas.microsoft.com/office/drawing/2014/main" id="{59C914F5-E54D-4FFA-8E90-5CD63758315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AC267500-8056-4732-BD61-82A19B2AB79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112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E214C1BA-C84E-46CE-9B97-A1C12A49D27F}"/>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Título e unidade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E08A8D2C-F1A6-433B-89C9-8DF138142A63}"/>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 título útil informa o que se mede.</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Configure a unidade e use a legenda para identificar as rotas.</a:t>
            </a:r>
          </a:p>
        </p:txBody>
      </p:sp>
      <p:sp>
        <p:nvSpPr>
          <p:cNvPr id="1057" name="apoio">
            <a:extLst>
              <a:ext uri="{FF2B5EF4-FFF2-40B4-BE49-F238E27FC236}">
                <a16:creationId xmlns:a16="http://schemas.microsoft.com/office/drawing/2014/main" id="{8B32568F-3053-4788-96E8-FEE76FFB0C6C}"/>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Tráfego por rota</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Requisições por segundo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Legenda: route</a:t>
            </a:r>
          </a:p>
        </p:txBody>
      </p:sp>
      <p:sp>
        <p:nvSpPr>
          <p:cNvPr id="1058" name="rodape">
            <a:extLst>
              <a:ext uri="{FF2B5EF4-FFF2-40B4-BE49-F238E27FC236}">
                <a16:creationId xmlns:a16="http://schemas.microsoft.com/office/drawing/2014/main" id="{5A9936D0-8055-4EAC-A3E1-94559B8CF033}"/>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E067ABCC-AA95-4700-B6A9-73A5366ABB7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113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1E3AC30-CEF0-454C-89A5-40512BA4BC1B}"/>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Eixos, legenda e período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E240EBC7-1F4F-4953-B108-27C7E9FE910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eixo temporal situa a observação.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unidade dá significado ao valor, e a legenda identifica as séries.</a:t>
            </a:r>
          </a:p>
        </p:txBody>
      </p:sp>
      <p:sp>
        <p:nvSpPr>
          <p:cNvPr id="1057" name="apoio">
            <a:extLst>
              <a:ext uri="{FF2B5EF4-FFF2-40B4-BE49-F238E27FC236}">
                <a16:creationId xmlns:a16="http://schemas.microsoft.com/office/drawing/2014/main" id="{F661B298-D35C-47CD-AC6B-7591BA23E89A}"/>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Quando?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Eixo do tempo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Quanto?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Valor e unidade</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Quem?</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Legenda</a:t>
            </a:r>
          </a:p>
        </p:txBody>
      </p:sp>
      <p:sp>
        <p:nvSpPr>
          <p:cNvPr id="1058" name="rodape">
            <a:extLst>
              <a:ext uri="{FF2B5EF4-FFF2-40B4-BE49-F238E27FC236}">
                <a16:creationId xmlns:a16="http://schemas.microsoft.com/office/drawing/2014/main" id="{3B775200-881F-4BDD-8A00-57E5023DD24C}"/>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6C652702-37FC-4843-A510-22FE9E91A17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114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9F52B10F-45C0-4820-A1AE-B5CE7ED32885}"/>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Agregação e redução visual</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23BA6C2A-1118-471E-972F-A3CDA63BF57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consulta pode retornar uma série temporal.</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visualização de valor único precisa escolher como resumir essa série.</a:t>
            </a:r>
          </a:p>
        </p:txBody>
      </p:sp>
      <p:sp>
        <p:nvSpPr>
          <p:cNvPr id="1057" name="apoio">
            <a:extLst>
              <a:ext uri="{FF2B5EF4-FFF2-40B4-BE49-F238E27FC236}">
                <a16:creationId xmlns:a16="http://schemas.microsoft.com/office/drawing/2014/main" id="{6E0A73C9-BB4A-4777-8B8F-8EB59C641A3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Último valor</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Média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Máximo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Resumos diferentes</a:t>
            </a:r>
          </a:p>
        </p:txBody>
      </p:sp>
      <p:sp>
        <p:nvSpPr>
          <p:cNvPr id="1058" name="rodape">
            <a:extLst>
              <a:ext uri="{FF2B5EF4-FFF2-40B4-BE49-F238E27FC236}">
                <a16:creationId xmlns:a16="http://schemas.microsoft.com/office/drawing/2014/main" id="{1B72A65B-5317-4B73-9A5B-AA32C2F03D6C}"/>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267E359D-4EC5-41B3-BEBF-01ECE3845EB1}"/>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115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4EEECDE0-A620-4567-9D0D-671C5084A561}"/>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Salvamento e organização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AD52D361-BB22-4881-BDE3-26C5F50D61B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Salve o painel e o dashboard com nomes reconhecíveis.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Ajuste o tamanho para ler a legenda e comparar as séries.</a:t>
            </a:r>
          </a:p>
        </p:txBody>
      </p:sp>
      <p:sp>
        <p:nvSpPr>
          <p:cNvPr id="1057" name="apoio">
            <a:extLst>
              <a:ext uri="{FF2B5EF4-FFF2-40B4-BE49-F238E27FC236}">
                <a16:creationId xmlns:a16="http://schemas.microsoft.com/office/drawing/2014/main" id="{8185FA0B-9CF0-4921-90F5-312ED7F857D4}"/>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Dashboard</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Grafana News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Painel</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Tráfego por rota</a:t>
            </a:r>
          </a:p>
        </p:txBody>
      </p:sp>
      <p:sp>
        <p:nvSpPr>
          <p:cNvPr id="1058" name="rodape">
            <a:extLst>
              <a:ext uri="{FF2B5EF4-FFF2-40B4-BE49-F238E27FC236}">
                <a16:creationId xmlns:a16="http://schemas.microsoft.com/office/drawing/2014/main" id="{351326D3-9EE4-4994-A0ED-DC95375A9C5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F75C7D9A-3114-4179-9ACF-587B51723974}"/>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116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AF63C001-CED5-4144-A1B2-C44B49F7FC85}"/>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Evento pontual e intervalo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2EAF5020-61F1-40DB-A9D7-C8C2886FA155}"/>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anotação pontual marca um instante.</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anotação de região representa um evento com início e fim.</a:t>
            </a:r>
          </a:p>
        </p:txBody>
      </p:sp>
      <p:sp>
        <p:nvSpPr>
          <p:cNvPr id="1057" name="apoio">
            <a:extLst>
              <a:ext uri="{FF2B5EF4-FFF2-40B4-BE49-F238E27FC236}">
                <a16:creationId xmlns:a16="http://schemas.microsoft.com/office/drawing/2014/main" id="{1B045234-361F-466D-B865-A8A9E6B51982}"/>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Publicação de versão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Um instante</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Teste de carga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Uma duração</a:t>
            </a:r>
          </a:p>
        </p:txBody>
      </p:sp>
      <p:sp>
        <p:nvSpPr>
          <p:cNvPr id="1058" name="rodape">
            <a:extLst>
              <a:ext uri="{FF2B5EF4-FFF2-40B4-BE49-F238E27FC236}">
                <a16:creationId xmlns:a16="http://schemas.microsoft.com/office/drawing/2014/main" id="{0B27B132-FACE-476A-95C5-EF40215D3F9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6E2F6D37-8E8B-4D1B-A3C8-1CC1FD1AA37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117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8DD988F1-6453-4670-AF73-D636015F9E7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Anotações manuais e por consulta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E3C0E019-6678-4969-AF9D-E1754338E61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registro manual descreve um evento informado pelo usuário.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consulta ao Loki pode trazer eventos recorrentes como anotações no gráfico.</a:t>
            </a:r>
          </a:p>
        </p:txBody>
      </p:sp>
      <p:sp>
        <p:nvSpPr>
          <p:cNvPr id="1057" name="apoio">
            <a:extLst>
              <a:ext uri="{FF2B5EF4-FFF2-40B4-BE49-F238E27FC236}">
                <a16:creationId xmlns:a16="http://schemas.microsoft.com/office/drawing/2014/main" id="{0AB08040-299B-452C-A6AF-4BB80926BA85}"/>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Manual</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Evento informado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Loki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Eventos consultados</a:t>
            </a:r>
          </a:p>
        </p:txBody>
      </p:sp>
      <p:sp>
        <p:nvSpPr>
          <p:cNvPr id="1058" name="rodape">
            <a:extLst>
              <a:ext uri="{FF2B5EF4-FFF2-40B4-BE49-F238E27FC236}">
                <a16:creationId xmlns:a16="http://schemas.microsoft.com/office/drawing/2014/main" id="{263CAF2E-F7EE-4F31-88BF-2EDDF6C96711}"/>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0F6D08D0-D5B9-40F7-A004-27E352A7F85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118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912087E-73F8-4E82-826B-51295503010E}"/>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Correlação e causalidade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52932641-8337-4C40-BAC2-962161EF4173}"/>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Eventos próximos no tempo podem orientar a investigação.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proximidade, sozinha, não demonstra que um evento causou o outro.</a:t>
            </a:r>
          </a:p>
        </p:txBody>
      </p:sp>
      <p:sp>
        <p:nvSpPr>
          <p:cNvPr id="1057" name="apoio">
            <a:extLst>
              <a:ext uri="{FF2B5EF4-FFF2-40B4-BE49-F238E27FC236}">
                <a16:creationId xmlns:a16="http://schemas.microsoft.com/office/drawing/2014/main" id="{1BADBCC1-6130-4C83-B5E3-354E36549DE4}"/>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Mesmo período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Hipótese de relação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Validação com evidências</a:t>
            </a:r>
          </a:p>
        </p:txBody>
      </p:sp>
      <p:sp>
        <p:nvSpPr>
          <p:cNvPr id="1058" name="rodape">
            <a:extLst>
              <a:ext uri="{FF2B5EF4-FFF2-40B4-BE49-F238E27FC236}">
                <a16:creationId xmlns:a16="http://schemas.microsoft.com/office/drawing/2014/main" id="{BB87D2A3-7875-4599-A21E-F034541FC8F4}"/>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BCF61CDC-CFDF-4857-822B-2A7358251D3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119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8BC7EDB-71FB-4E39-AEF2-B5FF903AEB93}"/>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Dashboard compreensível</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6C0F7883-B906-4E80-AD4E-951C45298CC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Confira o que outra pessoa consegue entender sem a sua explicação.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Títulos, unidades e descrições devem permitir uma leitura consistente.</a:t>
            </a:r>
          </a:p>
        </p:txBody>
      </p:sp>
      <p:sp>
        <p:nvSpPr>
          <p:cNvPr id="1057" name="apoio">
            <a:extLst>
              <a:ext uri="{FF2B5EF4-FFF2-40B4-BE49-F238E27FC236}">
                <a16:creationId xmlns:a16="http://schemas.microsoft.com/office/drawing/2014/main" id="{92EF8DC2-7F23-4EA7-AEA7-DEE27BEB09C6}"/>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aplicação?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medida?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período?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evento?</a:t>
            </a:r>
          </a:p>
        </p:txBody>
      </p:sp>
      <p:sp>
        <p:nvSpPr>
          <p:cNvPr id="1058" name="rodape">
            <a:extLst>
              <a:ext uri="{FF2B5EF4-FFF2-40B4-BE49-F238E27FC236}">
                <a16:creationId xmlns:a16="http://schemas.microsoft.com/office/drawing/2014/main" id="{3298B6E0-7351-485B-8227-F97168F7CA4E}"/>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5B6D4AD3-AFF9-4447-9022-55E719156F94}"/>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120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8FC5624B-A02A-4939-8D67-172B38447D3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Revisão antes da demonstração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475FC124-81CB-4F66-80D3-DF1EA7B3F4A5}"/>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 dashboard útil tem pergunta, consulta e apresentação coerentes.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As anotações acrescentam contexto para interpretar o período observado.</a:t>
            </a:r>
          </a:p>
        </p:txBody>
      </p:sp>
      <p:sp>
        <p:nvSpPr>
          <p:cNvPr id="1057" name="apoio">
            <a:extLst>
              <a:ext uri="{FF2B5EF4-FFF2-40B4-BE49-F238E27FC236}">
                <a16:creationId xmlns:a16="http://schemas.microsoft.com/office/drawing/2014/main" id="{A855F5BD-EBD1-43C5-97A8-1282DFB714AA}"/>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Pergunta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Consulta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Visualização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Contexto</a:t>
            </a:r>
          </a:p>
        </p:txBody>
      </p:sp>
      <p:sp>
        <p:nvSpPr>
          <p:cNvPr id="1058" name="rodape">
            <a:extLst>
              <a:ext uri="{FF2B5EF4-FFF2-40B4-BE49-F238E27FC236}">
                <a16:creationId xmlns:a16="http://schemas.microsoft.com/office/drawing/2014/main" id="{F8E3E1EF-FB9D-43D8-B8D7-B9CB3493792C}"/>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8369290D-4AFD-48F1-8D08-015C05D77DE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121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DF6E649C-00AC-4106-8627-B8E018AC9B49}"/>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4</a:t>
            </a:r>
          </a:p>
        </p:txBody>
      </p:sp>
      <p:sp>
        <p:nvSpPr>
          <p:cNvPr id="121" name="titulo">
            <a:extLst>
              <a:ext uri="{FF2B5EF4-FFF2-40B4-BE49-F238E27FC236}">
                <a16:creationId xmlns:a16="http://schemas.microsoft.com/office/drawing/2014/main" id="{FB9D45FC-CD76-45E5-8519-46E391534E17}"/>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Demonstração</a:t>
            </a:r>
          </a:p>
        </p:txBody>
      </p:sp>
      <p:sp>
        <p:nvSpPr>
          <p:cNvPr id="122" name="subtitulo">
            <a:extLst>
              <a:ext uri="{FF2B5EF4-FFF2-40B4-BE49-F238E27FC236}">
                <a16:creationId xmlns:a16="http://schemas.microsoft.com/office/drawing/2014/main" id="{707CAF14-47CC-4C88-B77A-5A76ECEF1873}"/>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Professor apresenta · Aluno observa</a:t>
            </a:r>
          </a:p>
        </p:txBody>
      </p:sp>
      <p:sp>
        <p:nvSpPr>
          <p:cNvPr id="123" name="tempo">
            <a:extLst>
              <a:ext uri="{FF2B5EF4-FFF2-40B4-BE49-F238E27FC236}">
                <a16:creationId xmlns:a16="http://schemas.microsoft.com/office/drawing/2014/main" id="{8797A7CC-B4A0-4BA9-A949-7F4973C9F203}"/>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19h55  ·  Demonstração</a:t>
            </a:r>
          </a:p>
        </p:txBody>
      </p:sp>
      <p:sp>
        <p:nvSpPr>
          <p:cNvPr id="124" name="pagina">
            <a:extLst>
              <a:ext uri="{FF2B5EF4-FFF2-40B4-BE49-F238E27FC236}">
                <a16:creationId xmlns:a16="http://schemas.microsoft.com/office/drawing/2014/main" id="{FF3CA5B5-9093-42F9-983D-5D4AA9E089D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122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6E57EFDA-6729-497D-A254-39949CDF8BFF}"/>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Do Explore ao dashboard</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ED3D852C-A83D-4F0B-814D-AF2F25DA8516}"/>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Crie um dashboard e adicione uma visualização.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Selecione Prometheus e reutilize a consulta por rota.</a:t>
            </a:r>
          </a:p>
        </p:txBody>
      </p:sp>
      <p:pic>
        <p:nvPicPr>
          <p:cNvPr id="1057" name="Imagem 1056">
            <a:extLst>
              <a:ext uri="{FF2B5EF4-FFF2-40B4-BE49-F238E27FC236}">
                <a16:creationId xmlns:a16="http://schemas.microsoft.com/office/drawing/2014/main" id="{FCD8EEC8-C59E-42D9-AC3A-5F0CA65F9FC3}"/>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EFFEA890-5209-4013-8C4A-B0AD1A7B6088}"/>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10C97F8A-B1F8-414A-AB88-BCCC9E90C822}"/>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Demonstração  ·  Fábio Silva</a:t>
            </a:r>
          </a:p>
        </p:txBody>
      </p:sp>
      <p:sp>
        <p:nvSpPr>
          <p:cNvPr id="1060" name="pagina">
            <a:extLst>
              <a:ext uri="{FF2B5EF4-FFF2-40B4-BE49-F238E27FC236}">
                <a16:creationId xmlns:a16="http://schemas.microsoft.com/office/drawing/2014/main" id="{4B92AE19-74DF-4D37-976E-926EF2DA967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123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7D839C8-2091-414F-9A35-A03F8C2EB21B}"/>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Anotação manual</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5CE99513-F4AC-405C-A042-D1468A047205}"/>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anotação marca um evento no gráfico.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Registre uma alteração simulada com descrição suficiente para lembrar o que ocorreu.</a:t>
            </a:r>
          </a:p>
        </p:txBody>
      </p:sp>
      <p:pic>
        <p:nvPicPr>
          <p:cNvPr id="1057" name="Imagem 1056">
            <a:extLst>
              <a:ext uri="{FF2B5EF4-FFF2-40B4-BE49-F238E27FC236}">
                <a16:creationId xmlns:a16="http://schemas.microsoft.com/office/drawing/2014/main" id="{16A42739-6B22-4BE4-B5DC-410F301C3BFF}"/>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33CF2E77-0570-4A6E-819F-982D846D03FB}"/>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05D332C9-664B-4625-B43B-C2D45A5624E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Demonstração  ·  Fábio Silva</a:t>
            </a:r>
          </a:p>
        </p:txBody>
      </p:sp>
      <p:sp>
        <p:nvSpPr>
          <p:cNvPr id="1060" name="pagina">
            <a:extLst>
              <a:ext uri="{FF2B5EF4-FFF2-40B4-BE49-F238E27FC236}">
                <a16:creationId xmlns:a16="http://schemas.microsoft.com/office/drawing/2014/main" id="{C9E50650-3208-4E0F-B150-F83E6620EEE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124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79DD0922-C033-4D2A-BD27-15019C18050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Anotações vindas do Loki</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9D779EF-9DCE-428C-8C86-ACF9A2160381}"/>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Em Settings, abra Annotations.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Crie uma consulta na fonte Loki para exibir os erros no dashboard.</a:t>
            </a:r>
          </a:p>
        </p:txBody>
      </p:sp>
      <p:pic>
        <p:nvPicPr>
          <p:cNvPr id="1057" name="Imagem 1056">
            <a:extLst>
              <a:ext uri="{FF2B5EF4-FFF2-40B4-BE49-F238E27FC236}">
                <a16:creationId xmlns:a16="http://schemas.microsoft.com/office/drawing/2014/main" id="{843F038B-807F-4F24-879D-E59AAA34C2A1}"/>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6CB56FE8-6FEA-4EBD-90FD-B5B9D942735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5FA6E945-5B09-4542-BDC9-BE8B8D35F045}"/>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Demonstração  ·  Fábio Silva</a:t>
            </a:r>
          </a:p>
        </p:txBody>
      </p:sp>
      <p:sp>
        <p:nvSpPr>
          <p:cNvPr id="1060" name="pagina">
            <a:extLst>
              <a:ext uri="{FF2B5EF4-FFF2-40B4-BE49-F238E27FC236}">
                <a16:creationId xmlns:a16="http://schemas.microsoft.com/office/drawing/2014/main" id="{B2BEA44F-A347-41B9-9644-4E27F08DACA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125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2C69BABE-B28A-48CE-AC07-88E45AD5BD3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Demonstração no ambiente do professor</a:t>
            </a:r>
          </a:p>
        </p:txBody>
      </p:sp>
      <p:sp>
        <p:nvSpPr>
          <p:cNvPr id="2" name="titulo">
            <a:extLst>
              <a:ext uri="{FF2B5EF4-FFF2-40B4-BE49-F238E27FC236}">
                <a16:creationId xmlns:a16="http://schemas.microsoft.com/office/drawing/2014/main" id="{D611DA76-6665-43E8-A4C5-67C2DC8045D0}"/>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Painel criado pela interface</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0A1184B2-51F8-4871-9142-E39A899E2A33}"/>
              </a:ext>
            </a:extLst>
          </p:cNvPr>
          <p:cNvPicPr>
            <a:picLocks/>
          </p:cNvPicPr>
          <p:nvPr/>
        </p:nvPicPr>
        <p:blipFill>
          <a:blip r:embed="rId3"/>
          <a:stretch/>
        </p:blipFill>
        <p:spPr>
          <a:xfrm>
            <a:off x="3775364" y="1562100"/>
            <a:ext cx="5043608" cy="4216400"/>
          </a:xfrm>
          <a:prstGeom prst="rect">
            <a:avLst/>
          </a:prstGeom>
        </p:spPr>
      </p:pic>
      <p:sp>
        <p:nvSpPr>
          <p:cNvPr id="4" name="legenda">
            <a:extLst>
              <a:ext uri="{FF2B5EF4-FFF2-40B4-BE49-F238E27FC236}">
                <a16:creationId xmlns:a16="http://schemas.microsoft.com/office/drawing/2014/main" id="{2F40954F-74EB-4424-93A3-856AB7BE7154}"/>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Consulta, título e unidade foram configurados pelo navegador.</a:t>
            </a:r>
          </a:p>
        </p:txBody>
      </p:sp>
      <p:sp>
        <p:nvSpPr>
          <p:cNvPr id="5" name="pagina">
            <a:extLst>
              <a:ext uri="{FF2B5EF4-FFF2-40B4-BE49-F238E27FC236}">
                <a16:creationId xmlns:a16="http://schemas.microsoft.com/office/drawing/2014/main" id="{ABBD5902-7758-44AF-8A81-326F7D2819D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126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4106264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BCA14C05-721E-4E6E-9F08-4C0FB8B831F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Demonstração no ambiente do professor</a:t>
            </a:r>
          </a:p>
        </p:txBody>
      </p:sp>
      <p:sp>
        <p:nvSpPr>
          <p:cNvPr id="2" name="titulo">
            <a:extLst>
              <a:ext uri="{FF2B5EF4-FFF2-40B4-BE49-F238E27FC236}">
                <a16:creationId xmlns:a16="http://schemas.microsoft.com/office/drawing/2014/main" id="{E21A213D-2D9D-40BE-9B7D-1796815E27ED}"/>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Anotação manual do exercício</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23F350AD-5D79-45C6-8F98-711E14B8A35A}"/>
              </a:ext>
            </a:extLst>
          </p:cNvPr>
          <p:cNvPicPr>
            <a:picLocks/>
          </p:cNvPicPr>
          <p:nvPr/>
        </p:nvPicPr>
        <p:blipFill>
          <a:blip r:embed="rId3"/>
          <a:stretch/>
        </p:blipFill>
        <p:spPr>
          <a:xfrm>
            <a:off x="2836477" y="1562100"/>
            <a:ext cx="6921382" cy="4216400"/>
          </a:xfrm>
          <a:prstGeom prst="rect">
            <a:avLst/>
          </a:prstGeom>
        </p:spPr>
      </p:pic>
      <p:sp>
        <p:nvSpPr>
          <p:cNvPr id="4" name="legenda">
            <a:extLst>
              <a:ext uri="{FF2B5EF4-FFF2-40B4-BE49-F238E27FC236}">
                <a16:creationId xmlns:a16="http://schemas.microsoft.com/office/drawing/2014/main" id="{D89C3937-FDC7-42C7-9998-296906C6884C}"/>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Uma anotação registra contexto; a proximidade não comprova causa.</a:t>
            </a:r>
          </a:p>
        </p:txBody>
      </p:sp>
      <p:sp>
        <p:nvSpPr>
          <p:cNvPr id="5" name="pagina">
            <a:extLst>
              <a:ext uri="{FF2B5EF4-FFF2-40B4-BE49-F238E27FC236}">
                <a16:creationId xmlns:a16="http://schemas.microsoft.com/office/drawing/2014/main" id="{7ABB358D-6026-46DE-9769-BB1D690D6678}"/>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127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47864160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FE704C18-8699-499D-AA57-A611BB4EF1EA}"/>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Demonstração no ambiente do professor</a:t>
            </a:r>
          </a:p>
        </p:txBody>
      </p:sp>
      <p:sp>
        <p:nvSpPr>
          <p:cNvPr id="2" name="titulo">
            <a:extLst>
              <a:ext uri="{FF2B5EF4-FFF2-40B4-BE49-F238E27FC236}">
                <a16:creationId xmlns:a16="http://schemas.microsoft.com/office/drawing/2014/main" id="{8506E3F2-59F5-4070-A0D0-8864DB0E798E}"/>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Resultado salvo do exercício gráfico</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4D95CE34-44F0-48DC-9E2C-18E9AA1A3702}"/>
              </a:ext>
            </a:extLst>
          </p:cNvPr>
          <p:cNvPicPr>
            <a:picLocks/>
          </p:cNvPicPr>
          <p:nvPr/>
        </p:nvPicPr>
        <p:blipFill>
          <a:blip r:embed="rId3"/>
          <a:stretch/>
        </p:blipFill>
        <p:spPr>
          <a:xfrm>
            <a:off x="1511105" y="1562100"/>
            <a:ext cx="9572125" cy="4216400"/>
          </a:xfrm>
          <a:prstGeom prst="rect">
            <a:avLst/>
          </a:prstGeom>
        </p:spPr>
      </p:pic>
      <p:sp>
        <p:nvSpPr>
          <p:cNvPr id="4" name="legenda">
            <a:extLst>
              <a:ext uri="{FF2B5EF4-FFF2-40B4-BE49-F238E27FC236}">
                <a16:creationId xmlns:a16="http://schemas.microsoft.com/office/drawing/2014/main" id="{3FD8F3EF-2E86-47F6-AA3D-E30361441AF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Dashboard didático separado, salvo na pasta do professor.</a:t>
            </a:r>
          </a:p>
        </p:txBody>
      </p:sp>
      <p:sp>
        <p:nvSpPr>
          <p:cNvPr id="5" name="pagina">
            <a:extLst>
              <a:ext uri="{FF2B5EF4-FFF2-40B4-BE49-F238E27FC236}">
                <a16:creationId xmlns:a16="http://schemas.microsoft.com/office/drawing/2014/main" id="{50DEAA00-D36A-4860-8DD2-5816C74D646B}"/>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128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110935781"/>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E1CCB07-1427-41D3-BE20-09FBC892688D}"/>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Intervalo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1B1BF58-E332-47C6-9AE2-FC56B03B5854}"/>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Pausa de 25 minutos.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Na volta, o professor apresentará os exercícios comentados antes da prática individual.</a:t>
            </a:r>
          </a:p>
        </p:txBody>
      </p:sp>
      <p:sp>
        <p:nvSpPr>
          <p:cNvPr id="1057" name="apoio">
            <a:extLst>
              <a:ext uri="{FF2B5EF4-FFF2-40B4-BE49-F238E27FC236}">
                <a16:creationId xmlns:a16="http://schemas.microsoft.com/office/drawing/2014/main" id="{20495A5F-0E89-455D-BE32-D5138AA10614}"/>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20h20–20h45</a:t>
            </a:r>
          </a:p>
        </p:txBody>
      </p:sp>
      <p:sp>
        <p:nvSpPr>
          <p:cNvPr id="1058" name="rodape">
            <a:extLst>
              <a:ext uri="{FF2B5EF4-FFF2-40B4-BE49-F238E27FC236}">
                <a16:creationId xmlns:a16="http://schemas.microsoft.com/office/drawing/2014/main" id="{48111E59-9231-433D-B133-66A5FA81966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Intervalo  ·  Fábio Silva</a:t>
            </a:r>
          </a:p>
        </p:txBody>
      </p:sp>
      <p:sp>
        <p:nvSpPr>
          <p:cNvPr id="1059" name="pagina">
            <a:extLst>
              <a:ext uri="{FF2B5EF4-FFF2-40B4-BE49-F238E27FC236}">
                <a16:creationId xmlns:a16="http://schemas.microsoft.com/office/drawing/2014/main" id="{E0B7DB46-1F27-41DB-B087-EBEFDF48E6F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129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B34CAF54-AB3C-46E1-A7C4-B1DEB5370066}"/>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4</a:t>
            </a:r>
          </a:p>
        </p:txBody>
      </p:sp>
      <p:sp>
        <p:nvSpPr>
          <p:cNvPr id="121" name="titulo">
            <a:extLst>
              <a:ext uri="{FF2B5EF4-FFF2-40B4-BE49-F238E27FC236}">
                <a16:creationId xmlns:a16="http://schemas.microsoft.com/office/drawing/2014/main" id="{BE0C36C9-E78F-4E76-9EFA-F1E95570F9B5}"/>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Exercícios</a:t>
            </a:r>
          </a:p>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comentados</a:t>
            </a:r>
          </a:p>
        </p:txBody>
      </p:sp>
      <p:sp>
        <p:nvSpPr>
          <p:cNvPr id="122" name="subtitulo">
            <a:extLst>
              <a:ext uri="{FF2B5EF4-FFF2-40B4-BE49-F238E27FC236}">
                <a16:creationId xmlns:a16="http://schemas.microsoft.com/office/drawing/2014/main" id="{9EB62468-F5CA-40D0-ACCA-EDD75924A9F9}"/>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Professor explica · Turma acompanha</a:t>
            </a:r>
          </a:p>
        </p:txBody>
      </p:sp>
      <p:sp>
        <p:nvSpPr>
          <p:cNvPr id="123" name="tempo">
            <a:extLst>
              <a:ext uri="{FF2B5EF4-FFF2-40B4-BE49-F238E27FC236}">
                <a16:creationId xmlns:a16="http://schemas.microsoft.com/office/drawing/2014/main" id="{0899DD94-A6D5-45BD-B1F0-91C4D6BCBD11}"/>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20h45  ·  Exercícios comentados</a:t>
            </a:r>
          </a:p>
        </p:txBody>
      </p:sp>
      <p:sp>
        <p:nvSpPr>
          <p:cNvPr id="124" name="pagina">
            <a:extLst>
              <a:ext uri="{FF2B5EF4-FFF2-40B4-BE49-F238E27FC236}">
                <a16:creationId xmlns:a16="http://schemas.microsoft.com/office/drawing/2014/main" id="{F9C7C132-5EA9-4AF5-9041-4F8D9A5FA8B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130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tapa">
            <a:extLst>
              <a:ext uri="{FF2B5EF4-FFF2-40B4-BE49-F238E27FC236}">
                <a16:creationId xmlns:a16="http://schemas.microsoft.com/office/drawing/2014/main" id="{0A335FF6-C01B-492B-B691-E85E93C0351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Exercícios comentados · Configuração no navegador</a:t>
            </a:r>
          </a:p>
        </p:txBody>
      </p:sp>
      <p:sp>
        <p:nvSpPr>
          <p:cNvPr id="2" name="titulo">
            <a:extLst>
              <a:ext uri="{FF2B5EF4-FFF2-40B4-BE49-F238E27FC236}">
                <a16:creationId xmlns:a16="http://schemas.microsoft.com/office/drawing/2014/main" id="{0DBD5913-69DF-41D8-BAB2-1121826541BC}"/>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4.1 — Criar e salvar um dashboard</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1FAAAC3B-199E-4F25-916E-52E332F4E1E6}"/>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Crie um dashboard da aplicação.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Adicione uma visualização Prometheus com a consulta por rota.</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Configure Time series, título Tráfego por rota, unidade e legenda.</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Salve com seu nome ou identificação da turma e reabra para conferir.</a:t>
            </a:r>
          </a:p>
        </p:txBody>
      </p:sp>
      <p:sp>
        <p:nvSpPr>
          <p:cNvPr id="4" name="consulta">
            <a:extLst>
              <a:ext uri="{FF2B5EF4-FFF2-40B4-BE49-F238E27FC236}">
                <a16:creationId xmlns:a16="http://schemas.microsoft.com/office/drawing/2014/main" id="{31005DF6-4C30-44A3-B1BB-0DF9C64AF4E4}"/>
              </a:ext>
            </a:extLst>
          </p:cNvPr>
          <p:cNvSpPr>
            <a:spLocks noGrp="1"/>
          </p:cNvSpPr>
          <p:nvPr/>
        </p:nvSpPr>
        <p:spPr>
          <a:xfrm>
            <a:off x="1039368" y="3691572"/>
            <a:ext cx="10515600" cy="761047"/>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defRPr sz="1725" b="0">
                <a:solidFill>
                  <a:srgbClr val="40760F"/>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sum(rate(tns_request_duration_seconds_count[5m])) by (route)</a:t>
            </a:r>
          </a:p>
        </p:txBody>
      </p:sp>
      <p:sp>
        <p:nvSpPr>
          <p:cNvPr id="5" name="comentario">
            <a:extLst>
              <a:ext uri="{FF2B5EF4-FFF2-40B4-BE49-F238E27FC236}">
                <a16:creationId xmlns:a16="http://schemas.microsoft.com/office/drawing/2014/main" id="{1A9F9A92-D71D-4823-893B-A2C3CDEF9DBB}"/>
              </a:ext>
            </a:extLst>
          </p:cNvPr>
          <p:cNvSpPr>
            <a:spLocks noGrp="1"/>
          </p:cNvSpPr>
          <p:nvPr/>
        </p:nvSpPr>
        <p:spPr>
          <a:xfrm>
            <a:off x="1039368" y="454215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lang="pt-BR" sz="1700">
                <a:solidFill>
                  <a:srgbClr val="5F5F5F"/>
                </a:solidFill>
                <a:latin typeface="Segoe UI" panose="020B0502040204020203" pitchFamily="34" charset="0"/>
                <a:ea typeface="Trebuchet MS"/>
                <a:cs typeface="Trebuchet MS"/>
              </a:rPr>
              <a:t>Comentário do professor: Comente consulta, unidade e salvamento. Há arquivos prontos em exemplos-importaveis para consulta opcional. A atividade principal continua sendo a criação manual.</a:t>
            </a:r>
            <a:endParaRPr sz="1700">
              <a:solidFill>
                <a:srgbClr val="5F5F5F"/>
              </a:solidFill>
              <a:latin typeface="Segoe UI" panose="020B0502040204020203" pitchFamily="34" charset="0"/>
              <a:ea typeface="Trebuchet MS"/>
              <a:cs typeface="Trebuchet MS"/>
            </a:endParaRPr>
          </a:p>
        </p:txBody>
      </p:sp>
      <p:sp>
        <p:nvSpPr>
          <p:cNvPr id="6" name="resultado">
            <a:extLst>
              <a:ext uri="{FF2B5EF4-FFF2-40B4-BE49-F238E27FC236}">
                <a16:creationId xmlns:a16="http://schemas.microsoft.com/office/drawing/2014/main" id="{1C0172C1-C308-4E4D-B285-82BA1E1A6871}"/>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Dashboard salvo, legível e com consulta coerente.</a:t>
            </a:r>
          </a:p>
        </p:txBody>
      </p:sp>
      <p:sp>
        <p:nvSpPr>
          <p:cNvPr id="7" name="pagina">
            <a:extLst>
              <a:ext uri="{FF2B5EF4-FFF2-40B4-BE49-F238E27FC236}">
                <a16:creationId xmlns:a16="http://schemas.microsoft.com/office/drawing/2014/main" id="{A41C9048-12A1-4ADF-8863-3A0B3581D5D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131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6BC50F6E-505B-406B-B20E-175AF80CDE3B}"/>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Exercícios comentados · Navegação e configuração</a:t>
            </a:r>
          </a:p>
        </p:txBody>
      </p:sp>
      <p:sp>
        <p:nvSpPr>
          <p:cNvPr id="2" name="titulo">
            <a:extLst>
              <a:ext uri="{FF2B5EF4-FFF2-40B4-BE49-F238E27FC236}">
                <a16:creationId xmlns:a16="http://schemas.microsoft.com/office/drawing/2014/main" id="{177D1F09-EC89-4198-8C1D-28938BB00712}"/>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4.2 — Registrar um evento manual</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59AB424C-B318-4238-9297-BC1A5CD4FCCC}"/>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Execute uma ação conhecida na aplicação.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Adicione uma anotação manual com descrição e horário.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Se representar um teste com duração, use uma região.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Salve o dashboard.</a:t>
            </a:r>
          </a:p>
        </p:txBody>
      </p:sp>
      <p:sp>
        <p:nvSpPr>
          <p:cNvPr id="4" name="comentario">
            <a:extLst>
              <a:ext uri="{FF2B5EF4-FFF2-40B4-BE49-F238E27FC236}">
                <a16:creationId xmlns:a16="http://schemas.microsoft.com/office/drawing/2014/main" id="{74D2A155-1F08-4BDC-899E-ED09B21D2F56}"/>
              </a:ext>
            </a:extLst>
          </p:cNvPr>
          <p:cNvSpPr>
            <a:spLocks noGrp="1"/>
          </p:cNvSpPr>
          <p:nvPr/>
        </p:nvSpPr>
        <p:spPr>
          <a:xfrm>
            <a:off x="1039368" y="382587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Mostre o menu ou atalho presente na versão do laboratório. Comente o que deve aparecer na descrição para outra pessoa entender o evento.</a:t>
            </a:r>
          </a:p>
        </p:txBody>
      </p:sp>
      <p:sp>
        <p:nvSpPr>
          <p:cNvPr id="5" name="resultado">
            <a:extLst>
              <a:ext uri="{FF2B5EF4-FFF2-40B4-BE49-F238E27FC236}">
                <a16:creationId xmlns:a16="http://schemas.microsoft.com/office/drawing/2014/main" id="{F82BB7CD-6DA7-49FF-92AA-21BC4EC34C91}"/>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Anotação que descreve uma ação realmente executada.</a:t>
            </a:r>
          </a:p>
        </p:txBody>
      </p:sp>
      <p:sp>
        <p:nvSpPr>
          <p:cNvPr id="6" name="pagina">
            <a:extLst>
              <a:ext uri="{FF2B5EF4-FFF2-40B4-BE49-F238E27FC236}">
                <a16:creationId xmlns:a16="http://schemas.microsoft.com/office/drawing/2014/main" id="{FC144410-EC89-463C-802C-19FC3DE40F7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132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tapa">
            <a:extLst>
              <a:ext uri="{FF2B5EF4-FFF2-40B4-BE49-F238E27FC236}">
                <a16:creationId xmlns:a16="http://schemas.microsoft.com/office/drawing/2014/main" id="{E8837B3A-74ED-4147-B2B5-3678F2DD8A99}"/>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Exercícios comentados · Consulta e configuração</a:t>
            </a:r>
          </a:p>
        </p:txBody>
      </p:sp>
      <p:sp>
        <p:nvSpPr>
          <p:cNvPr id="2" name="titulo">
            <a:extLst>
              <a:ext uri="{FF2B5EF4-FFF2-40B4-BE49-F238E27FC236}">
                <a16:creationId xmlns:a16="http://schemas.microsoft.com/office/drawing/2014/main" id="{1143F9C2-BFE7-4E59-B35E-5208A37A4049}"/>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4.3 — Exibir erros como anotações</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0B62BC00-D7B6-4184-B238-F42CD0741069}"/>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Em Settings e Annotations, adicione uma consulta chamada Erros da aplicação.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Selecione Loki e use o filtro de erro.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Ative a consulta, salve e provoque outro erro na aplicação.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Localize a anotação e explique a relação temporal com o gráfico.</a:t>
            </a:r>
          </a:p>
        </p:txBody>
      </p:sp>
      <p:sp>
        <p:nvSpPr>
          <p:cNvPr id="4" name="consulta">
            <a:extLst>
              <a:ext uri="{FF2B5EF4-FFF2-40B4-BE49-F238E27FC236}">
                <a16:creationId xmlns:a16="http://schemas.microsoft.com/office/drawing/2014/main" id="{5EC7F9C6-5717-4810-8676-779BB4AD1B7B}"/>
              </a:ext>
            </a:extLst>
          </p:cNvPr>
          <p:cNvSpPr>
            <a:spLocks noGrp="1"/>
          </p:cNvSpPr>
          <p:nvPr/>
        </p:nvSpPr>
        <p:spPr>
          <a:xfrm>
            <a:off x="1039368" y="3691572"/>
            <a:ext cx="10515600" cy="761047"/>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defRPr sz="1725" b="0">
                <a:solidFill>
                  <a:srgbClr val="40760F"/>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{filename="/var/log/tns-app.log"} |= "error"</a:t>
            </a:r>
          </a:p>
        </p:txBody>
      </p:sp>
      <p:sp>
        <p:nvSpPr>
          <p:cNvPr id="5" name="comentario">
            <a:extLst>
              <a:ext uri="{FF2B5EF4-FFF2-40B4-BE49-F238E27FC236}">
                <a16:creationId xmlns:a16="http://schemas.microsoft.com/office/drawing/2014/main" id="{7806EB0C-E8CD-4291-A8AA-FB064D824AE0}"/>
              </a:ext>
            </a:extLst>
          </p:cNvPr>
          <p:cNvSpPr>
            <a:spLocks noGrp="1"/>
          </p:cNvSpPr>
          <p:nvPr/>
        </p:nvSpPr>
        <p:spPr>
          <a:xfrm>
            <a:off x="1039368" y="454215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Comente a fonte Loki, a consulta e o período. Não apresentar a proximidade temporal como prova automática de causa.</a:t>
            </a:r>
          </a:p>
        </p:txBody>
      </p:sp>
      <p:sp>
        <p:nvSpPr>
          <p:cNvPr id="6" name="resultado">
            <a:extLst>
              <a:ext uri="{FF2B5EF4-FFF2-40B4-BE49-F238E27FC236}">
                <a16:creationId xmlns:a16="http://schemas.microsoft.com/office/drawing/2014/main" id="{D5940AF0-B774-45E2-B4DD-F0D0114FCF5A}"/>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Consulta de anotações ativa e evento encontrado.</a:t>
            </a:r>
          </a:p>
        </p:txBody>
      </p:sp>
      <p:sp>
        <p:nvSpPr>
          <p:cNvPr id="7" name="pagina">
            <a:extLst>
              <a:ext uri="{FF2B5EF4-FFF2-40B4-BE49-F238E27FC236}">
                <a16:creationId xmlns:a16="http://schemas.microsoft.com/office/drawing/2014/main" id="{7E68E076-98A9-4051-A128-418D618AD30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133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3463102A-EB58-4BE5-B9D3-C947C526B44F}"/>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4</a:t>
            </a:r>
          </a:p>
        </p:txBody>
      </p:sp>
      <p:sp>
        <p:nvSpPr>
          <p:cNvPr id="121" name="titulo">
            <a:extLst>
              <a:ext uri="{FF2B5EF4-FFF2-40B4-BE49-F238E27FC236}">
                <a16:creationId xmlns:a16="http://schemas.microsoft.com/office/drawing/2014/main" id="{7569F6D1-AACF-4DA4-9375-AB23A7860EC3}"/>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Prática do aluno</a:t>
            </a:r>
          </a:p>
        </p:txBody>
      </p:sp>
      <p:sp>
        <p:nvSpPr>
          <p:cNvPr id="122" name="subtitulo">
            <a:extLst>
              <a:ext uri="{FF2B5EF4-FFF2-40B4-BE49-F238E27FC236}">
                <a16:creationId xmlns:a16="http://schemas.microsoft.com/office/drawing/2014/main" id="{2FD1427F-291E-4CF4-A56C-7DDF07E686D3}"/>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Receba a folha · Execute no seu ambiente</a:t>
            </a:r>
          </a:p>
        </p:txBody>
      </p:sp>
      <p:sp>
        <p:nvSpPr>
          <p:cNvPr id="123" name="tempo">
            <a:extLst>
              <a:ext uri="{FF2B5EF4-FFF2-40B4-BE49-F238E27FC236}">
                <a16:creationId xmlns:a16="http://schemas.microsoft.com/office/drawing/2014/main" id="{A2CFCFB0-D120-4348-916E-0ECA560E7AF5}"/>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21h00  ·  Prática do aluno</a:t>
            </a:r>
          </a:p>
        </p:txBody>
      </p:sp>
      <p:sp>
        <p:nvSpPr>
          <p:cNvPr id="124" name="pagina">
            <a:extLst>
              <a:ext uri="{FF2B5EF4-FFF2-40B4-BE49-F238E27FC236}">
                <a16:creationId xmlns:a16="http://schemas.microsoft.com/office/drawing/2014/main" id="{5F771188-318C-42C0-B8BE-76F65334FCF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134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FC3BBDA-1B8A-46E6-AFB8-AB314623277C}"/>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Agora é com você</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94A3D74-7829-482A-B472-800A3A987AF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Execute as tarefas da folha da noite.</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Registre consultas, resultados e dúvidas. Peça ajuda quando encontrar um bloqueio e preserve seu trabalho.</a:t>
            </a:r>
          </a:p>
        </p:txBody>
      </p:sp>
      <p:sp>
        <p:nvSpPr>
          <p:cNvPr id="1057" name="apoio">
            <a:extLst>
              <a:ext uri="{FF2B5EF4-FFF2-40B4-BE49-F238E27FC236}">
                <a16:creationId xmlns:a16="http://schemas.microsoft.com/office/drawing/2014/main" id="{E7057E4B-98B0-4653-A644-2A95D47F2AAD}"/>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450">
                <a:solidFill>
                  <a:srgbClr val="3D588B"/>
                </a:solidFill>
                <a:latin typeface="Segoe UI" panose="020B0502040204020203" pitchFamily="34" charset="0"/>
                <a:ea typeface="Trebuchet MS"/>
                <a:cs typeface="Trebuchet MS"/>
              </a:rPr>
              <a:t>4.1  Criar e salvar um dashboard</a:t>
            </a:r>
          </a:p>
          <a:p>
            <a:endParaRPr sz="245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450">
                <a:solidFill>
                  <a:srgbClr val="3D588B"/>
                </a:solidFill>
                <a:latin typeface="Segoe UI" panose="020B0502040204020203" pitchFamily="34" charset="0"/>
                <a:ea typeface="Trebuchet MS"/>
                <a:cs typeface="Trebuchet MS"/>
              </a:rPr>
              <a:t>4.2  Registrar um evento manual</a:t>
            </a:r>
          </a:p>
          <a:p>
            <a:endParaRPr sz="245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450">
                <a:solidFill>
                  <a:srgbClr val="3D588B"/>
                </a:solidFill>
                <a:latin typeface="Segoe UI" panose="020B0502040204020203" pitchFamily="34" charset="0"/>
                <a:ea typeface="Trebuchet MS"/>
                <a:cs typeface="Trebuchet MS"/>
              </a:rPr>
              <a:t>4.3  Exibir erros como anotações</a:t>
            </a:r>
          </a:p>
        </p:txBody>
      </p:sp>
      <p:sp>
        <p:nvSpPr>
          <p:cNvPr id="1058" name="rodape">
            <a:extLst>
              <a:ext uri="{FF2B5EF4-FFF2-40B4-BE49-F238E27FC236}">
                <a16:creationId xmlns:a16="http://schemas.microsoft.com/office/drawing/2014/main" id="{AB7896CF-A872-477C-8241-110B9FE3C19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Prática do aluno  ·  Fábio Silva</a:t>
            </a:r>
          </a:p>
        </p:txBody>
      </p:sp>
      <p:sp>
        <p:nvSpPr>
          <p:cNvPr id="1059" name="pagina">
            <a:extLst>
              <a:ext uri="{FF2B5EF4-FFF2-40B4-BE49-F238E27FC236}">
                <a16:creationId xmlns:a16="http://schemas.microsoft.com/office/drawing/2014/main" id="{207350DB-4115-4833-A642-550F89C4F83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135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D38D0BBD-36BB-41CA-B9EB-CABD5E939C51}"/>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Correção e fechamento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60E57370-3F67-4984-9505-5889A2C524C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Apresente uma evidência do que foi executado e explique o resultado.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Compare com os critérios da folha e registre o que precisa revisar.</a:t>
            </a:r>
          </a:p>
        </p:txBody>
      </p:sp>
      <p:sp>
        <p:nvSpPr>
          <p:cNvPr id="1057" name="apoio">
            <a:extLst>
              <a:ext uri="{FF2B5EF4-FFF2-40B4-BE49-F238E27FC236}">
                <a16:creationId xmlns:a16="http://schemas.microsoft.com/office/drawing/2014/main" id="{47D5922B-DB9E-411B-9CA3-27FCA3F7AB9C}"/>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executei?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observei?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Como interpreto?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ficou pendente?</a:t>
            </a:r>
          </a:p>
        </p:txBody>
      </p:sp>
      <p:sp>
        <p:nvSpPr>
          <p:cNvPr id="1058" name="rodape">
            <a:extLst>
              <a:ext uri="{FF2B5EF4-FFF2-40B4-BE49-F238E27FC236}">
                <a16:creationId xmlns:a16="http://schemas.microsoft.com/office/drawing/2014/main" id="{1AAE992C-0957-4045-A741-0DAF61756E7D}"/>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Correção  ·  Fábio Silva</a:t>
            </a:r>
          </a:p>
        </p:txBody>
      </p:sp>
      <p:sp>
        <p:nvSpPr>
          <p:cNvPr id="1059" name="pagina">
            <a:extLst>
              <a:ext uri="{FF2B5EF4-FFF2-40B4-BE49-F238E27FC236}">
                <a16:creationId xmlns:a16="http://schemas.microsoft.com/office/drawing/2014/main" id="{0B0CD7E1-9E2F-4FA8-883C-AA1151E0362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136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11FEA460-A798-40DC-BD1C-74B9114959D6}"/>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5</a:t>
            </a:r>
          </a:p>
        </p:txBody>
      </p:sp>
      <p:sp>
        <p:nvSpPr>
          <p:cNvPr id="121" name="titulo">
            <a:extLst>
              <a:ext uri="{FF2B5EF4-FFF2-40B4-BE49-F238E27FC236}">
                <a16:creationId xmlns:a16="http://schemas.microsoft.com/office/drawing/2014/main" id="{F353A605-DF1B-4EDC-BA06-AA75464470DF}"/>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Alertas e projeto final</a:t>
            </a:r>
          </a:p>
        </p:txBody>
      </p:sp>
      <p:sp>
        <p:nvSpPr>
          <p:cNvPr id="122" name="subtitulo">
            <a:extLst>
              <a:ext uri="{FF2B5EF4-FFF2-40B4-BE49-F238E27FC236}">
                <a16:creationId xmlns:a16="http://schemas.microsoft.com/office/drawing/2014/main" id="{95A92C72-7684-4842-8200-8A74B5EA03D4}"/>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Condições, notificações e validação</a:t>
            </a:r>
          </a:p>
        </p:txBody>
      </p:sp>
      <p:sp>
        <p:nvSpPr>
          <p:cNvPr id="123" name="tempo">
            <a:extLst>
              <a:ext uri="{FF2B5EF4-FFF2-40B4-BE49-F238E27FC236}">
                <a16:creationId xmlns:a16="http://schemas.microsoft.com/office/drawing/2014/main" id="{C16779E2-D362-49C6-8070-6AFC1FA3EC95}"/>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18h30  ·  Teoria</a:t>
            </a:r>
          </a:p>
        </p:txBody>
      </p:sp>
      <p:sp>
        <p:nvSpPr>
          <p:cNvPr id="124" name="pagina">
            <a:extLst>
              <a:ext uri="{FF2B5EF4-FFF2-40B4-BE49-F238E27FC236}">
                <a16:creationId xmlns:a16="http://schemas.microsoft.com/office/drawing/2014/main" id="{1821FBD4-3880-49E3-BA04-1BB3285127B1}"/>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137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1F8A5582-222B-4002-BB15-CBEEDAEE2A8D}"/>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 que dispara um alerta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BBC601B-4CF6-4B37-9EA0-4C2CC4FB35C6}"/>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regra avalia dados e verifica uma condição.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 ponto de contato define para onde enviar a notificação.</a:t>
            </a:r>
          </a:p>
        </p:txBody>
      </p:sp>
      <p:sp>
        <p:nvSpPr>
          <p:cNvPr id="1057" name="apoio">
            <a:extLst>
              <a:ext uri="{FF2B5EF4-FFF2-40B4-BE49-F238E27FC236}">
                <a16:creationId xmlns:a16="http://schemas.microsoft.com/office/drawing/2014/main" id="{12EA5A3B-52F6-4971-944B-DAA802297695}"/>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Regra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Quando avisar</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Ponto de contato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Onde avisar</a:t>
            </a:r>
          </a:p>
        </p:txBody>
      </p:sp>
      <p:sp>
        <p:nvSpPr>
          <p:cNvPr id="1058" name="rodape">
            <a:extLst>
              <a:ext uri="{FF2B5EF4-FFF2-40B4-BE49-F238E27FC236}">
                <a16:creationId xmlns:a16="http://schemas.microsoft.com/office/drawing/2014/main" id="{4C6923C7-6320-40FE-9411-1C6EDBC863F8}"/>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F6271E9A-AA1E-4310-8A7E-A49E1824311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138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84EDE08E-319B-484F-A231-A637F2DDA4ED}"/>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Regra, instância e mensagem</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D1425650-55D3-4844-8866-848D98170E05}"/>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regra define o cálculo e a condição.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avaliação pode criar instâncias de alerta. A notificação comunica o estado ao contato configurado.</a:t>
            </a:r>
          </a:p>
        </p:txBody>
      </p:sp>
      <p:sp>
        <p:nvSpPr>
          <p:cNvPr id="1057" name="apoio">
            <a:extLst>
              <a:ext uri="{FF2B5EF4-FFF2-40B4-BE49-F238E27FC236}">
                <a16:creationId xmlns:a16="http://schemas.microsoft.com/office/drawing/2014/main" id="{CE2E6667-BBEF-4B26-85CC-3F81E199373F}"/>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Regra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Definição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Instância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Resultado por dimensão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Mensagem</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Comunicação</a:t>
            </a:r>
          </a:p>
        </p:txBody>
      </p:sp>
      <p:sp>
        <p:nvSpPr>
          <p:cNvPr id="1058" name="rodape">
            <a:extLst>
              <a:ext uri="{FF2B5EF4-FFF2-40B4-BE49-F238E27FC236}">
                <a16:creationId xmlns:a16="http://schemas.microsoft.com/office/drawing/2014/main" id="{71CD1494-1781-4B90-B7DE-27A41B648BCD}"/>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C294C321-F937-4D63-B510-84DA316D0F1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139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A5EB6F3-B6F6-4958-8558-8EB46F1B2CFB}"/>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Consulta da regra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E81DD4B-9943-4C64-B3E2-6ECF5ECB6D3A}"/>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Use Prometheus e a consulta de tráfego por rota.</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Confira o resultado antes de definir o limite.</a:t>
            </a:r>
          </a:p>
        </p:txBody>
      </p:sp>
      <p:sp>
        <p:nvSpPr>
          <p:cNvPr id="1057" name="apoio">
            <a:extLst>
              <a:ext uri="{FF2B5EF4-FFF2-40B4-BE49-F238E27FC236}">
                <a16:creationId xmlns:a16="http://schemas.microsoft.com/office/drawing/2014/main" id="{E158CC57-DD5F-4B2D-8E00-0AF8333413D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defRPr sz="2025" b="0">
                <a:solidFill>
                  <a:srgbClr val="40760F"/>
                </a:solidFill>
                <a:latin typeface="Trebuchet MS"/>
                <a:ea typeface="Trebuchet MS"/>
                <a:cs typeface="Trebuchet MS"/>
              </a:defRPr>
            </a:pPr>
            <a:r>
              <a:rPr sz="2000">
                <a:solidFill>
                  <a:srgbClr val="3D588B"/>
                </a:solidFill>
                <a:latin typeface="Segoe UI" panose="020B0502040204020203" pitchFamily="34" charset="0"/>
                <a:ea typeface="Trebuchet MS"/>
                <a:cs typeface="Trebuchet MS"/>
              </a:rPr>
              <a:t>sum(</a:t>
            </a:r>
          </a:p>
          <a:p>
            <a:pPr>
              <a:defRPr sz="2025" b="0">
                <a:solidFill>
                  <a:srgbClr val="40760F"/>
                </a:solidFill>
                <a:latin typeface="Trebuchet MS"/>
                <a:ea typeface="Trebuchet MS"/>
                <a:cs typeface="Trebuchet MS"/>
              </a:defRPr>
            </a:pPr>
            <a:r>
              <a:rPr sz="2000">
                <a:solidFill>
                  <a:srgbClr val="3D588B"/>
                </a:solidFill>
                <a:latin typeface="Segoe UI" panose="020B0502040204020203" pitchFamily="34" charset="0"/>
                <a:ea typeface="Trebuchet MS"/>
                <a:cs typeface="Trebuchet MS"/>
              </a:rPr>
              <a:t> rate(</a:t>
            </a:r>
          </a:p>
          <a:p>
            <a:pPr>
              <a:defRPr sz="2025" b="0">
                <a:solidFill>
                  <a:srgbClr val="40760F"/>
                </a:solidFill>
                <a:latin typeface="Trebuchet MS"/>
                <a:ea typeface="Trebuchet MS"/>
                <a:cs typeface="Trebuchet MS"/>
              </a:defRPr>
            </a:pPr>
            <a:r>
              <a:rPr sz="2000">
                <a:solidFill>
                  <a:srgbClr val="3D588B"/>
                </a:solidFill>
                <a:latin typeface="Segoe UI" panose="020B0502040204020203" pitchFamily="34" charset="0"/>
                <a:ea typeface="Trebuchet MS"/>
                <a:cs typeface="Trebuchet MS"/>
              </a:rPr>
              <a:t>  tns_request_duration_seconds_count</a:t>
            </a:r>
          </a:p>
          <a:p>
            <a:pPr>
              <a:defRPr sz="2025" b="0">
                <a:solidFill>
                  <a:srgbClr val="40760F"/>
                </a:solidFill>
                <a:latin typeface="Trebuchet MS"/>
                <a:ea typeface="Trebuchet MS"/>
                <a:cs typeface="Trebuchet MS"/>
              </a:defRPr>
            </a:pPr>
            <a:r>
              <a:rPr sz="2000">
                <a:solidFill>
                  <a:srgbClr val="3D588B"/>
                </a:solidFill>
                <a:latin typeface="Segoe UI" panose="020B0502040204020203" pitchFamily="34" charset="0"/>
                <a:ea typeface="Trebuchet MS"/>
                <a:cs typeface="Trebuchet MS"/>
              </a:rPr>
              <a:t>  [5m]</a:t>
            </a:r>
          </a:p>
          <a:p>
            <a:pPr>
              <a:defRPr sz="2025" b="0">
                <a:solidFill>
                  <a:srgbClr val="40760F"/>
                </a:solidFill>
                <a:latin typeface="Trebuchet MS"/>
                <a:ea typeface="Trebuchet MS"/>
                <a:cs typeface="Trebuchet MS"/>
              </a:defRPr>
            </a:pPr>
            <a:r>
              <a:rPr sz="2000">
                <a:solidFill>
                  <a:srgbClr val="3D588B"/>
                </a:solidFill>
                <a:latin typeface="Segoe UI" panose="020B0502040204020203" pitchFamily="34" charset="0"/>
                <a:ea typeface="Trebuchet MS"/>
                <a:cs typeface="Trebuchet MS"/>
              </a:rPr>
              <a:t> )</a:t>
            </a:r>
          </a:p>
          <a:p>
            <a:pPr>
              <a:defRPr sz="2025" b="0">
                <a:solidFill>
                  <a:srgbClr val="40760F"/>
                </a:solidFill>
                <a:latin typeface="Trebuchet MS"/>
                <a:ea typeface="Trebuchet MS"/>
                <a:cs typeface="Trebuchet MS"/>
              </a:defRPr>
            </a:pPr>
            <a:r>
              <a:rPr sz="2000">
                <a:solidFill>
                  <a:srgbClr val="3D588B"/>
                </a:solidFill>
                <a:latin typeface="Segoe UI" panose="020B0502040204020203" pitchFamily="34" charset="0"/>
                <a:ea typeface="Trebuchet MS"/>
                <a:cs typeface="Trebuchet MS"/>
              </a:rPr>
              <a:t>) by (route)</a:t>
            </a:r>
          </a:p>
        </p:txBody>
      </p:sp>
      <p:sp>
        <p:nvSpPr>
          <p:cNvPr id="1058" name="rodape">
            <a:extLst>
              <a:ext uri="{FF2B5EF4-FFF2-40B4-BE49-F238E27FC236}">
                <a16:creationId xmlns:a16="http://schemas.microsoft.com/office/drawing/2014/main" id="{D4F1102C-F762-4977-8D9B-89F76DF3D5F9}"/>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1FCDE4A6-4AE0-4257-808C-57D5DF435EF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140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AF03E69D-6F5F-401E-BC74-65CB37952D6F}"/>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 B e C</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A7D689E6-0A1A-48E3-A578-6BF90354ACB6}"/>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A consulta produz os dados.</a:t>
            </a:r>
          </a:p>
          <a:p>
            <a:endParaRPr sz="215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A redução gera o valor avaliado por série. A condição compara esse valor com o limite.</a:t>
            </a:r>
          </a:p>
        </p:txBody>
      </p:sp>
      <p:sp>
        <p:nvSpPr>
          <p:cNvPr id="1057" name="apoio">
            <a:extLst>
              <a:ext uri="{FF2B5EF4-FFF2-40B4-BE49-F238E27FC236}">
                <a16:creationId xmlns:a16="http://schemas.microsoft.com/office/drawing/2014/main" id="{71BADE1C-752D-4B1A-A669-15F0392A19DE}"/>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  Consulta</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B  Reduce / Last</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  Threshold</a:t>
            </a:r>
          </a:p>
        </p:txBody>
      </p:sp>
      <p:sp>
        <p:nvSpPr>
          <p:cNvPr id="1058" name="rodape">
            <a:extLst>
              <a:ext uri="{FF2B5EF4-FFF2-40B4-BE49-F238E27FC236}">
                <a16:creationId xmlns:a16="http://schemas.microsoft.com/office/drawing/2014/main" id="{F87A054A-75D0-4F3E-B945-0397F18C77E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DC22918F-AA8C-4DB8-B9AF-87DBF2002C1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141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03D00E2-5BAA-4308-AF39-D0F7FC475EFC}"/>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Escolha de um limite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AD0059A-482B-471E-91AC-3598739E2624}"/>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limite precisa fazer sentido para a unidade e para o comportamento observado.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No laboratório, use 0,01 req/s e exclua a rota metrics.</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8B9F81DD-5D97-4927-99D1-1B0E651F6B27}"/>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unidade?</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tráfego de base?</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impacto?</a:t>
            </a:r>
          </a:p>
        </p:txBody>
      </p:sp>
      <p:sp>
        <p:nvSpPr>
          <p:cNvPr id="1058" name="rodape">
            <a:extLst>
              <a:ext uri="{FF2B5EF4-FFF2-40B4-BE49-F238E27FC236}">
                <a16:creationId xmlns:a16="http://schemas.microsoft.com/office/drawing/2014/main" id="{1F637F34-47BC-413E-8C00-4A1632FEDEE8}"/>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71605FF7-741A-48BC-B0EF-D84F676C0C1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142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13CE2C74-D137-49D6-A306-C74110815DA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Avaliação e espera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6A411AA-4C2F-45C6-A510-F36142B30871}"/>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intervalo define a frequência de avaliação.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período pendente define por quanto tempo a condição precisa permanecer verdadeira.</a:t>
            </a:r>
          </a:p>
        </p:txBody>
      </p:sp>
      <p:sp>
        <p:nvSpPr>
          <p:cNvPr id="1057" name="apoio">
            <a:extLst>
              <a:ext uri="{FF2B5EF4-FFF2-40B4-BE49-F238E27FC236}">
                <a16:creationId xmlns:a16="http://schemas.microsoft.com/office/drawing/2014/main" id="{6827C3CD-218A-4C04-B1A2-9C6BFE0E73F0}"/>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Grupo: fundamentals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Avaliação: 10s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Pendente: 0s</a:t>
            </a:r>
          </a:p>
        </p:txBody>
      </p:sp>
      <p:sp>
        <p:nvSpPr>
          <p:cNvPr id="1058" name="rodape">
            <a:extLst>
              <a:ext uri="{FF2B5EF4-FFF2-40B4-BE49-F238E27FC236}">
                <a16:creationId xmlns:a16="http://schemas.microsoft.com/office/drawing/2014/main" id="{C68407C9-621A-48AC-AE02-12B12EEE985D}"/>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1345C139-F2C7-42A4-B5E2-EF6C09367A0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143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4F89188-3897-4D41-986D-45DDEA1782A0}"/>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Estados do alerta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FA801678-8E58-4757-B82B-185B8F3A0B6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Normal: condição não atendida.</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Pending: condição atendida, aguardando o período definido.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Firing: condição atendida após a espera.</a:t>
            </a:r>
          </a:p>
        </p:txBody>
      </p:sp>
      <p:sp>
        <p:nvSpPr>
          <p:cNvPr id="1057" name="apoio">
            <a:extLst>
              <a:ext uri="{FF2B5EF4-FFF2-40B4-BE49-F238E27FC236}">
                <a16:creationId xmlns:a16="http://schemas.microsoft.com/office/drawing/2014/main" id="{2691E99F-99E5-4B17-A57B-3A205A9A2726}"/>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Normal</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Pending</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Firing / Alerting</a:t>
            </a:r>
          </a:p>
        </p:txBody>
      </p:sp>
      <p:sp>
        <p:nvSpPr>
          <p:cNvPr id="1058" name="rodape">
            <a:extLst>
              <a:ext uri="{FF2B5EF4-FFF2-40B4-BE49-F238E27FC236}">
                <a16:creationId xmlns:a16="http://schemas.microsoft.com/office/drawing/2014/main" id="{E6F018BD-A5B5-4C3C-A4AC-B246C512E3A2}"/>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8EE8A991-2A39-4374-B41A-74099F07EC1E}"/>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144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B26770B2-C463-4BA2-A289-E1742DCD807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Sem dados e falha de avaliação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D097BFA-ACF2-4306-B0E2-CA715CBE9C1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No Data indica ausência de dados utilizáveis.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Error indica uma falha ou timeout na avaliação. O comportamento desses casos precisa ser configurado.</a:t>
            </a:r>
          </a:p>
        </p:txBody>
      </p:sp>
      <p:sp>
        <p:nvSpPr>
          <p:cNvPr id="1057" name="apoio">
            <a:extLst>
              <a:ext uri="{FF2B5EF4-FFF2-40B4-BE49-F238E27FC236}">
                <a16:creationId xmlns:a16="http://schemas.microsoft.com/office/drawing/2014/main" id="{05001AD4-099E-430F-A3C4-8314C56BCC6A}"/>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No Data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Dados ausentes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Error</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Falha na avaliação</a:t>
            </a:r>
          </a:p>
        </p:txBody>
      </p:sp>
      <p:sp>
        <p:nvSpPr>
          <p:cNvPr id="1058" name="rodape">
            <a:extLst>
              <a:ext uri="{FF2B5EF4-FFF2-40B4-BE49-F238E27FC236}">
                <a16:creationId xmlns:a16="http://schemas.microsoft.com/office/drawing/2014/main" id="{F99C651C-36E5-46BE-996D-594590816F0D}"/>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CF45025B-5269-43D0-837B-3AC7DBDC8441}"/>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145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0DD72F10-BA84-4E6A-9849-4B584115CFA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Contato e entrega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A846628-155E-40A8-ADA8-60BA249CB912}"/>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ponto de contato define a integração usada para notificar.</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mensagem de teste verifica a comunicação antes de testar o disparo real.</a:t>
            </a:r>
          </a:p>
        </p:txBody>
      </p:sp>
      <p:sp>
        <p:nvSpPr>
          <p:cNvPr id="1057" name="apoio">
            <a:extLst>
              <a:ext uri="{FF2B5EF4-FFF2-40B4-BE49-F238E27FC236}">
                <a16:creationId xmlns:a16="http://schemas.microsoft.com/office/drawing/2014/main" id="{F0BAAA75-2DF0-431C-90E8-E7F5273729A8}"/>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Contato Webhook</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Teste de comunicação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Notificação da regra</a:t>
            </a:r>
          </a:p>
        </p:txBody>
      </p:sp>
      <p:sp>
        <p:nvSpPr>
          <p:cNvPr id="1058" name="rodape">
            <a:extLst>
              <a:ext uri="{FF2B5EF4-FFF2-40B4-BE49-F238E27FC236}">
                <a16:creationId xmlns:a16="http://schemas.microsoft.com/office/drawing/2014/main" id="{F6E383FC-BA53-48C6-A200-480FA08F4EFC}"/>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967B6149-612C-4607-AE9D-DFB83EA57BF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146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E66EDF35-AF2B-4D35-AC8A-6EBFA6BD32FF}"/>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Duas opções de webhook</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2A1D45E4-74B9-4E71-9524-98C278C24AD0}"/>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O tutorial apresenta Webhook.site como alternativa online.</a:t>
            </a:r>
            <a:endParaRPr sz="2200">
              <a:solidFill>
                <a:srgbClr val="5F5F5F"/>
              </a:solidFill>
              <a:latin typeface="Segoe UI" panose="020B0502040204020203" pitchFamily="34" charset="0"/>
              <a:ea typeface="Trebuchet MS"/>
              <a:cs typeface="Trebuchet MS"/>
            </a:endParaRP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Na atividade da turma, use o receptor local do pacote.</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F95A1012-77FF-4749-950D-57AEB866C9E8}"/>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Online</a:t>
            </a:r>
          </a:p>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Webhook.site</a:t>
            </a:r>
          </a:p>
          <a:p>
            <a:endParaRPr sz="2500">
              <a:solidFill>
                <a:srgbClr val="3D588B"/>
              </a:solidFill>
              <a:latin typeface="Segoe UI" panose="020B0502040204020203" pitchFamily="34" charset="0"/>
              <a:ea typeface="Trebuchet MS"/>
              <a:cs typeface="Trebuchet MS"/>
            </a:endParaRPr>
          </a:p>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Laboratório local</a:t>
            </a:r>
          </a:p>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http://webhook:8080/</a:t>
            </a:r>
          </a:p>
        </p:txBody>
      </p:sp>
      <p:sp>
        <p:nvSpPr>
          <p:cNvPr id="1058" name="rodape">
            <a:extLst>
              <a:ext uri="{FF2B5EF4-FFF2-40B4-BE49-F238E27FC236}">
                <a16:creationId xmlns:a16="http://schemas.microsoft.com/office/drawing/2014/main" id="{6895C79F-8B4F-4DC6-B04F-27867B231DB2}"/>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086560D5-6564-4212-A4DD-064DBF86B18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147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16776043-CA46-47CC-AC5A-D1EAFAEB0F25}"/>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Alerta e painel relacionado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3A0FD8DC-877A-4EB0-8704-33700D5BFE6C}"/>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vínculo informa qual dashboard e painel ajudam na investigação.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estado do alerta e suas anotações acrescentam contexto visual.</a:t>
            </a:r>
          </a:p>
        </p:txBody>
      </p:sp>
      <p:sp>
        <p:nvSpPr>
          <p:cNvPr id="1057" name="apoio">
            <a:extLst>
              <a:ext uri="{FF2B5EF4-FFF2-40B4-BE49-F238E27FC236}">
                <a16:creationId xmlns:a16="http://schemas.microsoft.com/office/drawing/2014/main" id="{4A9357D6-F4F7-4152-940B-A898AE501025}"/>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Regra</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Dashboard</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Painel</a:t>
            </a:r>
          </a:p>
        </p:txBody>
      </p:sp>
      <p:sp>
        <p:nvSpPr>
          <p:cNvPr id="1058" name="rodape">
            <a:extLst>
              <a:ext uri="{FF2B5EF4-FFF2-40B4-BE49-F238E27FC236}">
                <a16:creationId xmlns:a16="http://schemas.microsoft.com/office/drawing/2014/main" id="{18245767-1755-4DBF-B8E1-4AF70056A570}"/>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65FC0E2E-7ECE-4E5A-80EE-EDE8BFB7D28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148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F4C2800-815F-4CAC-BEB5-F7E1F21E56BA}"/>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Vídeo: alertas no dashboard</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CC73D64-6C83-4476-B3B8-E41F8BC478A1}"/>
              </a:ext>
            </a:extLst>
          </p:cNvPr>
          <p:cNvSpPr>
            <a:spLocks noGrp="1"/>
          </p:cNvSpPr>
          <p:nvPr/>
        </p:nvSpPr>
        <p:spPr>
          <a:xfrm>
            <a:off x="7810500" y="1778000"/>
            <a:ext cx="3746500" cy="419100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Observe a relação entre regra, painel e dashboard.</a:t>
            </a:r>
          </a:p>
          <a:p>
            <a:endParaRPr sz="215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O vídeo é apoio conceitual; a demonstração seguinte usa o ambiente da aula.</a:t>
            </a:r>
          </a:p>
        </p:txBody>
      </p:sp>
      <p:sp>
        <p:nvSpPr>
          <p:cNvPr id="1057" name="rodape">
            <a:extLst>
              <a:ext uri="{FF2B5EF4-FFF2-40B4-BE49-F238E27FC236}">
                <a16:creationId xmlns:a16="http://schemas.microsoft.com/office/drawing/2014/main" id="{DE2C8C98-350C-4574-BA5F-8B3E9DE29890}"/>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8" name="link-video">
            <a:extLst>
              <a:ext uri="{FF2B5EF4-FFF2-40B4-BE49-F238E27FC236}">
                <a16:creationId xmlns:a16="http://schemas.microsoft.com/office/drawing/2014/main" id="{B0FF792E-0224-4C57-9CB1-FBD8C6BA8CB6}"/>
              </a:ext>
            </a:extLst>
          </p:cNvPr>
          <p:cNvSpPr>
            <a:spLocks noGrp="1"/>
          </p:cNvSpPr>
          <p:nvPr/>
        </p:nvSpPr>
        <p:spPr>
          <a:xfrm>
            <a:off x="1039368" y="5588000"/>
            <a:ext cx="6350000" cy="444500"/>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defRPr sz="1725" b="0">
                <a:solidFill>
                  <a:srgbClr val="40760F"/>
                </a:solidFill>
                <a:latin typeface="Trebuchet MS"/>
                <a:ea typeface="Trebuchet MS"/>
                <a:cs typeface="Trebuchet MS"/>
              </a:defRPr>
            </a:pPr>
            <a:r>
              <a:rPr sz="1500">
                <a:solidFill>
                  <a:srgbClr val="3D588B"/>
                </a:solidFill>
                <a:latin typeface="Segoe UI" panose="020B0502040204020203" pitchFamily="34" charset="0"/>
                <a:ea typeface="Trebuchet MS"/>
                <a:cs typeface="Trebuchet MS"/>
                <a:hlinkClick r:id="rId4">
                  <a:extLst>
                    <a:ext uri="{A12FA001-AC4F-418D-AE19-62706E023703}">
                      <ahyp:hlinkClr xmlns:ahyp="http://schemas.microsoft.com/office/drawing/2018/hyperlinkcolor" val="tx"/>
                    </a:ext>
                  </a:extLst>
                </a:hlinkClick>
              </a:rPr>
              <a:t>youtube.com/watch?v=ClLp-iSoaSY</a:t>
            </a:r>
          </a:p>
        </p:txBody>
      </p:sp>
      <p:sp>
        <p:nvSpPr>
          <p:cNvPr id="1059" name="pagina">
            <a:extLst>
              <a:ext uri="{FF2B5EF4-FFF2-40B4-BE49-F238E27FC236}">
                <a16:creationId xmlns:a16="http://schemas.microsoft.com/office/drawing/2014/main" id="{0113A9D5-24DE-4728-83E3-84119591206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149 / 178</a:t>
            </a:r>
            <a:endParaRPr sz="1200">
              <a:solidFill>
                <a:srgbClr val="5F5F5F"/>
              </a:solidFill>
              <a:latin typeface="Segoe UI" panose="020B0502040204020203" pitchFamily="34" charset="0"/>
              <a:ea typeface="Trebuchet MS"/>
              <a:cs typeface="Trebuchet MS"/>
            </a:endParaRPr>
          </a:p>
        </p:txBody>
      </p:sp>
      <p:pic>
        <p:nvPicPr>
          <p:cNvPr id="2" name="Video online - ClLp-iSoaSY" title="How to Display Grafana Alerts to Your Dashboards | Grafana">
            <a:hlinkClick action="ppaction://media"/>
            <a:extLst>
              <a:ext uri="{FF2B5EF4-FFF2-40B4-BE49-F238E27FC236}">
                <a16:creationId xmlns:a16="http://schemas.microsoft.com/office/drawing/2014/main" id="{30BD81B9-8211-BAF6-2BFA-5778EBC2FCB6}"/>
              </a:ext>
            </a:extLst>
          </p:cNvPr>
          <p:cNvPicPr>
            <a:picLocks noRot="1"/>
          </p:cNvPicPr>
          <p:nvPr>
            <a:videoFile r:link="rId1"/>
          </p:nvPr>
        </p:nvPicPr>
        <p:blipFill>
          <a:blip r:embed="rId5"/>
          <a:stretch>
            <a:fillRect/>
          </a:stretch>
        </p:blipFill>
        <p:spPr>
          <a:xfrm>
            <a:off x="1044988" y="1778000"/>
            <a:ext cx="6338761" cy="3581400"/>
          </a:xfrm>
          <a:prstGeom prst="rect">
            <a:avLst/>
          </a:prstGeom>
        </p:spPr>
      </p:pic>
    </p:spTree>
    <p:extLst>
      <p:ext uri="{BB962C8B-B14F-4D97-AF65-F5344CB8AC3E}">
        <p14:creationId xmlns:p14="http://schemas.microsoft.com/office/powerpoint/2010/main" val="67416780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2"/>
                                        </p:tgtEl>
                                      </p:cBhvr>
                                    </p:cmd>
                                  </p:childTnLst>
                                </p:cTn>
                              </p:par>
                            </p:childTnLst>
                          </p:cTn>
                        </p:par>
                      </p:childTnLst>
                    </p:cTn>
                  </p:par>
                </p:childTnLst>
              </p:cTn>
              <p:nextCondLst>
                <p:cond evt="onClick" delay="0">
                  <p:tgtEl>
                    <p:spTgt spid="2"/>
                  </p:tgtEl>
                </p:cond>
              </p:nextCondLst>
            </p:seq>
            <p:video>
              <p:cMediaNode vol="80000">
                <p:cTn id="7" fill="hold" display="0">
                  <p:stCondLst>
                    <p:cond delay="indefinite"/>
                  </p:stCondLst>
                </p:cTn>
                <p:tgtEl>
                  <p:spTgt spid="2"/>
                </p:tgtEl>
              </p:cMediaNode>
            </p:video>
          </p:childTnLst>
        </p:cTn>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8250ECB8-BD6D-49BD-B4F1-9BDC5F1631E8}"/>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Diagnóstico de alertas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6AB70F32-636B-47BA-9EAB-BE56B00141CC}"/>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Sem dados: confira consulta e fonte.</a:t>
            </a:r>
          </a:p>
          <a:p>
            <a:endParaRPr sz="215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Não dispara: confira valor e condição.</a:t>
            </a:r>
          </a:p>
          <a:p>
            <a:endParaRPr sz="215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Sem mensagem: confira contato e acesso ao receptor.</a:t>
            </a:r>
          </a:p>
        </p:txBody>
      </p:sp>
      <p:sp>
        <p:nvSpPr>
          <p:cNvPr id="1057" name="apoio">
            <a:extLst>
              <a:ext uri="{FF2B5EF4-FFF2-40B4-BE49-F238E27FC236}">
                <a16:creationId xmlns:a16="http://schemas.microsoft.com/office/drawing/2014/main" id="{2BBECFDD-11A8-4636-9553-E2723072BED9}"/>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Dado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Condição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Estado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Entrega</a:t>
            </a:r>
          </a:p>
        </p:txBody>
      </p:sp>
      <p:sp>
        <p:nvSpPr>
          <p:cNvPr id="1058" name="rodape">
            <a:extLst>
              <a:ext uri="{FF2B5EF4-FFF2-40B4-BE49-F238E27FC236}">
                <a16:creationId xmlns:a16="http://schemas.microsoft.com/office/drawing/2014/main" id="{9ED5A247-D12C-40FC-A20A-2C1AAEE585F3}"/>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5DD764D0-F778-4B70-8C40-B0304587049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150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64E18408-F658-46CE-AB0F-B7E2B4A7FC13}"/>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Síntese do ciclo completo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A6665F40-0BD6-4098-ADE3-95FB869190D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Precisamos confirmar dado, condição, estado e entrega.</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projeto final demonstra o caminho e explica as evidências usadas.</a:t>
            </a:r>
          </a:p>
        </p:txBody>
      </p:sp>
      <p:sp>
        <p:nvSpPr>
          <p:cNvPr id="1057" name="apoio">
            <a:extLst>
              <a:ext uri="{FF2B5EF4-FFF2-40B4-BE49-F238E27FC236}">
                <a16:creationId xmlns:a16="http://schemas.microsoft.com/office/drawing/2014/main" id="{673B4F6E-CB2F-48E8-97AE-79CCD7DB762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Dado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Condição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Estado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Entrega</a:t>
            </a:r>
          </a:p>
        </p:txBody>
      </p:sp>
      <p:sp>
        <p:nvSpPr>
          <p:cNvPr id="1058" name="rodape">
            <a:extLst>
              <a:ext uri="{FF2B5EF4-FFF2-40B4-BE49-F238E27FC236}">
                <a16:creationId xmlns:a16="http://schemas.microsoft.com/office/drawing/2014/main" id="{D0517F39-8ADE-4877-B330-ACC8F24D9D50}"/>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B1BF4761-06D2-4122-A962-1E71AD2ED4B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151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9884E554-5C6E-4138-A440-41A4D744AD2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E-mail: servidor e destinatário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601FC3BA-4A0D-4072-A20B-B9B49DB25E72}"/>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servidor SMTP permite ao Grafana enviar mensagens.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ponto de contato Email define quem recebe. São configurações diferentes.</a:t>
            </a:r>
          </a:p>
        </p:txBody>
      </p:sp>
      <p:sp>
        <p:nvSpPr>
          <p:cNvPr id="1057" name="apoio">
            <a:extLst>
              <a:ext uri="{FF2B5EF4-FFF2-40B4-BE49-F238E27FC236}">
                <a16:creationId xmlns:a16="http://schemas.microsoft.com/office/drawing/2014/main" id="{EFC46ACB-2781-4406-8366-97AAD345B5B9}"/>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1725">
                <a:solidFill>
                  <a:srgbClr val="40760F"/>
                </a:solidFill>
                <a:latin typeface="Trebuchet MS"/>
                <a:ea typeface="Trebuchet MS"/>
                <a:cs typeface="Trebuchet MS"/>
              </a:defRPr>
            </a:defPPr>
          </a:lstStyle>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Servidor</a:t>
            </a: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[smtp] / GF_SMTP_*</a:t>
            </a:r>
          </a:p>
          <a:p>
            <a:endParaRPr sz="2500">
              <a:solidFill>
                <a:srgbClr val="3D588B"/>
              </a:solidFill>
              <a:latin typeface="Segoe UI" panose="020B0502040204020203" pitchFamily="34" charset="0"/>
              <a:ea typeface="Trebuchet MS"/>
              <a:cs typeface="Trebuchet MS"/>
            </a:endParaRP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Contato</a:t>
            </a: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Email &gt; Addresses</a:t>
            </a:r>
          </a:p>
        </p:txBody>
      </p:sp>
      <p:sp>
        <p:nvSpPr>
          <p:cNvPr id="1058" name="rodape">
            <a:extLst>
              <a:ext uri="{FF2B5EF4-FFF2-40B4-BE49-F238E27FC236}">
                <a16:creationId xmlns:a16="http://schemas.microsoft.com/office/drawing/2014/main" id="{223523F8-A39C-42CA-B89A-B0F2A9FA28B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58D94833-96CC-48ED-AC56-A8CEBCA4BFC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152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673581786"/>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C60754A-EEB3-4B7A-BE50-F721503ED50D}"/>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SMTP: exemplo de configuração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23AC5D49-7463-4713-8D35-73CD0F865B0A}"/>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Exemplo ilustrativo no arquivo grafana.ini.</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Os valores devem corresponder ao servidor de e-mail disponível. O exemplo não foi aplicado à VM.</a:t>
            </a:r>
          </a:p>
        </p:txBody>
      </p:sp>
      <p:sp>
        <p:nvSpPr>
          <p:cNvPr id="1057" name="apoio">
            <a:extLst>
              <a:ext uri="{FF2B5EF4-FFF2-40B4-BE49-F238E27FC236}">
                <a16:creationId xmlns:a16="http://schemas.microsoft.com/office/drawing/2014/main" id="{C93ECDE9-E047-4C5A-A2D8-5592E34F7710}"/>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1725">
                <a:solidFill>
                  <a:srgbClr val="40760F"/>
                </a:solidFill>
                <a:latin typeface="Trebuchet MS"/>
                <a:ea typeface="Trebuchet MS"/>
                <a:cs typeface="Trebuchet MS"/>
              </a:defRPr>
            </a:defPPr>
          </a:lstStyle>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[smtp]</a:t>
            </a: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enabled = true</a:t>
            </a: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host = smtp.exemplo.invalid:587</a:t>
            </a: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from_address = grafana@exemplo.invalid</a:t>
            </a: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startTLS_policy = MandatoryStartTLS</a:t>
            </a:r>
          </a:p>
        </p:txBody>
      </p:sp>
      <p:sp>
        <p:nvSpPr>
          <p:cNvPr id="1058" name="rodape">
            <a:extLst>
              <a:ext uri="{FF2B5EF4-FFF2-40B4-BE49-F238E27FC236}">
                <a16:creationId xmlns:a16="http://schemas.microsoft.com/office/drawing/2014/main" id="{7CB66D95-7F76-4C41-BC90-1FAB1D82620F}"/>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66D7D109-1DE2-4676-A61F-133CC8B94D9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153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507930972"/>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6319221-5D51-4136-9027-47D97A03BD91}"/>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2925">
                <a:solidFill>
                  <a:srgbClr val="FFFFFF"/>
                </a:solidFill>
                <a:latin typeface="Trebuchet MS"/>
                <a:ea typeface="Trebuchet MS"/>
                <a:cs typeface="Trebuchet MS"/>
              </a:defRPr>
            </a:defPPr>
          </a:lstStyle>
          <a:p>
            <a:pPr>
              <a:defRPr sz="2925">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Webhook: alerta para uma API externa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5FA10BC7-FCFD-496B-9114-439288DBD624}"/>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Grafana envia uma requisição HTTP com detalhes do alerta ao endpoint receptor.</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software receptor pode abrir um chamado ou iniciar outro fluxo.</a:t>
            </a:r>
          </a:p>
        </p:txBody>
      </p:sp>
      <p:sp>
        <p:nvSpPr>
          <p:cNvPr id="1057" name="apoio">
            <a:extLst>
              <a:ext uri="{FF2B5EF4-FFF2-40B4-BE49-F238E27FC236}">
                <a16:creationId xmlns:a16="http://schemas.microsoft.com/office/drawing/2014/main" id="{18C2F216-6FCD-4B76-B9F2-7B977EA3A0E7}"/>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Grafana Alerting</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HTTP POST + JSON</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API receptora</a:t>
            </a:r>
          </a:p>
        </p:txBody>
      </p:sp>
      <p:sp>
        <p:nvSpPr>
          <p:cNvPr id="1058" name="rodape">
            <a:extLst>
              <a:ext uri="{FF2B5EF4-FFF2-40B4-BE49-F238E27FC236}">
                <a16:creationId xmlns:a16="http://schemas.microsoft.com/office/drawing/2014/main" id="{0C0B46C0-C303-46B7-AC2A-29DFC44E479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226F583B-9103-428E-9DFE-4799DBB0D8D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154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621913780"/>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67996CB4-63E8-447F-8AE3-AA565710CE3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Webhook e API do Grafana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7D15F58F-91FC-4611-949D-C270820EBD81}"/>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Webhook envia notificações para outro software.</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API do Grafana permite consultar e administrar regras e contatos, conforme permissões e versão.</a:t>
            </a:r>
          </a:p>
        </p:txBody>
      </p:sp>
      <p:sp>
        <p:nvSpPr>
          <p:cNvPr id="1057" name="apoio">
            <a:extLst>
              <a:ext uri="{FF2B5EF4-FFF2-40B4-BE49-F238E27FC236}">
                <a16:creationId xmlns:a16="http://schemas.microsoft.com/office/drawing/2014/main" id="{959F7EBD-71E9-4312-9557-B4DC10D8E90D}"/>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Saída de alertas</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Webhook</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Automação de configuração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HTTP API do Grafana</a:t>
            </a:r>
          </a:p>
        </p:txBody>
      </p:sp>
      <p:sp>
        <p:nvSpPr>
          <p:cNvPr id="1058" name="rodape">
            <a:extLst>
              <a:ext uri="{FF2B5EF4-FFF2-40B4-BE49-F238E27FC236}">
                <a16:creationId xmlns:a16="http://schemas.microsoft.com/office/drawing/2014/main" id="{5B298DAD-E740-4A89-850F-D687170EBEA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38E74CC4-B6FC-40B8-B1C8-3C0B442D860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155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915006760"/>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ulo">
            <a:extLst>
              <a:ext uri="{FF2B5EF4-FFF2-40B4-BE49-F238E27FC236}">
                <a16:creationId xmlns:a16="http://schemas.microsoft.com/office/drawing/2014/main" id="{F2E2EE07-C349-41A7-851F-D9110AFF1B22}"/>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850">
                <a:solidFill>
                  <a:srgbClr val="40760F"/>
                </a:solidFill>
                <a:latin typeface="Trebuchet MS"/>
                <a:ea typeface="Trebuchet MS"/>
                <a:cs typeface="Trebuchet MS"/>
              </a:defRPr>
            </a:defPPr>
          </a:lstStyle>
          <a:p>
            <a:pPr>
              <a:defRPr sz="285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Arquitetura das notificações</a:t>
            </a:r>
            <a:endParaRPr sz="3600" b="1">
              <a:solidFill>
                <a:srgbClr val="73A277"/>
              </a:solidFill>
              <a:latin typeface="Segoe UI" panose="020B0502040204020203" pitchFamily="34" charset="0"/>
              <a:ea typeface="Trebuchet MS"/>
              <a:cs typeface="Trebuchet MS"/>
            </a:endParaRPr>
          </a:p>
        </p:txBody>
      </p:sp>
      <p:sp>
        <p:nvSpPr>
          <p:cNvPr id="2" name="Arquitetura grafana">
            <a:extLst>
              <a:ext uri="{FF2B5EF4-FFF2-40B4-BE49-F238E27FC236}">
                <a16:creationId xmlns:a16="http://schemas.microsoft.com/office/drawing/2014/main" id="{AFFC14C0-6A83-4C85-8789-FDF2D1725403}"/>
              </a:ext>
            </a:extLst>
          </p:cNvPr>
          <p:cNvSpPr>
            <a:spLocks noGrp="1"/>
          </p:cNvSpPr>
          <p:nvPr/>
        </p:nvSpPr>
        <p:spPr>
          <a:xfrm>
            <a:off x="1039368" y="2751513"/>
            <a:ext cx="2187245" cy="762629"/>
          </a:xfrm>
          <a:prstGeom prst="rect">
            <a:avLst/>
          </a:prstGeom>
          <a:solidFill>
            <a:srgbClr val="73A277"/>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Grafana Alerting</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Regra gerenciada</a:t>
            </a:r>
          </a:p>
        </p:txBody>
      </p:sp>
      <p:sp>
        <p:nvSpPr>
          <p:cNvPr id="3" name="Arquitetura smtp">
            <a:extLst>
              <a:ext uri="{FF2B5EF4-FFF2-40B4-BE49-F238E27FC236}">
                <a16:creationId xmlns:a16="http://schemas.microsoft.com/office/drawing/2014/main" id="{F8D1D557-882B-4772-941C-DFCA21EFF24D}"/>
              </a:ext>
            </a:extLst>
          </p:cNvPr>
          <p:cNvSpPr>
            <a:spLocks noGrp="1"/>
          </p:cNvSpPr>
          <p:nvPr/>
        </p:nvSpPr>
        <p:spPr>
          <a:xfrm>
            <a:off x="4510430" y="1828330"/>
            <a:ext cx="2329891" cy="722490"/>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Contato Email</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Servidor SMTP</a:t>
            </a:r>
          </a:p>
        </p:txBody>
      </p:sp>
      <p:sp>
        <p:nvSpPr>
          <p:cNvPr id="4" name="Arquitetura email">
            <a:extLst>
              <a:ext uri="{FF2B5EF4-FFF2-40B4-BE49-F238E27FC236}">
                <a16:creationId xmlns:a16="http://schemas.microsoft.com/office/drawing/2014/main" id="{045B5345-17BE-4DE7-B716-8EEC7A6416D8}"/>
              </a:ext>
            </a:extLst>
          </p:cNvPr>
          <p:cNvSpPr>
            <a:spLocks noGrp="1"/>
          </p:cNvSpPr>
          <p:nvPr/>
        </p:nvSpPr>
        <p:spPr>
          <a:xfrm>
            <a:off x="8219236" y="1828330"/>
            <a:ext cx="2329891" cy="722490"/>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Caixa de e-mail</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Destinatário</a:t>
            </a:r>
          </a:p>
        </p:txBody>
      </p:sp>
      <p:sp>
        <p:nvSpPr>
          <p:cNvPr id="5" name="Arquitetura hook">
            <a:extLst>
              <a:ext uri="{FF2B5EF4-FFF2-40B4-BE49-F238E27FC236}">
                <a16:creationId xmlns:a16="http://schemas.microsoft.com/office/drawing/2014/main" id="{662CCA93-A446-4FBF-89BE-774423818CC8}"/>
              </a:ext>
            </a:extLst>
          </p:cNvPr>
          <p:cNvSpPr>
            <a:spLocks noGrp="1"/>
          </p:cNvSpPr>
          <p:nvPr/>
        </p:nvSpPr>
        <p:spPr>
          <a:xfrm>
            <a:off x="4510430" y="3554280"/>
            <a:ext cx="2329891" cy="722490"/>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Contato Webhook</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HTTP POST + JSON</a:t>
            </a:r>
          </a:p>
        </p:txBody>
      </p:sp>
      <p:sp>
        <p:nvSpPr>
          <p:cNvPr id="6" name="Arquitetura api">
            <a:extLst>
              <a:ext uri="{FF2B5EF4-FFF2-40B4-BE49-F238E27FC236}">
                <a16:creationId xmlns:a16="http://schemas.microsoft.com/office/drawing/2014/main" id="{703A9DEF-5277-4FD0-85B1-9DB41686EEA7}"/>
              </a:ext>
            </a:extLst>
          </p:cNvPr>
          <p:cNvSpPr>
            <a:spLocks noGrp="1"/>
          </p:cNvSpPr>
          <p:nvPr/>
        </p:nvSpPr>
        <p:spPr>
          <a:xfrm>
            <a:off x="8219236" y="3554280"/>
            <a:ext cx="2329891" cy="722490"/>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API receptora / adaptador</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Chamados e automação</a:t>
            </a:r>
          </a:p>
        </p:txBody>
      </p:sp>
      <p:sp>
        <p:nvSpPr>
          <p:cNvPr id="7" name="Arquitetura prom">
            <a:extLst>
              <a:ext uri="{FF2B5EF4-FFF2-40B4-BE49-F238E27FC236}">
                <a16:creationId xmlns:a16="http://schemas.microsoft.com/office/drawing/2014/main" id="{8E69E9A3-3AB7-4E08-B8D4-2547F20755B8}"/>
              </a:ext>
            </a:extLst>
          </p:cNvPr>
          <p:cNvSpPr>
            <a:spLocks noGrp="1"/>
          </p:cNvSpPr>
          <p:nvPr/>
        </p:nvSpPr>
        <p:spPr>
          <a:xfrm>
            <a:off x="1039368" y="5119675"/>
            <a:ext cx="2187245" cy="642214"/>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Prometheus</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Outra origem de regras</a:t>
            </a:r>
          </a:p>
        </p:txBody>
      </p:sp>
      <p:sp>
        <p:nvSpPr>
          <p:cNvPr id="8" name="Arquitetura am">
            <a:extLst>
              <a:ext uri="{FF2B5EF4-FFF2-40B4-BE49-F238E27FC236}">
                <a16:creationId xmlns:a16="http://schemas.microsoft.com/office/drawing/2014/main" id="{7781F25D-94EC-4A71-8E16-C1D3ABE6504B}"/>
              </a:ext>
            </a:extLst>
          </p:cNvPr>
          <p:cNvSpPr>
            <a:spLocks noGrp="1"/>
          </p:cNvSpPr>
          <p:nvPr/>
        </p:nvSpPr>
        <p:spPr>
          <a:xfrm>
            <a:off x="4510430" y="5119675"/>
            <a:ext cx="2329891" cy="642214"/>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Alertmanager :9093</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Agrupa e roteia</a:t>
            </a:r>
          </a:p>
        </p:txBody>
      </p:sp>
      <p:sp>
        <p:nvSpPr>
          <p:cNvPr id="9" name="Arquitetura dest">
            <a:extLst>
              <a:ext uri="{FF2B5EF4-FFF2-40B4-BE49-F238E27FC236}">
                <a16:creationId xmlns:a16="http://schemas.microsoft.com/office/drawing/2014/main" id="{152D299D-5E28-4474-8E95-61655A21D3DE}"/>
              </a:ext>
            </a:extLst>
          </p:cNvPr>
          <p:cNvSpPr>
            <a:spLocks noGrp="1"/>
          </p:cNvSpPr>
          <p:nvPr/>
        </p:nvSpPr>
        <p:spPr>
          <a:xfrm>
            <a:off x="8219236" y="5119675"/>
            <a:ext cx="2329891" cy="642214"/>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Receptores configurados</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Fluxo separado</a:t>
            </a:r>
          </a:p>
        </p:txBody>
      </p:sp>
      <p:cxnSp>
        <p:nvCxnSpPr>
          <p:cNvPr id="10" name="Fluxo grafana smtp 1">
            <a:extLst>
              <a:ext uri="{FF2B5EF4-FFF2-40B4-BE49-F238E27FC236}">
                <a16:creationId xmlns:a16="http://schemas.microsoft.com/office/drawing/2014/main" id="{DFF59EB5-8BA8-451E-A4A4-B3A480A7D1C6}"/>
              </a:ext>
            </a:extLst>
          </p:cNvPr>
          <p:cNvCxnSpPr/>
          <p:nvPr/>
        </p:nvCxnSpPr>
        <p:spPr>
          <a:xfrm>
            <a:off x="3226613" y="3132827"/>
            <a:ext cx="641909" cy="0"/>
          </a:xfrm>
          <a:prstGeom prst="straightConnector1">
            <a:avLst/>
          </a:prstGeom>
          <a:ln w="17145">
            <a:solidFill>
              <a:srgbClr val="3D588B"/>
            </a:solidFill>
            <a:headEnd type="none" w="med" len="med"/>
            <a:tailEnd type="none" w="med" len="med"/>
          </a:ln>
        </p:spPr>
      </p:cxnSp>
      <p:cxnSp>
        <p:nvCxnSpPr>
          <p:cNvPr id="11" name="Fluxo grafana smtp 2">
            <a:extLst>
              <a:ext uri="{FF2B5EF4-FFF2-40B4-BE49-F238E27FC236}">
                <a16:creationId xmlns:a16="http://schemas.microsoft.com/office/drawing/2014/main" id="{F7A3E1DE-6F60-482E-A757-6D85C7065A59}"/>
              </a:ext>
            </a:extLst>
          </p:cNvPr>
          <p:cNvCxnSpPr/>
          <p:nvPr/>
        </p:nvCxnSpPr>
        <p:spPr>
          <a:xfrm>
            <a:off x="3868522" y="2189576"/>
            <a:ext cx="0" cy="943251"/>
          </a:xfrm>
          <a:prstGeom prst="straightConnector1">
            <a:avLst/>
          </a:prstGeom>
          <a:ln w="17145">
            <a:solidFill>
              <a:srgbClr val="3D588B"/>
            </a:solidFill>
            <a:headEnd type="none" w="med" len="med"/>
            <a:tailEnd type="none" w="med" len="med"/>
          </a:ln>
        </p:spPr>
      </p:cxnSp>
      <p:cxnSp>
        <p:nvCxnSpPr>
          <p:cNvPr id="12" name="Fluxo grafana smtp 3">
            <a:extLst>
              <a:ext uri="{FF2B5EF4-FFF2-40B4-BE49-F238E27FC236}">
                <a16:creationId xmlns:a16="http://schemas.microsoft.com/office/drawing/2014/main" id="{888E8D1F-133F-4FA7-B6C6-8AFC3E92BAF8}"/>
              </a:ext>
            </a:extLst>
          </p:cNvPr>
          <p:cNvCxnSpPr/>
          <p:nvPr/>
        </p:nvCxnSpPr>
        <p:spPr>
          <a:xfrm>
            <a:off x="3868522" y="2189576"/>
            <a:ext cx="641909" cy="0"/>
          </a:xfrm>
          <a:prstGeom prst="straightConnector1">
            <a:avLst/>
          </a:prstGeom>
          <a:ln w="17145">
            <a:solidFill>
              <a:srgbClr val="3D588B"/>
            </a:solidFill>
            <a:headEnd type="none" w="med" len="med"/>
            <a:tailEnd type="arrow" w="med" len="med"/>
          </a:ln>
        </p:spPr>
      </p:cxnSp>
      <p:cxnSp>
        <p:nvCxnSpPr>
          <p:cNvPr id="13" name="Fluxo smtp email 1">
            <a:extLst>
              <a:ext uri="{FF2B5EF4-FFF2-40B4-BE49-F238E27FC236}">
                <a16:creationId xmlns:a16="http://schemas.microsoft.com/office/drawing/2014/main" id="{1D7663F4-689D-429C-8DC3-1F1E5DD5F273}"/>
              </a:ext>
            </a:extLst>
          </p:cNvPr>
          <p:cNvCxnSpPr/>
          <p:nvPr/>
        </p:nvCxnSpPr>
        <p:spPr>
          <a:xfrm>
            <a:off x="6840322" y="2189576"/>
            <a:ext cx="689458" cy="0"/>
          </a:xfrm>
          <a:prstGeom prst="straightConnector1">
            <a:avLst/>
          </a:prstGeom>
          <a:ln w="17145">
            <a:solidFill>
              <a:srgbClr val="3D588B"/>
            </a:solidFill>
            <a:headEnd type="none" w="med" len="med"/>
            <a:tailEnd type="none" w="med" len="med"/>
          </a:ln>
        </p:spPr>
      </p:cxnSp>
      <p:cxnSp>
        <p:nvCxnSpPr>
          <p:cNvPr id="14" name="Fluxo smtp email 3">
            <a:extLst>
              <a:ext uri="{FF2B5EF4-FFF2-40B4-BE49-F238E27FC236}">
                <a16:creationId xmlns:a16="http://schemas.microsoft.com/office/drawing/2014/main" id="{DF3826FE-F3AB-4BE0-8F80-5D45B285463A}"/>
              </a:ext>
            </a:extLst>
          </p:cNvPr>
          <p:cNvCxnSpPr/>
          <p:nvPr/>
        </p:nvCxnSpPr>
        <p:spPr>
          <a:xfrm>
            <a:off x="7529779" y="2189576"/>
            <a:ext cx="689458" cy="0"/>
          </a:xfrm>
          <a:prstGeom prst="straightConnector1">
            <a:avLst/>
          </a:prstGeom>
          <a:ln w="17145">
            <a:solidFill>
              <a:srgbClr val="3D588B"/>
            </a:solidFill>
            <a:headEnd type="none" w="med" len="med"/>
            <a:tailEnd type="arrow" w="med" len="med"/>
          </a:ln>
        </p:spPr>
      </p:cxnSp>
      <p:cxnSp>
        <p:nvCxnSpPr>
          <p:cNvPr id="15" name="Fluxo grafana hook 1">
            <a:extLst>
              <a:ext uri="{FF2B5EF4-FFF2-40B4-BE49-F238E27FC236}">
                <a16:creationId xmlns:a16="http://schemas.microsoft.com/office/drawing/2014/main" id="{721E4FB5-E7A9-46B9-B58B-DF88EB548655}"/>
              </a:ext>
            </a:extLst>
          </p:cNvPr>
          <p:cNvCxnSpPr/>
          <p:nvPr/>
        </p:nvCxnSpPr>
        <p:spPr>
          <a:xfrm>
            <a:off x="3226613" y="3132827"/>
            <a:ext cx="641909" cy="0"/>
          </a:xfrm>
          <a:prstGeom prst="straightConnector1">
            <a:avLst/>
          </a:prstGeom>
          <a:ln w="17145">
            <a:solidFill>
              <a:srgbClr val="3D588B"/>
            </a:solidFill>
            <a:headEnd type="none" w="med" len="med"/>
            <a:tailEnd type="none" w="med" len="med"/>
          </a:ln>
        </p:spPr>
      </p:cxnSp>
      <p:cxnSp>
        <p:nvCxnSpPr>
          <p:cNvPr id="16" name="Fluxo grafana hook 2">
            <a:extLst>
              <a:ext uri="{FF2B5EF4-FFF2-40B4-BE49-F238E27FC236}">
                <a16:creationId xmlns:a16="http://schemas.microsoft.com/office/drawing/2014/main" id="{6F31C930-D37A-4856-9E54-095F5D269F73}"/>
              </a:ext>
            </a:extLst>
          </p:cNvPr>
          <p:cNvCxnSpPr/>
          <p:nvPr/>
        </p:nvCxnSpPr>
        <p:spPr>
          <a:xfrm>
            <a:off x="3868522" y="3132827"/>
            <a:ext cx="0" cy="782698"/>
          </a:xfrm>
          <a:prstGeom prst="straightConnector1">
            <a:avLst/>
          </a:prstGeom>
          <a:ln w="17145">
            <a:solidFill>
              <a:srgbClr val="3D588B"/>
            </a:solidFill>
            <a:headEnd type="none" w="med" len="med"/>
            <a:tailEnd type="none" w="med" len="med"/>
          </a:ln>
        </p:spPr>
      </p:cxnSp>
      <p:cxnSp>
        <p:nvCxnSpPr>
          <p:cNvPr id="17" name="Fluxo grafana hook 3">
            <a:extLst>
              <a:ext uri="{FF2B5EF4-FFF2-40B4-BE49-F238E27FC236}">
                <a16:creationId xmlns:a16="http://schemas.microsoft.com/office/drawing/2014/main" id="{CB4665D5-C37A-482B-814C-EE3B9208D809}"/>
              </a:ext>
            </a:extLst>
          </p:cNvPr>
          <p:cNvCxnSpPr/>
          <p:nvPr/>
        </p:nvCxnSpPr>
        <p:spPr>
          <a:xfrm>
            <a:off x="3868522" y="3915524"/>
            <a:ext cx="641909" cy="0"/>
          </a:xfrm>
          <a:prstGeom prst="straightConnector1">
            <a:avLst/>
          </a:prstGeom>
          <a:ln w="17145">
            <a:solidFill>
              <a:srgbClr val="3D588B"/>
            </a:solidFill>
            <a:headEnd type="none" w="med" len="med"/>
            <a:tailEnd type="arrow" w="med" len="med"/>
          </a:ln>
        </p:spPr>
      </p:cxnSp>
      <p:cxnSp>
        <p:nvCxnSpPr>
          <p:cNvPr id="18" name="Fluxo hook api 1">
            <a:extLst>
              <a:ext uri="{FF2B5EF4-FFF2-40B4-BE49-F238E27FC236}">
                <a16:creationId xmlns:a16="http://schemas.microsoft.com/office/drawing/2014/main" id="{5564784A-4956-4AFD-BBC4-A30AA36EE630}"/>
              </a:ext>
            </a:extLst>
          </p:cNvPr>
          <p:cNvCxnSpPr/>
          <p:nvPr/>
        </p:nvCxnSpPr>
        <p:spPr>
          <a:xfrm>
            <a:off x="6840322" y="3915524"/>
            <a:ext cx="689458" cy="0"/>
          </a:xfrm>
          <a:prstGeom prst="straightConnector1">
            <a:avLst/>
          </a:prstGeom>
          <a:ln w="17145">
            <a:solidFill>
              <a:srgbClr val="3D588B"/>
            </a:solidFill>
            <a:headEnd type="none" w="med" len="med"/>
            <a:tailEnd type="none" w="med" len="med"/>
          </a:ln>
        </p:spPr>
      </p:cxnSp>
      <p:cxnSp>
        <p:nvCxnSpPr>
          <p:cNvPr id="19" name="Fluxo hook api 3">
            <a:extLst>
              <a:ext uri="{FF2B5EF4-FFF2-40B4-BE49-F238E27FC236}">
                <a16:creationId xmlns:a16="http://schemas.microsoft.com/office/drawing/2014/main" id="{B41D0D31-408C-48EE-85D9-7713226C5758}"/>
              </a:ext>
            </a:extLst>
          </p:cNvPr>
          <p:cNvCxnSpPr/>
          <p:nvPr/>
        </p:nvCxnSpPr>
        <p:spPr>
          <a:xfrm>
            <a:off x="7529779" y="3915524"/>
            <a:ext cx="689458" cy="0"/>
          </a:xfrm>
          <a:prstGeom prst="straightConnector1">
            <a:avLst/>
          </a:prstGeom>
          <a:ln w="17145">
            <a:solidFill>
              <a:srgbClr val="3D588B"/>
            </a:solidFill>
            <a:headEnd type="none" w="med" len="med"/>
            <a:tailEnd type="arrow" w="med" len="med"/>
          </a:ln>
        </p:spPr>
      </p:cxnSp>
      <p:cxnSp>
        <p:nvCxnSpPr>
          <p:cNvPr id="20" name="Fluxo prom am 1">
            <a:extLst>
              <a:ext uri="{FF2B5EF4-FFF2-40B4-BE49-F238E27FC236}">
                <a16:creationId xmlns:a16="http://schemas.microsoft.com/office/drawing/2014/main" id="{8B1DCAFD-2271-4AF5-A0A9-3E12890393D5}"/>
              </a:ext>
            </a:extLst>
          </p:cNvPr>
          <p:cNvCxnSpPr/>
          <p:nvPr/>
        </p:nvCxnSpPr>
        <p:spPr>
          <a:xfrm>
            <a:off x="3226613" y="5440782"/>
            <a:ext cx="641909" cy="0"/>
          </a:xfrm>
          <a:prstGeom prst="straightConnector1">
            <a:avLst/>
          </a:prstGeom>
          <a:ln w="17145">
            <a:solidFill>
              <a:srgbClr val="3D588B"/>
            </a:solidFill>
            <a:headEnd type="none" w="med" len="med"/>
            <a:tailEnd type="none" w="med" len="med"/>
          </a:ln>
        </p:spPr>
      </p:cxnSp>
      <p:cxnSp>
        <p:nvCxnSpPr>
          <p:cNvPr id="21" name="Fluxo prom am 3">
            <a:extLst>
              <a:ext uri="{FF2B5EF4-FFF2-40B4-BE49-F238E27FC236}">
                <a16:creationId xmlns:a16="http://schemas.microsoft.com/office/drawing/2014/main" id="{059C21E9-DE6C-4BB8-A793-2FB97C3EDFF1}"/>
              </a:ext>
            </a:extLst>
          </p:cNvPr>
          <p:cNvCxnSpPr/>
          <p:nvPr/>
        </p:nvCxnSpPr>
        <p:spPr>
          <a:xfrm>
            <a:off x="3868522" y="5440782"/>
            <a:ext cx="641909" cy="0"/>
          </a:xfrm>
          <a:prstGeom prst="straightConnector1">
            <a:avLst/>
          </a:prstGeom>
          <a:ln w="17145">
            <a:solidFill>
              <a:srgbClr val="3D588B"/>
            </a:solidFill>
            <a:headEnd type="none" w="med" len="med"/>
            <a:tailEnd type="arrow" w="med" len="med"/>
          </a:ln>
        </p:spPr>
      </p:cxnSp>
      <p:cxnSp>
        <p:nvCxnSpPr>
          <p:cNvPr id="22" name="Fluxo am dest 1">
            <a:extLst>
              <a:ext uri="{FF2B5EF4-FFF2-40B4-BE49-F238E27FC236}">
                <a16:creationId xmlns:a16="http://schemas.microsoft.com/office/drawing/2014/main" id="{8A35B1F5-F1AA-4DAF-A8E1-B993BE203AD6}"/>
              </a:ext>
            </a:extLst>
          </p:cNvPr>
          <p:cNvCxnSpPr/>
          <p:nvPr/>
        </p:nvCxnSpPr>
        <p:spPr>
          <a:xfrm>
            <a:off x="6840322" y="5440782"/>
            <a:ext cx="689458" cy="0"/>
          </a:xfrm>
          <a:prstGeom prst="straightConnector1">
            <a:avLst/>
          </a:prstGeom>
          <a:ln w="17145">
            <a:solidFill>
              <a:srgbClr val="3D588B"/>
            </a:solidFill>
            <a:headEnd type="none" w="med" len="med"/>
            <a:tailEnd type="none" w="med" len="med"/>
          </a:ln>
        </p:spPr>
      </p:cxnSp>
      <p:cxnSp>
        <p:nvCxnSpPr>
          <p:cNvPr id="23" name="Fluxo am dest 3">
            <a:extLst>
              <a:ext uri="{FF2B5EF4-FFF2-40B4-BE49-F238E27FC236}">
                <a16:creationId xmlns:a16="http://schemas.microsoft.com/office/drawing/2014/main" id="{38F87FFE-6D90-46C2-8403-8500B506316F}"/>
              </a:ext>
            </a:extLst>
          </p:cNvPr>
          <p:cNvCxnSpPr/>
          <p:nvPr/>
        </p:nvCxnSpPr>
        <p:spPr>
          <a:xfrm>
            <a:off x="7529779" y="5440782"/>
            <a:ext cx="689458" cy="0"/>
          </a:xfrm>
          <a:prstGeom prst="straightConnector1">
            <a:avLst/>
          </a:prstGeom>
          <a:ln w="17145">
            <a:solidFill>
              <a:srgbClr val="3D588B"/>
            </a:solidFill>
            <a:headEnd type="none" w="med" len="med"/>
            <a:tailEnd type="arrow" w="med" len="med"/>
          </a:ln>
        </p:spPr>
      </p:cxnSp>
      <p:sp>
        <p:nvSpPr>
          <p:cNvPr id="24" name="diagrama-legenda">
            <a:extLst>
              <a:ext uri="{FF2B5EF4-FFF2-40B4-BE49-F238E27FC236}">
                <a16:creationId xmlns:a16="http://schemas.microsoft.com/office/drawing/2014/main" id="{99AE8192-AF82-4555-A523-795C5C54B4B9}"/>
              </a:ext>
            </a:extLst>
          </p:cNvPr>
          <p:cNvSpPr>
            <a:spLocks noGrp="1"/>
          </p:cNvSpPr>
          <p:nvPr/>
        </p:nvSpPr>
        <p:spPr>
          <a:xfrm>
            <a:off x="7107784" y="2077562"/>
            <a:ext cx="891540"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SMTP</a:t>
            </a:r>
          </a:p>
        </p:txBody>
      </p:sp>
      <p:sp>
        <p:nvSpPr>
          <p:cNvPr id="25" name="diagrama-legenda">
            <a:extLst>
              <a:ext uri="{FF2B5EF4-FFF2-40B4-BE49-F238E27FC236}">
                <a16:creationId xmlns:a16="http://schemas.microsoft.com/office/drawing/2014/main" id="{71C40517-C709-46C3-B804-2ECA33F3B04B}"/>
              </a:ext>
            </a:extLst>
          </p:cNvPr>
          <p:cNvSpPr>
            <a:spLocks noGrp="1"/>
          </p:cNvSpPr>
          <p:nvPr/>
        </p:nvSpPr>
        <p:spPr>
          <a:xfrm>
            <a:off x="6959194" y="3803510"/>
            <a:ext cx="1188720"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HTTPS / JSON</a:t>
            </a:r>
          </a:p>
        </p:txBody>
      </p:sp>
      <p:sp>
        <p:nvSpPr>
          <p:cNvPr id="26" name="legenda">
            <a:extLst>
              <a:ext uri="{FF2B5EF4-FFF2-40B4-BE49-F238E27FC236}">
                <a16:creationId xmlns:a16="http://schemas.microsoft.com/office/drawing/2014/main" id="{6F7CA04A-E87A-4870-94AC-6FFCB8F2E8DC}"/>
              </a:ext>
            </a:extLst>
          </p:cNvPr>
          <p:cNvSpPr>
            <a:spLocks noGrp="1"/>
          </p:cNvSpPr>
          <p:nvPr/>
        </p:nvSpPr>
        <p:spPr>
          <a:xfrm>
            <a:off x="1039368" y="5905500"/>
            <a:ext cx="10515600" cy="406400"/>
          </a:xfrm>
          <a:prstGeom prst="rect">
            <a:avLst/>
          </a:prstGeom>
          <a:noFill/>
          <a:ln w="0">
            <a:noFill/>
          </a:ln>
        </p:spPr>
        <p:txBody>
          <a:bodyPr wrap="square" lIns="0" tIns="0" rIns="0" bIns="0" anchor="t">
            <a:noAutofit/>
          </a:bodyPr>
          <a:lstStyle>
            <a:defPPr algn="l">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A condição, o transporte e o software receptor são etapas diferentes.</a:t>
            </a:r>
          </a:p>
        </p:txBody>
      </p:sp>
      <p:sp>
        <p:nvSpPr>
          <p:cNvPr id="27" name="pagina">
            <a:extLst>
              <a:ext uri="{FF2B5EF4-FFF2-40B4-BE49-F238E27FC236}">
                <a16:creationId xmlns:a16="http://schemas.microsoft.com/office/drawing/2014/main" id="{7D4F7C21-D740-4ABC-8BD0-EE93D31FB4CE}"/>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156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711205125"/>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E579FC8-427F-4CAD-80EC-11FE05D6DB5C}"/>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2925">
                <a:solidFill>
                  <a:srgbClr val="FFFFFF"/>
                </a:solidFill>
                <a:latin typeface="Trebuchet MS"/>
                <a:ea typeface="Trebuchet MS"/>
                <a:cs typeface="Trebuchet MS"/>
              </a:defRPr>
            </a:defPPr>
          </a:lstStyle>
          <a:p>
            <a:pPr>
              <a:defRPr sz="2925">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 que uma integração precisa validar</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52D306DC-2D66-425F-BE0F-A6FBA42D6B1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Confira o evento recebido, o estado, a identificação do alerta e o destino.</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Teste também a resolução e evite criar chamados duplicados para a mesma ocorrência.</a:t>
            </a:r>
          </a:p>
        </p:txBody>
      </p:sp>
      <p:sp>
        <p:nvSpPr>
          <p:cNvPr id="1057" name="apoio">
            <a:extLst>
              <a:ext uri="{FF2B5EF4-FFF2-40B4-BE49-F238E27FC236}">
                <a16:creationId xmlns:a16="http://schemas.microsoft.com/office/drawing/2014/main" id="{C5A69F31-BD51-4CF6-AFDC-64D3EC643A39}"/>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firing / resolved</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Identificação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Contexto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Resposta HTTP</a:t>
            </a:r>
          </a:p>
        </p:txBody>
      </p:sp>
      <p:sp>
        <p:nvSpPr>
          <p:cNvPr id="1058" name="rodape">
            <a:extLst>
              <a:ext uri="{FF2B5EF4-FFF2-40B4-BE49-F238E27FC236}">
                <a16:creationId xmlns:a16="http://schemas.microsoft.com/office/drawing/2014/main" id="{89F90C8D-D78D-4CDF-88B9-F70AB148315E}"/>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095F121A-8E59-43A6-98D7-E25D357A549B}"/>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157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508311612"/>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D184A967-4D4A-43B8-92F1-CBBBEE56C6A3}"/>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5</a:t>
            </a:r>
          </a:p>
        </p:txBody>
      </p:sp>
      <p:sp>
        <p:nvSpPr>
          <p:cNvPr id="121" name="titulo">
            <a:extLst>
              <a:ext uri="{FF2B5EF4-FFF2-40B4-BE49-F238E27FC236}">
                <a16:creationId xmlns:a16="http://schemas.microsoft.com/office/drawing/2014/main" id="{D6B014CC-3EA6-416F-90CA-8B0010990244}"/>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Demonstração</a:t>
            </a:r>
          </a:p>
        </p:txBody>
      </p:sp>
      <p:sp>
        <p:nvSpPr>
          <p:cNvPr id="122" name="subtitulo">
            <a:extLst>
              <a:ext uri="{FF2B5EF4-FFF2-40B4-BE49-F238E27FC236}">
                <a16:creationId xmlns:a16="http://schemas.microsoft.com/office/drawing/2014/main" id="{C27FCFE4-0DE6-4DD3-8258-C8C8C18FBBB0}"/>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Professor apresenta · Aluno observa</a:t>
            </a:r>
          </a:p>
        </p:txBody>
      </p:sp>
      <p:sp>
        <p:nvSpPr>
          <p:cNvPr id="123" name="tempo">
            <a:extLst>
              <a:ext uri="{FF2B5EF4-FFF2-40B4-BE49-F238E27FC236}">
                <a16:creationId xmlns:a16="http://schemas.microsoft.com/office/drawing/2014/main" id="{5858CE62-FB9D-4B00-BB3F-A88516CE893C}"/>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19h55  ·  Demonstração</a:t>
            </a:r>
          </a:p>
        </p:txBody>
      </p:sp>
      <p:sp>
        <p:nvSpPr>
          <p:cNvPr id="124" name="pagina">
            <a:extLst>
              <a:ext uri="{FF2B5EF4-FFF2-40B4-BE49-F238E27FC236}">
                <a16:creationId xmlns:a16="http://schemas.microsoft.com/office/drawing/2014/main" id="{681129DA-E662-4D94-8D99-146079618194}"/>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158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2AF0040A-F6D3-451C-9DE9-7B2253955ECD}"/>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Ponto de contato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2F55EAC-2D52-41C2-B446-B72E1D40F452}"/>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Em Alerting, crie um contato Webhook.</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Informe a URL interna, envie uma notificação de teste e confirme o recebimento.</a:t>
            </a:r>
          </a:p>
        </p:txBody>
      </p:sp>
      <p:pic>
        <p:nvPicPr>
          <p:cNvPr id="1057" name="Imagem 1056">
            <a:extLst>
              <a:ext uri="{FF2B5EF4-FFF2-40B4-BE49-F238E27FC236}">
                <a16:creationId xmlns:a16="http://schemas.microsoft.com/office/drawing/2014/main" id="{8119E75B-A944-4DF7-A8CC-EA93DF705DA2}"/>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50A0C9F6-0C0F-4A78-AAF3-892B7286B319}"/>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AF99CDA8-D70A-470B-898C-05D823A1E9A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Demonstração  ·  Fábio Silva</a:t>
            </a:r>
          </a:p>
        </p:txBody>
      </p:sp>
      <p:sp>
        <p:nvSpPr>
          <p:cNvPr id="1060" name="pagina">
            <a:extLst>
              <a:ext uri="{FF2B5EF4-FFF2-40B4-BE49-F238E27FC236}">
                <a16:creationId xmlns:a16="http://schemas.microsoft.com/office/drawing/2014/main" id="{3A2847EB-827B-451B-B386-215F0151A6D8}"/>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159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EBF5C1C5-DC42-449E-8882-FACF8B76DA7E}"/>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Redução e limite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FA5677B-30C6-49B5-9F9C-0CE6DFC6165A}"/>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No fluxo com expressões, Reduce transforma a série em um valor por série.</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Threshold compara esse valor ao limite definido.</a:t>
            </a:r>
          </a:p>
        </p:txBody>
      </p:sp>
      <p:pic>
        <p:nvPicPr>
          <p:cNvPr id="1057" name="Imagem 1056">
            <a:extLst>
              <a:ext uri="{FF2B5EF4-FFF2-40B4-BE49-F238E27FC236}">
                <a16:creationId xmlns:a16="http://schemas.microsoft.com/office/drawing/2014/main" id="{ADFF7C33-9AE8-47A5-98B4-308C00E2DD90}"/>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94D7058F-3805-432B-AF10-BB59DF10747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94DEE2AE-CEDB-4591-82B6-B8CAFADC0B3B}"/>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Demonstração  ·  Fábio Silva</a:t>
            </a:r>
          </a:p>
        </p:txBody>
      </p:sp>
      <p:sp>
        <p:nvSpPr>
          <p:cNvPr id="1060" name="pagina">
            <a:extLst>
              <a:ext uri="{FF2B5EF4-FFF2-40B4-BE49-F238E27FC236}">
                <a16:creationId xmlns:a16="http://schemas.microsoft.com/office/drawing/2014/main" id="{84E0F3D3-314E-4114-A751-001DAD051BB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160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ED3E876D-010D-4283-896C-B70E987A911C}"/>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Prática de disparo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6BCE6C1E-1BDE-457C-91E2-2A8CED25327D}"/>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Salve a regra com o ponto de contato.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Gere tráfego e acompanhe a condição, o estado e a mensagem recebida.</a:t>
            </a:r>
          </a:p>
        </p:txBody>
      </p:sp>
      <p:pic>
        <p:nvPicPr>
          <p:cNvPr id="1057" name="Imagem 1056">
            <a:extLst>
              <a:ext uri="{FF2B5EF4-FFF2-40B4-BE49-F238E27FC236}">
                <a16:creationId xmlns:a16="http://schemas.microsoft.com/office/drawing/2014/main" id="{B8EE0D3C-A782-4D66-9AEE-11D58981B4CD}"/>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7DC0D4B2-E3DD-42D3-9A4B-791B81ACB2EB}"/>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2B880452-D53A-453F-971A-8F9BE9C2F9FC}"/>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Demonstração  ·  Fábio Silva</a:t>
            </a:r>
          </a:p>
        </p:txBody>
      </p:sp>
      <p:sp>
        <p:nvSpPr>
          <p:cNvPr id="1060" name="pagina">
            <a:extLst>
              <a:ext uri="{FF2B5EF4-FFF2-40B4-BE49-F238E27FC236}">
                <a16:creationId xmlns:a16="http://schemas.microsoft.com/office/drawing/2014/main" id="{3F4E4ADA-98E4-4A07-A938-F00B078663B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161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BD63D7A5-D5F7-49AD-A4EC-71A8A4AC533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Receptor de notificações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A468F871-2F2D-490F-AC50-E491A76A68F4}"/>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Vamos usar um receptor local incluído no pacote.</a:t>
            </a:r>
          </a:p>
          <a:p>
            <a:endParaRPr sz="215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Ele cumpre o papel didático do endpoint de webhook usado pelo tutorial.</a:t>
            </a:r>
          </a:p>
        </p:txBody>
      </p:sp>
      <p:pic>
        <p:nvPicPr>
          <p:cNvPr id="1057" name="Imagem 1056">
            <a:extLst>
              <a:ext uri="{FF2B5EF4-FFF2-40B4-BE49-F238E27FC236}">
                <a16:creationId xmlns:a16="http://schemas.microsoft.com/office/drawing/2014/main" id="{0441CAE2-620F-4CB4-AB87-A5E94555A24A}"/>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ACCA5735-594A-41BF-B546-B949A837D59C}"/>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9C3DBF5C-81AA-48CB-B03B-5151BC2988F6}"/>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Demonstração  ·  Fábio Silva</a:t>
            </a:r>
          </a:p>
        </p:txBody>
      </p:sp>
      <p:sp>
        <p:nvSpPr>
          <p:cNvPr id="1060" name="pagina">
            <a:extLst>
              <a:ext uri="{FF2B5EF4-FFF2-40B4-BE49-F238E27FC236}">
                <a16:creationId xmlns:a16="http://schemas.microsoft.com/office/drawing/2014/main" id="{B2F266D9-B831-4C28-A62C-2A5C2A92E09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162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744F3DA8-C15A-4C4C-9A83-B255188A8D7F}"/>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Demonstração no ambiente do professor</a:t>
            </a:r>
          </a:p>
        </p:txBody>
      </p:sp>
      <p:sp>
        <p:nvSpPr>
          <p:cNvPr id="2" name="titulo">
            <a:extLst>
              <a:ext uri="{FF2B5EF4-FFF2-40B4-BE49-F238E27FC236}">
                <a16:creationId xmlns:a16="http://schemas.microsoft.com/office/drawing/2014/main" id="{1A45F4B6-48BB-4572-AA9D-5F4C5AB15810}"/>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Consulta da regra de CPU</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A5FA4A25-9472-4870-948C-8CEF65360985}"/>
              </a:ext>
            </a:extLst>
          </p:cNvPr>
          <p:cNvPicPr>
            <a:picLocks/>
          </p:cNvPicPr>
          <p:nvPr/>
        </p:nvPicPr>
        <p:blipFill>
          <a:blip r:embed="rId3"/>
          <a:stretch/>
        </p:blipFill>
        <p:spPr>
          <a:xfrm>
            <a:off x="3774043" y="1562100"/>
            <a:ext cx="5046249" cy="4216400"/>
          </a:xfrm>
          <a:prstGeom prst="rect">
            <a:avLst/>
          </a:prstGeom>
        </p:spPr>
      </p:pic>
      <p:sp>
        <p:nvSpPr>
          <p:cNvPr id="4" name="legenda">
            <a:extLst>
              <a:ext uri="{FF2B5EF4-FFF2-40B4-BE49-F238E27FC236}">
                <a16:creationId xmlns:a16="http://schemas.microsoft.com/office/drawing/2014/main" id="{C4EC77BC-40A7-4062-8EF8-2C359D3FCF59}"/>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A usa Prometheus em Range; B reduz; C compara com o limite.</a:t>
            </a:r>
          </a:p>
        </p:txBody>
      </p:sp>
      <p:sp>
        <p:nvSpPr>
          <p:cNvPr id="5" name="pagina">
            <a:extLst>
              <a:ext uri="{FF2B5EF4-FFF2-40B4-BE49-F238E27FC236}">
                <a16:creationId xmlns:a16="http://schemas.microsoft.com/office/drawing/2014/main" id="{C8715362-8D65-4D1C-B730-3789B0CB459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163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563332909"/>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55CB7303-7AE9-48B3-AF44-BAEDEC34159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Demonstração no ambiente do professor</a:t>
            </a:r>
          </a:p>
        </p:txBody>
      </p:sp>
      <p:sp>
        <p:nvSpPr>
          <p:cNvPr id="2" name="titulo">
            <a:extLst>
              <a:ext uri="{FF2B5EF4-FFF2-40B4-BE49-F238E27FC236}">
                <a16:creationId xmlns:a16="http://schemas.microsoft.com/office/drawing/2014/main" id="{1C84EC77-39EB-45B8-885C-22A62309EDB2}"/>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Prévia da condição normal</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DDCA7B35-1F1B-47FA-A2C9-5ECDD70F956E}"/>
              </a:ext>
            </a:extLst>
          </p:cNvPr>
          <p:cNvPicPr>
            <a:picLocks/>
          </p:cNvPicPr>
          <p:nvPr/>
        </p:nvPicPr>
        <p:blipFill>
          <a:blip r:embed="rId3"/>
          <a:stretch/>
        </p:blipFill>
        <p:spPr>
          <a:xfrm>
            <a:off x="1770991" y="1562100"/>
            <a:ext cx="9052354" cy="4216400"/>
          </a:xfrm>
          <a:prstGeom prst="rect">
            <a:avLst/>
          </a:prstGeom>
        </p:spPr>
      </p:pic>
      <p:sp>
        <p:nvSpPr>
          <p:cNvPr id="4" name="legenda">
            <a:extLst>
              <a:ext uri="{FF2B5EF4-FFF2-40B4-BE49-F238E27FC236}">
                <a16:creationId xmlns:a16="http://schemas.microsoft.com/office/drawing/2014/main" id="{C733E313-E834-41DD-914A-9F58FE92247D}"/>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Com CPU abaixo de 80%, a prévia retorna Normal.</a:t>
            </a:r>
          </a:p>
        </p:txBody>
      </p:sp>
      <p:sp>
        <p:nvSpPr>
          <p:cNvPr id="5" name="pagina">
            <a:extLst>
              <a:ext uri="{FF2B5EF4-FFF2-40B4-BE49-F238E27FC236}">
                <a16:creationId xmlns:a16="http://schemas.microsoft.com/office/drawing/2014/main" id="{193004BD-3E08-4D2C-A462-0F90B2D13EA6}"/>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164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553191144"/>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78EEAC5A-C426-4B25-B45B-DD3F36A06E8A}"/>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Demonstração no ambiente do professor</a:t>
            </a:r>
          </a:p>
        </p:txBody>
      </p:sp>
      <p:sp>
        <p:nvSpPr>
          <p:cNvPr id="2" name="titulo">
            <a:extLst>
              <a:ext uri="{FF2B5EF4-FFF2-40B4-BE49-F238E27FC236}">
                <a16:creationId xmlns:a16="http://schemas.microsoft.com/office/drawing/2014/main" id="{F3F6E0AD-F97E-4C57-AC69-4DCBEB4C30A8}"/>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Prévia com condição atendida</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FD4D1896-9466-4C8D-AEBB-17E78F4D68DC}"/>
              </a:ext>
            </a:extLst>
          </p:cNvPr>
          <p:cNvPicPr>
            <a:picLocks/>
          </p:cNvPicPr>
          <p:nvPr/>
        </p:nvPicPr>
        <p:blipFill>
          <a:blip r:embed="rId3"/>
          <a:stretch/>
        </p:blipFill>
        <p:spPr>
          <a:xfrm>
            <a:off x="1770991" y="1562100"/>
            <a:ext cx="9052354" cy="4216400"/>
          </a:xfrm>
          <a:prstGeom prst="rect">
            <a:avLst/>
          </a:prstGeom>
        </p:spPr>
      </p:pic>
      <p:sp>
        <p:nvSpPr>
          <p:cNvPr id="4" name="legenda">
            <a:extLst>
              <a:ext uri="{FF2B5EF4-FFF2-40B4-BE49-F238E27FC236}">
                <a16:creationId xmlns:a16="http://schemas.microsoft.com/office/drawing/2014/main" id="{0F61FE1A-A9A1-4BBE-9C50-5FB0A5200CED}"/>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Limite didático de 1% para comparar o resultado na mesma consulta.</a:t>
            </a:r>
          </a:p>
        </p:txBody>
      </p:sp>
      <p:sp>
        <p:nvSpPr>
          <p:cNvPr id="5" name="pagina">
            <a:extLst>
              <a:ext uri="{FF2B5EF4-FFF2-40B4-BE49-F238E27FC236}">
                <a16:creationId xmlns:a16="http://schemas.microsoft.com/office/drawing/2014/main" id="{92E5761F-DB9C-4402-B92E-EF297F32E3F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165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6897430"/>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4B8BB84B-7F04-4F1C-957B-A83F214F4F76}"/>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Demonstração no ambiente do professor</a:t>
            </a:r>
          </a:p>
        </p:txBody>
      </p:sp>
      <p:sp>
        <p:nvSpPr>
          <p:cNvPr id="2" name="titulo">
            <a:extLst>
              <a:ext uri="{FF2B5EF4-FFF2-40B4-BE49-F238E27FC236}">
                <a16:creationId xmlns:a16="http://schemas.microsoft.com/office/drawing/2014/main" id="{DCB9891E-1EE0-4CB4-9E54-13406CD202D3}"/>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Vínculo do alerta com o painel</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0CE4DA5E-044A-4277-A026-71F84C62617D}"/>
              </a:ext>
            </a:extLst>
          </p:cNvPr>
          <p:cNvPicPr>
            <a:picLocks/>
          </p:cNvPicPr>
          <p:nvPr/>
        </p:nvPicPr>
        <p:blipFill>
          <a:blip r:embed="rId3"/>
          <a:stretch/>
        </p:blipFill>
        <p:spPr>
          <a:xfrm>
            <a:off x="3774043" y="1562100"/>
            <a:ext cx="5046249" cy="4216400"/>
          </a:xfrm>
          <a:prstGeom prst="rect">
            <a:avLst/>
          </a:prstGeom>
        </p:spPr>
      </p:pic>
      <p:sp>
        <p:nvSpPr>
          <p:cNvPr id="4" name="legenda">
            <a:extLst>
              <a:ext uri="{FF2B5EF4-FFF2-40B4-BE49-F238E27FC236}">
                <a16:creationId xmlns:a16="http://schemas.microsoft.com/office/drawing/2014/main" id="{68AC4212-A89E-42B8-BA66-9D664BBAF49D}"/>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O vínculo foi demonstrado no rascunho; a entrega ainda exige contato.</a:t>
            </a:r>
          </a:p>
        </p:txBody>
      </p:sp>
      <p:sp>
        <p:nvSpPr>
          <p:cNvPr id="5" name="pagina">
            <a:extLst>
              <a:ext uri="{FF2B5EF4-FFF2-40B4-BE49-F238E27FC236}">
                <a16:creationId xmlns:a16="http://schemas.microsoft.com/office/drawing/2014/main" id="{D3303AE7-C996-4CD4-AEF6-FDAFE60DAFB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166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691399097"/>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ulo">
            <a:extLst>
              <a:ext uri="{FF2B5EF4-FFF2-40B4-BE49-F238E27FC236}">
                <a16:creationId xmlns:a16="http://schemas.microsoft.com/office/drawing/2014/main" id="{7070DD07-DB1E-4FAA-8688-AA46FDAD0C9B}"/>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Onde configurar o destinatário</a:t>
            </a:r>
            <a:endParaRPr sz="3600" b="1">
              <a:solidFill>
                <a:srgbClr val="73A277"/>
              </a:solidFill>
              <a:latin typeface="Segoe UI" panose="020B0502040204020203" pitchFamily="34" charset="0"/>
              <a:ea typeface="Trebuchet MS"/>
              <a:cs typeface="Trebuchet MS"/>
            </a:endParaRPr>
          </a:p>
        </p:txBody>
      </p:sp>
      <p:pic>
        <p:nvPicPr>
          <p:cNvPr id="2" name="Imagem 1">
            <a:extLst>
              <a:ext uri="{FF2B5EF4-FFF2-40B4-BE49-F238E27FC236}">
                <a16:creationId xmlns:a16="http://schemas.microsoft.com/office/drawing/2014/main" id="{CE492F25-BE5E-411F-90FD-344A475C7708}"/>
              </a:ext>
            </a:extLst>
          </p:cNvPr>
          <p:cNvPicPr>
            <a:picLocks/>
          </p:cNvPicPr>
          <p:nvPr/>
        </p:nvPicPr>
        <p:blipFill>
          <a:blip r:embed="rId3"/>
          <a:stretch/>
        </p:blipFill>
        <p:spPr>
          <a:xfrm>
            <a:off x="3775364" y="1562100"/>
            <a:ext cx="5043609" cy="4216400"/>
          </a:xfrm>
          <a:prstGeom prst="rect">
            <a:avLst/>
          </a:prstGeom>
        </p:spPr>
      </p:pic>
      <p:sp>
        <p:nvSpPr>
          <p:cNvPr id="3" name="legenda">
            <a:extLst>
              <a:ext uri="{FF2B5EF4-FFF2-40B4-BE49-F238E27FC236}">
                <a16:creationId xmlns:a16="http://schemas.microsoft.com/office/drawing/2014/main" id="{D584A1CD-A8D7-4D78-8A1A-6DD8A428515B}"/>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Alerting &gt; Contact points &gt; Add contact point &gt; Email &gt; Addresses.</a:t>
            </a:r>
          </a:p>
        </p:txBody>
      </p:sp>
      <p:sp>
        <p:nvSpPr>
          <p:cNvPr id="4" name="pagina">
            <a:extLst>
              <a:ext uri="{FF2B5EF4-FFF2-40B4-BE49-F238E27FC236}">
                <a16:creationId xmlns:a16="http://schemas.microsoft.com/office/drawing/2014/main" id="{F8F0B87B-8B90-4136-A775-3A31702A3C36}"/>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167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30661718"/>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ulo">
            <a:extLst>
              <a:ext uri="{FF2B5EF4-FFF2-40B4-BE49-F238E27FC236}">
                <a16:creationId xmlns:a16="http://schemas.microsoft.com/office/drawing/2014/main" id="{FF25E825-142E-435C-9594-387D697590BE}"/>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Onde configurar o Webhook</a:t>
            </a:r>
            <a:endParaRPr sz="3600" b="1">
              <a:solidFill>
                <a:srgbClr val="73A277"/>
              </a:solidFill>
              <a:latin typeface="Segoe UI" panose="020B0502040204020203" pitchFamily="34" charset="0"/>
              <a:ea typeface="Trebuchet MS"/>
              <a:cs typeface="Trebuchet MS"/>
            </a:endParaRPr>
          </a:p>
        </p:txBody>
      </p:sp>
      <p:pic>
        <p:nvPicPr>
          <p:cNvPr id="2" name="Imagem 1">
            <a:extLst>
              <a:ext uri="{FF2B5EF4-FFF2-40B4-BE49-F238E27FC236}">
                <a16:creationId xmlns:a16="http://schemas.microsoft.com/office/drawing/2014/main" id="{E0333E28-9B4E-4CB0-9479-910FA580D992}"/>
              </a:ext>
            </a:extLst>
          </p:cNvPr>
          <p:cNvPicPr>
            <a:picLocks/>
          </p:cNvPicPr>
          <p:nvPr/>
        </p:nvPicPr>
        <p:blipFill>
          <a:blip r:embed="rId3"/>
          <a:stretch/>
        </p:blipFill>
        <p:spPr>
          <a:xfrm>
            <a:off x="3774043" y="1562100"/>
            <a:ext cx="5046249" cy="4216400"/>
          </a:xfrm>
          <a:prstGeom prst="rect">
            <a:avLst/>
          </a:prstGeom>
        </p:spPr>
      </p:pic>
      <p:sp>
        <p:nvSpPr>
          <p:cNvPr id="3" name="legenda">
            <a:extLst>
              <a:ext uri="{FF2B5EF4-FFF2-40B4-BE49-F238E27FC236}">
                <a16:creationId xmlns:a16="http://schemas.microsoft.com/office/drawing/2014/main" id="{5A9701F1-8234-4BC0-AF2D-A93C06E3E82D}"/>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URL do receptor, método HTTP e opções de autenticação.</a:t>
            </a:r>
          </a:p>
        </p:txBody>
      </p:sp>
      <p:sp>
        <p:nvSpPr>
          <p:cNvPr id="4" name="pagina">
            <a:extLst>
              <a:ext uri="{FF2B5EF4-FFF2-40B4-BE49-F238E27FC236}">
                <a16:creationId xmlns:a16="http://schemas.microsoft.com/office/drawing/2014/main" id="{B3DFD7DD-973E-4F1A-A418-47B05BC1FEB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168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314036005"/>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DDDD9314-AB2B-4A9B-B7D9-4799B12414BC}"/>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Intervalo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EAE5D265-6552-4B13-81FD-72EDD08B729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Pausa de 25 minutos.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Na volta, o professor apresentará os exercícios comentados antes da prática individual.</a:t>
            </a:r>
          </a:p>
        </p:txBody>
      </p:sp>
      <p:sp>
        <p:nvSpPr>
          <p:cNvPr id="1057" name="apoio">
            <a:extLst>
              <a:ext uri="{FF2B5EF4-FFF2-40B4-BE49-F238E27FC236}">
                <a16:creationId xmlns:a16="http://schemas.microsoft.com/office/drawing/2014/main" id="{E54F1376-8062-47A0-95EF-BCE13A6CAE69}"/>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20h20–20h45</a:t>
            </a:r>
          </a:p>
        </p:txBody>
      </p:sp>
      <p:sp>
        <p:nvSpPr>
          <p:cNvPr id="1058" name="rodape">
            <a:extLst>
              <a:ext uri="{FF2B5EF4-FFF2-40B4-BE49-F238E27FC236}">
                <a16:creationId xmlns:a16="http://schemas.microsoft.com/office/drawing/2014/main" id="{5D486F41-1847-46F3-ACA3-5053AFB55E36}"/>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Intervalo  ·  Fábio Silva</a:t>
            </a:r>
          </a:p>
        </p:txBody>
      </p:sp>
      <p:sp>
        <p:nvSpPr>
          <p:cNvPr id="1059" name="pagina">
            <a:extLst>
              <a:ext uri="{FF2B5EF4-FFF2-40B4-BE49-F238E27FC236}">
                <a16:creationId xmlns:a16="http://schemas.microsoft.com/office/drawing/2014/main" id="{D0203DB5-FBDF-4D02-B86E-C2833A97177E}"/>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169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B5AD31C2-4C64-4743-A941-38E03BD8D174}"/>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5</a:t>
            </a:r>
          </a:p>
        </p:txBody>
      </p:sp>
      <p:sp>
        <p:nvSpPr>
          <p:cNvPr id="121" name="titulo">
            <a:extLst>
              <a:ext uri="{FF2B5EF4-FFF2-40B4-BE49-F238E27FC236}">
                <a16:creationId xmlns:a16="http://schemas.microsoft.com/office/drawing/2014/main" id="{BDEF5A93-CD7E-4EB6-AC81-7956B969D02C}"/>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Exercícios</a:t>
            </a:r>
          </a:p>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comentados</a:t>
            </a:r>
          </a:p>
        </p:txBody>
      </p:sp>
      <p:sp>
        <p:nvSpPr>
          <p:cNvPr id="122" name="subtitulo">
            <a:extLst>
              <a:ext uri="{FF2B5EF4-FFF2-40B4-BE49-F238E27FC236}">
                <a16:creationId xmlns:a16="http://schemas.microsoft.com/office/drawing/2014/main" id="{1C2C0640-9E5F-4C8E-898C-0A25866089AF}"/>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Professor explica · Turma acompanha</a:t>
            </a:r>
          </a:p>
        </p:txBody>
      </p:sp>
      <p:sp>
        <p:nvSpPr>
          <p:cNvPr id="123" name="tempo">
            <a:extLst>
              <a:ext uri="{FF2B5EF4-FFF2-40B4-BE49-F238E27FC236}">
                <a16:creationId xmlns:a16="http://schemas.microsoft.com/office/drawing/2014/main" id="{140F97C8-E501-44C5-BF78-7017077AAC69}"/>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20h45  ·  Exercícios comentados</a:t>
            </a:r>
          </a:p>
        </p:txBody>
      </p:sp>
      <p:sp>
        <p:nvSpPr>
          <p:cNvPr id="124" name="pagina">
            <a:extLst>
              <a:ext uri="{FF2B5EF4-FFF2-40B4-BE49-F238E27FC236}">
                <a16:creationId xmlns:a16="http://schemas.microsoft.com/office/drawing/2014/main" id="{E5D0F78B-2E34-436B-B0CC-3D03D91871D8}"/>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170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D5666449-8589-479A-BCCA-965C937068D0}"/>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Exercícios comentados · Configuração no navegador</a:t>
            </a:r>
          </a:p>
        </p:txBody>
      </p:sp>
      <p:sp>
        <p:nvSpPr>
          <p:cNvPr id="2" name="titulo">
            <a:extLst>
              <a:ext uri="{FF2B5EF4-FFF2-40B4-BE49-F238E27FC236}">
                <a16:creationId xmlns:a16="http://schemas.microsoft.com/office/drawing/2014/main" id="{52137367-29EF-443D-B1CF-B5F702A3A5DA}"/>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5.1 — Validar o ponto de contato</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2EC9BAE3-80C6-4C90-98D4-3F4D9909C8D9}"/>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lang="pt-BR" sz="2000">
                <a:solidFill>
                  <a:srgbClr val="5F5F5F"/>
                </a:solidFill>
                <a:latin typeface="Segoe UI" panose="020B0502040204020203" pitchFamily="34" charset="0"/>
                <a:ea typeface="Trebuchet MS"/>
                <a:cs typeface="Trebuchet MS"/>
              </a:rPr>
              <a:t>1. Use http://webhook:8080/ no contato e localhost:38090 no navegador.</a:t>
            </a:r>
            <a:endParaRPr sz="2000">
              <a:solidFill>
                <a:srgbClr val="5F5F5F"/>
              </a:solidFill>
              <a:latin typeface="Segoe UI" panose="020B0502040204020203" pitchFamily="34" charset="0"/>
              <a:ea typeface="Trebuchet MS"/>
              <a:cs typeface="Trebuchet MS"/>
            </a:endParaRP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Crie um ponto de contato Webhook no Grafana.</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Envie uma mensagem de teste e confirme a chegada.</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Salve o contato.</a:t>
            </a:r>
          </a:p>
        </p:txBody>
      </p:sp>
      <p:sp>
        <p:nvSpPr>
          <p:cNvPr id="4" name="comentario">
            <a:extLst>
              <a:ext uri="{FF2B5EF4-FFF2-40B4-BE49-F238E27FC236}">
                <a16:creationId xmlns:a16="http://schemas.microsoft.com/office/drawing/2014/main" id="{C63B25D2-19C3-43E3-ADCF-F5FFBB31E2E0}"/>
              </a:ext>
            </a:extLst>
          </p:cNvPr>
          <p:cNvSpPr>
            <a:spLocks noGrp="1"/>
          </p:cNvSpPr>
          <p:nvPr/>
        </p:nvSpPr>
        <p:spPr>
          <a:xfrm>
            <a:off x="1039368" y="382587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Comente o endereço visto pelo serviço Grafana e a diferença entre testar contato e testar a regra. Não exigir configuração de e-mail, Slack ou serviços externos adicionais.</a:t>
            </a:r>
          </a:p>
        </p:txBody>
      </p:sp>
      <p:sp>
        <p:nvSpPr>
          <p:cNvPr id="5" name="resultado">
            <a:extLst>
              <a:ext uri="{FF2B5EF4-FFF2-40B4-BE49-F238E27FC236}">
                <a16:creationId xmlns:a16="http://schemas.microsoft.com/office/drawing/2014/main" id="{F0E6ADBF-0C99-4097-8236-C9C596AF5DF8}"/>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Contato salvo e notificação de teste recebida.</a:t>
            </a:r>
          </a:p>
        </p:txBody>
      </p:sp>
      <p:sp>
        <p:nvSpPr>
          <p:cNvPr id="6" name="pagina">
            <a:extLst>
              <a:ext uri="{FF2B5EF4-FFF2-40B4-BE49-F238E27FC236}">
                <a16:creationId xmlns:a16="http://schemas.microsoft.com/office/drawing/2014/main" id="{B8E01691-5B2E-464D-962D-C4D9A715DFD1}"/>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171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tapa">
            <a:extLst>
              <a:ext uri="{FF2B5EF4-FFF2-40B4-BE49-F238E27FC236}">
                <a16:creationId xmlns:a16="http://schemas.microsoft.com/office/drawing/2014/main" id="{572C7D90-A518-473A-9A34-1FE68D592D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Exercícios comentados · Consulta e configuração</a:t>
            </a:r>
          </a:p>
        </p:txBody>
      </p:sp>
      <p:sp>
        <p:nvSpPr>
          <p:cNvPr id="2" name="titulo">
            <a:extLst>
              <a:ext uri="{FF2B5EF4-FFF2-40B4-BE49-F238E27FC236}">
                <a16:creationId xmlns:a16="http://schemas.microsoft.com/office/drawing/2014/main" id="{C41F3E99-B435-446A-B0EC-F3EC29E1F46F}"/>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5.2 — Criar e disparar a regra</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3E08E65B-C8DE-4046-951F-A3A49825533A}"/>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00" b="0">
                <a:solidFill>
                  <a:srgbClr val="222222"/>
                </a:solidFill>
                <a:latin typeface="Trebuchet MS"/>
                <a:ea typeface="Trebuchet MS"/>
                <a:cs typeface="Trebuchet MS"/>
              </a:defRPr>
            </a:defPPr>
          </a:lstStyle>
          <a:p>
            <a:pPr>
              <a:defRPr sz="1800"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Crie uma regra Grafana-managed com identificação do aluno.</a:t>
            </a:r>
          </a:p>
          <a:p>
            <a:pPr>
              <a:defRPr sz="1800"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Use a consulta por rota em A, Reduce / Last em B e </a:t>
            </a:r>
            <a:r>
              <a:rPr lang="pt-BR" sz="2000">
                <a:solidFill>
                  <a:srgbClr val="5F5F5F"/>
                </a:solidFill>
                <a:latin typeface="Segoe UI" panose="020B0502040204020203" pitchFamily="34" charset="0"/>
                <a:ea typeface="Trebuchet MS"/>
                <a:cs typeface="Trebuchet MS"/>
              </a:rPr>
              <a:t>Threshold acima de 0.01 em C.</a:t>
            </a:r>
            <a:endParaRPr sz="2000">
              <a:solidFill>
                <a:srgbClr val="5F5F5F"/>
              </a:solidFill>
              <a:latin typeface="Segoe UI" panose="020B0502040204020203" pitchFamily="34" charset="0"/>
              <a:ea typeface="Trebuchet MS"/>
              <a:cs typeface="Trebuchet MS"/>
            </a:endParaRPr>
          </a:p>
          <a:p>
            <a:pPr>
              <a:defRPr sz="1800"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Use avaliação de 10s, pendente de 0s e o contato testado.</a:t>
            </a:r>
          </a:p>
          <a:p>
            <a:pPr>
              <a:defRPr sz="1800"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Salve, gere tráfego e observe o valor e o estado.</a:t>
            </a:r>
          </a:p>
          <a:p>
            <a:pPr>
              <a:defRPr sz="1800"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5. Confirme uma notificação da regra no receptor.</a:t>
            </a:r>
          </a:p>
        </p:txBody>
      </p:sp>
      <p:sp>
        <p:nvSpPr>
          <p:cNvPr id="4" name="consulta">
            <a:extLst>
              <a:ext uri="{FF2B5EF4-FFF2-40B4-BE49-F238E27FC236}">
                <a16:creationId xmlns:a16="http://schemas.microsoft.com/office/drawing/2014/main" id="{AAE274E2-349F-48F7-BFD3-3AF020A6D696}"/>
              </a:ext>
            </a:extLst>
          </p:cNvPr>
          <p:cNvSpPr>
            <a:spLocks noGrp="1"/>
          </p:cNvSpPr>
          <p:nvPr/>
        </p:nvSpPr>
        <p:spPr>
          <a:xfrm>
            <a:off x="1039368" y="3691572"/>
            <a:ext cx="10515600" cy="761047"/>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defRPr sz="1725" b="0">
                <a:solidFill>
                  <a:srgbClr val="40760F"/>
                </a:solidFill>
                <a:latin typeface="Trebuchet MS"/>
                <a:ea typeface="Trebuchet MS"/>
                <a:cs typeface="Trebuchet MS"/>
              </a:defRPr>
            </a:pPr>
            <a:r>
              <a:rPr lang="en-US">
                <a:solidFill>
                  <a:srgbClr val="3D588B"/>
                </a:solidFill>
                <a:latin typeface="Segoe UI" panose="020B0502040204020203" pitchFamily="34" charset="0"/>
                <a:ea typeface="Trebuchet MS"/>
                <a:cs typeface="Trebuchet MS"/>
              </a:rPr>
              <a:t>sum(rate(tns_request_duration_seconds_count{route!="metrics"}[5m])) by(route)</a:t>
            </a:r>
            <a:endParaRPr>
              <a:solidFill>
                <a:srgbClr val="3D588B"/>
              </a:solidFill>
              <a:latin typeface="Segoe UI" panose="020B0502040204020203" pitchFamily="34" charset="0"/>
              <a:ea typeface="Trebuchet MS"/>
              <a:cs typeface="Trebuchet MS"/>
            </a:endParaRPr>
          </a:p>
        </p:txBody>
      </p:sp>
      <p:sp>
        <p:nvSpPr>
          <p:cNvPr id="5" name="comentario">
            <a:extLst>
              <a:ext uri="{FF2B5EF4-FFF2-40B4-BE49-F238E27FC236}">
                <a16:creationId xmlns:a16="http://schemas.microsoft.com/office/drawing/2014/main" id="{AB295F25-6C51-4B70-9F9C-9F99CEDE6DC0}"/>
              </a:ext>
            </a:extLst>
          </p:cNvPr>
          <p:cNvSpPr>
            <a:spLocks noGrp="1"/>
          </p:cNvSpPr>
          <p:nvPr/>
        </p:nvSpPr>
        <p:spPr>
          <a:xfrm>
            <a:off x="1039368" y="454215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Comente cada campo e sua justificativa. O limite pode precisar de ajuste se o tráfego de base já o ultrapassar. A mensagem de teste do contato não substitui a notificação da regra.</a:t>
            </a:r>
          </a:p>
        </p:txBody>
      </p:sp>
      <p:sp>
        <p:nvSpPr>
          <p:cNvPr id="6" name="resultado">
            <a:extLst>
              <a:ext uri="{FF2B5EF4-FFF2-40B4-BE49-F238E27FC236}">
                <a16:creationId xmlns:a16="http://schemas.microsoft.com/office/drawing/2014/main" id="{E2C256D2-F507-4BDC-BAF0-9E6D02C47ABF}"/>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Regra avaliada e mensagem de disparo recebida.</a:t>
            </a:r>
          </a:p>
        </p:txBody>
      </p:sp>
      <p:sp>
        <p:nvSpPr>
          <p:cNvPr id="7" name="pagina">
            <a:extLst>
              <a:ext uri="{FF2B5EF4-FFF2-40B4-BE49-F238E27FC236}">
                <a16:creationId xmlns:a16="http://schemas.microsoft.com/office/drawing/2014/main" id="{9FDEAFBB-C557-40D6-8CA2-E3F01861D46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172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4423D139-3A8D-4448-98D3-9DE96E52918D}"/>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Exercícios comentados · Navegação e apresentação</a:t>
            </a:r>
          </a:p>
        </p:txBody>
      </p:sp>
      <p:sp>
        <p:nvSpPr>
          <p:cNvPr id="2" name="titulo">
            <a:extLst>
              <a:ext uri="{FF2B5EF4-FFF2-40B4-BE49-F238E27FC236}">
                <a16:creationId xmlns:a16="http://schemas.microsoft.com/office/drawing/2014/main" id="{7614F7B9-8582-40C8-ACCF-D17004B2BDFA}"/>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5.3 — Vincular e apresentar o projeto</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B9801D96-23EE-4921-B572-6AA6AB7C1193}"/>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Associe a regra ao seu dashboard e ao painel de tráfego.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Mostre a consulta, um erro nos logs e as anotações configuradas.</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Apresente a evidência de recebimento do alerta.</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Exporte ou registre seu trabalho antes de encerrar o ambiente.</a:t>
            </a:r>
          </a:p>
        </p:txBody>
      </p:sp>
      <p:sp>
        <p:nvSpPr>
          <p:cNvPr id="4" name="comentario">
            <a:extLst>
              <a:ext uri="{FF2B5EF4-FFF2-40B4-BE49-F238E27FC236}">
                <a16:creationId xmlns:a16="http://schemas.microsoft.com/office/drawing/2014/main" id="{B1E08F20-B590-4FD7-AFAF-E584AE2F4F04}"/>
              </a:ext>
            </a:extLst>
          </p:cNvPr>
          <p:cNvSpPr>
            <a:spLocks noGrp="1"/>
          </p:cNvSpPr>
          <p:nvPr/>
        </p:nvSpPr>
        <p:spPr>
          <a:xfrm>
            <a:off x="1039368" y="382587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Comente os critérios de correção antes de liberar a prática. O alerta complementar de erros HTTP é opcional para quem terminar cedo; não substitui o fluxo principal.</a:t>
            </a:r>
          </a:p>
        </p:txBody>
      </p:sp>
      <p:sp>
        <p:nvSpPr>
          <p:cNvPr id="5" name="resultado">
            <a:extLst>
              <a:ext uri="{FF2B5EF4-FFF2-40B4-BE49-F238E27FC236}">
                <a16:creationId xmlns:a16="http://schemas.microsoft.com/office/drawing/2014/main" id="{6F9E0C65-F6DC-46A7-AE62-E745CE4D2DEE}"/>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Dashboard e regra relacionados, com explicação do fluxo.</a:t>
            </a:r>
          </a:p>
        </p:txBody>
      </p:sp>
      <p:sp>
        <p:nvSpPr>
          <p:cNvPr id="6" name="pagina">
            <a:extLst>
              <a:ext uri="{FF2B5EF4-FFF2-40B4-BE49-F238E27FC236}">
                <a16:creationId xmlns:a16="http://schemas.microsoft.com/office/drawing/2014/main" id="{C9240C09-715D-4D1B-AED6-92E564103D8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173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30EE0DBA-CF85-45A3-A2EB-C8E89558602E}"/>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5</a:t>
            </a:r>
          </a:p>
        </p:txBody>
      </p:sp>
      <p:sp>
        <p:nvSpPr>
          <p:cNvPr id="121" name="titulo">
            <a:extLst>
              <a:ext uri="{FF2B5EF4-FFF2-40B4-BE49-F238E27FC236}">
                <a16:creationId xmlns:a16="http://schemas.microsoft.com/office/drawing/2014/main" id="{41A468D9-8D6B-47D4-B24E-94F5A0EFC437}"/>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Prática do aluno</a:t>
            </a:r>
          </a:p>
        </p:txBody>
      </p:sp>
      <p:sp>
        <p:nvSpPr>
          <p:cNvPr id="122" name="subtitulo">
            <a:extLst>
              <a:ext uri="{FF2B5EF4-FFF2-40B4-BE49-F238E27FC236}">
                <a16:creationId xmlns:a16="http://schemas.microsoft.com/office/drawing/2014/main" id="{E8203B82-7F8B-4A68-AB94-49D4C571E79E}"/>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Receba a folha · Execute no seu ambiente</a:t>
            </a:r>
          </a:p>
        </p:txBody>
      </p:sp>
      <p:sp>
        <p:nvSpPr>
          <p:cNvPr id="123" name="tempo">
            <a:extLst>
              <a:ext uri="{FF2B5EF4-FFF2-40B4-BE49-F238E27FC236}">
                <a16:creationId xmlns:a16="http://schemas.microsoft.com/office/drawing/2014/main" id="{88F8FD18-57F1-4C37-9101-2962B44A2D3A}"/>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21h00  ·  Prática do aluno</a:t>
            </a:r>
          </a:p>
        </p:txBody>
      </p:sp>
      <p:sp>
        <p:nvSpPr>
          <p:cNvPr id="124" name="pagina">
            <a:extLst>
              <a:ext uri="{FF2B5EF4-FFF2-40B4-BE49-F238E27FC236}">
                <a16:creationId xmlns:a16="http://schemas.microsoft.com/office/drawing/2014/main" id="{0A61113F-2DE4-4D7F-B5EC-DE24C166897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174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11561DC-3CCF-4D06-B337-80CC1626F72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Agora é com você</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8A8F5B4-DC28-438B-A156-0F76F368163D}"/>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Execute as tarefas da folha da noite.</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Registre consultas, resultados e dúvidas. Peça ajuda quando encontrar um bloqueio e preserve seu trabalho.</a:t>
            </a:r>
          </a:p>
        </p:txBody>
      </p:sp>
      <p:sp>
        <p:nvSpPr>
          <p:cNvPr id="1057" name="apoio">
            <a:extLst>
              <a:ext uri="{FF2B5EF4-FFF2-40B4-BE49-F238E27FC236}">
                <a16:creationId xmlns:a16="http://schemas.microsoft.com/office/drawing/2014/main" id="{CAD00483-1868-4C0D-BEEC-D74C11294219}"/>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5.1  Validar o ponto de contato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5.2  Criar e disparar a regra</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5.3  Vincular e apresentar o projeto</a:t>
            </a:r>
          </a:p>
        </p:txBody>
      </p:sp>
      <p:sp>
        <p:nvSpPr>
          <p:cNvPr id="1058" name="rodape">
            <a:extLst>
              <a:ext uri="{FF2B5EF4-FFF2-40B4-BE49-F238E27FC236}">
                <a16:creationId xmlns:a16="http://schemas.microsoft.com/office/drawing/2014/main" id="{56D7479C-4FB9-46CF-AD72-1A8AD62D76A6}"/>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Prática do aluno  ·  Fábio Silva</a:t>
            </a:r>
          </a:p>
        </p:txBody>
      </p:sp>
      <p:sp>
        <p:nvSpPr>
          <p:cNvPr id="1059" name="pagina">
            <a:extLst>
              <a:ext uri="{FF2B5EF4-FFF2-40B4-BE49-F238E27FC236}">
                <a16:creationId xmlns:a16="http://schemas.microsoft.com/office/drawing/2014/main" id="{0B485BD2-9984-4D84-8DFC-531724C3D28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175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AD9B6D73-6ACC-42FA-BD6A-AC565B2EE14E}"/>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Correção e fechamento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43FC22B-505B-41A9-9C08-196BCAACE557}"/>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Apresente uma evidência do que foi executado e explique o resultado.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Compare com os critérios da folha e registre o que precisa revisar.</a:t>
            </a:r>
          </a:p>
        </p:txBody>
      </p:sp>
      <p:sp>
        <p:nvSpPr>
          <p:cNvPr id="1057" name="apoio">
            <a:extLst>
              <a:ext uri="{FF2B5EF4-FFF2-40B4-BE49-F238E27FC236}">
                <a16:creationId xmlns:a16="http://schemas.microsoft.com/office/drawing/2014/main" id="{5BA6408A-C8AB-4A4F-A2FA-70B73AB41BBF}"/>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executei?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observei?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Como interpreto?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ficou pendente?</a:t>
            </a:r>
          </a:p>
        </p:txBody>
      </p:sp>
      <p:sp>
        <p:nvSpPr>
          <p:cNvPr id="1058" name="rodape">
            <a:extLst>
              <a:ext uri="{FF2B5EF4-FFF2-40B4-BE49-F238E27FC236}">
                <a16:creationId xmlns:a16="http://schemas.microsoft.com/office/drawing/2014/main" id="{1A083B8D-3C4B-4413-A57A-170080595F51}"/>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Correção  ·  Fábio Silva</a:t>
            </a:r>
          </a:p>
        </p:txBody>
      </p:sp>
      <p:sp>
        <p:nvSpPr>
          <p:cNvPr id="1059" name="pagina">
            <a:extLst>
              <a:ext uri="{FF2B5EF4-FFF2-40B4-BE49-F238E27FC236}">
                <a16:creationId xmlns:a16="http://schemas.microsoft.com/office/drawing/2014/main" id="{BC3E8E44-865F-4807-994E-E1DB3A8BFCF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176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8A254B3D-B3AB-441F-B5FA-2BCC0E04B149}"/>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Referências e continuidade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38142AB-5E4C-4F9B-BFD1-8F8D93D63761}"/>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Continue estudando pelo tutorial e pela documentação oficial.</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apostila reúne os fundamentos e os roteiros usados nas cinco noites.</a:t>
            </a:r>
          </a:p>
        </p:txBody>
      </p:sp>
      <p:sp>
        <p:nvSpPr>
          <p:cNvPr id="1057" name="apoio">
            <a:extLst>
              <a:ext uri="{FF2B5EF4-FFF2-40B4-BE49-F238E27FC236}">
                <a16:creationId xmlns:a16="http://schemas.microsoft.com/office/drawing/2014/main" id="{00CF31FC-138A-4A0B-BF54-B1B8C15EDE72}"/>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Grafana Fundamentals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Grafana Docs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Prometheus Docs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Loki Docs</a:t>
            </a:r>
          </a:p>
        </p:txBody>
      </p:sp>
      <p:sp>
        <p:nvSpPr>
          <p:cNvPr id="1058" name="rodape">
            <a:extLst>
              <a:ext uri="{FF2B5EF4-FFF2-40B4-BE49-F238E27FC236}">
                <a16:creationId xmlns:a16="http://schemas.microsoft.com/office/drawing/2014/main" id="{D0ED7991-0C1C-46BD-84AD-96655F9F8040}"/>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Referência  ·  Fábio Silva</a:t>
            </a:r>
          </a:p>
        </p:txBody>
      </p:sp>
      <p:sp>
        <p:nvSpPr>
          <p:cNvPr id="1059" name="pagina">
            <a:extLst>
              <a:ext uri="{FF2B5EF4-FFF2-40B4-BE49-F238E27FC236}">
                <a16:creationId xmlns:a16="http://schemas.microsoft.com/office/drawing/2014/main" id="{9ABEB10E-ED66-4229-94C0-9FA6446FCE14}"/>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177 / 178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titulo">
            <a:extLst>
              <a:ext uri="{FF2B5EF4-FFF2-40B4-BE49-F238E27FC236}">
                <a16:creationId xmlns:a16="http://schemas.microsoft.com/office/drawing/2014/main" id="{86B521C5-7BAB-4B55-863D-75B7FCE1C254}"/>
              </a:ext>
            </a:extLst>
          </p:cNvPr>
          <p:cNvSpPr>
            <a:spLocks noGrp="1"/>
          </p:cNvSpPr>
          <p:nvPr/>
        </p:nvSpPr>
        <p:spPr>
          <a:xfrm>
            <a:off x="1039368" y="1972183"/>
            <a:ext cx="6985000" cy="2794000"/>
          </a:xfrm>
          <a:prstGeom prst="rect">
            <a:avLst/>
          </a:prstGeom>
          <a:noFill/>
          <a:ln w="0">
            <a:noFill/>
          </a:ln>
        </p:spPr>
        <p:txBody>
          <a:bodyPr wrap="square" lIns="0" tIns="0" rIns="0" bIns="0" anchor="t">
            <a:noAutofit/>
          </a:bodyPr>
          <a:lstStyle>
            <a:defPPr algn="l">
              <a:defRPr sz="5100" b="0">
                <a:solidFill>
                  <a:srgbClr val="40760F"/>
                </a:solidFill>
                <a:latin typeface="Trebuchet MS"/>
                <a:ea typeface="Trebuchet MS"/>
                <a:cs typeface="Trebuchet MS"/>
              </a:defRPr>
            </a:defPPr>
          </a:lstStyle>
          <a:p>
            <a:pPr>
              <a:defRPr sz="5100" b="0">
                <a:solidFill>
                  <a:srgbClr val="40760F"/>
                </a:solidFill>
                <a:latin typeface="Trebuchet MS"/>
                <a:ea typeface="Trebuchet MS"/>
                <a:cs typeface="Trebuchet MS"/>
              </a:defRPr>
            </a:pPr>
            <a:r>
              <a:rPr sz="5400" b="1">
                <a:solidFill>
                  <a:srgbClr val="FFFFFF"/>
                </a:solidFill>
                <a:latin typeface="Segoe UI" panose="020B0502040204020203" pitchFamily="34" charset="0"/>
                <a:ea typeface="Trebuchet MS"/>
                <a:cs typeface="Trebuchet MS"/>
              </a:rPr>
              <a:t>Obrigado!</a:t>
            </a:r>
          </a:p>
        </p:txBody>
      </p:sp>
      <p:sp>
        <p:nvSpPr>
          <p:cNvPr id="1028" name="assinatura">
            <a:extLst>
              <a:ext uri="{FF2B5EF4-FFF2-40B4-BE49-F238E27FC236}">
                <a16:creationId xmlns:a16="http://schemas.microsoft.com/office/drawing/2014/main" id="{88BBCB87-8008-4736-B9ED-691BFE58E22F}"/>
              </a:ext>
            </a:extLst>
          </p:cNvPr>
          <p:cNvSpPr>
            <a:spLocks noGrp="1"/>
          </p:cNvSpPr>
          <p:nvPr/>
        </p:nvSpPr>
        <p:spPr>
          <a:xfrm>
            <a:off x="1039368" y="4191000"/>
            <a:ext cx="6985000" cy="914400"/>
          </a:xfrm>
          <a:prstGeom prst="rect">
            <a:avLst/>
          </a:prstGeom>
          <a:noFill/>
          <a:ln w="0">
            <a:noFill/>
          </a:ln>
        </p:spPr>
        <p:txBody>
          <a:bodyPr wrap="square" lIns="0" tIns="0" rIns="0" bIns="0" anchor="t">
            <a:noAutofit/>
          </a:bodyPr>
          <a:lstStyle>
            <a:defPPr algn="l">
              <a:defRPr sz="2400" b="0">
                <a:solidFill>
                  <a:srgbClr val="222222"/>
                </a:solidFill>
                <a:latin typeface="Trebuchet MS"/>
                <a:ea typeface="Trebuchet MS"/>
                <a:cs typeface="Trebuchet MS"/>
              </a:defRPr>
            </a:defPPr>
          </a:lstStyle>
          <a:p>
            <a:pPr>
              <a:defRPr sz="2400" b="0">
                <a:solidFill>
                  <a:srgbClr val="222222"/>
                </a:solidFill>
                <a:latin typeface="Trebuchet MS"/>
                <a:ea typeface="Trebuchet MS"/>
                <a:cs typeface="Trebuchet MS"/>
              </a:defRPr>
            </a:pPr>
            <a:r>
              <a:rPr sz="2400">
                <a:solidFill>
                  <a:srgbClr val="FFFFFF"/>
                </a:solidFill>
                <a:latin typeface="Segoe UI" panose="020B0502040204020203" pitchFamily="34" charset="0"/>
                <a:ea typeface="Trebuchet MS"/>
                <a:cs typeface="Trebuchet MS"/>
              </a:rPr>
              <a:t>Fábio Silva</a:t>
            </a:r>
          </a:p>
          <a:p>
            <a:pPr>
              <a:defRPr sz="2400" b="0">
                <a:solidFill>
                  <a:srgbClr val="222222"/>
                </a:solidFill>
                <a:latin typeface="Trebuchet MS"/>
                <a:ea typeface="Trebuchet MS"/>
                <a:cs typeface="Trebuchet MS"/>
              </a:defRPr>
            </a:pPr>
            <a:r>
              <a:rPr sz="2400">
                <a:solidFill>
                  <a:srgbClr val="FFFFFF"/>
                </a:solidFill>
                <a:latin typeface="Segoe UI" panose="020B0502040204020203" pitchFamily="34" charset="0"/>
                <a:ea typeface="Trebuchet MS"/>
                <a:cs typeface="Trebuchet MS"/>
              </a:rPr>
              <a:t>Arquiteto de Soluções</a:t>
            </a:r>
          </a:p>
        </p:txBody>
      </p:sp>
      <p:sp>
        <p:nvSpPr>
          <p:cNvPr id="1029" name="linkedin">
            <a:extLst>
              <a:ext uri="{FF2B5EF4-FFF2-40B4-BE49-F238E27FC236}">
                <a16:creationId xmlns:a16="http://schemas.microsoft.com/office/drawing/2014/main" id="{06192105-8B4A-4B99-A1EF-67C8DCBA2359}"/>
              </a:ext>
            </a:extLst>
          </p:cNvPr>
          <p:cNvSpPr>
            <a:spLocks noGrp="1"/>
          </p:cNvSpPr>
          <p:nvPr/>
        </p:nvSpPr>
        <p:spPr>
          <a:xfrm>
            <a:off x="1039368" y="5740400"/>
            <a:ext cx="6985000" cy="381000"/>
          </a:xfrm>
          <a:prstGeom prst="rect">
            <a:avLst/>
          </a:prstGeom>
          <a:noFill/>
          <a:ln w="0">
            <a:noFill/>
          </a:ln>
        </p:spPr>
        <p:txBody>
          <a:bodyPr wrap="square" lIns="0" tIns="0" rIns="0" bIns="0" anchor="t">
            <a:noAutofit/>
          </a:bodyPr>
          <a:lstStyle>
            <a:defPPr algn="l">
              <a:defRPr sz="1800" b="0">
                <a:solidFill>
                  <a:srgbClr val="40760F"/>
                </a:solidFill>
                <a:latin typeface="Trebuchet MS"/>
                <a:ea typeface="Trebuchet MS"/>
                <a:cs typeface="Trebuchet MS"/>
              </a:defRPr>
            </a:defPPr>
          </a:lstStyle>
          <a:p>
            <a:pPr>
              <a:defRPr sz="1800" b="0">
                <a:solidFill>
                  <a:srgbClr val="40760F"/>
                </a:solidFill>
                <a:latin typeface="Trebuchet MS"/>
                <a:ea typeface="Trebuchet MS"/>
                <a:cs typeface="Trebuchet MS"/>
              </a:defRPr>
            </a:pPr>
            <a:r>
              <a:rPr sz="1600">
                <a:solidFill>
                  <a:srgbClr val="FFFFFF"/>
                </a:solidFill>
                <a:latin typeface="Segoe UI" panose="020B0502040204020203" pitchFamily="34" charset="0"/>
                <a:ea typeface="Trebuchet MS"/>
                <a:cs typeface="Trebuchet MS"/>
                <a:hlinkClick r:id="rId3">
                  <a:extLst>
                    <a:ext uri="{A12FA001-AC4F-418D-AE19-62706E023703}">
                      <ahyp:hlinkClr xmlns:ahyp="http://schemas.microsoft.com/office/drawing/2018/hyperlinkcolor" val="tx"/>
                    </a:ext>
                  </a:extLst>
                </a:hlinkClick>
              </a:rPr>
              <a:t>www.linkedin.com/in/silvapfabio</a:t>
            </a:r>
          </a:p>
        </p:txBody>
      </p:sp>
      <p:sp>
        <p:nvSpPr>
          <p:cNvPr id="1030" name="pagina">
            <a:extLst>
              <a:ext uri="{FF2B5EF4-FFF2-40B4-BE49-F238E27FC236}">
                <a16:creationId xmlns:a16="http://schemas.microsoft.com/office/drawing/2014/main" id="{4FA17998-28A0-423A-B989-4D03CE10F6D7}"/>
              </a:ext>
            </a:extLst>
          </p:cNvPr>
          <p:cNvSpPr>
            <a:spLocks noGrp="1"/>
          </p:cNvSpPr>
          <p:nvPr/>
        </p:nvSpPr>
        <p:spPr>
          <a:xfrm>
            <a:off x="1039368" y="6356350"/>
            <a:ext cx="31750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defRPr sz="975" b="0">
                <a:solidFill>
                  <a:srgbClr val="777777"/>
                </a:solidFill>
                <a:latin typeface="Trebuchet MS"/>
                <a:ea typeface="Trebuchet MS"/>
                <a:cs typeface="Trebuchet MS"/>
              </a:defRPr>
            </a:pPr>
            <a:r>
              <a:rPr lang="pt-BR" sz="1200">
                <a:solidFill>
                  <a:srgbClr val="FFFFFF"/>
                </a:solidFill>
                <a:latin typeface="Segoe UI" panose="020B0502040204020203" pitchFamily="34" charset="0"/>
                <a:ea typeface="Trebuchet MS"/>
                <a:cs typeface="Trebuchet MS"/>
              </a:rPr>
              <a:t>178 / 178</a:t>
            </a:r>
            <a:endParaRPr sz="1200">
              <a:solidFill>
                <a:srgbClr val="FFFFF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468514361"/>
      </p:ext>
    </p:extLst>
  </p:cSld>
  <p:clrMapOvr>
    <a:masterClrMapping/>
  </p:clrMapOvr>
</p:sld>
</file>

<file path=ppt/theme/theme1.xml><?xml version="1.0" encoding="utf-8"?>
<a:theme xmlns:a="http://schemas.openxmlformats.org/drawingml/2006/main" name="template-green-original">
  <a:themeElements>
    <a:clrScheme name="Personalizar 1">
      <a:dk1>
        <a:srgbClr val="72A277"/>
      </a:dk1>
      <a:lt1>
        <a:srgbClr val="FFFFFF"/>
      </a:lt1>
      <a:dk2>
        <a:srgbClr val="44546A"/>
      </a:dk2>
      <a:lt2>
        <a:srgbClr val="E7E6E6"/>
      </a:lt2>
      <a:accent1>
        <a:srgbClr val="4472C4"/>
      </a:accent1>
      <a:accent2>
        <a:srgbClr val="3D588B"/>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template-green-original</Template>
  <TotalTime>0</TotalTime>
  <Words>41001</Words>
  <Application>Microsoft Office PowerPoint</Application>
  <DocSecurity>0</DocSecurity>
  <PresentationFormat>Widescreen</PresentationFormat>
  <Paragraphs>1782</Paragraphs>
  <Slides>178</Slides>
  <Notes>178</Notes>
  <HiddenSlides>0</HiddenSlides>
  <MMClips>2</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178</vt:i4>
      </vt:variant>
    </vt:vector>
  </HeadingPairs>
  <TitlesOfParts>
    <vt:vector size="184" baseType="lpstr">
      <vt:lpstr>Arial</vt:lpstr>
      <vt:lpstr>Montserrat</vt:lpstr>
      <vt:lpstr>Montserrat Medium</vt:lpstr>
      <vt:lpstr>Segoe UI</vt:lpstr>
      <vt:lpstr>Trebuchet MS</vt:lpstr>
      <vt:lpstr>template-green-original</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Fabio Silva</cp:lastModifiedBy>
  <cp:revision>7</cp:revision>
  <dcterms:created xsi:type="dcterms:W3CDTF">2026-10-18T22:12:02Z</dcterms:created>
  <dcterms:modified xsi:type="dcterms:W3CDTF">2026-10-19T13:06:12Z</dcterms:modified>
</cp:coreProperties>
</file>