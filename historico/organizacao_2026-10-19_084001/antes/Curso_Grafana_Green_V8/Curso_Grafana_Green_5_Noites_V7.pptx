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0"/>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409" r:id="rId68"/>
    <p:sldId id="410" r:id="rId69"/>
    <p:sldId id="411" r:id="rId70"/>
    <p:sldId id="412" r:id="rId71"/>
    <p:sldId id="309" r:id="rId72"/>
    <p:sldId id="310" r:id="rId73"/>
    <p:sldId id="311" r:id="rId74"/>
    <p:sldId id="312" r:id="rId75"/>
    <p:sldId id="313" r:id="rId76"/>
    <p:sldId id="314" r:id="rId77"/>
    <p:sldId id="315" r:id="rId78"/>
    <p:sldId id="316" r:id="rId79"/>
    <p:sldId id="317" r:id="rId80"/>
    <p:sldId id="318" r:id="rId81"/>
    <p:sldId id="319" r:id="rId82"/>
    <p:sldId id="320" r:id="rId83"/>
    <p:sldId id="321" r:id="rId84"/>
    <p:sldId id="322" r:id="rId85"/>
    <p:sldId id="323" r:id="rId86"/>
    <p:sldId id="324" r:id="rId87"/>
    <p:sldId id="325" r:id="rId88"/>
    <p:sldId id="326" r:id="rId89"/>
    <p:sldId id="327" r:id="rId90"/>
    <p:sldId id="328" r:id="rId91"/>
    <p:sldId id="329" r:id="rId92"/>
    <p:sldId id="330" r:id="rId93"/>
    <p:sldId id="331" r:id="rId94"/>
    <p:sldId id="332" r:id="rId95"/>
    <p:sldId id="333" r:id="rId96"/>
    <p:sldId id="334" r:id="rId97"/>
    <p:sldId id="406" r:id="rId98"/>
    <p:sldId id="407" r:id="rId99"/>
    <p:sldId id="408" r:id="rId100"/>
    <p:sldId id="335" r:id="rId101"/>
    <p:sldId id="336"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403" r:id="rId127"/>
    <p:sldId id="404" r:id="rId128"/>
    <p:sldId id="405" r:id="rId129"/>
    <p:sldId id="361" r:id="rId130"/>
    <p:sldId id="362" r:id="rId131"/>
    <p:sldId id="363" r:id="rId132"/>
    <p:sldId id="364" r:id="rId133"/>
    <p:sldId id="365" r:id="rId134"/>
    <p:sldId id="366" r:id="rId135"/>
    <p:sldId id="367" r:id="rId136"/>
    <p:sldId id="368" r:id="rId137"/>
    <p:sldId id="369" r:id="rId138"/>
    <p:sldId id="370" r:id="rId139"/>
    <p:sldId id="371" r:id="rId140"/>
    <p:sldId id="372" r:id="rId141"/>
    <p:sldId id="373" r:id="rId142"/>
    <p:sldId id="374" r:id="rId143"/>
    <p:sldId id="375" r:id="rId144"/>
    <p:sldId id="376" r:id="rId145"/>
    <p:sldId id="377" r:id="rId146"/>
    <p:sldId id="378" r:id="rId147"/>
    <p:sldId id="379" r:id="rId148"/>
    <p:sldId id="380" r:id="rId149"/>
    <p:sldId id="381" r:id="rId150"/>
    <p:sldId id="382" r:id="rId151"/>
    <p:sldId id="383" r:id="rId152"/>
    <p:sldId id="426" r:id="rId153"/>
    <p:sldId id="427" r:id="rId154"/>
    <p:sldId id="428" r:id="rId155"/>
    <p:sldId id="429" r:id="rId156"/>
    <p:sldId id="430" r:id="rId157"/>
    <p:sldId id="431" r:id="rId158"/>
    <p:sldId id="384" r:id="rId159"/>
    <p:sldId id="385" r:id="rId160"/>
    <p:sldId id="386" r:id="rId161"/>
    <p:sldId id="387" r:id="rId162"/>
    <p:sldId id="388" r:id="rId163"/>
    <p:sldId id="399" r:id="rId164"/>
    <p:sldId id="400" r:id="rId165"/>
    <p:sldId id="401" r:id="rId166"/>
    <p:sldId id="402" r:id="rId167"/>
    <p:sldId id="432" r:id="rId168"/>
    <p:sldId id="433" r:id="rId169"/>
    <p:sldId id="389" r:id="rId170"/>
    <p:sldId id="390" r:id="rId171"/>
    <p:sldId id="391" r:id="rId172"/>
    <p:sldId id="392" r:id="rId173"/>
    <p:sldId id="393" r:id="rId174"/>
    <p:sldId id="394" r:id="rId175"/>
    <p:sldId id="395" r:id="rId176"/>
    <p:sldId id="396" r:id="rId177"/>
    <p:sldId id="397" r:id="rId178"/>
    <p:sldId id="398" r:id="rId17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18h33–18h34 (1 minutos).
Confirmar o intervalo de 25 minutos, das 20h20 às 20h45. Cada noite contém 85 minutos de teoria, 25 de demonstração, 15 de comentários, 75 de prática e 15 de correção.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“Na primeira noite preparamos o ambiente. Hoje vamos transformar as ações na aplicação em consultas que conseguimos interpretar.”
RETOMADA E PREPARAÇÃO
Confirme aplicação e Grafana acessíveis. Gere tráfego e confira a fonte Prometheus no Explore. Deixe prontas as consultas do contador, rate e sum por route. Abra a seção Explore your metrics do tutorial.
CONDUÇÃO
Mostre primeiro a métrica bruta. Pergunte o que significa um contador crescente. Depois introduza rate e a unidade por segundo. Só então agregue por rota e por status_code. Mude o período exibido e explique sua diferença para a janela [5m] da consulta.
PERGUNTAS PARA A TURMA
“Esse número é um total ou uma taxa?” “Qual label identifica a linha?” “O que muda quando trocamos route por status_code?”
PONTO DE ATENÇÃO
Se aparecer No data, confira a fonte, o período e o alvo app:80. Uma taxa precisa de amostras. Evite resolver ausência de dados trocando a consulta por um zero.
CRITÉRIO DE SAÍDA
Cada aluno executa duas consultas e explica agrupamento e unidade com suas próprias palavras.
GANCHO
“A métrica mostra uma mudança. Na próxima noite vamos procurar os eventos que ajudam a entendê-la.”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18h35–18h42 (7 minutos).
Peça exemplos de perguntas: quantas requisições por segundo? Qual rota? Qual código? Diferencie o nome da métrica de seus labels.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18h42–18h49 (7 minutos).
EXPLICAÇÃO DO PROFESSOR
Decomponha tns_request_duration_seconds_count: a família trata duração, mas a série _count conta as observações. Não conclua que o resultado dessa série é uma latência.
PERGUNTA DE VERIFICAÇÃO
A série _count mostra diretamente quantos segundos uma requisição levou?
RESPOSTA ESPERADA
Não. Ela mostra a contagem de observações.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18h49–18h55 (6 minutos).
EXPLICAÇÃO DO PROFESSOR
Use um total acumulado e uma temperatura como exemplos distintos. Peça aos alunos que escolham o tipo adequado para uma fila que cresce e diminui. Referência: https://prometheus.io/docs/concepts/metric_types/
PERGUNTA DE VERIFICAÇÃO
O tamanho atual de uma fila combina com qual tipo?
RESPOSTA ESPERADA
Gauge, porque o valor pode subir e descer.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18h55–19h01 (6 minutos).
Evite interpretar o valor acumulado como tráfego por segundo. Peça ao aluno comparar o resultado bruto com a consulta seguinte.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19h01–19h07 (6 minutos).
EXPLICAÇÃO DO PROFESSOR
Os números são um exemplo didático de média, não uma reprodução exata do algoritmo de rate. Explique que rate também lida com resets de contador e calcula sobre amostras. A unidade muda de total para ocorrências por segundo.
PERGUNTA DE VERIFICAÇÃO
Se o total cresceu, sabemos a taxa sem conhecer o tempo transcorrido?
RESPOSTA ESPERADA
Não. Precisamos relacionar a mudança ao intervalo.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19h07–19h13 (6 minutos).
No terminal/editor, usar rate(tns_request_duration_seconds_count[5m]). Não confundir janela da função com período exibido na tela.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19h13–19h19 (6 minutos).
EXPLICAÇÃO DO PROFESSOR
Use labels que aparecem na stack. Um gráfico pode ter várias linhas porque há várias combinações, mesmo com o mesmo nome de métrica. Referência: https://prometheus.io/docs/prometheus/latest/querying/basics/
PERGUNTA DE VERIFICAÇÃO
Por que a consulta de uma métrica pode produzir mais de uma linha?
RESPOSTA ESPERADA
Porque existem séries com combinações diferentes de labels.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19h19–19h25 (6 minutos).
Demonstrar a diferença entre somar tudo e agrupar. O aluno deve apontar o label route no resultado.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19h25–19h31 (6 minutos).
Não assumir que todo status já existe nos dados. A próxima noite gera um erro de propósito.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19h31–19h37 (6 minutos).
EXPLICAÇÃO DO PROFESSOR
Diferencie escolher somente um código de resposta e somar o tráfego por rota. Mostre sintaxe de seletor apenas como leitura, antes da demonstração no Explore.
PERGUNTA DE VERIFICAÇÃO
Somar por rota e filtrar uma rota são a mesma operação?
RESPOSTA ESPERADA
Não. Uma combina séries por grupo e a outra restringe a seleção.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19h37–19h43 (6 minutos).
Compare Last 5 minutes e Last 15 minutes. Explique por que mudar a atualização da tela não cria amostras que não foram coletadas.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19h43–19h49 (6 minutos).
Guia de recuperação: consultar métrica bruta, verificar Prometheus e os targets antes de alterar a expressão. Não substituir No data por zero sem investigar.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19h49–19h55 (6 minutos).
EXPLICAÇÃO DO PROFESSOR
Peça à turma uma frase completa: a rota X recebeu aproximadamente Y requisições por segundo no período mostrado. Discuta por que duas telas com períodos diferentes não são comparações equivalentes.
PERGUNTA DE VERIFICAÇÃO
O número 0,2 sozinho é suficiente para interpretar um gráfico?
RESPOSTA ESPERADA
Não. Precisamos de unidade, contexto e período.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19h56–20h00 (4 minutos).
DEMONSTRAÇÃO DO PROFESSOR
A turma observa; os alunos executarão depois do intervalo.
Usar Shift + Enter ou Run query. Se aparecer No data, conferir fonte e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20h00–20h04 (4 minutos).
DEMONSTRAÇÃO DO PROFESSOR
A turma observa; os alunos executarão depois do intervalo.
No terminal/editor, usar rate(tns_request_duration_seconds_count[5m]). Não confundir janela da função com período exibido na tela.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Demonstração
20h04–20h08 (4 minutos).
DEMONSTRAÇÃO DO PROFESSOR
A turma observa; os alunos executarão depois do intervalo.
Demonstrar a diferença entre somar tudo e agrupar. O aluno deve apontar o label route no resultado.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20h08–20h11 (3 minutos)
DEMONSTRAÇÃO REAL DO PROFESSOR
1. No Explore, selecione Prometheus e Code.
2. Cole a consulta, execute e observe a série vm-azure-professor.
3. Explique por que subtraímos a fração idle e multiplicamos por 100.
CONSULTA
100 * (1 - avg by (instance) (rate(node_cpu_seconds_total{mode="idle"}[5m])))
RESULTADO OBSERVADO
Uma série de uso de CPU por instância.
ORIENTAÇÃO AO PROFESSOR
Consulta executada com resultado visível. A média por instância mantém o percentual entre 0 e 100 para o uso médio dos núcleos. O laboratório do aluno usa métricas tns_; esta consulta exige node-exporter do ambiente do professor.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71476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Abra o dashboard 02.
2. Selecione vm-azure-professor na variável host e remova All.
3. Compare os títulos e a curva de CPU.
RESULTADO OBSERVADO
Filtro aplicado a uma instância específica.
ORIENTAÇÃO AO PROFESSOR
Demonstração de navegação, não de criação de variáveis. Use os painéis de CPU para explicar o filtro. O painel intitulado Top 5 processos por memória mostra uma série agregada de node-exporter; não o apresente como inventário validado de processos.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302906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03.
2. Identifique containers na legenda de CPU e de memória.
3. Explique a diferença entre taxa de CPU e quantidade de bytes de memória.
RESULTADO OBSERVADO
Séries de CPU e memória visíveis com nomes de containers.
ORIENTAÇÃO AO PROFESSOR
O dashboard mantém o nome cAdvisor, mas o histórico fornecido descreve um exportador customizado baseado em Docker stats. A captura comprova dados no painel, não certifica a implementação do coletor. topk em consulta de intervalo pode mostrar mais de cinco nomes no período, pois os integrantes mudam ao longo do tempo.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403233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o dashboard 05.
2. Compare vazão em req/s e latência por endpoint.
3. Identifique os endpoints de checkout e pagamento.
RESULTADO OBSERVADO
Vazão e latência com dados por endpoint.
ORIENTAÇÃO AO PROFESSOR
Aplicação de simulação do professor, diferente do Grafana News. A legenda 95th % no painel de latência é um cálculo sobre os valores apresentados; não afirmar que comprova p95 da distribuição de requisições sem verificar a consulta. O roteiro usa somente a leitura básica de vazão e latência.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04654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2.1
Abra Explore e selecione Prometheus.
Execute a métrica bruta.
Identifique dois labels disponíveis e registre o significado do valor.
CONSULTA COMPLETA
tns_request_duration_seconds_count
COMENTÁRIO DO PROFESSOR
Comente o nome da métrica, a seleção da fonte e a leitura dos labels. Explique o erro de interpretar a contagem como duração.
CRITÉRIO DE CORREÇÃO
Consulta executada e interpretação da contagem.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2.2
Execute a consulta de taxa por rota.
Gere atividade na aplicação e aguarde a coleta.
Escolha Last 5 minutes e compare as séries.
Registre a unidade e a rota identificada.
CONSULTA COMPLETA
sum(rate(tns_request_duration_seconds_count[5m])) by (route)
COMENTÁRIO DO PROFESSOR
Mostre rate primeiro e depois sum by. Explique que a atualização da tela não cria amostras novas no Prometheus.
CRITÉRIO DE CORREÇÃO
Taxa interpretada com unidade e agrupamento.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2.3
Troque o agrupamento por status_code.
Compare o resultado com o agrupamento por rota.
Mude o período mostrado e descreva o efeito.
Entregue uma frase explicando cada consulta.
CONSULTA COMPLETA
sum(rate(tns_request_duration_seconds_count[5m])) by (status_code)
COMENTÁRIO DO PROFESSOR
Comente que a pergunta muda ao trocar o agrupamento. Se não houver série de erro, não invente um código inexistente no resultado.
CRITÉRIO DE CORREÇÃO
Duas consultas comparadas e uma conclusão sustentada.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alunos/Aluno_Noite_2.md.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Prática do aluno
21h00–22h15 (75 minutos).
PRÁTICA DO ALUNO — 75 MINUTOS
2.1: 25 minutos. Consulta executada e interpretação da contagem.
2.2: 25 minutos. Taxa interpretada com unidade e agrupamento.
2.3: 25 minutos. Duas consultas comparadas e uma conclusão sustentada.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Correção
22h15–22h30 (15 minutos).
CORREÇÃO — 15 MINUTOS
2.1: Consulta executada e interpretação da contagem.
2.2: Taxa interpretada com unidade e agrupamento.
2.3: Duas consultas comparadas e uma conclusão sustentada.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a pergunta do painel, a escolha da unidade e o salvamento. Se o ambiente for compartilhado, cada aluno usa sua identificação e não altera o dashboard de outro aluno.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0,2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O limite é 0,2 requisição por segundo no exemplo didático. Deve ser ajustado se o tráfego de base já o ultrapassar.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Escolha o receptor local ou a URL exclusiva do Webhook.site conforme a orientação do professor.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0.2 em C.
Use avaliação de 10s, pendente de 0s e o contato testado.
Salve, gere tráfego e observe o valor e o estado.
Confirme uma notificação da regra no receptor.
CONSULTA COMPLETA
sum(rate(tns_request_duration_seconds_count[5m])) by (route)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32" name="Straight Connector 31">
            <a:extLst>
              <a:ext uri="{FF2B5EF4-FFF2-40B4-BE49-F238E27FC236}">
                <a16:creationId xmlns:a16="http://schemas.microsoft.com/office/drawing/2014/main" id="{43176174-B259-4140-83BD-F788946BB33C}"/>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21" name="Straight Connector 20">
            <a:extLst>
              <a:ext uri="{FF2B5EF4-FFF2-40B4-BE49-F238E27FC236}">
                <a16:creationId xmlns:a16="http://schemas.microsoft.com/office/drawing/2014/main" id="{1D41B9C4-AE52-4BB3-80D6-4C268547A639}"/>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24" name="Rectangle 23">
            <a:extLst>
              <a:ext uri="{FF2B5EF4-FFF2-40B4-BE49-F238E27FC236}">
                <a16:creationId xmlns:a16="http://schemas.microsoft.com/office/drawing/2014/main" id="{5D7D5837-BFD2-44AF-A859-56690B374A28}"/>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294A45C3-8785-4F96-BC42-0253954583D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B2EF3B2A-05E8-4B55-8AB5-3FE47DD7CC84}"/>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F68D097B-32E9-49BF-AFD9-ED378CBB3DD7}"/>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F8C8B939-C1D3-47FA-84C9-4C54DB0F7BED}"/>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DDCCAB51-3909-4B8C-B101-86DEA1680EE0}"/>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D2F3BCBB-C536-4F7F-B644-6CF818F2809D}"/>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C03A54F-EFF9-4CF9-BFC3-EAB1714D803E}"/>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F7F2F8C-5B2E-4FBE-91C8-A4431E7EBC60}"/>
              </a:ext>
            </a:extLst>
          </p:cNvPr>
          <p:cNvSpPr>
            <a:spLocks noGrp="1"/>
          </p:cNvSpPr>
          <p:nvPr>
            <p:ph type="ctrTitle"/>
          </p:nvPr>
        </p:nvSpPr>
        <p:spPr>
          <a:xfrm>
            <a:off x="1507067" y="2404534"/>
            <a:ext cx="7766936" cy="1646302"/>
          </a:xfrm>
        </p:spPr>
        <p:txBody>
          <a:bodyPr anchor="b">
            <a:noAutofit/>
          </a:bodyPr>
          <a:lstStyle>
            <a:lvl1pPr algn="r">
              <a:buNone/>
              <a:defRPr sz="5400">
                <a:solidFill>
                  <a:schemeClr val="accent1"/>
                </a:solidFill>
              </a:defRPr>
            </a:lvl1pPr>
          </a:lstStyle>
          <a:p>
            <a:r>
              <a:t>Clique para editar estilo do título mestre</a:t>
            </a:r>
          </a:p>
        </p:txBody>
      </p:sp>
      <p:sp>
        <p:nvSpPr>
          <p:cNvPr id="3" name="Subtitle 2">
            <a:extLst>
              <a:ext uri="{FF2B5EF4-FFF2-40B4-BE49-F238E27FC236}">
                <a16:creationId xmlns:a16="http://schemas.microsoft.com/office/drawing/2014/main" id="{4B04C8DA-F3D6-4A41-AC6C-8FD6B9C3550E}"/>
              </a:ext>
            </a:extLst>
          </p:cNvPr>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Clique para editar o estilo do subtítulo mestre</a:t>
            </a:r>
          </a:p>
        </p:txBody>
      </p:sp>
      <p:sp>
        <p:nvSpPr>
          <p:cNvPr id="4" name="Date Placeholder 3">
            <a:extLst>
              <a:ext uri="{FF2B5EF4-FFF2-40B4-BE49-F238E27FC236}">
                <a16:creationId xmlns:a16="http://schemas.microsoft.com/office/drawing/2014/main" id="{86AE6CEE-1057-4BAA-8CFB-FBEF2AD620A3}"/>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3ECDF39A-80DC-400A-941F-6AA43B27C5E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A1E8AA8-0413-4F1A-BDF7-21EF4C273795}"/>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4CC9-1295-44B7-8518-D61DC18BE68D}"/>
              </a:ext>
            </a:extLst>
          </p:cNvPr>
          <p:cNvSpPr>
            <a:spLocks noGrp="1"/>
          </p:cNvSpPr>
          <p:nvPr>
            <p:ph type="title"/>
          </p:nvPr>
        </p:nvSpPr>
        <p:spPr/>
        <p:txBody>
          <a:bodyPr>
            <a:normAutofit/>
          </a:bodyPr>
          <a:lstStyle>
            <a:lvl1pPr>
              <a:buNone/>
              <a:defRPr sz="3600"/>
            </a:lvl1pPr>
          </a:lstStyle>
          <a:p>
            <a:r>
              <a:t>Clique para editar estilo do título mestre</a:t>
            </a:r>
          </a:p>
        </p:txBody>
      </p:sp>
      <p:sp>
        <p:nvSpPr>
          <p:cNvPr id="3" name="Content Placeholder 2">
            <a:extLst>
              <a:ext uri="{FF2B5EF4-FFF2-40B4-BE49-F238E27FC236}">
                <a16:creationId xmlns:a16="http://schemas.microsoft.com/office/drawing/2014/main" id="{D9FD5322-835E-44C6-B447-432E4DCF389E}"/>
              </a:ext>
            </a:extLst>
          </p:cNvPr>
          <p:cNvSpPr>
            <a:spLocks noGrp="1"/>
          </p:cNvSpPr>
          <p:nvPr>
            <p:ph idx="1"/>
          </p:nvPr>
        </p:nvSpPr>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A0200FA7-BD73-4BA0-8DF1-5A087E4FB2B5}"/>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90A86606-0F29-41CA-8E28-CFFD6914078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F4B6813-C743-433C-B922-44B267E60AC7}"/>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82A2-ED8A-419F-9A7A-19344E855F36}"/>
              </a:ext>
            </a:extLst>
          </p:cNvPr>
          <p:cNvSpPr>
            <a:spLocks noGrp="1"/>
          </p:cNvSpPr>
          <p:nvPr>
            <p:ph type="title"/>
          </p:nvPr>
        </p:nvSpPr>
        <p:spPr>
          <a:xfrm>
            <a:off x="677335" y="2700867"/>
            <a:ext cx="8596668" cy="1826581"/>
          </a:xfrm>
        </p:spPr>
        <p:txBody>
          <a:bodyPr anchor="b"/>
          <a:lstStyle>
            <a:lvl1pPr algn="l">
              <a:buNone/>
              <a:defRPr sz="4000" b="0" cap="none"/>
            </a:lvl1pPr>
          </a:lstStyle>
          <a:p>
            <a:r>
              <a:t>Clique para editar estilo do título mestre</a:t>
            </a:r>
          </a:p>
        </p:txBody>
      </p:sp>
      <p:sp>
        <p:nvSpPr>
          <p:cNvPr id="3" name="Text Placeholder 2">
            <a:extLst>
              <a:ext uri="{FF2B5EF4-FFF2-40B4-BE49-F238E27FC236}">
                <a16:creationId xmlns:a16="http://schemas.microsoft.com/office/drawing/2014/main" id="{059FE85B-F22F-428D-BAF7-89A299489F1C}"/>
              </a:ext>
            </a:extLst>
          </p:cNvPr>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1FBCEF39-66F4-495A-AB9B-6D5228317756}"/>
              </a:ext>
            </a:extLst>
          </p:cNvPr>
          <p:cNvSpPr>
            <a:spLocks noGrp="1"/>
          </p:cNvSpPr>
          <p:nvPr>
            <p:ph type="dt" idx="10"/>
          </p:nvPr>
        </p:nvSpPr>
        <p:spPr/>
        <p:txBody>
          <a:bodyPr/>
          <a:lstStyle/>
          <a:p>
            <a:fld id="{B61BEF0D-F0BB-DE4B-95CE-6DB70DBA9567}" type="datetimeFigureOut">
              <a:t>18/10/2026</a:t>
            </a:fld>
            <a:endParaRPr/>
          </a:p>
        </p:txBody>
      </p:sp>
      <p:sp>
        <p:nvSpPr>
          <p:cNvPr id="5" name="Footer Placeholder 4">
            <a:extLst>
              <a:ext uri="{FF2B5EF4-FFF2-40B4-BE49-F238E27FC236}">
                <a16:creationId xmlns:a16="http://schemas.microsoft.com/office/drawing/2014/main" id="{E83BC8FA-0253-46BB-9E31-5705983465F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297EC76-B7F6-4AF5-B600-32D099953E9E}"/>
              </a:ext>
            </a:extLst>
          </p:cNvPr>
          <p:cNvSpPr>
            <a:spLocks noGrp="1"/>
          </p:cNvSpPr>
          <p:nvPr>
            <p:ph type="sldNum" idx="12"/>
          </p:nvPr>
        </p:nvSpPr>
        <p:spPr/>
        <p:txBody>
          <a:bodyPr/>
          <a:lstStyle/>
          <a:p>
            <a:fld id="{D57F1E4F-1CFF-5643-939E-217C01CDF565}" type="slidenum">
              <a:t>‹nº›</a:t>
            </a:fld>
            <a:endParaRPr/>
          </a:p>
        </p:txBody>
      </p:sp>
      <p:pic>
        <p:nvPicPr>
          <p:cNvPr id="8" name="Picture 8">
            <a:extLst>
              <a:ext uri="{FF2B5EF4-FFF2-40B4-BE49-F238E27FC236}">
                <a16:creationId xmlns:a16="http://schemas.microsoft.com/office/drawing/2014/main" id="{95FCF1A0-4730-4C05-9200-A72B38F12513}"/>
              </a:ext>
            </a:extLst>
          </p:cNvPr>
          <p:cNvPicPr>
            <a:picLocks noChangeAspect="1"/>
          </p:cNvPicPr>
          <p:nvPr/>
        </p:nvPicPr>
        <p:blipFill>
          <a:blip r:embed="rId2"/>
          <a:stretch>
            <a:fillRect/>
          </a:stretch>
        </p:blipFill>
        <p:spPr>
          <a:xfrm>
            <a:off x="9631668" y="5750539"/>
            <a:ext cx="1924787" cy="741362"/>
          </a:xfrm>
          <a:prstGeom prst="rect">
            <a:avLst/>
          </a:prstGeom>
        </p:spPr>
      </p:pic>
      <p:pic>
        <p:nvPicPr>
          <p:cNvPr id="9" name="Imagem 8">
            <a:extLst>
              <a:ext uri="{FF2B5EF4-FFF2-40B4-BE49-F238E27FC236}">
                <a16:creationId xmlns:a16="http://schemas.microsoft.com/office/drawing/2014/main" id="{D58BBB21-997B-4EF4-A587-8510BA9B4BE8}"/>
              </a:ext>
            </a:extLst>
          </p:cNvPr>
          <p:cNvPicPr>
            <a:picLocks noChangeAspect="1"/>
          </p:cNvPicPr>
          <p:nvPr/>
        </p:nvPicPr>
        <p:blipFill>
          <a:blip r:embed="rId3"/>
          <a:stretch>
            <a:fillRect/>
          </a:stretch>
        </p:blipFill>
        <p:spPr>
          <a:xfrm>
            <a:off x="8581814" y="5950207"/>
            <a:ext cx="1015623" cy="420194"/>
          </a:xfrm>
          <a:prstGeom prst="rect">
            <a:avLst/>
          </a:prstGeom>
        </p:spPr>
      </p:pic>
      <p:sp>
        <p:nvSpPr>
          <p:cNvPr id="10" name="Conector reto 9">
            <a:extLst>
              <a:ext uri="{FF2B5EF4-FFF2-40B4-BE49-F238E27FC236}">
                <a16:creationId xmlns:a16="http://schemas.microsoft.com/office/drawing/2014/main" id="{4C75B662-484F-42A6-854D-DD1F356E3B98}"/>
              </a:ext>
            </a:extLst>
          </p:cNvPr>
          <p:cNvSpPr>
            <a:spLocks noGrp="1"/>
          </p:cNvSpPr>
          <p:nvPr/>
        </p:nvSpPr>
        <p:spPr>
          <a:xfrm>
            <a:off x="9712426" y="5872728"/>
            <a:ext cx="0" cy="496982"/>
          </a:xfrm>
          <a:prstGeom prst="line">
            <a:avLst/>
          </a:prstGeom>
          <a:ln w="3175">
            <a:solidFill>
              <a:srgbClr val="FFFFFF">
                <a:alpha val="40000"/>
              </a:srgbClr>
            </a:solidFill>
          </a:ln>
        </p:spPr>
        <p:style>
          <a:lnRef idx="3">
            <a:schemeClr val="accent3"/>
          </a:lnRef>
          <a:fillRef idx="0">
            <a:schemeClr val="accent3"/>
          </a:fillRef>
          <a:effectRef idx="2">
            <a:schemeClr val="accent3"/>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367D-3EE1-40C8-BA26-21B0FEB6AA50}"/>
              </a:ext>
            </a:extLst>
          </p:cNvPr>
          <p:cNvSpPr>
            <a:spLocks noGrp="1"/>
          </p:cNvSpPr>
          <p:nvPr>
            <p:ph type="title"/>
          </p:nvPr>
        </p:nvSpPr>
        <p:spPr/>
        <p:txBody>
          <a:bodyPr/>
          <a:lstStyle/>
          <a:p>
            <a:r>
              <a:t>Clique para editar estilo do título mestre</a:t>
            </a:r>
          </a:p>
        </p:txBody>
      </p:sp>
      <p:sp>
        <p:nvSpPr>
          <p:cNvPr id="3" name="Content Placeholder 2">
            <a:extLst>
              <a:ext uri="{FF2B5EF4-FFF2-40B4-BE49-F238E27FC236}">
                <a16:creationId xmlns:a16="http://schemas.microsoft.com/office/drawing/2014/main" id="{AC749AB4-FEE2-49D2-AD29-84B4D63DE3A4}"/>
              </a:ext>
            </a:extLst>
          </p:cNvPr>
          <p:cNvSpPr>
            <a:spLocks noGrp="1"/>
          </p:cNvSpPr>
          <p:nvPr>
            <p:ph idx="1"/>
          </p:nvPr>
        </p:nvSpPr>
        <p:spPr>
          <a:xfrm>
            <a:off x="677334" y="2160589"/>
            <a:ext cx="4184035" cy="3880772"/>
          </a:xfrm>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Content Placeholder 3">
            <a:extLst>
              <a:ext uri="{FF2B5EF4-FFF2-40B4-BE49-F238E27FC236}">
                <a16:creationId xmlns:a16="http://schemas.microsoft.com/office/drawing/2014/main" id="{2CF029F6-34A4-4DEA-A6AB-B94994C06595}"/>
              </a:ext>
            </a:extLst>
          </p:cNvPr>
          <p:cNvSpPr>
            <a:spLocks noGrp="1"/>
          </p:cNvSpPr>
          <p:nvPr>
            <p:ph idx="2"/>
          </p:nvPr>
        </p:nvSpPr>
        <p:spPr>
          <a:xfrm>
            <a:off x="5089970" y="2160589"/>
            <a:ext cx="4184034" cy="3880773"/>
          </a:xfrm>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5" name="Date Placeholder 4">
            <a:extLst>
              <a:ext uri="{FF2B5EF4-FFF2-40B4-BE49-F238E27FC236}">
                <a16:creationId xmlns:a16="http://schemas.microsoft.com/office/drawing/2014/main" id="{AC1895CE-7062-4C06-BA48-F1AFB8BFBAA4}"/>
              </a:ext>
            </a:extLst>
          </p:cNvPr>
          <p:cNvSpPr>
            <a:spLocks noGrp="1"/>
          </p:cNvSpPr>
          <p:nvPr>
            <p:ph type="dt" idx="10"/>
          </p:nvPr>
        </p:nvSpPr>
        <p:spPr/>
        <p:txBody>
          <a:bodyPr/>
          <a:lstStyle/>
          <a:p>
            <a:fld id="{87E45267-4A49-4196-B75A-750BF93DF7B0}" type="datetimeFigureOut">
              <a:t>18/10/2026</a:t>
            </a:fld>
            <a:endParaRPr/>
          </a:p>
        </p:txBody>
      </p:sp>
      <p:sp>
        <p:nvSpPr>
          <p:cNvPr id="6" name="Footer Placeholder 5">
            <a:extLst>
              <a:ext uri="{FF2B5EF4-FFF2-40B4-BE49-F238E27FC236}">
                <a16:creationId xmlns:a16="http://schemas.microsoft.com/office/drawing/2014/main" id="{44A6B53F-8F33-4C35-A082-9420537B16A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B857A21-C313-4D5B-AC6E-3D039B693CC6}"/>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164A-51E2-4920-932A-2B2609FB70F6}"/>
              </a:ext>
            </a:extLst>
          </p:cNvPr>
          <p:cNvSpPr>
            <a:spLocks noGrp="1"/>
          </p:cNvSpPr>
          <p:nvPr>
            <p:ph type="title"/>
          </p:nvPr>
        </p:nvSpPr>
        <p:spPr/>
        <p:txBody>
          <a:bodyPr/>
          <a:lstStyle>
            <a:lvl1pPr>
              <a:buNone/>
              <a:defRPr/>
            </a:lvl1pPr>
          </a:lstStyle>
          <a:p>
            <a:r>
              <a:t>Clique para editar estilo do título mestre</a:t>
            </a:r>
          </a:p>
        </p:txBody>
      </p:sp>
      <p:sp>
        <p:nvSpPr>
          <p:cNvPr id="3" name="Text Placeholder 2">
            <a:extLst>
              <a:ext uri="{FF2B5EF4-FFF2-40B4-BE49-F238E27FC236}">
                <a16:creationId xmlns:a16="http://schemas.microsoft.com/office/drawing/2014/main" id="{EB87A36C-50DB-4792-9787-2C49045111B1}"/>
              </a:ext>
            </a:extLst>
          </p:cNvPr>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Clique para editar os estilos de texto mestres</a:t>
            </a:r>
          </a:p>
        </p:txBody>
      </p:sp>
      <p:sp>
        <p:nvSpPr>
          <p:cNvPr id="4" name="Content Placeholder 3">
            <a:extLst>
              <a:ext uri="{FF2B5EF4-FFF2-40B4-BE49-F238E27FC236}">
                <a16:creationId xmlns:a16="http://schemas.microsoft.com/office/drawing/2014/main" id="{0D860698-7DA0-48E8-A828-F966FB6D7F01}"/>
              </a:ext>
            </a:extLst>
          </p:cNvPr>
          <p:cNvSpPr>
            <a:spLocks noGrp="1"/>
          </p:cNvSpPr>
          <p:nvPr>
            <p:ph idx="2"/>
          </p:nvPr>
        </p:nvSpPr>
        <p:spPr>
          <a:xfrm>
            <a:off x="675745" y="2737245"/>
            <a:ext cx="4185623" cy="3304117"/>
          </a:xfrm>
        </p:spPr>
        <p:txBody>
          <a:bodyPr>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5" name="Text Placeholder 4">
            <a:extLst>
              <a:ext uri="{FF2B5EF4-FFF2-40B4-BE49-F238E27FC236}">
                <a16:creationId xmlns:a16="http://schemas.microsoft.com/office/drawing/2014/main" id="{7975B43F-71FD-410D-A703-DCE4E2D9E9D4}"/>
              </a:ext>
            </a:extLst>
          </p:cNvPr>
          <p:cNvSpPr>
            <a:spLocks noGrp="1"/>
          </p:cNvSpPr>
          <p:nvPr>
            <p:ph type="body"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Clique para editar os estilos de texto mestres</a:t>
            </a:r>
          </a:p>
        </p:txBody>
      </p:sp>
      <p:sp>
        <p:nvSpPr>
          <p:cNvPr id="6" name="Content Placeholder 5">
            <a:extLst>
              <a:ext uri="{FF2B5EF4-FFF2-40B4-BE49-F238E27FC236}">
                <a16:creationId xmlns:a16="http://schemas.microsoft.com/office/drawing/2014/main" id="{4F68EBAD-EF41-45D6-BBB4-45E2CD689E4B}"/>
              </a:ext>
            </a:extLst>
          </p:cNvPr>
          <p:cNvSpPr>
            <a:spLocks noGrp="1"/>
          </p:cNvSpPr>
          <p:nvPr>
            <p:ph idx="4"/>
          </p:nvPr>
        </p:nvSpPr>
        <p:spPr>
          <a:xfrm>
            <a:off x="5088384" y="2737245"/>
            <a:ext cx="4185617" cy="3304117"/>
          </a:xfrm>
        </p:spPr>
        <p:txBody>
          <a:bodyPr>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7" name="Date Placeholder 6">
            <a:extLst>
              <a:ext uri="{FF2B5EF4-FFF2-40B4-BE49-F238E27FC236}">
                <a16:creationId xmlns:a16="http://schemas.microsoft.com/office/drawing/2014/main" id="{69213A09-BE07-4E04-A64C-AB08EC74E9A2}"/>
              </a:ext>
            </a:extLst>
          </p:cNvPr>
          <p:cNvSpPr>
            <a:spLocks noGrp="1"/>
          </p:cNvSpPr>
          <p:nvPr>
            <p:ph type="dt" idx="10"/>
          </p:nvPr>
        </p:nvSpPr>
        <p:spPr/>
        <p:txBody>
          <a:bodyPr/>
          <a:lstStyle/>
          <a:p>
            <a:fld id="{87E45267-4A49-4196-B75A-750BF93DF7B0}" type="datetimeFigureOut">
              <a:t>18/10/2026</a:t>
            </a:fld>
            <a:endParaRPr/>
          </a:p>
        </p:txBody>
      </p:sp>
      <p:sp>
        <p:nvSpPr>
          <p:cNvPr id="8" name="Footer Placeholder 7">
            <a:extLst>
              <a:ext uri="{FF2B5EF4-FFF2-40B4-BE49-F238E27FC236}">
                <a16:creationId xmlns:a16="http://schemas.microsoft.com/office/drawing/2014/main" id="{741E9CEC-8941-4C53-A363-75D2B12EC99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3838DCE-9CB7-4FA7-9ABC-DD448B721131}"/>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D874-88B0-4DF8-8810-D06BEA656200}"/>
              </a:ext>
            </a:extLst>
          </p:cNvPr>
          <p:cNvSpPr>
            <a:spLocks noGrp="1"/>
          </p:cNvSpPr>
          <p:nvPr>
            <p:ph type="title"/>
          </p:nvPr>
        </p:nvSpPr>
        <p:spPr>
          <a:xfrm>
            <a:off x="677334" y="609600"/>
            <a:ext cx="8596668" cy="1320800"/>
          </a:xfrm>
        </p:spPr>
        <p:txBody>
          <a:bodyPr/>
          <a:lstStyle/>
          <a:p>
            <a:r>
              <a:t>Clique para editar estilo do título mestre</a:t>
            </a:r>
          </a:p>
        </p:txBody>
      </p:sp>
      <p:sp>
        <p:nvSpPr>
          <p:cNvPr id="3" name="Date Placeholder 2">
            <a:extLst>
              <a:ext uri="{FF2B5EF4-FFF2-40B4-BE49-F238E27FC236}">
                <a16:creationId xmlns:a16="http://schemas.microsoft.com/office/drawing/2014/main" id="{1F80510D-BAC1-4999-9144-8E7CD3FF76F6}"/>
              </a:ext>
            </a:extLst>
          </p:cNvPr>
          <p:cNvSpPr>
            <a:spLocks noGrp="1"/>
          </p:cNvSpPr>
          <p:nvPr>
            <p:ph type="dt" idx="10"/>
          </p:nvPr>
        </p:nvSpPr>
        <p:spPr/>
        <p:txBody>
          <a:bodyPr/>
          <a:lstStyle/>
          <a:p>
            <a:fld id="{87E45267-4A49-4196-B75A-750BF93DF7B0}" type="datetimeFigureOut">
              <a:t>18/10/2026</a:t>
            </a:fld>
            <a:endParaRPr/>
          </a:p>
        </p:txBody>
      </p:sp>
      <p:sp>
        <p:nvSpPr>
          <p:cNvPr id="4" name="Footer Placeholder 3">
            <a:extLst>
              <a:ext uri="{FF2B5EF4-FFF2-40B4-BE49-F238E27FC236}">
                <a16:creationId xmlns:a16="http://schemas.microsoft.com/office/drawing/2014/main" id="{33E25613-DFBF-4A6F-A0AD-EA919902CB7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94FB6A1-2F50-405F-AC3E-3F1762634AC9}"/>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B69779-AF69-49C4-ABC8-A73546177D53}"/>
              </a:ext>
            </a:extLst>
          </p:cNvPr>
          <p:cNvSpPr>
            <a:spLocks noGrp="1"/>
          </p:cNvSpPr>
          <p:nvPr>
            <p:ph type="dt" idx="10"/>
          </p:nvPr>
        </p:nvSpPr>
        <p:spPr/>
        <p:txBody>
          <a:bodyPr/>
          <a:lstStyle/>
          <a:p>
            <a:fld id="{87E45267-4A49-4196-B75A-750BF93DF7B0}" type="datetimeFigureOut">
              <a:t>18/10/2026</a:t>
            </a:fld>
            <a:endParaRPr/>
          </a:p>
        </p:txBody>
      </p:sp>
      <p:sp>
        <p:nvSpPr>
          <p:cNvPr id="3" name="Footer Placeholder 2">
            <a:extLst>
              <a:ext uri="{FF2B5EF4-FFF2-40B4-BE49-F238E27FC236}">
                <a16:creationId xmlns:a16="http://schemas.microsoft.com/office/drawing/2014/main" id="{CD187973-46F9-4947-A856-891B326A328B}"/>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E3D3C6-3180-47CE-ABF1-104B083301E6}"/>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A8E2-92C9-4E26-BBBB-EB0393A47ECE}"/>
              </a:ext>
            </a:extLst>
          </p:cNvPr>
          <p:cNvSpPr>
            <a:spLocks noGrp="1"/>
          </p:cNvSpPr>
          <p:nvPr>
            <p:ph type="title"/>
          </p:nvPr>
        </p:nvSpPr>
        <p:spPr>
          <a:xfrm>
            <a:off x="677334" y="1498604"/>
            <a:ext cx="3854528" cy="1278466"/>
          </a:xfrm>
        </p:spPr>
        <p:txBody>
          <a:bodyPr anchor="b">
            <a:normAutofit/>
          </a:bodyPr>
          <a:lstStyle>
            <a:lvl1pPr>
              <a:buNone/>
              <a:defRPr sz="2000"/>
            </a:lvl1pPr>
          </a:lstStyle>
          <a:p>
            <a:r>
              <a:t>Clique para editar estilo do título mestre</a:t>
            </a:r>
          </a:p>
        </p:txBody>
      </p:sp>
      <p:sp>
        <p:nvSpPr>
          <p:cNvPr id="3" name="Content Placeholder 2">
            <a:extLst>
              <a:ext uri="{FF2B5EF4-FFF2-40B4-BE49-F238E27FC236}">
                <a16:creationId xmlns:a16="http://schemas.microsoft.com/office/drawing/2014/main" id="{3A61FE1B-83C1-4D43-8887-6A9864F87701}"/>
              </a:ext>
            </a:extLst>
          </p:cNvPr>
          <p:cNvSpPr>
            <a:spLocks noGrp="1"/>
          </p:cNvSpPr>
          <p:nvPr>
            <p:ph idx="1"/>
          </p:nvPr>
        </p:nvSpPr>
        <p:spPr>
          <a:xfrm>
            <a:off x="4760461" y="514924"/>
            <a:ext cx="4513541" cy="5526437"/>
          </a:xfrm>
        </p:spPr>
        <p:txBody>
          <a:bodyPr>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Text Placeholder 3">
            <a:extLst>
              <a:ext uri="{FF2B5EF4-FFF2-40B4-BE49-F238E27FC236}">
                <a16:creationId xmlns:a16="http://schemas.microsoft.com/office/drawing/2014/main" id="{DD63F32D-F521-49DB-BAAA-7FA873F98D50}"/>
              </a:ext>
            </a:extLst>
          </p:cNvPr>
          <p:cNvSpPr>
            <a:spLocks noGrp="1"/>
          </p:cNvSpPr>
          <p:nvPr>
            <p:ph type="body"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buNone/>
            </a:pPr>
            <a:r>
              <a:t>Clique para editar os estilos de texto mestres</a:t>
            </a:r>
          </a:p>
        </p:txBody>
      </p:sp>
      <p:sp>
        <p:nvSpPr>
          <p:cNvPr id="5" name="Date Placeholder 4">
            <a:extLst>
              <a:ext uri="{FF2B5EF4-FFF2-40B4-BE49-F238E27FC236}">
                <a16:creationId xmlns:a16="http://schemas.microsoft.com/office/drawing/2014/main" id="{297E3D03-65D6-4279-83DD-5738593596E1}"/>
              </a:ext>
            </a:extLst>
          </p:cNvPr>
          <p:cNvSpPr>
            <a:spLocks noGrp="1"/>
          </p:cNvSpPr>
          <p:nvPr>
            <p:ph type="dt" idx="10"/>
          </p:nvPr>
        </p:nvSpPr>
        <p:spPr/>
        <p:txBody>
          <a:bodyPr/>
          <a:lstStyle/>
          <a:p>
            <a:fld id="{87E45267-4A49-4196-B75A-750BF93DF7B0}" type="datetimeFigureOut">
              <a:t>18/10/2026</a:t>
            </a:fld>
            <a:endParaRPr/>
          </a:p>
        </p:txBody>
      </p:sp>
      <p:sp>
        <p:nvSpPr>
          <p:cNvPr id="6" name="Footer Placeholder 5">
            <a:extLst>
              <a:ext uri="{FF2B5EF4-FFF2-40B4-BE49-F238E27FC236}">
                <a16:creationId xmlns:a16="http://schemas.microsoft.com/office/drawing/2014/main" id="{7FF6A641-7B3D-4D84-924A-648BF4A240C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C1D7289-3596-453B-9A24-2E662D32E769}"/>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4CAF-879B-433E-8221-2F02D9098BBF}"/>
              </a:ext>
            </a:extLst>
          </p:cNvPr>
          <p:cNvSpPr>
            <a:spLocks noGrp="1"/>
          </p:cNvSpPr>
          <p:nvPr>
            <p:ph type="title"/>
          </p:nvPr>
        </p:nvSpPr>
        <p:spPr>
          <a:xfrm>
            <a:off x="677334" y="4800600"/>
            <a:ext cx="8596667" cy="566738"/>
          </a:xfrm>
        </p:spPr>
        <p:txBody>
          <a:bodyPr anchor="b">
            <a:normAutofit/>
          </a:bodyPr>
          <a:lstStyle>
            <a:lvl1pPr algn="l">
              <a:buNone/>
              <a:defRPr sz="2400" b="0"/>
            </a:lvl1pPr>
          </a:lstStyle>
          <a:p>
            <a:r>
              <a:t>Clique para editar estilo do título mestre</a:t>
            </a:r>
          </a:p>
        </p:txBody>
      </p:sp>
      <p:sp>
        <p:nvSpPr>
          <p:cNvPr id="3" name="Picture Placeholder 2">
            <a:extLst>
              <a:ext uri="{FF2B5EF4-FFF2-40B4-BE49-F238E27FC236}">
                <a16:creationId xmlns:a16="http://schemas.microsoft.com/office/drawing/2014/main" id="{B1B23E9B-A1BC-4C5F-971F-D6D7C0340EE6}"/>
              </a:ext>
            </a:extLst>
          </p:cNvPr>
          <p:cNvSpPr>
            <a:spLocks noGrp="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t>Arraste a imagem para o espaço reservado ou clique no ícone para adicionar</a:t>
            </a:r>
          </a:p>
        </p:txBody>
      </p:sp>
      <p:sp>
        <p:nvSpPr>
          <p:cNvPr id="4" name="Text Placeholder 3">
            <a:extLst>
              <a:ext uri="{FF2B5EF4-FFF2-40B4-BE49-F238E27FC236}">
                <a16:creationId xmlns:a16="http://schemas.microsoft.com/office/drawing/2014/main" id="{7C51EB52-478E-4748-92E7-58B9A5BCF9DF}"/>
              </a:ext>
            </a:extLst>
          </p:cNvPr>
          <p:cNvSpPr>
            <a:spLocks noGrp="1"/>
          </p:cNvSpPr>
          <p:nvPr>
            <p:ph type="body"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Clique para editar os estilos de texto mestres</a:t>
            </a:r>
          </a:p>
        </p:txBody>
      </p:sp>
      <p:sp>
        <p:nvSpPr>
          <p:cNvPr id="5" name="Date Placeholder 4">
            <a:extLst>
              <a:ext uri="{FF2B5EF4-FFF2-40B4-BE49-F238E27FC236}">
                <a16:creationId xmlns:a16="http://schemas.microsoft.com/office/drawing/2014/main" id="{9350B40C-6A2E-4097-8DD0-B6C97704FF28}"/>
              </a:ext>
            </a:extLst>
          </p:cNvPr>
          <p:cNvSpPr>
            <a:spLocks noGrp="1"/>
          </p:cNvSpPr>
          <p:nvPr>
            <p:ph type="dt" idx="10"/>
          </p:nvPr>
        </p:nvSpPr>
        <p:spPr/>
        <p:txBody>
          <a:bodyPr/>
          <a:lstStyle/>
          <a:p>
            <a:fld id="{87E45267-4A49-4196-B75A-750BF93DF7B0}" type="datetimeFigureOut">
              <a:t>18/10/2026</a:t>
            </a:fld>
            <a:endParaRPr/>
          </a:p>
        </p:txBody>
      </p:sp>
      <p:sp>
        <p:nvSpPr>
          <p:cNvPr id="6" name="Footer Placeholder 5">
            <a:extLst>
              <a:ext uri="{FF2B5EF4-FFF2-40B4-BE49-F238E27FC236}">
                <a16:creationId xmlns:a16="http://schemas.microsoft.com/office/drawing/2014/main" id="{24DB3AB0-CCED-4AD3-A84F-AEA5D676D53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2FF67CE-70A8-423A-9A2F-4201BA374FE9}"/>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B9A8-E7A0-4D25-8687-3EBECAC7D570}"/>
              </a:ext>
            </a:extLst>
          </p:cNvPr>
          <p:cNvSpPr>
            <a:spLocks noGrp="1"/>
          </p:cNvSpPr>
          <p:nvPr>
            <p:ph type="title"/>
          </p:nvPr>
        </p:nvSpPr>
        <p:spPr>
          <a:xfrm>
            <a:off x="677335" y="609600"/>
            <a:ext cx="8596668" cy="3403600"/>
          </a:xfrm>
        </p:spPr>
        <p:txBody>
          <a:bodyPr anchor="ctr">
            <a:normAutofit/>
          </a:bodyPr>
          <a:lstStyle>
            <a:lvl1pPr algn="l">
              <a:buNone/>
              <a:defRPr sz="4400" b="0" cap="none"/>
            </a:lvl1pPr>
          </a:lstStyle>
          <a:p>
            <a:r>
              <a:t>Clique para editar estilo do título mestre</a:t>
            </a:r>
          </a:p>
        </p:txBody>
      </p:sp>
      <p:sp>
        <p:nvSpPr>
          <p:cNvPr id="3" name="Text Placeholder 2">
            <a:extLst>
              <a:ext uri="{FF2B5EF4-FFF2-40B4-BE49-F238E27FC236}">
                <a16:creationId xmlns:a16="http://schemas.microsoft.com/office/drawing/2014/main" id="{EEC1EBCA-567E-4695-91E0-8BC32711FB08}"/>
              </a:ext>
            </a:extLst>
          </p:cNvPr>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BB8877B2-C3AC-47B6-AC22-CFF9DCDB6C23}"/>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3E35F61B-995C-4D2C-9628-31DE023590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98C81D5-4B37-4C84-9E46-F26815BAE01A}"/>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96B4-A218-4A78-A455-550ADBA30D72}"/>
              </a:ext>
            </a:extLst>
          </p:cNvPr>
          <p:cNvSpPr>
            <a:spLocks noGrp="1"/>
          </p:cNvSpPr>
          <p:nvPr>
            <p:ph type="title"/>
          </p:nvPr>
        </p:nvSpPr>
        <p:spPr>
          <a:xfrm>
            <a:off x="931334" y="609600"/>
            <a:ext cx="8094134" cy="3022600"/>
          </a:xfrm>
        </p:spPr>
        <p:txBody>
          <a:bodyPr anchor="ctr">
            <a:normAutofit/>
          </a:bodyPr>
          <a:lstStyle>
            <a:lvl1pPr algn="l">
              <a:buNone/>
              <a:defRPr sz="4400" b="0" cap="none"/>
            </a:lvl1pPr>
          </a:lstStyle>
          <a:p>
            <a:r>
              <a:t>Clique para editar estilo do título mestre</a:t>
            </a:r>
          </a:p>
        </p:txBody>
      </p:sp>
      <p:sp>
        <p:nvSpPr>
          <p:cNvPr id="23" name="Text Placeholder 9">
            <a:extLst>
              <a:ext uri="{FF2B5EF4-FFF2-40B4-BE49-F238E27FC236}">
                <a16:creationId xmlns:a16="http://schemas.microsoft.com/office/drawing/2014/main" id="{7A80067C-B565-48B8-A7AC-50F0EF74186B}"/>
              </a:ext>
            </a:extLst>
          </p:cNvPr>
          <p:cNvSpPr>
            <a:spLocks noGrp="1"/>
          </p:cNvSpPr>
          <p:nvPr>
            <p:ph type="body"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Clique para editar os estilos de texto mestres</a:t>
            </a:r>
          </a:p>
        </p:txBody>
      </p:sp>
      <p:sp>
        <p:nvSpPr>
          <p:cNvPr id="3" name="Text Placeholder 2">
            <a:extLst>
              <a:ext uri="{FF2B5EF4-FFF2-40B4-BE49-F238E27FC236}">
                <a16:creationId xmlns:a16="http://schemas.microsoft.com/office/drawing/2014/main" id="{D6BAA4DE-7070-45F2-8E7F-00A393A43607}"/>
              </a:ext>
            </a:extLst>
          </p:cNvPr>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17A1D41D-60C0-4375-AC3F-37939ADFAB8F}"/>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25735F28-B1C7-48EC-A129-417D229D263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309252A-98E4-4AB0-8A9A-4D739EB4049D}"/>
              </a:ext>
            </a:extLst>
          </p:cNvPr>
          <p:cNvSpPr>
            <a:spLocks noGrp="1"/>
          </p:cNvSpPr>
          <p:nvPr>
            <p:ph type="sldNum" idx="12"/>
          </p:nvPr>
        </p:nvSpPr>
        <p:spPr/>
        <p:txBody>
          <a:bodyPr/>
          <a:lstStyle/>
          <a:p>
            <a:fld id="{5D3D502A-2AED-4A03-9253-F41D6C9B222A}" type="slidenum">
              <a:t>‹nº›</a:t>
            </a:fld>
            <a:endParaRPr/>
          </a:p>
        </p:txBody>
      </p:sp>
      <p:sp>
        <p:nvSpPr>
          <p:cNvPr id="20" name="TextBox 19">
            <a:extLst>
              <a:ext uri="{FF2B5EF4-FFF2-40B4-BE49-F238E27FC236}">
                <a16:creationId xmlns:a16="http://schemas.microsoft.com/office/drawing/2014/main" id="{0861355C-4C33-45B9-8919-BD5D60CBF9F8}"/>
              </a:ext>
            </a:extLst>
          </p:cNvPr>
          <p:cNvSpPr>
            <a:spLocks noGrp="1"/>
          </p:cNvSpPr>
          <p:nvPr/>
        </p:nvSpPr>
        <p:spPr>
          <a:xfrm>
            <a:off x="541870" y="790378"/>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p>
        </p:txBody>
      </p:sp>
      <p:sp>
        <p:nvSpPr>
          <p:cNvPr id="22" name="TextBox 21">
            <a:extLst>
              <a:ext uri="{FF2B5EF4-FFF2-40B4-BE49-F238E27FC236}">
                <a16:creationId xmlns:a16="http://schemas.microsoft.com/office/drawing/2014/main" id="{85DA412D-3E10-4B48-AE2B-A8F54FB70F67}"/>
              </a:ext>
            </a:extLst>
          </p:cNvPr>
          <p:cNvSpPr>
            <a:spLocks noGrp="1"/>
          </p:cNvSpPr>
          <p:nvPr/>
        </p:nvSpPr>
        <p:spPr>
          <a:xfrm>
            <a:off x="8893011" y="2886556"/>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endParaRPr>
              <a:solidFill>
                <a:schemeClr val="accent1">
                  <a:lumMod val="60000"/>
                  <a:lumOff val="40000"/>
                </a:schemeClr>
              </a:solidFill>
              <a:latin typeface="Arial"/>
              <a:ea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DC32C-1670-4B14-AF60-88310C05DFDF}"/>
              </a:ext>
            </a:extLst>
          </p:cNvPr>
          <p:cNvSpPr>
            <a:spLocks noGrp="1"/>
          </p:cNvSpPr>
          <p:nvPr>
            <p:ph type="title"/>
          </p:nvPr>
        </p:nvSpPr>
        <p:spPr>
          <a:xfrm>
            <a:off x="677335" y="1931988"/>
            <a:ext cx="8596668" cy="2595460"/>
          </a:xfrm>
        </p:spPr>
        <p:txBody>
          <a:bodyPr anchor="b">
            <a:normAutofit/>
          </a:bodyPr>
          <a:lstStyle>
            <a:lvl1pPr algn="l">
              <a:buNone/>
              <a:defRPr sz="4400" b="0" cap="none"/>
            </a:lvl1pPr>
          </a:lstStyle>
          <a:p>
            <a:r>
              <a:t>Clique para editar estilo do título mestre</a:t>
            </a:r>
          </a:p>
        </p:txBody>
      </p:sp>
      <p:sp>
        <p:nvSpPr>
          <p:cNvPr id="3" name="Text Placeholder 2">
            <a:extLst>
              <a:ext uri="{FF2B5EF4-FFF2-40B4-BE49-F238E27FC236}">
                <a16:creationId xmlns:a16="http://schemas.microsoft.com/office/drawing/2014/main" id="{4D6E5C84-F4DB-4DA3-A1B4-13FC9BE5480B}"/>
              </a:ext>
            </a:extLst>
          </p:cNvPr>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9222FC73-C59A-4FE9-B26A-5B26001A1D5C}"/>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718575CC-2671-430E-8121-6041E1079C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ADC3B86-4E32-44E2-AA3E-052370C71DF8}"/>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133A-A8B9-4D35-B726-AF2FBB91F975}"/>
              </a:ext>
            </a:extLst>
          </p:cNvPr>
          <p:cNvSpPr>
            <a:spLocks noGrp="1"/>
          </p:cNvSpPr>
          <p:nvPr>
            <p:ph type="title"/>
          </p:nvPr>
        </p:nvSpPr>
        <p:spPr>
          <a:xfrm>
            <a:off x="931334" y="609600"/>
            <a:ext cx="8094134" cy="3022600"/>
          </a:xfrm>
        </p:spPr>
        <p:txBody>
          <a:bodyPr anchor="ctr">
            <a:normAutofit/>
          </a:bodyPr>
          <a:lstStyle>
            <a:lvl1pPr algn="l">
              <a:buNone/>
              <a:defRPr sz="4400" b="0" cap="none"/>
            </a:lvl1pPr>
          </a:lstStyle>
          <a:p>
            <a:r>
              <a:t>Clique para editar estilo do título mestre</a:t>
            </a:r>
          </a:p>
        </p:txBody>
      </p:sp>
      <p:sp>
        <p:nvSpPr>
          <p:cNvPr id="23" name="Text Placeholder 9">
            <a:extLst>
              <a:ext uri="{FF2B5EF4-FFF2-40B4-BE49-F238E27FC236}">
                <a16:creationId xmlns:a16="http://schemas.microsoft.com/office/drawing/2014/main" id="{10417D36-4AC8-4D45-880D-068FCDF25A4D}"/>
              </a:ext>
            </a:extLst>
          </p:cNvPr>
          <p:cNvSpPr>
            <a:spLocks noGrp="1"/>
          </p:cNvSpPr>
          <p:nvPr>
            <p:ph type="body"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Clique para editar os estilos de texto mestres</a:t>
            </a:r>
          </a:p>
        </p:txBody>
      </p:sp>
      <p:sp>
        <p:nvSpPr>
          <p:cNvPr id="3" name="Text Placeholder 2">
            <a:extLst>
              <a:ext uri="{FF2B5EF4-FFF2-40B4-BE49-F238E27FC236}">
                <a16:creationId xmlns:a16="http://schemas.microsoft.com/office/drawing/2014/main" id="{D00D83F6-3FB1-490D-98DB-2DAE3FEB0C3B}"/>
              </a:ext>
            </a:extLst>
          </p:cNvPr>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66E7BBE7-55D6-4EFE-93A7-A22D5D423490}"/>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11D6E5CA-8A39-471D-BB11-5A1AB2E1F93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E799DD5-675C-4B5B-A6FC-197E7B0C5240}"/>
              </a:ext>
            </a:extLst>
          </p:cNvPr>
          <p:cNvSpPr>
            <a:spLocks noGrp="1"/>
          </p:cNvSpPr>
          <p:nvPr>
            <p:ph type="sldNum" idx="12"/>
          </p:nvPr>
        </p:nvSpPr>
        <p:spPr/>
        <p:txBody>
          <a:bodyPr/>
          <a:lstStyle/>
          <a:p>
            <a:fld id="{5D3D502A-2AED-4A03-9253-F41D6C9B222A}" type="slidenum">
              <a:t>‹nº›</a:t>
            </a:fld>
            <a:endParaRPr/>
          </a:p>
        </p:txBody>
      </p:sp>
      <p:sp>
        <p:nvSpPr>
          <p:cNvPr id="24" name="TextBox 23">
            <a:extLst>
              <a:ext uri="{FF2B5EF4-FFF2-40B4-BE49-F238E27FC236}">
                <a16:creationId xmlns:a16="http://schemas.microsoft.com/office/drawing/2014/main" id="{F607D5B1-893E-41C6-8185-AC4A77789853}"/>
              </a:ext>
            </a:extLst>
          </p:cNvPr>
          <p:cNvSpPr>
            <a:spLocks noGrp="1"/>
          </p:cNvSpPr>
          <p:nvPr/>
        </p:nvSpPr>
        <p:spPr>
          <a:xfrm>
            <a:off x="541870" y="790378"/>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p>
        </p:txBody>
      </p:sp>
      <p:sp>
        <p:nvSpPr>
          <p:cNvPr id="25" name="TextBox 24">
            <a:extLst>
              <a:ext uri="{FF2B5EF4-FFF2-40B4-BE49-F238E27FC236}">
                <a16:creationId xmlns:a16="http://schemas.microsoft.com/office/drawing/2014/main" id="{508D444A-F295-4E2D-A04B-4996EF0082A1}"/>
              </a:ext>
            </a:extLst>
          </p:cNvPr>
          <p:cNvSpPr>
            <a:spLocks noGrp="1"/>
          </p:cNvSpPr>
          <p:nvPr/>
        </p:nvSpPr>
        <p:spPr>
          <a:xfrm>
            <a:off x="8893011" y="2886556"/>
            <a:ext cx="609600" cy="584776"/>
          </a:xfrm>
          <a:prstGeom prst="rect">
            <a:avLst/>
          </a:prstGeom>
        </p:spPr>
        <p:txBody>
          <a:bodyPr vert="horz" lIns="91440" tIns="45720" rIns="91440" bIns="45720" anchor="ctr">
            <a:noAutofit/>
          </a:bodyPr>
          <a:lstStyle/>
          <a:p>
            <a:pPr lvl="0">
              <a:buNone/>
            </a:pPr>
            <a:r>
              <a:rPr sz="8000" baseline="0">
                <a:ln w="3175" cmpd="sng">
                  <a:noFill/>
                </a:ln>
                <a:solidFill>
                  <a:schemeClr val="accent1">
                    <a:lumMod val="60000"/>
                    <a:lumOff val="40000"/>
                  </a:schemeClr>
                </a:solidFill>
                <a:latin typeface="Arial"/>
                <a:ea typeface="Arial"/>
                <a:cs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098A-B572-4340-B50A-1CB8FA2DAA26}"/>
              </a:ext>
            </a:extLst>
          </p:cNvPr>
          <p:cNvSpPr>
            <a:spLocks noGrp="1"/>
          </p:cNvSpPr>
          <p:nvPr>
            <p:ph type="title"/>
          </p:nvPr>
        </p:nvSpPr>
        <p:spPr>
          <a:xfrm>
            <a:off x="685799" y="609600"/>
            <a:ext cx="8588203" cy="3022600"/>
          </a:xfrm>
        </p:spPr>
        <p:txBody>
          <a:bodyPr anchor="ctr">
            <a:normAutofit/>
          </a:bodyPr>
          <a:lstStyle>
            <a:lvl1pPr algn="l">
              <a:buNone/>
              <a:defRPr sz="4400" b="0" cap="none"/>
            </a:lvl1pPr>
          </a:lstStyle>
          <a:p>
            <a:r>
              <a:t>Clique para editar estilo do título mestre</a:t>
            </a:r>
          </a:p>
        </p:txBody>
      </p:sp>
      <p:sp>
        <p:nvSpPr>
          <p:cNvPr id="23" name="Text Placeholder 9">
            <a:extLst>
              <a:ext uri="{FF2B5EF4-FFF2-40B4-BE49-F238E27FC236}">
                <a16:creationId xmlns:a16="http://schemas.microsoft.com/office/drawing/2014/main" id="{A08AC854-4DC9-4322-AAAE-34187AAE5465}"/>
              </a:ext>
            </a:extLst>
          </p:cNvPr>
          <p:cNvSpPr>
            <a:spLocks noGrp="1"/>
          </p:cNvSpPr>
          <p:nvPr>
            <p:ph type="body"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Clique para editar os estilos de texto mestres</a:t>
            </a:r>
          </a:p>
        </p:txBody>
      </p:sp>
      <p:sp>
        <p:nvSpPr>
          <p:cNvPr id="3" name="Text Placeholder 2">
            <a:extLst>
              <a:ext uri="{FF2B5EF4-FFF2-40B4-BE49-F238E27FC236}">
                <a16:creationId xmlns:a16="http://schemas.microsoft.com/office/drawing/2014/main" id="{E9B049C9-7C61-4B91-B9CA-903514484F2E}"/>
              </a:ext>
            </a:extLst>
          </p:cNvPr>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Clique para editar os estilos de texto mestres</a:t>
            </a:r>
          </a:p>
        </p:txBody>
      </p:sp>
      <p:sp>
        <p:nvSpPr>
          <p:cNvPr id="4" name="Date Placeholder 3">
            <a:extLst>
              <a:ext uri="{FF2B5EF4-FFF2-40B4-BE49-F238E27FC236}">
                <a16:creationId xmlns:a16="http://schemas.microsoft.com/office/drawing/2014/main" id="{ABA01C13-4858-43DE-AEA8-A4D0AFDEF57F}"/>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897EFE8A-FBC4-44C3-AAB9-FD84478BD9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0E4FF06-4CBC-4873-90CE-C2775A64C39C}"/>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1779-6DBC-4670-A510-C9711006782D}"/>
              </a:ext>
            </a:extLst>
          </p:cNvPr>
          <p:cNvSpPr>
            <a:spLocks noGrp="1"/>
          </p:cNvSpPr>
          <p:nvPr>
            <p:ph type="title"/>
          </p:nvPr>
        </p:nvSpPr>
        <p:spPr/>
        <p:txBody>
          <a:bodyPr/>
          <a:lstStyle/>
          <a:p>
            <a:r>
              <a:t>Clique para editar estilo do título mestre</a:t>
            </a:r>
          </a:p>
        </p:txBody>
      </p:sp>
      <p:sp>
        <p:nvSpPr>
          <p:cNvPr id="3" name="Vertical Text Placeholder 2">
            <a:extLst>
              <a:ext uri="{FF2B5EF4-FFF2-40B4-BE49-F238E27FC236}">
                <a16:creationId xmlns:a16="http://schemas.microsoft.com/office/drawing/2014/main" id="{389F2E61-09A3-446B-8FFE-56592260F7E4}"/>
              </a:ext>
            </a:extLst>
          </p:cNvPr>
          <p:cNvSpPr>
            <a:spLocks noGrp="1"/>
          </p:cNvSpPr>
          <p:nvPr>
            <p:ph type="body" idx="1"/>
          </p:nvPr>
        </p:nvSpPr>
        <p:spPr/>
        <p:txBody>
          <a:bodyPr vert="eaVert"/>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DA56C9D2-3DA0-43B9-A5C2-5C1D6F64F2FE}"/>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95F81C72-89A7-4B32-B070-28B3984785F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434F81-0159-4C30-BBD8-588387604657}"/>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F1A241-A17B-4673-A025-6015CE5FC6AD}"/>
              </a:ext>
            </a:extLst>
          </p:cNvPr>
          <p:cNvSpPr>
            <a:spLocks noGrp="1"/>
          </p:cNvSpPr>
          <p:nvPr>
            <p:ph type="title"/>
          </p:nvPr>
        </p:nvSpPr>
        <p:spPr>
          <a:xfrm>
            <a:off x="7967673" y="609599"/>
            <a:ext cx="1304743" cy="5251451"/>
          </a:xfrm>
        </p:spPr>
        <p:txBody>
          <a:bodyPr vert="eaVert" anchor="ctr"/>
          <a:lstStyle/>
          <a:p>
            <a:r>
              <a:t>Clique para editar estilo do título mestre</a:t>
            </a:r>
          </a:p>
        </p:txBody>
      </p:sp>
      <p:sp>
        <p:nvSpPr>
          <p:cNvPr id="3" name="Vertical Text Placeholder 2">
            <a:extLst>
              <a:ext uri="{FF2B5EF4-FFF2-40B4-BE49-F238E27FC236}">
                <a16:creationId xmlns:a16="http://schemas.microsoft.com/office/drawing/2014/main" id="{00DFEAF5-40A1-407B-8E62-33B7B20E3FED}"/>
              </a:ext>
            </a:extLst>
          </p:cNvPr>
          <p:cNvSpPr>
            <a:spLocks noGrp="1"/>
          </p:cNvSpPr>
          <p:nvPr>
            <p:ph type="body" idx="1"/>
          </p:nvPr>
        </p:nvSpPr>
        <p:spPr>
          <a:xfrm>
            <a:off x="677335" y="609600"/>
            <a:ext cx="7060150" cy="5251450"/>
          </a:xfrm>
        </p:spPr>
        <p:txBody>
          <a:bodyPr vert="eaVert"/>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5AD16A0F-7E38-4BE6-BB7A-9AA7B24555BF}"/>
              </a:ext>
            </a:extLst>
          </p:cNvPr>
          <p:cNvSpPr>
            <a:spLocks noGrp="1"/>
          </p:cNvSpPr>
          <p:nvPr>
            <p:ph type="dt" idx="10"/>
          </p:nvPr>
        </p:nvSpPr>
        <p:spPr/>
        <p:txBody>
          <a:body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096F0452-9C4B-459D-96ED-68083B731BF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295F657-0636-4E88-B278-F929D4D29CC7}"/>
              </a:ext>
            </a:extLst>
          </p:cNvPr>
          <p:cNvSpPr>
            <a:spLocks noGrp="1"/>
          </p:cNvSpPr>
          <p:nvPr>
            <p:ph type="sldNum" idx="12"/>
          </p:nvPr>
        </p:nvSpPr>
        <p:spPr/>
        <p:txBody>
          <a:bodyPr/>
          <a:lstStyle/>
          <a:p>
            <a:fld id="{5D3D502A-2AED-4A03-9253-F41D6C9B222A}"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2EF7A7B2-64E9-41CD-90B4-CA5BA8B98333}"/>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21" name="Straight Connector 20">
            <a:extLst>
              <a:ext uri="{FF2B5EF4-FFF2-40B4-BE49-F238E27FC236}">
                <a16:creationId xmlns:a16="http://schemas.microsoft.com/office/drawing/2014/main" id="{4925B014-7BDA-4EF0-919C-1CA42481F627}"/>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22" name="Rectangle 23">
            <a:extLst>
              <a:ext uri="{FF2B5EF4-FFF2-40B4-BE49-F238E27FC236}">
                <a16:creationId xmlns:a16="http://schemas.microsoft.com/office/drawing/2014/main" id="{7B392DBB-008C-4974-B8D4-A58F0992BF11}"/>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3" name="Rectangle 25">
            <a:extLst>
              <a:ext uri="{FF2B5EF4-FFF2-40B4-BE49-F238E27FC236}">
                <a16:creationId xmlns:a16="http://schemas.microsoft.com/office/drawing/2014/main" id="{F9E48C13-B7EC-4411-8175-324535482097}"/>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4" name="Isosceles Triangle 23">
            <a:extLst>
              <a:ext uri="{FF2B5EF4-FFF2-40B4-BE49-F238E27FC236}">
                <a16:creationId xmlns:a16="http://schemas.microsoft.com/office/drawing/2014/main" id="{A01A4D41-185C-46B5-8D53-879C6B49FD42}"/>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5" name="Rectangle 27">
            <a:extLst>
              <a:ext uri="{FF2B5EF4-FFF2-40B4-BE49-F238E27FC236}">
                <a16:creationId xmlns:a16="http://schemas.microsoft.com/office/drawing/2014/main" id="{1A1A217C-49E3-4052-B8F7-BAE8A7FAE07C}"/>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6" name="Rectangle 28">
            <a:extLst>
              <a:ext uri="{FF2B5EF4-FFF2-40B4-BE49-F238E27FC236}">
                <a16:creationId xmlns:a16="http://schemas.microsoft.com/office/drawing/2014/main" id="{29163A2A-33B5-4276-B04E-1DE2A0FBF723}"/>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7" name="Rectangle 29">
            <a:extLst>
              <a:ext uri="{FF2B5EF4-FFF2-40B4-BE49-F238E27FC236}">
                <a16:creationId xmlns:a16="http://schemas.microsoft.com/office/drawing/2014/main" id="{9969D5A2-A953-4495-B2A7-47BC68033293}"/>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8" name="Isosceles Triangle 27">
            <a:extLst>
              <a:ext uri="{FF2B5EF4-FFF2-40B4-BE49-F238E27FC236}">
                <a16:creationId xmlns:a16="http://schemas.microsoft.com/office/drawing/2014/main" id="{5E89B929-0D2F-4008-8C3E-66841213FFD2}"/>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9" name="Isosceles Triangle 28">
            <a:extLst>
              <a:ext uri="{FF2B5EF4-FFF2-40B4-BE49-F238E27FC236}">
                <a16:creationId xmlns:a16="http://schemas.microsoft.com/office/drawing/2014/main" id="{A9B80FFF-453F-4FEB-95F8-6069FBE9B11E}"/>
              </a:ext>
            </a:extLst>
          </p:cNvPr>
          <p:cNvSpPr>
            <a:spLocks noGrp="1"/>
          </p:cNvSpPr>
          <p:nvPr/>
        </p:nvSpPr>
        <p:spPr>
          <a:xfrm>
            <a:off x="0" y="4013200"/>
            <a:ext cx="448733" cy="2844800"/>
          </a:xfrm>
          <a:prstGeom prst="triangle">
            <a:avLst>
              <a:gd name="adj" fmla="val 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2" name="Title Placeholder 1">
            <a:extLst>
              <a:ext uri="{FF2B5EF4-FFF2-40B4-BE49-F238E27FC236}">
                <a16:creationId xmlns:a16="http://schemas.microsoft.com/office/drawing/2014/main" id="{4F6F4DE1-2F57-44DF-92D9-2B8A10A05AFD}"/>
              </a:ext>
            </a:extLst>
          </p:cNvPr>
          <p:cNvSpPr>
            <a:spLocks noGrp="1"/>
          </p:cNvSpPr>
          <p:nvPr>
            <p:ph type="title"/>
          </p:nvPr>
        </p:nvSpPr>
        <p:spPr>
          <a:xfrm>
            <a:off x="677334" y="609600"/>
            <a:ext cx="8596668" cy="1320800"/>
          </a:xfrm>
          <a:prstGeom prst="rect">
            <a:avLst/>
          </a:prstGeom>
        </p:spPr>
        <p:txBody>
          <a:bodyPr vert="horz" lIns="91440" tIns="45720" rIns="91440" bIns="45720" anchor="t">
            <a:normAutofit/>
          </a:bodyPr>
          <a:lstStyle/>
          <a:p>
            <a:r>
              <a:t>Clique para editar estilo do título mestre</a:t>
            </a:r>
          </a:p>
        </p:txBody>
      </p:sp>
      <p:sp>
        <p:nvSpPr>
          <p:cNvPr id="3" name="Text Placeholder 2">
            <a:extLst>
              <a:ext uri="{FF2B5EF4-FFF2-40B4-BE49-F238E27FC236}">
                <a16:creationId xmlns:a16="http://schemas.microsoft.com/office/drawing/2014/main" id="{46D120F3-2CC0-4DE2-94A1-9D838E1552E9}"/>
              </a:ext>
            </a:extLst>
          </p:cNvPr>
          <p:cNvSpPr>
            <a:spLocks noGrp="1"/>
          </p:cNvSpPr>
          <p:nvPr>
            <p:ph type="body" idx="1"/>
          </p:nvPr>
        </p:nvSpPr>
        <p:spPr>
          <a:xfrm>
            <a:off x="677334" y="2160589"/>
            <a:ext cx="8596668" cy="3880773"/>
          </a:xfrm>
          <a:prstGeom prst="rect">
            <a:avLst/>
          </a:prstGeom>
        </p:spPr>
        <p:txBody>
          <a:bodyPr vert="horz" lIns="91440" tIns="45720" rIns="91440" bIns="45720">
            <a:normAutofit/>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Date Placeholder 3">
            <a:extLst>
              <a:ext uri="{FF2B5EF4-FFF2-40B4-BE49-F238E27FC236}">
                <a16:creationId xmlns:a16="http://schemas.microsoft.com/office/drawing/2014/main" id="{ABD93E6F-282E-4289-8993-DE38E59919AE}"/>
              </a:ext>
            </a:extLst>
          </p:cNvPr>
          <p:cNvSpPr>
            <a:spLocks noGrp="1"/>
          </p:cNvSpPr>
          <p:nvPr>
            <p:ph type="dt" idx="2"/>
          </p:nvPr>
        </p:nvSpPr>
        <p:spPr>
          <a:xfrm>
            <a:off x="7205133" y="6041362"/>
            <a:ext cx="911939" cy="365125"/>
          </a:xfrm>
          <a:prstGeom prst="rect">
            <a:avLst/>
          </a:prstGeom>
        </p:spPr>
        <p:txBody>
          <a:bodyPr vert="horz" lIns="91440" tIns="45720" rIns="91440" bIns="45720" anchor="ctr"/>
          <a:lstStyle>
            <a:lvl1pPr algn="r">
              <a:buNone/>
              <a:defRPr sz="900">
                <a:solidFill>
                  <a:schemeClr val="tx1">
                    <a:tint val="75000"/>
                  </a:schemeClr>
                </a:solidFill>
              </a:defRPr>
            </a:lvl1pPr>
          </a:lstStyle>
          <a:p>
            <a:fld id="{87E45267-4A49-4196-B75A-750BF93DF7B0}" type="datetimeFigureOut">
              <a:t>18/10/2026</a:t>
            </a:fld>
            <a:endParaRPr/>
          </a:p>
        </p:txBody>
      </p:sp>
      <p:sp>
        <p:nvSpPr>
          <p:cNvPr id="5" name="Footer Placeholder 4">
            <a:extLst>
              <a:ext uri="{FF2B5EF4-FFF2-40B4-BE49-F238E27FC236}">
                <a16:creationId xmlns:a16="http://schemas.microsoft.com/office/drawing/2014/main" id="{4048B821-C11F-40DD-A32A-D855C532ADD9}"/>
              </a:ext>
            </a:extLst>
          </p:cNvPr>
          <p:cNvSpPr>
            <a:spLocks noGrp="1"/>
          </p:cNvSpPr>
          <p:nvPr>
            <p:ph type="ftr" idx="3"/>
          </p:nvPr>
        </p:nvSpPr>
        <p:spPr>
          <a:xfrm>
            <a:off x="677334" y="6041362"/>
            <a:ext cx="6297612" cy="365125"/>
          </a:xfrm>
          <a:prstGeom prst="rect">
            <a:avLst/>
          </a:prstGeom>
        </p:spPr>
        <p:txBody>
          <a:bodyPr vert="horz" lIns="91440" tIns="45720" rIns="91440" bIns="45720" anchor="ctr"/>
          <a:lstStyle>
            <a:lvl1pPr algn="l">
              <a:buNone/>
              <a:defRPr sz="9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CABA5F72-1217-4309-B83F-70ABB9064421}"/>
              </a:ext>
            </a:extLst>
          </p:cNvPr>
          <p:cNvSpPr>
            <a:spLocks noGrp="1"/>
          </p:cNvSpPr>
          <p:nvPr>
            <p:ph type="sldNum" idx="4"/>
          </p:nvPr>
        </p:nvSpPr>
        <p:spPr>
          <a:xfrm>
            <a:off x="8590663" y="6041362"/>
            <a:ext cx="683339" cy="365125"/>
          </a:xfrm>
          <a:prstGeom prst="rect">
            <a:avLst/>
          </a:prstGeom>
        </p:spPr>
        <p:txBody>
          <a:bodyPr vert="horz" lIns="91440" tIns="45720" rIns="91440" bIns="45720" anchor="ctr"/>
          <a:lstStyle>
            <a:lvl1pPr algn="r">
              <a:buNone/>
              <a:defRPr sz="900">
                <a:solidFill>
                  <a:schemeClr val="accent1"/>
                </a:solidFill>
              </a:defRPr>
            </a:lvl1pPr>
          </a:lstStyle>
          <a:p>
            <a:fld id="{5D3D502A-2AED-4A03-9253-F41D6C9B222A}"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a:spcBef>
          <a:spcPct val="0"/>
        </a:spcBef>
        <a:buNone/>
        <a:defRPr sz="3600" kern="1200">
          <a:solidFill>
            <a:schemeClr val="accent1"/>
          </a:solidFill>
          <a:latin typeface="+mj-lt"/>
          <a:ea typeface="+mj-lt"/>
          <a:cs typeface="+mj-lt"/>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solidFill>
            <a:schemeClr val="tx2"/>
          </a:solidFill>
        </a:defRPr>
      </a:lvl6pPr>
      <a:lvl7pPr>
        <a:buNone/>
        <a:defRPr>
          <a:solidFill>
            <a:schemeClr val="tx2"/>
          </a:solidFill>
        </a:defRPr>
      </a:lvl7pPr>
      <a:lvl8pPr>
        <a:buNone/>
        <a:defRPr>
          <a:solidFill>
            <a:schemeClr val="tx2"/>
          </a:solidFill>
        </a:defRPr>
      </a:lvl8pPr>
      <a:lvl9pPr>
        <a:buNone/>
        <a:defRPr>
          <a:solidFill>
            <a:schemeClr val="tx2"/>
          </a:solidFill>
        </a:defRPr>
      </a:lvl9pPr>
    </p:titleStyle>
    <p:bodyStyle>
      <a:lvl1pPr marL="342900" indent="-342900" algn="l" defTabSz="457200">
        <a:spcBef>
          <a:spcPts val="1000"/>
        </a:spcBef>
        <a:spcAft>
          <a:spcPts val="0"/>
        </a:spcAft>
        <a:buClr>
          <a:schemeClr val="accent1"/>
        </a:buClr>
        <a:buSzPct val="80000"/>
        <a:buFont typeface="Wingdings 3"/>
        <a:buChar char=""/>
        <a:defRPr sz="1800" kern="1200">
          <a:solidFill>
            <a:schemeClr val="tx1">
              <a:lumMod val="75000"/>
              <a:lumOff val="25000"/>
            </a:schemeClr>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linkedin.com/in/silvapfabio" TargetMode="Externa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TQur9GJHIIQ?feature=oembed" TargetMode="External"/><Relationship Id="rId5" Type="http://schemas.openxmlformats.org/officeDocument/2006/relationships/image" Target="../media/image7.jpeg"/><Relationship Id="rId4" Type="http://schemas.openxmlformats.org/officeDocument/2006/relationships/hyperlink" Target="https://www.youtube.com/watch?v=TQur9GJHIIQ"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2.xml"/><Relationship Id="rId1" Type="http://schemas.openxmlformats.org/officeDocument/2006/relationships/video" Target="https://www.youtube.com/embed/ClLp-iSoaSY?feature=oembed" TargetMode="External"/><Relationship Id="rId5" Type="http://schemas.openxmlformats.org/officeDocument/2006/relationships/image" Target="../media/image33.jpeg"/><Relationship Id="rId4" Type="http://schemas.openxmlformats.org/officeDocument/2006/relationships/hyperlink" Target="https://www.youtube.com/watch?v=ClLp-iSoaSY" TargetMode="Externa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5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7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7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8.xml"/><Relationship Id="rId1" Type="http://schemas.openxmlformats.org/officeDocument/2006/relationships/slideLayout" Target="../slideLayouts/slideLayout1.xml"/><Relationship Id="rId5" Type="http://schemas.openxmlformats.org/officeDocument/2006/relationships/hyperlink" Target="https://www.linkedin.com/in/silvapfabio" TargetMode="Externa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31BF4A2F-2B22-4518-B49D-68C7C3A5B4BB}"/>
              </a:ext>
            </a:extLst>
          </p:cNvPr>
          <p:cNvPicPr>
            <a:picLocks noChangeAspect="1"/>
          </p:cNvPicPr>
          <p:nvPr/>
        </p:nvPicPr>
        <p:blipFill>
          <a:blip r:embed="rId3"/>
          <a:stretch>
            <a:fillRect/>
          </a:stretch>
        </p:blipFill>
        <p:spPr>
          <a:xfrm>
            <a:off x="335837" y="657391"/>
            <a:ext cx="3531926" cy="1256913"/>
          </a:xfrm>
          <a:prstGeom prst="rect">
            <a:avLst/>
          </a:prstGeom>
        </p:spPr>
      </p:pic>
      <p:pic>
        <p:nvPicPr>
          <p:cNvPr id="1026" name="Picture 2">
            <a:extLst>
              <a:ext uri="{FF2B5EF4-FFF2-40B4-BE49-F238E27FC236}">
                <a16:creationId xmlns:a16="http://schemas.microsoft.com/office/drawing/2014/main" id="{39F24212-73D6-4223-A136-149B1731E764}"/>
              </a:ext>
            </a:extLst>
          </p:cNvPr>
          <p:cNvPicPr>
            <a:picLocks noChangeAspect="1"/>
          </p:cNvPicPr>
          <p:nvPr/>
        </p:nvPicPr>
        <p:blipFill>
          <a:blip r:embed="rId4"/>
          <a:srcRect/>
          <a:stretch>
            <a:fillRect/>
          </a:stretch>
        </p:blipFill>
        <p:spPr>
          <a:xfrm>
            <a:off x="936170" y="2666225"/>
            <a:ext cx="2485521" cy="2485521"/>
          </a:xfrm>
          <a:prstGeom prst="rect">
            <a:avLst/>
          </a:prstGeom>
        </p:spPr>
      </p:pic>
      <p:sp>
        <p:nvSpPr>
          <p:cNvPr id="1027" name="titulo">
            <a:extLst>
              <a:ext uri="{FF2B5EF4-FFF2-40B4-BE49-F238E27FC236}">
                <a16:creationId xmlns:a16="http://schemas.microsoft.com/office/drawing/2014/main" id="{6D8AE5B9-03E8-46E4-B5CF-87FEE3E8BFC0}"/>
              </a:ext>
            </a:extLst>
          </p:cNvPr>
          <p:cNvSpPr>
            <a:spLocks noGrp="1"/>
          </p:cNvSpPr>
          <p:nvPr/>
        </p:nvSpPr>
        <p:spPr>
          <a:xfrm>
            <a:off x="3857625" y="2857500"/>
            <a:ext cx="5619750" cy="152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lgn="l">
              <a:defRPr sz="4350" b="1">
                <a:solidFill>
                  <a:srgbClr val="000000"/>
                </a:solidFill>
                <a:latin typeface="Trebuchet MS"/>
                <a:ea typeface="Trebuchet MS"/>
                <a:cs typeface="Trebuchet MS"/>
              </a:defRPr>
            </a:pPr>
            <a:r>
              <a:rPr sz="4350" b="1">
                <a:solidFill>
                  <a:srgbClr val="000000"/>
                </a:solidFill>
                <a:latin typeface="Trebuchet MS"/>
                <a:ea typeface="Trebuchet MS"/>
                <a:cs typeface="Trebuchet MS"/>
              </a:rPr>
              <a:t>Visualizando dados</a:t>
            </a:r>
          </a:p>
          <a:p>
            <a:pPr algn="l">
              <a:defRPr sz="4350" b="1">
                <a:solidFill>
                  <a:srgbClr val="000000"/>
                </a:solidFill>
                <a:latin typeface="Trebuchet MS"/>
                <a:ea typeface="Trebuchet MS"/>
                <a:cs typeface="Trebuchet MS"/>
              </a:defRPr>
            </a:pPr>
            <a:r>
              <a:rPr sz="4350" b="1">
                <a:solidFill>
                  <a:srgbClr val="000000"/>
                </a:solidFill>
                <a:latin typeface="Trebuchet MS"/>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3857625" y="4572000"/>
            <a:ext cx="5429250" cy="74295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Fábio Silva</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3857625" y="5476875"/>
            <a:ext cx="5619750" cy="3048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hlinkClick r:id="rId5"/>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895350" y="6048375"/>
            <a:ext cx="8858250" cy="36195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lgn="l">
              <a:defRPr sz="1575" b="0">
                <a:solidFill>
                  <a:srgbClr val="666666"/>
                </a:solidFill>
                <a:latin typeface="Trebuchet MS"/>
                <a:ea typeface="Trebuchet MS"/>
                <a:cs typeface="Trebuchet MS"/>
              </a:defRPr>
            </a:pPr>
            <a:r>
              <a:rPr sz="1575" b="0">
                <a:solidFill>
                  <a:srgbClr val="666666"/>
                </a:solidFill>
                <a:latin typeface="Trebuchet MS"/>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6773C33-A3BC-4796-BD7A-D99613E39A4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Sobre o instrutor</a:t>
            </a: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Fábio Silva</a:t>
            </a: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Arquiteto de Soluções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Fábio Silva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LinkedIn</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B6AC159-2DB1-481F-A810-2C9452AF80C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Base do curso</a:t>
            </a: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percurso acompanha o Grafana Fundamentals oficial.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Fundamentals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Métricas e logs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2968919-AAD7-479F-84FD-6CA9E8E3DF1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Como funciona cada noite</a:t>
            </a: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Primeiro, teoria e demonstração. Depois do intervalo, o professor comenta as tarefas.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Em seguida, a turma recebe a folha e pratica no ambiente local.</a:t>
            </a: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18h30  Teoria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19h55  Demonstração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  Intervalo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20h45  Exercícios comentados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21h00  Prática do aluno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22h15  Correção</a:t>
            </a: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30128D3-9A8B-4814-BE51-555FC6CC27A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As cinco noites</a:t>
            </a: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Vamos acompanhar a mesma aplicação e construir o conhecimento de forma progressiva.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1  Fundamentos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2  Métricas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3  Logs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4  Dashboards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97BAB9BD-AB74-4B51-8D19-96EBCB84CC32}"/>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lang="pt-BR" sz="3900" b="0">
                <a:solidFill>
                  <a:srgbClr val="90C226"/>
                </a:solidFill>
                <a:latin typeface="Trebuchet MS"/>
                <a:ea typeface="Trebuchet MS"/>
                <a:cs typeface="Trebuchet MS"/>
              </a:rPr>
              <a:t>Fundamentos e
arquitetura</a:t>
            </a:r>
            <a:endParaRPr sz="3900" b="0">
              <a:solidFill>
                <a:srgbClr val="90C226"/>
              </a:solidFill>
              <a:latin typeface="Trebuchet MS"/>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6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3B861BB-CCF7-4792-89B1-186BA0D3A6C6}"/>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observabilidade?</a:t>
            </a: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a capacidade de investigar o estado interno de um sistema a partir dos sinais que ele produz.</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Sintoma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O checkout está lento</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Pergunta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51D07B0-0118-4B51-85EC-FCE241096DDA}"/>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Monitoramento e investigação</a:t>
            </a: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Monitoramento acompanha condições conhecidas e avisa quando uma regra é atendida.</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Monitoramento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 taxa de erro subiu?</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Investigação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8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67A5A23-AB30-43AA-8A62-7645755560B0}"/>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lgn="l">
              <a:defRPr sz="2925">
                <a:solidFill>
                  <a:srgbClr val="FFFFFF"/>
                </a:solidFill>
                <a:latin typeface="Trebuchet MS"/>
                <a:ea typeface="Trebuchet MS"/>
                <a:cs typeface="Trebuchet MS"/>
              </a:defRPr>
            </a:pPr>
            <a:r>
              <a:rPr sz="2925">
                <a:solidFill>
                  <a:srgbClr val="FFFFFF"/>
                </a:solidFill>
                <a:latin typeface="Trebuchet MS"/>
                <a:ea typeface="Trebuchet MS"/>
                <a:cs typeface="Trebuchet MS"/>
              </a:rPr>
              <a:t>Métricas: medidas ao longo do tempo</a:t>
            </a: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Métricas são valores numéricos associados a instantes e dimensões.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CPU: 42%</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Tráfego: 12 req/s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9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71818E8-400E-4702-A63B-A9F252891695}"/>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Logs: registros de eventos</a:t>
            </a: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Logs registram acontecimentos com horário e contexto.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Horário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Nível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Mensagem</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10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3C2D0B4-F28E-4EE6-A1DD-F6BEDCED83E3}"/>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Traces: caminho de uma requisição</a:t>
            </a: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Um trace reúne o trabalho associado a uma requisição.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Trace</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Operação completa</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Span</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11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CE201CE-FE4D-4F76-AA37-69C806FBE19F}"/>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Métricas, logs e traces juntos</a:t>
            </a: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métrica mostra a mudança.</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log acrescenta contexto.</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trace mostra as etapas.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Pergunta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Checkout ficou lento</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Evidências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DAA4B33-AA16-492D-A076-A15B580AE5A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Vídeo: observabilidade</a:t>
            </a: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a referência em vídeo para relacionar o conceito à aplicação do curso.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333375" y="5953125"/>
            <a:ext cx="6191250" cy="3048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hlinkClick r:id="rId4"/>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 / 178</a:t>
            </a:r>
            <a:endParaRPr sz="975" b="0">
              <a:solidFill>
                <a:srgbClr val="FFFFFF"/>
              </a:solidFill>
              <a:latin typeface="Trebuchet MS"/>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noChangeAspect="1"/>
          </p:cNvPicPr>
          <p:nvPr>
            <a:videoFile r:link="rId1"/>
          </p:nvPr>
        </p:nvPicPr>
        <p:blipFill>
          <a:blip r:embed="rId5"/>
          <a:stretch>
            <a:fillRect/>
          </a:stretch>
        </p:blipFill>
        <p:spPr>
          <a:xfrm>
            <a:off x="266700" y="2047875"/>
            <a:ext cx="5879370" cy="3321844"/>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4213F59-8317-4F69-B76E-D24D290DE079}"/>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Grafana?</a:t>
            </a: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uma plataforma para consultar, explorar e visualizar dados de diferentes fontes.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Fontes de dados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Consultas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14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A4DCF55-AAE6-42E7-B08F-A049CA672BEA}"/>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Grafana: vantagens e limites</a:t>
            </a: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Reúne fontes, visualizações e alertas em uma interface.</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Ajuda a interpretar</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Exige bons dados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6AE7DBA-E172-42C0-8FCF-BE28964CB54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Prometheus?</a:t>
            </a: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 sistema de monitoramento e alertas que coleta e armazena métricas em séries temporais.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Coleta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Séries temporais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PromQL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16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D306FB7-E50D-4FB2-B23B-358B0B168AB2}"/>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Prometheus: vantagens e limites</a:t>
            </a: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Modelo por labels, PromQL e ecossistema de exporters.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Bom para números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Custo por séries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29EC72D-29BE-4829-87A3-2B24DC84A9D8}"/>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Counter, gauge e distribuições</a:t>
            </a: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Counter acumula ocorrências e pode reiniciar.</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Gauge sobe e desce.</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Counter</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Requisições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Gauge</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18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91032C8-8C1F-4222-8785-AE8118F0B0BE}"/>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Loki?</a:t>
            </a: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 backend para armazenar e consultar logs.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Logs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Labels do fluxo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Conteúdo da linha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19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C79D76A-DC96-4A39-A92F-584B665ED9D9}"/>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Loki: vantagens e limites</a:t>
            </a: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Integração com o Grafana e correlação por contexto.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Escolha o fluxo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Reduza o período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20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D544B43-D66B-44F7-8481-0A2AF8A3FEB4}"/>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O que é o Tempo?</a:t>
            </a: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É um backend para armazenar e consultar traces distribuídos.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Aplicação instrumentada</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Spans por OTLP</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21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6FEAC63-1800-4637-B844-756E5C00F6FF}"/>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Tempo: vantagens e limites</a:t>
            </a: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Vantagens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Expõe etapas e durações da requisição; permite navegar a partir do trace_id.</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Limites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Sem instrumentação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Não há spans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Sem contexto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1D75408-2B60-4473-B3AA-49292D06A36C}"/>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PromQL: consulta de métricas</a:t>
            </a: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PromQL seleciona, filtra e combina séries temporais.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Métrica</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Filtro por labels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Função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23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A5B0388-AF69-4D2F-80D5-2369812701AF}"/>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LogQL: consulta de logs</a:t>
            </a: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seletor escolhe os fluxos.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Os filtros escolhem linhas.</a:t>
            </a: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Parsers extraem campos.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{service="ecommerce-shop"}</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24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4F4F876-3EDD-4CFB-A52A-30F6D5562368}"/>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TraceQL: consulta de traces</a:t>
            </a: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TraceQL seleciona traces a partir de condições sobre spans, recursos e duração.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 resource.service.name</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25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9211696-5C15-4332-A9F3-F0E22200E7B1}"/>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Promtail: papel no laboratório</a:t>
            </a: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Promtail acompanha arquivos e logs de containers, acrescenta labels e envia os eventos ao Loki por HTTP.</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Arquivo ou stdout</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Promtail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26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1600DC9-002C-4605-B2C7-2614BFAA93F8}"/>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Promtail e a migração para Alloy</a:t>
            </a: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Promtail encerrou o suporte em 2 de março de 2026.</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Promtail</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Legado do lab</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Alloy</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27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Arquitetura do ambiente do professor</a:t>
            </a: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379595" y="1476375"/>
            <a:ext cx="2194560" cy="409575"/>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379595" y="2213610"/>
            <a:ext cx="2194560" cy="573405"/>
          </a:xfrm>
          <a:prstGeom prst="rect">
            <a:avLst/>
          </a:prstGeom>
          <a:solidFill>
            <a:srgbClr val="FFF0DF"/>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Grafana</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904875" y="3401378"/>
            <a:ext cx="2468880" cy="655320"/>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242435" y="3401378"/>
            <a:ext cx="246888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Loki :3100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579995" y="3401378"/>
            <a:ext cx="2468880" cy="655320"/>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Tempo :3200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904875" y="4834890"/>
            <a:ext cx="2468880" cy="655320"/>
          </a:xfrm>
          <a:prstGeom prst="rect">
            <a:avLst/>
          </a:prstGeom>
          <a:solidFill>
            <a:srgbClr val="E9F1FC"/>
          </a:solidFill>
          <a:ln w="13335">
            <a:solidFill>
              <a:srgbClr val="6A7D5C"/>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263723"/>
                </a:solidFill>
                <a:latin typeface="Trebuchet MS"/>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263723"/>
                </a:solidFill>
                <a:latin typeface="Trebuchet MS"/>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263723"/>
                </a:solidFill>
                <a:latin typeface="Trebuchet MS"/>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242435" y="4834890"/>
            <a:ext cx="246888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579995" y="4834890"/>
            <a:ext cx="2468880" cy="655320"/>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476875" y="1885950"/>
            <a:ext cx="0" cy="163830"/>
          </a:xfrm>
          <a:prstGeom prst="straightConnector1">
            <a:avLst/>
          </a:prstGeom>
          <a:ln w="17145">
            <a:solidFill>
              <a:srgbClr val="52664A"/>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476875" y="2049780"/>
            <a:ext cx="0" cy="163830"/>
          </a:xfrm>
          <a:prstGeom prst="straightConnector1">
            <a:avLst/>
          </a:prstGeom>
          <a:ln w="17145">
            <a:solidFill>
              <a:srgbClr val="52664A"/>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139315" y="2500313"/>
            <a:ext cx="2240280" cy="0"/>
          </a:xfrm>
          <a:prstGeom prst="straightConnector1">
            <a:avLst/>
          </a:prstGeom>
          <a:ln w="17145">
            <a:solidFill>
              <a:srgbClr val="3E6FA8"/>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139315" y="2500313"/>
            <a:ext cx="0" cy="901065"/>
          </a:xfrm>
          <a:prstGeom prst="straightConnector1">
            <a:avLst/>
          </a:prstGeom>
          <a:ln w="17145">
            <a:solidFill>
              <a:srgbClr val="3E6FA8"/>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476875" y="2787015"/>
            <a:ext cx="0" cy="307181"/>
          </a:xfrm>
          <a:prstGeom prst="straightConnector1">
            <a:avLst/>
          </a:prstGeom>
          <a:ln w="17145">
            <a:solidFill>
              <a:srgbClr val="528331"/>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476875" y="3094196"/>
            <a:ext cx="0" cy="307181"/>
          </a:xfrm>
          <a:prstGeom prst="straightConnector1">
            <a:avLst/>
          </a:prstGeom>
          <a:ln w="17145">
            <a:solidFill>
              <a:srgbClr val="528331"/>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574155" y="2500313"/>
            <a:ext cx="2240280" cy="0"/>
          </a:xfrm>
          <a:prstGeom prst="straightConnector1">
            <a:avLst/>
          </a:prstGeom>
          <a:ln w="17145">
            <a:solidFill>
              <a:srgbClr val="8363A5"/>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8814435" y="2500313"/>
            <a:ext cx="0" cy="901065"/>
          </a:xfrm>
          <a:prstGeom prst="straightConnector1">
            <a:avLst/>
          </a:prstGeom>
          <a:ln w="17145">
            <a:solidFill>
              <a:srgbClr val="8363A5"/>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139315" y="4056698"/>
            <a:ext cx="0" cy="389096"/>
          </a:xfrm>
          <a:prstGeom prst="straightConnector1">
            <a:avLst/>
          </a:prstGeom>
          <a:ln w="17145">
            <a:solidFill>
              <a:srgbClr val="3E6FA8"/>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139315" y="4445794"/>
            <a:ext cx="0" cy="389096"/>
          </a:xfrm>
          <a:prstGeom prst="straightConnector1">
            <a:avLst/>
          </a:prstGeom>
          <a:ln w="17145">
            <a:solidFill>
              <a:srgbClr val="3E6FA8"/>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476875" y="4445794"/>
            <a:ext cx="0" cy="389096"/>
          </a:xfrm>
          <a:prstGeom prst="straightConnector1">
            <a:avLst/>
          </a:prstGeom>
          <a:ln w="17145">
            <a:solidFill>
              <a:srgbClr val="528331"/>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476875" y="4056698"/>
            <a:ext cx="0" cy="389096"/>
          </a:xfrm>
          <a:prstGeom prst="straightConnector1">
            <a:avLst/>
          </a:prstGeom>
          <a:ln w="17145">
            <a:solidFill>
              <a:srgbClr val="528331"/>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8814435" y="4445794"/>
            <a:ext cx="0" cy="389096"/>
          </a:xfrm>
          <a:prstGeom prst="straightConnector1">
            <a:avLst/>
          </a:prstGeom>
          <a:ln w="17145">
            <a:solidFill>
              <a:srgbClr val="8363A5"/>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8814435" y="4056698"/>
            <a:ext cx="0" cy="389096"/>
          </a:xfrm>
          <a:prstGeom prst="straightConnector1">
            <a:avLst/>
          </a:prstGeom>
          <a:ln w="17145">
            <a:solidFill>
              <a:srgbClr val="8363A5"/>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082540" y="1910906"/>
            <a:ext cx="9715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710690" y="3041333"/>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139690" y="3041333"/>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385810" y="3041333"/>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310640" y="4351973"/>
            <a:ext cx="16573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033963" y="4351973"/>
            <a:ext cx="88582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114348" y="4351973"/>
            <a:ext cx="140017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28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Coleta de métricas: modelo pull</a:t>
            </a: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105275" y="1722120"/>
            <a:ext cx="274320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Prometheus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904875"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254883"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604891"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7954899" y="4302443"/>
            <a:ext cx="2103120" cy="778193"/>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1956435" y="3401378"/>
            <a:ext cx="3520440" cy="0"/>
          </a:xfrm>
          <a:prstGeom prst="straightConnector1">
            <a:avLst/>
          </a:prstGeom>
          <a:ln w="17145">
            <a:solidFill>
              <a:srgbClr val="52664A"/>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1956435" y="3401378"/>
            <a:ext cx="0" cy="901065"/>
          </a:xfrm>
          <a:prstGeom prst="straightConnector1">
            <a:avLst/>
          </a:prstGeom>
          <a:ln w="17145">
            <a:solidFill>
              <a:srgbClr val="52664A"/>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306443" y="3401378"/>
            <a:ext cx="1170432" cy="0"/>
          </a:xfrm>
          <a:prstGeom prst="straightConnector1">
            <a:avLst/>
          </a:prstGeom>
          <a:ln w="17145">
            <a:solidFill>
              <a:srgbClr val="52664A"/>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306443" y="3401378"/>
            <a:ext cx="0" cy="901065"/>
          </a:xfrm>
          <a:prstGeom prst="straightConnector1">
            <a:avLst/>
          </a:prstGeom>
          <a:ln w="17145">
            <a:solidFill>
              <a:srgbClr val="52664A"/>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476875" y="3401378"/>
            <a:ext cx="1179576" cy="0"/>
          </a:xfrm>
          <a:prstGeom prst="straightConnector1">
            <a:avLst/>
          </a:prstGeom>
          <a:ln w="17145">
            <a:solidFill>
              <a:srgbClr val="52664A"/>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6656451" y="3401378"/>
            <a:ext cx="0" cy="901065"/>
          </a:xfrm>
          <a:prstGeom prst="straightConnector1">
            <a:avLst/>
          </a:prstGeom>
          <a:ln w="17145">
            <a:solidFill>
              <a:srgbClr val="52664A"/>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476875" y="2500313"/>
            <a:ext cx="0" cy="901065"/>
          </a:xfrm>
          <a:prstGeom prst="straightConnector1">
            <a:avLst/>
          </a:prstGeom>
          <a:ln w="17145">
            <a:solidFill>
              <a:srgbClr val="52664A"/>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476875" y="3401378"/>
            <a:ext cx="3529584" cy="0"/>
          </a:xfrm>
          <a:prstGeom prst="straightConnector1">
            <a:avLst/>
          </a:prstGeom>
          <a:ln w="17145">
            <a:solidFill>
              <a:srgbClr val="52664A"/>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006459" y="3401378"/>
            <a:ext cx="0" cy="901065"/>
          </a:xfrm>
          <a:prstGeom prst="straightConnector1">
            <a:avLst/>
          </a:prstGeom>
          <a:ln w="17145">
            <a:solidFill>
              <a:srgbClr val="52664A"/>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190625" y="2795588"/>
            <a:ext cx="857250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29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Caminhos separados de logs e traces</a:t>
            </a: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904875" y="3073718"/>
            <a:ext cx="1920240" cy="778193"/>
          </a:xfrm>
          <a:prstGeom prst="rect">
            <a:avLst/>
          </a:prstGeom>
          <a:solidFill>
            <a:srgbClr val="FFF0DF"/>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Aplicação</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373755" y="2008823"/>
            <a:ext cx="192024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5751195" y="2008823"/>
            <a:ext cx="192024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Promtail</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128635" y="2008823"/>
            <a:ext cx="1920240" cy="655320"/>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Loki :3100</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373755" y="4466273"/>
            <a:ext cx="2286000" cy="737235"/>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7671435" y="4466273"/>
            <a:ext cx="2377440" cy="737235"/>
          </a:xfrm>
          <a:prstGeom prst="rect">
            <a:avLst/>
          </a:prstGeom>
          <a:solidFill>
            <a:srgbClr val="F1EAF9"/>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Tempo</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2825115" y="3462814"/>
            <a:ext cx="274320" cy="0"/>
          </a:xfrm>
          <a:prstGeom prst="straightConnector1">
            <a:avLst/>
          </a:prstGeom>
          <a:ln w="17145">
            <a:solidFill>
              <a:srgbClr val="52664A"/>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099435" y="2336483"/>
            <a:ext cx="0" cy="1126331"/>
          </a:xfrm>
          <a:prstGeom prst="straightConnector1">
            <a:avLst/>
          </a:prstGeom>
          <a:ln w="17145">
            <a:solidFill>
              <a:srgbClr val="52664A"/>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099435" y="2336483"/>
            <a:ext cx="274320" cy="0"/>
          </a:xfrm>
          <a:prstGeom prst="straightConnector1">
            <a:avLst/>
          </a:prstGeom>
          <a:ln w="17145">
            <a:solidFill>
              <a:srgbClr val="52664A"/>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293995" y="2336483"/>
            <a:ext cx="228600" cy="0"/>
          </a:xfrm>
          <a:prstGeom prst="straightConnector1">
            <a:avLst/>
          </a:prstGeom>
          <a:ln w="17145">
            <a:solidFill>
              <a:srgbClr val="52664A"/>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522595" y="2336483"/>
            <a:ext cx="228600" cy="0"/>
          </a:xfrm>
          <a:prstGeom prst="straightConnector1">
            <a:avLst/>
          </a:prstGeom>
          <a:ln w="17145">
            <a:solidFill>
              <a:srgbClr val="52664A"/>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7671435" y="2336483"/>
            <a:ext cx="228600" cy="0"/>
          </a:xfrm>
          <a:prstGeom prst="straightConnector1">
            <a:avLst/>
          </a:prstGeom>
          <a:ln w="17145">
            <a:solidFill>
              <a:srgbClr val="52664A"/>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7900035" y="2336483"/>
            <a:ext cx="228600" cy="0"/>
          </a:xfrm>
          <a:prstGeom prst="straightConnector1">
            <a:avLst/>
          </a:prstGeom>
          <a:ln w="17145">
            <a:solidFill>
              <a:srgbClr val="52664A"/>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2825115" y="3462814"/>
            <a:ext cx="274320" cy="0"/>
          </a:xfrm>
          <a:prstGeom prst="straightConnector1">
            <a:avLst/>
          </a:prstGeom>
          <a:ln w="17145">
            <a:solidFill>
              <a:srgbClr val="8363A5"/>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099435" y="3462814"/>
            <a:ext cx="0" cy="1372076"/>
          </a:xfrm>
          <a:prstGeom prst="straightConnector1">
            <a:avLst/>
          </a:prstGeom>
          <a:ln w="17145">
            <a:solidFill>
              <a:srgbClr val="8363A5"/>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099435" y="4834890"/>
            <a:ext cx="274320" cy="0"/>
          </a:xfrm>
          <a:prstGeom prst="straightConnector1">
            <a:avLst/>
          </a:prstGeom>
          <a:ln w="17145">
            <a:solidFill>
              <a:srgbClr val="8363A5"/>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659755" y="4834890"/>
            <a:ext cx="1005840" cy="0"/>
          </a:xfrm>
          <a:prstGeom prst="straightConnector1">
            <a:avLst/>
          </a:prstGeom>
          <a:ln w="17145">
            <a:solidFill>
              <a:srgbClr val="8363A5"/>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6665595" y="4834890"/>
            <a:ext cx="1005840" cy="0"/>
          </a:xfrm>
          <a:prstGeom prst="straightConnector1">
            <a:avLst/>
          </a:prstGeom>
          <a:ln w="17145">
            <a:solidFill>
              <a:srgbClr val="8363A5"/>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356610" y="3983355"/>
            <a:ext cx="13144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5965508" y="4679633"/>
            <a:ext cx="140017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285673" y="1689735"/>
            <a:ext cx="1228725"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190625" y="5498783"/>
            <a:ext cx="857250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30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0182459-B5C8-4E69-B681-F7B0CE5DB1F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Tutorial do aluno e demonstração</a:t>
            </a: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aluno usa Grafana News no ambiente local.</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Aluno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Grafana News</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Professor</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31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680EF79-BFB0-469E-BB65-61BA90E420E4}"/>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Preparação para a demonstração</a:t>
            </a: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Vamos observar a instalação Docker, a aplicação, as fontes e a navegação.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Docker</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Ambiente rápido</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Ubuntu</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32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E7F7E030-57B6-4BC2-B118-1C5E1DEF04FC}"/>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33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2DB63B6-6D02-4D8F-918C-331E1CD51C92}"/>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Demonstração: instalação Docker</a:t>
            </a: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professor mostra o pacote da turma e inicia os serviços.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docker compose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-p green-fundamentals</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9CB55E3-2C1F-48DD-8A12-8290E1A845D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aplicação Grafana News</a:t>
            </a: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Cadastre um título e uma URL válida.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0BF22C-E4B0-4D98-8BD3-EB9BEB72972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Primeiro acesso</a:t>
            </a: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Abra o Grafana na porta do curso.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94D5E7C-0726-4777-9A2D-CD9475D45798}"/>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Fonte de dados</a:t>
            </a: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Prometheus já vem configurado no ambiente oficial.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6E851AA-6706-4795-8033-DB63EB33B13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Demonstração: roteiro Ubuntu</a:t>
            </a: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professor explica a instalação nativa e os pontos de validação.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APT</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Pacote grafana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systemd</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38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Ambiente real do professor</a:t>
            </a:r>
          </a:p>
        </p:txBody>
      </p:sp>
      <p:pic>
        <p:nvPicPr>
          <p:cNvPr id="3" name="Imagem 2">
            <a:extLst>
              <a:ext uri="{FF2B5EF4-FFF2-40B4-BE49-F238E27FC236}">
                <a16:creationId xmlns:a16="http://schemas.microsoft.com/office/drawing/2014/main" id="{59FB357B-9DFB-4483-8747-96A34C92580D}"/>
              </a:ext>
            </a:extLst>
          </p:cNvPr>
          <p:cNvPicPr>
            <a:picLocks noChangeAspect="1"/>
          </p:cNvPicPr>
          <p:nvPr/>
        </p:nvPicPr>
        <p:blipFill>
          <a:blip r:embed="rId3"/>
          <a:stretch/>
        </p:blipFill>
        <p:spPr>
          <a:xfrm>
            <a:off x="2155101" y="1457325"/>
            <a:ext cx="7024547" cy="447675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39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Fontes de dados do laboratório</a:t>
            </a:r>
          </a:p>
        </p:txBody>
      </p:sp>
      <p:pic>
        <p:nvPicPr>
          <p:cNvPr id="3" name="Imagem 2">
            <a:extLst>
              <a:ext uri="{FF2B5EF4-FFF2-40B4-BE49-F238E27FC236}">
                <a16:creationId xmlns:a16="http://schemas.microsoft.com/office/drawing/2014/main" id="{1BEB2EAA-A1DD-42F3-80CC-811AF13D16C6}"/>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40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A3C0AA9-CC54-4C4E-A27E-C18587381A2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F905D0F7-8330-4DFF-87FE-206DD98B660A}"/>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1.1 — Obter e iniciar o laboratório Docker</a:t>
            </a: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Baixe o pacote oficial da turma pelo GitHub ou Google Drive quando o professor disponibilizar o link.</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Extraia ou clone a pasta completa e abra lab/tutorial-environment.</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Confirme Docker ativo e inicie com o script de entrada ou Compose.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1.2 — Gerar atividade conhecida</a:t>
            </a: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Na aplicação Grafana News, publique um link com título e URL válidos.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Vote no link e atualize a página.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1.3 — Reconhecer os recursos do Grafana</a:t>
            </a: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Localize Explore, Dashboards e Connections.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Abra a fonte Prometheus já existente.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Identifique a URL interna e teste a conexão quando disponível.</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45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39264389-72FB-45E3-943E-8DA780E526C9}"/>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46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AE07045-850E-4441-A52B-19AC390CFED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1.1  Obter e iniciar o laboratório Docker</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1.2  Gerar atividade conhecida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21FB2D7-19E9-4F94-BDA2-A12B663101C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48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5CA5E710-1FB2-4659-B091-566B05457F35}"/>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98F94747-112F-4CD2-A8E9-9ECC8538FA08}"/>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Exploração de métricas</a:t>
            </a:r>
          </a:p>
        </p:txBody>
      </p:sp>
      <p:sp>
        <p:nvSpPr>
          <p:cNvPr id="122" name="subtitulo">
            <a:extLst>
              <a:ext uri="{FF2B5EF4-FFF2-40B4-BE49-F238E27FC236}">
                <a16:creationId xmlns:a16="http://schemas.microsoft.com/office/drawing/2014/main" id="{E90CCD03-28BB-41BD-9142-14B90BEFAA4C}"/>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Consultas e interpretação no Explore</a:t>
            </a:r>
          </a:p>
        </p:txBody>
      </p:sp>
      <p:sp>
        <p:nvSpPr>
          <p:cNvPr id="123" name="tempo">
            <a:extLst>
              <a:ext uri="{FF2B5EF4-FFF2-40B4-BE49-F238E27FC236}">
                <a16:creationId xmlns:a16="http://schemas.microsoft.com/office/drawing/2014/main" id="{63D79011-A632-4A50-983E-4BD100892486}"/>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8F105094-A613-4529-A75B-A934E33310E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49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0C82A78-38ED-4A22-B6F7-B834104E8AD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Uma série temporal</a:t>
            </a:r>
          </a:p>
        </p:txBody>
      </p:sp>
      <p:sp>
        <p:nvSpPr>
          <p:cNvPr id="1056" name="conteudo">
            <a:extLst>
              <a:ext uri="{FF2B5EF4-FFF2-40B4-BE49-F238E27FC236}">
                <a16:creationId xmlns:a16="http://schemas.microsoft.com/office/drawing/2014/main" id="{BDF28211-526B-4ABA-8E8E-EAF151F57A2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série relaciona valores a instantes.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Os labels distinguem séries, como as requisições de uma rota ou de um código de resposta.</a:t>
            </a:r>
          </a:p>
        </p:txBody>
      </p:sp>
      <p:sp>
        <p:nvSpPr>
          <p:cNvPr id="1057" name="apoio">
            <a:extLst>
              <a:ext uri="{FF2B5EF4-FFF2-40B4-BE49-F238E27FC236}">
                <a16:creationId xmlns:a16="http://schemas.microsoft.com/office/drawing/2014/main" id="{F298046B-F3A6-4E80-946B-BC216DDFFE6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Instante + valor</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Labels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route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status_code</a:t>
            </a:r>
          </a:p>
        </p:txBody>
      </p:sp>
      <p:sp>
        <p:nvSpPr>
          <p:cNvPr id="1058" name="rodape">
            <a:extLst>
              <a:ext uri="{FF2B5EF4-FFF2-40B4-BE49-F238E27FC236}">
                <a16:creationId xmlns:a16="http://schemas.microsoft.com/office/drawing/2014/main" id="{CB852E85-38F2-4FDE-BB06-3E4624FA0CE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CE8BEBC3-2431-4DFE-B1E6-E29456823FF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29C601E-7E03-4EDD-9332-424B197B41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Métrica, valor e unidade</a:t>
            </a:r>
          </a:p>
        </p:txBody>
      </p:sp>
      <p:sp>
        <p:nvSpPr>
          <p:cNvPr id="1056" name="conteudo">
            <a:extLst>
              <a:ext uri="{FF2B5EF4-FFF2-40B4-BE49-F238E27FC236}">
                <a16:creationId xmlns:a16="http://schemas.microsoft.com/office/drawing/2014/main" id="{01F96460-FA17-49AF-A132-EF521CE912F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nome identifica o que se mede. O valor precisa de unidade e contexto.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sufixo _count indica uma contagem de observações, e não duração em segundos.</a:t>
            </a:r>
          </a:p>
        </p:txBody>
      </p:sp>
      <p:sp>
        <p:nvSpPr>
          <p:cNvPr id="1057" name="apoio">
            <a:extLst>
              <a:ext uri="{FF2B5EF4-FFF2-40B4-BE49-F238E27FC236}">
                <a16:creationId xmlns:a16="http://schemas.microsoft.com/office/drawing/2014/main" id="{198DE51F-7B8D-4E69-A8FB-CD3D283CC3E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Nome da métrica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Valor observado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Unidade correta</a:t>
            </a:r>
          </a:p>
        </p:txBody>
      </p:sp>
      <p:sp>
        <p:nvSpPr>
          <p:cNvPr id="1058" name="rodape">
            <a:extLst>
              <a:ext uri="{FF2B5EF4-FFF2-40B4-BE49-F238E27FC236}">
                <a16:creationId xmlns:a16="http://schemas.microsoft.com/office/drawing/2014/main" id="{11668F4C-8E77-4795-85C6-9F88AD5E925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0F57F23C-E9A9-4801-B2A4-02FEA8BD6C9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4262560-6A3A-4C1E-AB82-4E7A35CEBF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Counter e gauge</a:t>
            </a:r>
          </a:p>
        </p:txBody>
      </p:sp>
      <p:sp>
        <p:nvSpPr>
          <p:cNvPr id="1056" name="conteudo">
            <a:extLst>
              <a:ext uri="{FF2B5EF4-FFF2-40B4-BE49-F238E27FC236}">
                <a16:creationId xmlns:a16="http://schemas.microsoft.com/office/drawing/2014/main" id="{CCAFE929-24C7-4CBB-B905-1561603A13F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Counter acumula ocorrências e pode reiniciar com o processo.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Gauge representa um valor que pode aumentar ou diminuir.</a:t>
            </a:r>
          </a:p>
        </p:txBody>
      </p:sp>
      <p:sp>
        <p:nvSpPr>
          <p:cNvPr id="1057" name="apoio">
            <a:extLst>
              <a:ext uri="{FF2B5EF4-FFF2-40B4-BE49-F238E27FC236}">
                <a16:creationId xmlns:a16="http://schemas.microsoft.com/office/drawing/2014/main" id="{03326864-9822-46D3-A819-D6514010E09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Counter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Total de requisições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Gauge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Memória em uso</a:t>
            </a:r>
          </a:p>
        </p:txBody>
      </p:sp>
      <p:sp>
        <p:nvSpPr>
          <p:cNvPr id="1058" name="rodape">
            <a:extLst>
              <a:ext uri="{FF2B5EF4-FFF2-40B4-BE49-F238E27FC236}">
                <a16:creationId xmlns:a16="http://schemas.microsoft.com/office/drawing/2014/main" id="{7A305703-4F8B-462C-8978-1BBDB0C23F6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B7A8F906-EE4A-48BB-98A4-C04C76C6F7A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59AB2DB-98AD-4BC3-87F1-FE756B63AB3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Contador e taxa</a:t>
            </a:r>
          </a:p>
        </p:txBody>
      </p:sp>
      <p:sp>
        <p:nvSpPr>
          <p:cNvPr id="1056" name="conteudo">
            <a:extLst>
              <a:ext uri="{FF2B5EF4-FFF2-40B4-BE49-F238E27FC236}">
                <a16:creationId xmlns:a16="http://schemas.microsoft.com/office/drawing/2014/main" id="{CCCF5D08-2A3E-4AE3-992F-8802930AF9D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contador acumula ocorrências. Pode reiniciar quando o processo reinicia.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Para acompanhar o ritmo das requisições, usamos uma taxa por segundo.</a:t>
            </a:r>
          </a:p>
        </p:txBody>
      </p:sp>
      <p:sp>
        <p:nvSpPr>
          <p:cNvPr id="1057" name="apoio">
            <a:extLst>
              <a:ext uri="{FF2B5EF4-FFF2-40B4-BE49-F238E27FC236}">
                <a16:creationId xmlns:a16="http://schemas.microsoft.com/office/drawing/2014/main" id="{12C8D2F8-E1D3-4863-807B-869B9C8BC04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Contador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Total acumulado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Taxa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Ocorrências por segundo</a:t>
            </a:r>
          </a:p>
        </p:txBody>
      </p:sp>
      <p:sp>
        <p:nvSpPr>
          <p:cNvPr id="1058" name="rodape">
            <a:extLst>
              <a:ext uri="{FF2B5EF4-FFF2-40B4-BE49-F238E27FC236}">
                <a16:creationId xmlns:a16="http://schemas.microsoft.com/office/drawing/2014/main" id="{005E0115-B5D0-4E71-A369-0F2E0340020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359FBCF9-9EAF-4AB2-B232-B78B0B98D1F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8EF2589-98D5-425A-8AC5-E97C97C072A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O significado de uma taxa</a:t>
            </a:r>
          </a:p>
        </p:txBody>
      </p:sp>
      <p:sp>
        <p:nvSpPr>
          <p:cNvPr id="1056" name="conteudo">
            <a:extLst>
              <a:ext uri="{FF2B5EF4-FFF2-40B4-BE49-F238E27FC236}">
                <a16:creationId xmlns:a16="http://schemas.microsoft.com/office/drawing/2014/main" id="{5E001229-FF7C-4AA1-9EDC-AA26FEB606B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aumento de 120 ocorrências em 60 segundos sugere uma média de 2 ocorrências por segundo.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rate usa as amostras da janela para estimar essa taxa.</a:t>
            </a:r>
          </a:p>
        </p:txBody>
      </p:sp>
      <p:sp>
        <p:nvSpPr>
          <p:cNvPr id="1057" name="apoio">
            <a:extLst>
              <a:ext uri="{FF2B5EF4-FFF2-40B4-BE49-F238E27FC236}">
                <a16:creationId xmlns:a16="http://schemas.microsoft.com/office/drawing/2014/main" id="{853D5037-BB91-431A-AFA6-ABE9B186360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Exemplo didático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120 ocorrências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60 segundos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Média: 2 por segundo</a:t>
            </a:r>
          </a:p>
        </p:txBody>
      </p:sp>
      <p:sp>
        <p:nvSpPr>
          <p:cNvPr id="1058" name="rodape">
            <a:extLst>
              <a:ext uri="{FF2B5EF4-FFF2-40B4-BE49-F238E27FC236}">
                <a16:creationId xmlns:a16="http://schemas.microsoft.com/office/drawing/2014/main" id="{5799EE19-23C6-4F89-ACA7-B258EDE683B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8773BDDA-0769-48E1-93BA-252A2D86C62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9070B78-F871-4C84-A5DB-6B519F7310D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função rate</a:t>
            </a:r>
          </a:p>
        </p:txBody>
      </p:sp>
      <p:sp>
        <p:nvSpPr>
          <p:cNvPr id="1056" name="conteudo">
            <a:extLst>
              <a:ext uri="{FF2B5EF4-FFF2-40B4-BE49-F238E27FC236}">
                <a16:creationId xmlns:a16="http://schemas.microsoft.com/office/drawing/2014/main" id="{9749385C-EFBE-4FF5-8DF3-7FE2159B6F6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janela de cinco minutos fornece amostras para calcular a taxa.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resultado representa requisições por segundo para cada série.</a:t>
            </a:r>
          </a:p>
        </p:txBody>
      </p:sp>
      <p:sp>
        <p:nvSpPr>
          <p:cNvPr id="1057" name="apoio">
            <a:extLst>
              <a:ext uri="{FF2B5EF4-FFF2-40B4-BE49-F238E27FC236}">
                <a16:creationId xmlns:a16="http://schemas.microsoft.com/office/drawing/2014/main" id="{33027669-9BE6-42F6-859C-0F8A43DFCCC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a:t>
            </a:r>
          </a:p>
        </p:txBody>
      </p:sp>
      <p:sp>
        <p:nvSpPr>
          <p:cNvPr id="1058" name="rodape">
            <a:extLst>
              <a:ext uri="{FF2B5EF4-FFF2-40B4-BE49-F238E27FC236}">
                <a16:creationId xmlns:a16="http://schemas.microsoft.com/office/drawing/2014/main" id="{EF0C420D-7F42-40AB-886B-CE5DA26130A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778FE5B2-C4E5-4472-9C25-AB3F957E827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4B3CD7D-0C4B-41E2-B864-8E71D1B16C4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Labels identificam séries</a:t>
            </a:r>
          </a:p>
        </p:txBody>
      </p:sp>
      <p:sp>
        <p:nvSpPr>
          <p:cNvPr id="1056" name="conteudo">
            <a:extLst>
              <a:ext uri="{FF2B5EF4-FFF2-40B4-BE49-F238E27FC236}">
                <a16:creationId xmlns:a16="http://schemas.microsoft.com/office/drawing/2014/main" id="{77400AD9-CBB0-48DC-BD8C-81D5A5FA2D9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Cada combinação de labels distingue uma série.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route separa rotas e status_code separa códigos de resposta.</a:t>
            </a:r>
          </a:p>
        </p:txBody>
      </p:sp>
      <p:sp>
        <p:nvSpPr>
          <p:cNvPr id="1057" name="apoio">
            <a:extLst>
              <a:ext uri="{FF2B5EF4-FFF2-40B4-BE49-F238E27FC236}">
                <a16:creationId xmlns:a16="http://schemas.microsoft.com/office/drawing/2014/main" id="{B0D1F412-8722-4093-BE3C-AF58DF998A3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route="root"</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status_code="200"</a:t>
            </a:r>
          </a:p>
        </p:txBody>
      </p:sp>
      <p:sp>
        <p:nvSpPr>
          <p:cNvPr id="1058" name="rodape">
            <a:extLst>
              <a:ext uri="{FF2B5EF4-FFF2-40B4-BE49-F238E27FC236}">
                <a16:creationId xmlns:a16="http://schemas.microsoft.com/office/drawing/2014/main" id="{DCD27FAC-AE3C-4AAB-AC3C-C3F20805CD3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E7F536B7-9998-491D-8AEF-EDC0F49980F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F42E66-5F08-4D58-AFCC-0B4F33256DF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Agrupamento por rota</a:t>
            </a:r>
          </a:p>
        </p:txBody>
      </p:sp>
      <p:sp>
        <p:nvSpPr>
          <p:cNvPr id="1056" name="conteudo">
            <a:extLst>
              <a:ext uri="{FF2B5EF4-FFF2-40B4-BE49-F238E27FC236}">
                <a16:creationId xmlns:a16="http://schemas.microsoft.com/office/drawing/2014/main" id="{68F00753-E536-42C8-93E6-0C8D5A12FD8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sum agrega valores de séries. by(route) preserva uma série para cada rota.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legenda ajuda a relacionar cada linha à sua origem.</a:t>
            </a:r>
          </a:p>
        </p:txBody>
      </p:sp>
      <p:sp>
        <p:nvSpPr>
          <p:cNvPr id="1057" name="apoio">
            <a:extLst>
              <a:ext uri="{FF2B5EF4-FFF2-40B4-BE49-F238E27FC236}">
                <a16:creationId xmlns:a16="http://schemas.microsoft.com/office/drawing/2014/main" id="{A67FB5D5-C161-4B86-B814-9AE9FB8C77B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sum(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by (route)</a:t>
            </a:r>
          </a:p>
        </p:txBody>
      </p:sp>
      <p:sp>
        <p:nvSpPr>
          <p:cNvPr id="1058" name="rodape">
            <a:extLst>
              <a:ext uri="{FF2B5EF4-FFF2-40B4-BE49-F238E27FC236}">
                <a16:creationId xmlns:a16="http://schemas.microsoft.com/office/drawing/2014/main" id="{7355A604-DFD6-4EC7-B9BB-8DFCE54C354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4A0CFC46-E518-4B06-B431-986A40EED52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C10EC43-7EED-4B7F-9BD2-85BCB07D2F2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Agrupamento por status</a:t>
            </a:r>
          </a:p>
        </p:txBody>
      </p:sp>
      <p:sp>
        <p:nvSpPr>
          <p:cNvPr id="1056" name="conteudo">
            <a:extLst>
              <a:ext uri="{FF2B5EF4-FFF2-40B4-BE49-F238E27FC236}">
                <a16:creationId xmlns:a16="http://schemas.microsoft.com/office/drawing/2014/main" id="{5D11838C-2076-4332-93C8-ECEADC9201C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Troque route por status_code.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mesma métrica agora responde a uma pergunta diferente sobre as respostas da aplicação.</a:t>
            </a:r>
          </a:p>
        </p:txBody>
      </p:sp>
      <p:sp>
        <p:nvSpPr>
          <p:cNvPr id="1057" name="apoio">
            <a:extLst>
              <a:ext uri="{FF2B5EF4-FFF2-40B4-BE49-F238E27FC236}">
                <a16:creationId xmlns:a16="http://schemas.microsoft.com/office/drawing/2014/main" id="{96E2BD3C-F770-474F-9793-E172B1AF938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sum(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by (status_code)</a:t>
            </a:r>
          </a:p>
        </p:txBody>
      </p:sp>
      <p:sp>
        <p:nvSpPr>
          <p:cNvPr id="1058" name="rodape">
            <a:extLst>
              <a:ext uri="{FF2B5EF4-FFF2-40B4-BE49-F238E27FC236}">
                <a16:creationId xmlns:a16="http://schemas.microsoft.com/office/drawing/2014/main" id="{C8A94D71-1D9E-46D0-83C7-4AFC259C5B5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2BA29B43-1624-49AA-B966-D672931A51E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1F93D25-1CCE-46CD-AA90-4919474730D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Filtro e agrupamento</a:t>
            </a:r>
          </a:p>
        </p:txBody>
      </p:sp>
      <p:sp>
        <p:nvSpPr>
          <p:cNvPr id="1056" name="conteudo">
            <a:extLst>
              <a:ext uri="{FF2B5EF4-FFF2-40B4-BE49-F238E27FC236}">
                <a16:creationId xmlns:a16="http://schemas.microsoft.com/office/drawing/2014/main" id="{A9ECA8A7-B82E-43B4-A0F8-00BEFD46272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filtro restringe as séries selecionadas.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agregação combina valores; by preserva os grupos escolhidos.</a:t>
            </a:r>
          </a:p>
        </p:txBody>
      </p:sp>
      <p:sp>
        <p:nvSpPr>
          <p:cNvPr id="1057" name="apoio">
            <a:extLst>
              <a:ext uri="{FF2B5EF4-FFF2-40B4-BE49-F238E27FC236}">
                <a16:creationId xmlns:a16="http://schemas.microsoft.com/office/drawing/2014/main" id="{211A3784-2A5B-4F4D-A160-DC0302C3BAE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Selecionar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Quais séries entram?</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Agrupar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combinar valores?</a:t>
            </a:r>
          </a:p>
        </p:txBody>
      </p:sp>
      <p:sp>
        <p:nvSpPr>
          <p:cNvPr id="1058" name="rodape">
            <a:extLst>
              <a:ext uri="{FF2B5EF4-FFF2-40B4-BE49-F238E27FC236}">
                <a16:creationId xmlns:a16="http://schemas.microsoft.com/office/drawing/2014/main" id="{382DC9FB-AE52-4865-9A79-88B67F3EFF4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C39463DF-0D4E-4C27-B63F-563980F06B2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59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B5E18E6-6C52-4A4D-B65A-652F1033F08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 e atualização</a:t>
            </a:r>
          </a:p>
        </p:txBody>
      </p:sp>
      <p:sp>
        <p:nvSpPr>
          <p:cNvPr id="1056" name="conteudo">
            <a:extLst>
              <a:ext uri="{FF2B5EF4-FFF2-40B4-BE49-F238E27FC236}">
                <a16:creationId xmlns:a16="http://schemas.microsoft.com/office/drawing/2014/main" id="{736F5953-C6F1-4D81-B86B-440A11978AC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seletor de tempo define o período exibido.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atualização automática executa novamente a consulta. Ela não muda o intervalo de coleta do Prometheus.</a:t>
            </a:r>
          </a:p>
        </p:txBody>
      </p:sp>
      <p:sp>
        <p:nvSpPr>
          <p:cNvPr id="1057" name="apoio">
            <a:extLst>
              <a:ext uri="{FF2B5EF4-FFF2-40B4-BE49-F238E27FC236}">
                <a16:creationId xmlns:a16="http://schemas.microsoft.com/office/drawing/2014/main" id="{EEA6AF32-4F52-4FAF-ADEE-42F63700043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Últimos 5 minutos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Atualização: 5 segundos</a:t>
            </a:r>
          </a:p>
        </p:txBody>
      </p:sp>
      <p:sp>
        <p:nvSpPr>
          <p:cNvPr id="1058" name="rodape">
            <a:extLst>
              <a:ext uri="{FF2B5EF4-FFF2-40B4-BE49-F238E27FC236}">
                <a16:creationId xmlns:a16="http://schemas.microsoft.com/office/drawing/2014/main" id="{ABD0A39F-4C22-4489-AA93-A932B0945DF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0EA3AC38-ADD4-4296-9098-F98E0FE9185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896B684-F689-4F26-AEBC-AE35567DC12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Sem dados no gráfico</a:t>
            </a:r>
          </a:p>
        </p:txBody>
      </p:sp>
      <p:sp>
        <p:nvSpPr>
          <p:cNvPr id="1056" name="conteudo">
            <a:extLst>
              <a:ext uri="{FF2B5EF4-FFF2-40B4-BE49-F238E27FC236}">
                <a16:creationId xmlns:a16="http://schemas.microsoft.com/office/drawing/2014/main" id="{90BEBD31-4229-4422-B54E-597B85515B6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Confira a fonte, o nome da métrica e o período.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consulta rate precisa de amostras suficientes na janela selecionada.</a:t>
            </a:r>
          </a:p>
        </p:txBody>
      </p:sp>
      <p:sp>
        <p:nvSpPr>
          <p:cNvPr id="1057" name="apoio">
            <a:extLst>
              <a:ext uri="{FF2B5EF4-FFF2-40B4-BE49-F238E27FC236}">
                <a16:creationId xmlns:a16="http://schemas.microsoft.com/office/drawing/2014/main" id="{4E8DB3CB-F8E2-4D20-A959-630B02CFECDC}"/>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Fonte correta?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Métrica correta?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Aplicação ativa?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Tempo suficiente?</a:t>
            </a:r>
          </a:p>
        </p:txBody>
      </p:sp>
      <p:sp>
        <p:nvSpPr>
          <p:cNvPr id="1058" name="rodape">
            <a:extLst>
              <a:ext uri="{FF2B5EF4-FFF2-40B4-BE49-F238E27FC236}">
                <a16:creationId xmlns:a16="http://schemas.microsoft.com/office/drawing/2014/main" id="{424A909C-574C-433B-960D-C23D7687BF8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A78CDB36-99C0-4551-A827-F2EE9C12A43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D9FA502-A11C-43D2-90A0-E1F7B74CB9A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Leitura crítica do resultado</a:t>
            </a:r>
          </a:p>
        </p:txBody>
      </p:sp>
      <p:sp>
        <p:nvSpPr>
          <p:cNvPr id="1056" name="conteudo">
            <a:extLst>
              <a:ext uri="{FF2B5EF4-FFF2-40B4-BE49-F238E27FC236}">
                <a16:creationId xmlns:a16="http://schemas.microsoft.com/office/drawing/2014/main" id="{BF41AA6B-FD12-46B3-BBC4-DB188E958ED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Interprete o número com unidade, período e agrupamento.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as séries antes de concluir que uma mudança representa um problema.</a:t>
            </a:r>
          </a:p>
        </p:txBody>
      </p:sp>
      <p:sp>
        <p:nvSpPr>
          <p:cNvPr id="1057" name="apoio">
            <a:extLst>
              <a:ext uri="{FF2B5EF4-FFF2-40B4-BE49-F238E27FC236}">
                <a16:creationId xmlns:a16="http://schemas.microsoft.com/office/drawing/2014/main" id="{34244BB9-FCA2-45B4-865A-ACBA0700879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se mede?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Em qual período?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Para qual grupo?</a:t>
            </a:r>
          </a:p>
        </p:txBody>
      </p:sp>
      <p:sp>
        <p:nvSpPr>
          <p:cNvPr id="1058" name="rodape">
            <a:extLst>
              <a:ext uri="{FF2B5EF4-FFF2-40B4-BE49-F238E27FC236}">
                <a16:creationId xmlns:a16="http://schemas.microsoft.com/office/drawing/2014/main" id="{B9B104C0-0C56-4F7B-870F-DF83705D8AD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Teoria  ·  Fábio Silva</a:t>
            </a:r>
          </a:p>
        </p:txBody>
      </p:sp>
      <p:sp>
        <p:nvSpPr>
          <p:cNvPr id="1059" name="pagina">
            <a:extLst>
              <a:ext uri="{FF2B5EF4-FFF2-40B4-BE49-F238E27FC236}">
                <a16:creationId xmlns:a16="http://schemas.microsoft.com/office/drawing/2014/main" id="{373E90A4-9E6A-4D78-B307-0D5CAD7261F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5A9AC1A1-53A6-4EEB-A0D7-2831E7F69676}"/>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94094083-B478-421B-BE0B-5E3720B58626}"/>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6ACCBB71-4555-4B39-9495-2F23C60BD67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424901C8-B5FA-42C9-BFE2-A564319A950D}"/>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2DBC9454-7118-44E5-94C5-3F67E84ED47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63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F319EDE-6999-401C-B583-8DB7FC1E85E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Primeira consulta</a:t>
            </a:r>
          </a:p>
        </p:txBody>
      </p:sp>
      <p:sp>
        <p:nvSpPr>
          <p:cNvPr id="1056" name="conteudo">
            <a:extLst>
              <a:ext uri="{FF2B5EF4-FFF2-40B4-BE49-F238E27FC236}">
                <a16:creationId xmlns:a16="http://schemas.microsoft.com/office/drawing/2014/main" id="{C183732B-B779-45D9-8FD5-6708E5DCF3E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Digite a métrica em Code e execute a consulta.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as séries e seus labels antes de aplicar funções.</a:t>
            </a:r>
          </a:p>
        </p:txBody>
      </p:sp>
      <p:pic>
        <p:nvPicPr>
          <p:cNvPr id="1057" name="Imagem 1056">
            <a:extLst>
              <a:ext uri="{FF2B5EF4-FFF2-40B4-BE49-F238E27FC236}">
                <a16:creationId xmlns:a16="http://schemas.microsoft.com/office/drawing/2014/main" id="{5060D1FC-7989-44DE-B8F6-51FB10319757}"/>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16213A05-ADFB-4622-BD5B-76F3B388AC01}"/>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4A0BFD14-F7EF-4EC8-BDF5-4D7C2383476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Demonstração  ·  Fábio Silva</a:t>
            </a:r>
          </a:p>
        </p:txBody>
      </p:sp>
      <p:sp>
        <p:nvSpPr>
          <p:cNvPr id="1060" name="pagina">
            <a:extLst>
              <a:ext uri="{FF2B5EF4-FFF2-40B4-BE49-F238E27FC236}">
                <a16:creationId xmlns:a16="http://schemas.microsoft.com/office/drawing/2014/main" id="{063376C1-E252-4062-894C-7A91282293A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E99FEE6-11A0-471F-9BA6-E02D57851D4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função rate</a:t>
            </a:r>
          </a:p>
        </p:txBody>
      </p:sp>
      <p:sp>
        <p:nvSpPr>
          <p:cNvPr id="1056" name="conteudo">
            <a:extLst>
              <a:ext uri="{FF2B5EF4-FFF2-40B4-BE49-F238E27FC236}">
                <a16:creationId xmlns:a16="http://schemas.microsoft.com/office/drawing/2014/main" id="{D197D07E-4114-43C9-8D3E-366F26827EC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janela de cinco minutos fornece amostras para calcular a taxa.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resultado representa requisições por segundo para cada série.</a:t>
            </a:r>
          </a:p>
        </p:txBody>
      </p:sp>
      <p:pic>
        <p:nvPicPr>
          <p:cNvPr id="1057" name="Imagem 1056">
            <a:extLst>
              <a:ext uri="{FF2B5EF4-FFF2-40B4-BE49-F238E27FC236}">
                <a16:creationId xmlns:a16="http://schemas.microsoft.com/office/drawing/2014/main" id="{05CD2A6A-B428-4E2A-95EF-069A378D391F}"/>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E1B07AA7-453C-4486-B644-0785188AE4A3}"/>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73206216-FB75-4A57-9D06-23C8152A566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Demonstração  ·  Fábio Silva</a:t>
            </a:r>
          </a:p>
        </p:txBody>
      </p:sp>
      <p:sp>
        <p:nvSpPr>
          <p:cNvPr id="1060" name="pagina">
            <a:extLst>
              <a:ext uri="{FF2B5EF4-FFF2-40B4-BE49-F238E27FC236}">
                <a16:creationId xmlns:a16="http://schemas.microsoft.com/office/drawing/2014/main" id="{8F7168EC-7E25-47B2-A852-9B3FFC86B8C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A425AE1-E7E6-4C0F-B12F-3F6B620C853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Agrupamento por rota</a:t>
            </a:r>
          </a:p>
        </p:txBody>
      </p:sp>
      <p:sp>
        <p:nvSpPr>
          <p:cNvPr id="1056" name="conteudo">
            <a:extLst>
              <a:ext uri="{FF2B5EF4-FFF2-40B4-BE49-F238E27FC236}">
                <a16:creationId xmlns:a16="http://schemas.microsoft.com/office/drawing/2014/main" id="{C543A53C-C460-409D-B020-C1E9C72F487F}"/>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sum agrega valores de séries. by(route) preserva uma série para cada rota.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legenda ajuda a relacionar cada linha à sua origem.</a:t>
            </a:r>
          </a:p>
        </p:txBody>
      </p:sp>
      <p:pic>
        <p:nvPicPr>
          <p:cNvPr id="1057" name="Imagem 1056">
            <a:extLst>
              <a:ext uri="{FF2B5EF4-FFF2-40B4-BE49-F238E27FC236}">
                <a16:creationId xmlns:a16="http://schemas.microsoft.com/office/drawing/2014/main" id="{97BD2409-418C-4560-B696-F2378FC6D204}"/>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4F7D73AF-A1C3-49E0-875A-5DBCA12BD106}"/>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828E6134-93C9-441B-AFED-DAFB6ADB480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Demonstração  ·  Fábio Silva</a:t>
            </a:r>
          </a:p>
        </p:txBody>
      </p:sp>
      <p:sp>
        <p:nvSpPr>
          <p:cNvPr id="1060" name="pagina">
            <a:extLst>
              <a:ext uri="{FF2B5EF4-FFF2-40B4-BE49-F238E27FC236}">
                <a16:creationId xmlns:a16="http://schemas.microsoft.com/office/drawing/2014/main" id="{A9F757FE-5C6F-4EBF-A65F-5798F648225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66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C8A062D-4DBD-404D-8462-03599BD09637}"/>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E75D897D-1AD5-4EEF-A809-238C77AE8684}"/>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Consulta de CPU no Explore</a:t>
            </a:r>
          </a:p>
        </p:txBody>
      </p:sp>
      <p:pic>
        <p:nvPicPr>
          <p:cNvPr id="3" name="Imagem 2">
            <a:extLst>
              <a:ext uri="{FF2B5EF4-FFF2-40B4-BE49-F238E27FC236}">
                <a16:creationId xmlns:a16="http://schemas.microsoft.com/office/drawing/2014/main" id="{1B4885C6-E54D-454E-8446-9F7CA973C1EE}"/>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F62FDAD0-BFAB-422E-8D54-63B430B9CC6A}"/>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rate calcula a taxa; avg by (instance) combina os núcleos.</a:t>
            </a:r>
          </a:p>
        </p:txBody>
      </p:sp>
      <p:sp>
        <p:nvSpPr>
          <p:cNvPr id="5" name="pagina">
            <a:extLst>
              <a:ext uri="{FF2B5EF4-FFF2-40B4-BE49-F238E27FC236}">
                <a16:creationId xmlns:a16="http://schemas.microsoft.com/office/drawing/2014/main" id="{1E9E5071-DE0B-4212-A335-34EF9C536C4F}"/>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67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7160199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E65C738A-33D1-4504-B56D-FC0097F56752}"/>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C3BCFAE6-46EA-46B8-8934-C006E80533A7}"/>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Filtro por variável de host</a:t>
            </a:r>
          </a:p>
        </p:txBody>
      </p:sp>
      <p:pic>
        <p:nvPicPr>
          <p:cNvPr id="3" name="Imagem 2">
            <a:extLst>
              <a:ext uri="{FF2B5EF4-FFF2-40B4-BE49-F238E27FC236}">
                <a16:creationId xmlns:a16="http://schemas.microsoft.com/office/drawing/2014/main" id="{0E127A1C-4EC4-441D-8BAB-5CEEF4B4B896}"/>
              </a:ext>
            </a:extLst>
          </p:cNvPr>
          <p:cNvPicPr>
            <a:picLocks noChangeAspect="1"/>
          </p:cNvPicPr>
          <p:nvPr/>
        </p:nvPicPr>
        <p:blipFill>
          <a:blip r:embed="rId3"/>
          <a:stretch/>
        </p:blipFill>
        <p:spPr>
          <a:xfrm>
            <a:off x="3390034" y="1457325"/>
            <a:ext cx="4554682" cy="4476750"/>
          </a:xfrm>
          <a:prstGeom prst="rect">
            <a:avLst/>
          </a:prstGeom>
        </p:spPr>
      </p:pic>
      <p:sp>
        <p:nvSpPr>
          <p:cNvPr id="4" name="legenda">
            <a:extLst>
              <a:ext uri="{FF2B5EF4-FFF2-40B4-BE49-F238E27FC236}">
                <a16:creationId xmlns:a16="http://schemas.microsoft.com/office/drawing/2014/main" id="{102ACBBC-DC01-4596-9280-8453D72701B2}"/>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seleção de host altera os títulos e as séries consultadas.</a:t>
            </a:r>
          </a:p>
        </p:txBody>
      </p:sp>
      <p:sp>
        <p:nvSpPr>
          <p:cNvPr id="5" name="pagina">
            <a:extLst>
              <a:ext uri="{FF2B5EF4-FFF2-40B4-BE49-F238E27FC236}">
                <a16:creationId xmlns:a16="http://schemas.microsoft.com/office/drawing/2014/main" id="{28C0605E-9283-437B-AB7B-9F57705EE4C1}"/>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68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21804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1BF2E073-0C37-4674-A0B8-A2823377D25E}"/>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F7C2EB26-4AF3-4918-8C18-741AB85DCE2A}"/>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CPU e memória de containers</a:t>
            </a:r>
          </a:p>
        </p:txBody>
      </p:sp>
      <p:pic>
        <p:nvPicPr>
          <p:cNvPr id="3" name="Imagem 2">
            <a:extLst>
              <a:ext uri="{FF2B5EF4-FFF2-40B4-BE49-F238E27FC236}">
                <a16:creationId xmlns:a16="http://schemas.microsoft.com/office/drawing/2014/main" id="{AD2C6C19-30AA-461A-8B9B-7262763C443B}"/>
              </a:ext>
            </a:extLst>
          </p:cNvPr>
          <p:cNvPicPr>
            <a:picLocks noChangeAspect="1"/>
          </p:cNvPicPr>
          <p:nvPr/>
        </p:nvPicPr>
        <p:blipFill>
          <a:blip r:embed="rId3"/>
          <a:stretch/>
        </p:blipFill>
        <p:spPr>
          <a:xfrm>
            <a:off x="2439880" y="1457325"/>
            <a:ext cx="6454990" cy="4476750"/>
          </a:xfrm>
          <a:prstGeom prst="rect">
            <a:avLst/>
          </a:prstGeom>
        </p:spPr>
      </p:pic>
      <p:sp>
        <p:nvSpPr>
          <p:cNvPr id="4" name="legenda">
            <a:extLst>
              <a:ext uri="{FF2B5EF4-FFF2-40B4-BE49-F238E27FC236}">
                <a16:creationId xmlns:a16="http://schemas.microsoft.com/office/drawing/2014/main" id="{C72A24A5-7BF3-40FC-AA04-3380953F673C}"/>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Os nomes dos containers permitem relacionar cada série ao serviço.</a:t>
            </a:r>
          </a:p>
        </p:txBody>
      </p:sp>
      <p:sp>
        <p:nvSpPr>
          <p:cNvPr id="5" name="pagina">
            <a:extLst>
              <a:ext uri="{FF2B5EF4-FFF2-40B4-BE49-F238E27FC236}">
                <a16:creationId xmlns:a16="http://schemas.microsoft.com/office/drawing/2014/main" id="{ECA36309-476A-42A1-BDB0-2E5715FE1C44}"/>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69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3183304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180781-F28D-4D6A-AD30-4D48DFF1870F}"/>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2 · Demonstração no ambiente do professor</a:t>
            </a:r>
          </a:p>
        </p:txBody>
      </p:sp>
      <p:sp>
        <p:nvSpPr>
          <p:cNvPr id="2" name="titulo">
            <a:extLst>
              <a:ext uri="{FF2B5EF4-FFF2-40B4-BE49-F238E27FC236}">
                <a16:creationId xmlns:a16="http://schemas.microsoft.com/office/drawing/2014/main" id="{6F871755-CF5E-4927-B3A7-36BD9EF22828}"/>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Métricas da aplicação de e-commerce</a:t>
            </a:r>
          </a:p>
        </p:txBody>
      </p:sp>
      <p:pic>
        <p:nvPicPr>
          <p:cNvPr id="3" name="Imagem 2">
            <a:extLst>
              <a:ext uri="{FF2B5EF4-FFF2-40B4-BE49-F238E27FC236}">
                <a16:creationId xmlns:a16="http://schemas.microsoft.com/office/drawing/2014/main" id="{E5FE245E-0576-4639-B728-47CABD47E715}"/>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A6A8C7C0-EA57-46EA-A528-0CC28F5ED535}"/>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aplicação de demonstração mantém tráfego e erros simulados.</a:t>
            </a:r>
          </a:p>
        </p:txBody>
      </p:sp>
      <p:sp>
        <p:nvSpPr>
          <p:cNvPr id="5" name="pagina">
            <a:extLst>
              <a:ext uri="{FF2B5EF4-FFF2-40B4-BE49-F238E27FC236}">
                <a16:creationId xmlns:a16="http://schemas.microsoft.com/office/drawing/2014/main" id="{8ACF8543-CCA0-4B5F-B71E-02098CE223B4}"/>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70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6133402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3DA0160-B571-4A76-B30D-61ED2364CF7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6C5C1302-4F3D-48C7-9379-476B489874A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441BA0C3-B128-4711-8655-35EF4D8189B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6DF903AB-80E9-4E34-9154-7509AFE6AAC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Intervalo  ·  Fábio Silva</a:t>
            </a:r>
          </a:p>
        </p:txBody>
      </p:sp>
      <p:sp>
        <p:nvSpPr>
          <p:cNvPr id="1059" name="pagina">
            <a:extLst>
              <a:ext uri="{FF2B5EF4-FFF2-40B4-BE49-F238E27FC236}">
                <a16:creationId xmlns:a16="http://schemas.microsoft.com/office/drawing/2014/main" id="{7438E9DE-BAD9-437B-B775-E1236871FBF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71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038B4B65-E2F4-4353-8AD0-EAD81AD3519F}"/>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D47491F2-1CAA-4C3F-AF62-8E2C5D03545F}"/>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A8ED677D-6382-455C-8563-4D2108D8E188}"/>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AAFD90B4-BEB6-49A0-9938-17E0D4FDAB53}"/>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1D4A5527-6AC9-4BE4-AAFF-1F2B144DA0F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43FAB368-4D23-466C-B93D-2375885957A3}"/>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2 · Exercícios comentados · Consulta no navegador</a:t>
            </a:r>
          </a:p>
        </p:txBody>
      </p:sp>
      <p:sp>
        <p:nvSpPr>
          <p:cNvPr id="2" name="titulo">
            <a:extLst>
              <a:ext uri="{FF2B5EF4-FFF2-40B4-BE49-F238E27FC236}">
                <a16:creationId xmlns:a16="http://schemas.microsoft.com/office/drawing/2014/main" id="{0412B5B3-83BF-436E-BAFA-9F70F3A6E2F6}"/>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2.1 — Explorar a métrica da aplicação</a:t>
            </a:r>
          </a:p>
        </p:txBody>
      </p:sp>
      <p:sp>
        <p:nvSpPr>
          <p:cNvPr id="3" name="passos">
            <a:extLst>
              <a:ext uri="{FF2B5EF4-FFF2-40B4-BE49-F238E27FC236}">
                <a16:creationId xmlns:a16="http://schemas.microsoft.com/office/drawing/2014/main" id="{52AC4AB7-5CDF-4374-94A9-E3E2602C4EFA}"/>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Abra Explore e selecione Prometheus.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Execute a métrica bruta.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Identifique dois labels disponíveis e registre o significado do valor.</a:t>
            </a:r>
          </a:p>
        </p:txBody>
      </p:sp>
      <p:sp>
        <p:nvSpPr>
          <p:cNvPr id="4" name="consulta">
            <a:extLst>
              <a:ext uri="{FF2B5EF4-FFF2-40B4-BE49-F238E27FC236}">
                <a16:creationId xmlns:a16="http://schemas.microsoft.com/office/drawing/2014/main" id="{C3DF823E-6345-4AE9-AD1E-4F76B1710649}"/>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tns_request_duration_seconds_count</a:t>
            </a:r>
          </a:p>
        </p:txBody>
      </p:sp>
      <p:sp>
        <p:nvSpPr>
          <p:cNvPr id="5" name="comentario">
            <a:extLst>
              <a:ext uri="{FF2B5EF4-FFF2-40B4-BE49-F238E27FC236}">
                <a16:creationId xmlns:a16="http://schemas.microsoft.com/office/drawing/2014/main" id="{491E532F-39A7-45E0-AD61-410134A0E3D6}"/>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nome da métrica, a seleção da fonte e a leitura dos labels. Explique o erro de interpretar a contagem como duração.</a:t>
            </a:r>
          </a:p>
        </p:txBody>
      </p:sp>
      <p:sp>
        <p:nvSpPr>
          <p:cNvPr id="6" name="resultado">
            <a:extLst>
              <a:ext uri="{FF2B5EF4-FFF2-40B4-BE49-F238E27FC236}">
                <a16:creationId xmlns:a16="http://schemas.microsoft.com/office/drawing/2014/main" id="{10C6C39C-6F5D-46B6-BF13-0F0DF2403798}"/>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Consulta executada e interpretação da contagem.</a:t>
            </a:r>
          </a:p>
        </p:txBody>
      </p:sp>
      <p:sp>
        <p:nvSpPr>
          <p:cNvPr id="7" name="pagina">
            <a:extLst>
              <a:ext uri="{FF2B5EF4-FFF2-40B4-BE49-F238E27FC236}">
                <a16:creationId xmlns:a16="http://schemas.microsoft.com/office/drawing/2014/main" id="{3F47194E-FBC1-4A1F-B0BF-3CE98874ED2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2A5991E-E88C-4808-9D66-F1C6C7F97D3C}"/>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2 · Exercícios comentados · Consulta no navegador</a:t>
            </a:r>
          </a:p>
        </p:txBody>
      </p:sp>
      <p:sp>
        <p:nvSpPr>
          <p:cNvPr id="2" name="titulo">
            <a:extLst>
              <a:ext uri="{FF2B5EF4-FFF2-40B4-BE49-F238E27FC236}">
                <a16:creationId xmlns:a16="http://schemas.microsoft.com/office/drawing/2014/main" id="{4D4C1BD6-B899-4C40-9F81-0B6FCFEDC50A}"/>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2.2 — Consultar a taxa por rota</a:t>
            </a:r>
          </a:p>
        </p:txBody>
      </p:sp>
      <p:sp>
        <p:nvSpPr>
          <p:cNvPr id="3" name="passos">
            <a:extLst>
              <a:ext uri="{FF2B5EF4-FFF2-40B4-BE49-F238E27FC236}">
                <a16:creationId xmlns:a16="http://schemas.microsoft.com/office/drawing/2014/main" id="{DB313C18-0F03-46B0-AE47-23AC0E2F07C0}"/>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Execute a consulta de taxa por rota.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Gere atividade na aplicação e aguarde a coleta.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Escolha Last 5 minutes e compare as séries.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Registre a unidade e a rota identificada.</a:t>
            </a:r>
          </a:p>
        </p:txBody>
      </p:sp>
      <p:sp>
        <p:nvSpPr>
          <p:cNvPr id="4" name="consulta">
            <a:extLst>
              <a:ext uri="{FF2B5EF4-FFF2-40B4-BE49-F238E27FC236}">
                <a16:creationId xmlns:a16="http://schemas.microsoft.com/office/drawing/2014/main" id="{33D8C6C3-FED9-4F5D-96FF-5764B128E498}"/>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37622941-7F57-4C58-9770-9F67986E2639}"/>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Mostre rate primeiro e depois sum by. Explique que a atualização da tela não cria amostras novas no Prometheus.</a:t>
            </a:r>
          </a:p>
        </p:txBody>
      </p:sp>
      <p:sp>
        <p:nvSpPr>
          <p:cNvPr id="6" name="resultado">
            <a:extLst>
              <a:ext uri="{FF2B5EF4-FFF2-40B4-BE49-F238E27FC236}">
                <a16:creationId xmlns:a16="http://schemas.microsoft.com/office/drawing/2014/main" id="{26D2D7C8-C8A1-466A-830C-44766716A1FB}"/>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Taxa interpretada com unidade e agrupamento.</a:t>
            </a:r>
          </a:p>
        </p:txBody>
      </p:sp>
      <p:sp>
        <p:nvSpPr>
          <p:cNvPr id="7" name="pagina">
            <a:extLst>
              <a:ext uri="{FF2B5EF4-FFF2-40B4-BE49-F238E27FC236}">
                <a16:creationId xmlns:a16="http://schemas.microsoft.com/office/drawing/2014/main" id="{16A3347F-33D3-4B90-B50A-6FAFE09414C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926A1C9-B244-4086-9B9C-E58340DA7E81}"/>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2 · Exercícios comentados · Consulta e navegação</a:t>
            </a:r>
          </a:p>
        </p:txBody>
      </p:sp>
      <p:sp>
        <p:nvSpPr>
          <p:cNvPr id="2" name="titulo">
            <a:extLst>
              <a:ext uri="{FF2B5EF4-FFF2-40B4-BE49-F238E27FC236}">
                <a16:creationId xmlns:a16="http://schemas.microsoft.com/office/drawing/2014/main" id="{6D4A430B-8491-413F-8835-3A3C98FD96D1}"/>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2.3 — Comparar agrupamentos</a:t>
            </a:r>
          </a:p>
        </p:txBody>
      </p:sp>
      <p:sp>
        <p:nvSpPr>
          <p:cNvPr id="3" name="passos">
            <a:extLst>
              <a:ext uri="{FF2B5EF4-FFF2-40B4-BE49-F238E27FC236}">
                <a16:creationId xmlns:a16="http://schemas.microsoft.com/office/drawing/2014/main" id="{FB7C3D4B-7C3E-4AFC-BE79-244D0EC08006}"/>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Troque o agrupamento por status_code.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Compare o resultado com o agrupamento por rota.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Mude o período mostrado e descreva o efeito.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Entregue uma frase explicando cada consulta.</a:t>
            </a:r>
          </a:p>
        </p:txBody>
      </p:sp>
      <p:sp>
        <p:nvSpPr>
          <p:cNvPr id="4" name="consulta">
            <a:extLst>
              <a:ext uri="{FF2B5EF4-FFF2-40B4-BE49-F238E27FC236}">
                <a16:creationId xmlns:a16="http://schemas.microsoft.com/office/drawing/2014/main" id="{FBDF8C7E-8C54-4938-A4C8-6AA2BA6138D6}"/>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(status_code)</a:t>
            </a:r>
          </a:p>
        </p:txBody>
      </p:sp>
      <p:sp>
        <p:nvSpPr>
          <p:cNvPr id="5" name="comentario">
            <a:extLst>
              <a:ext uri="{FF2B5EF4-FFF2-40B4-BE49-F238E27FC236}">
                <a16:creationId xmlns:a16="http://schemas.microsoft.com/office/drawing/2014/main" id="{9D2C4CF7-7EDE-4AC2-B2F5-F67727E8324B}"/>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que a pergunta muda ao trocar o agrupamento. Se não houver série de erro, não invente um código inexistente no resultado.</a:t>
            </a:r>
          </a:p>
        </p:txBody>
      </p:sp>
      <p:sp>
        <p:nvSpPr>
          <p:cNvPr id="6" name="resultado">
            <a:extLst>
              <a:ext uri="{FF2B5EF4-FFF2-40B4-BE49-F238E27FC236}">
                <a16:creationId xmlns:a16="http://schemas.microsoft.com/office/drawing/2014/main" id="{8549E436-0607-44B8-9B44-827E2F793F32}"/>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Duas consultas comparadas e uma conclusão sustentada.</a:t>
            </a:r>
          </a:p>
        </p:txBody>
      </p:sp>
      <p:sp>
        <p:nvSpPr>
          <p:cNvPr id="7" name="pagina">
            <a:extLst>
              <a:ext uri="{FF2B5EF4-FFF2-40B4-BE49-F238E27FC236}">
                <a16:creationId xmlns:a16="http://schemas.microsoft.com/office/drawing/2014/main" id="{73442F83-5B87-4362-B11A-01B9DD0F4A9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75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4EE2AEE6-6DAF-4B12-A5C8-D97F9A1DAD51}"/>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2</a:t>
            </a:r>
          </a:p>
        </p:txBody>
      </p:sp>
      <p:sp>
        <p:nvSpPr>
          <p:cNvPr id="121" name="titulo">
            <a:extLst>
              <a:ext uri="{FF2B5EF4-FFF2-40B4-BE49-F238E27FC236}">
                <a16:creationId xmlns:a16="http://schemas.microsoft.com/office/drawing/2014/main" id="{97DEFFB7-BFE7-44D0-A6F6-BC5B7C30F6D8}"/>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033E2672-AE9C-4388-BE28-28EA3D3E4DC1}"/>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58437191-E86E-48D8-9FAA-876F2DA89A18}"/>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249FF29B-5C1D-495B-86A8-7A0FBEBE3AA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76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38386D1-75F4-4C77-9D19-7F004A30CA6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B58DDE9C-A87B-4BA2-858A-EA0F67328FD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012AA50-B5C2-4E98-92D5-8B9AC11A9DE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2.1  Explorar a métrica da aplicação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2.2  Consultar a taxa por rota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2.3  Comparar agrupamentos</a:t>
            </a:r>
          </a:p>
        </p:txBody>
      </p:sp>
      <p:sp>
        <p:nvSpPr>
          <p:cNvPr id="1058" name="rodape">
            <a:extLst>
              <a:ext uri="{FF2B5EF4-FFF2-40B4-BE49-F238E27FC236}">
                <a16:creationId xmlns:a16="http://schemas.microsoft.com/office/drawing/2014/main" id="{2944D451-31BF-43BA-B74A-D5CC6C92AB2F}"/>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Prática do aluno  ·  Fábio Silva</a:t>
            </a:r>
          </a:p>
        </p:txBody>
      </p:sp>
      <p:sp>
        <p:nvSpPr>
          <p:cNvPr id="1059" name="pagina">
            <a:extLst>
              <a:ext uri="{FF2B5EF4-FFF2-40B4-BE49-F238E27FC236}">
                <a16:creationId xmlns:a16="http://schemas.microsoft.com/office/drawing/2014/main" id="{C6921175-0D9C-4D75-B9E8-7D436C6D547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77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556726A-4EA3-451F-BA89-9857A7845262}"/>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0D4D0335-8E5D-4E72-AD1A-ECAC2B1A209F}"/>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3799E348-4B5E-460A-978F-ABD3114F004D}"/>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D378DCBE-115A-4D48-938B-B061B503ECF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2  ·  Correção  ·  Fábio Silva</a:t>
            </a:r>
          </a:p>
        </p:txBody>
      </p:sp>
      <p:sp>
        <p:nvSpPr>
          <p:cNvPr id="1059" name="pagina">
            <a:extLst>
              <a:ext uri="{FF2B5EF4-FFF2-40B4-BE49-F238E27FC236}">
                <a16:creationId xmlns:a16="http://schemas.microsoft.com/office/drawing/2014/main" id="{AEE4FC37-1FFE-41C4-B291-A8349A32FE0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78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CA5C647C-7EE0-4030-96CD-7794DAEB9E92}"/>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79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51EDB3-C51F-4292-8C78-4F390BE8BCE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Métricas e eventos</a:t>
            </a: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métrica ajuda a perceber uma mudança.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mudou?</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Métricas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aconteceu?</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06B875E-A10D-4054-899F-43C2415B9308}"/>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Estrutura de um evento de log</a:t>
            </a: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evento tem horário e conteúdo.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Horário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Nível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Mensagem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BEE5C91-7592-4CBE-B0FA-035D9B8092A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Labels e conteúdo no Loki</a:t>
            </a: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Os labels selecionam os fluxos de logs.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Seletor por labels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A2A5EA8-E6EF-4042-B50E-83F85ECC532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Leitura do seletor LogQL</a:t>
            </a: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As chaves delimitam o seletor.</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{filename=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8365AA7-DAF7-4915-A0A9-7E5C617A42A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Filtro por texto</a:t>
            </a: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operador |= mantém as linhas que contêm o texto indicado.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{filename="/var/log/tns-app.log"}</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00E4088-9703-41DE-889C-F68B5374A56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Leitura de uma linha</a:t>
            </a: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o horário e o conteúdo do evento.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 ocorreu?</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mensagem?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99C1898-6283-49CB-9924-81A1997C42D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Erro, evento e diagnóstico</a:t>
            </a: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erro conhecido ajuda a validar o caminho de observação.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Ação conhecida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Evento localizado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D275B9B-B49D-40FB-B899-A53410A5476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janela da investigação</a:t>
            </a: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o horário do evento para reduzir o período.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Últimos 5 minutos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Seleção de uma região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8CD35C8-7A3B-4C48-8725-36C7011D6E5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Live e histórico</a:t>
            </a: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Live acompanha os novos eventos.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Acompanhar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Novos eventos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Investigar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8BF6EC9-805A-4A80-952E-9D561D43C0A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Volume de logs e detalhes</a:t>
            </a: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contagem por período mostra a concentração de eventos.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Visão agregada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 ocorreram eventos?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Detalhe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89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A593415-1304-478C-AC45-70F87E1BF6B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Evidência e hipótese</a:t>
            </a: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evidência descreve o que foi observado.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Evidência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Mensagem empty url</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Hipótese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A2B0BD3-D174-4168-A24B-445FC14728B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Roteiro de investigação</a:t>
            </a: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Defina a pergunta, selecione a fonte e delimite o período.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Pergunta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Fonte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Período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Consulta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FAF98246-6F94-4A8A-850D-198E6573812D}"/>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92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E55047A-866C-4253-98DA-D90128E4633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Conexão com o Loki</a:t>
            </a: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Abra Connections e adicione uma fonte Loki.</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EAE3C32-8273-4F85-BA77-A863459D287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Uma consulta de logs</a:t>
            </a: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 Explore, selecione Loki.</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90ABD55-5CF0-4347-88BB-6A6D88886F2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 erro controlado</a:t>
            </a: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aplicação, envie um título sem preencher a URL.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3516B86-5588-4C7B-A556-5BC46CA278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Filtro por conteúdo</a:t>
            </a: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operador |= seleciona linhas que contêm o texto indicado.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96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Erros de pagamento no Loki</a:t>
            </a:r>
          </a:p>
        </p:txBody>
      </p:sp>
      <p:pic>
        <p:nvPicPr>
          <p:cNvPr id="3" name="Imagem 2">
            <a:extLst>
              <a:ext uri="{FF2B5EF4-FFF2-40B4-BE49-F238E27FC236}">
                <a16:creationId xmlns:a16="http://schemas.microsoft.com/office/drawing/2014/main" id="{7C689FF6-E1E3-4B40-9B0C-B1EC8418DBE6}"/>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97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JSON do Docker e evento da aplicação</a:t>
            </a:r>
          </a:p>
        </p:txBody>
      </p:sp>
      <p:pic>
        <p:nvPicPr>
          <p:cNvPr id="3" name="Imagem 2">
            <a:extLst>
              <a:ext uri="{FF2B5EF4-FFF2-40B4-BE49-F238E27FC236}">
                <a16:creationId xmlns:a16="http://schemas.microsoft.com/office/drawing/2014/main" id="{68DA9F7A-C2D7-4770-A135-6801F1097682}"/>
              </a:ext>
            </a:extLst>
          </p:cNvPr>
          <p:cNvPicPr>
            <a:picLocks noChangeAspect="1"/>
          </p:cNvPicPr>
          <p:nvPr/>
        </p:nvPicPr>
        <p:blipFill>
          <a:blip r:embed="rId3"/>
          <a:stretch/>
        </p:blipFill>
        <p:spPr>
          <a:xfrm>
            <a:off x="1688042" y="1457325"/>
            <a:ext cx="7958667" cy="447675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98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Do log ao trace no Tempo</a:t>
            </a:r>
          </a:p>
        </p:txBody>
      </p:sp>
      <p:pic>
        <p:nvPicPr>
          <p:cNvPr id="3" name="Imagem 2">
            <a:extLst>
              <a:ext uri="{FF2B5EF4-FFF2-40B4-BE49-F238E27FC236}">
                <a16:creationId xmlns:a16="http://schemas.microsoft.com/office/drawing/2014/main" id="{A9D61879-4DB7-47F5-80F2-10FB654843FF}"/>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99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B746321-5E0E-4567-AD2C-9087C45A93A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835D93B8-A71F-4468-9AEC-10EBF71BA31B}"/>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3.1 — Conectar e explorar Loki</a:t>
            </a: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Adicione a fonte Loki se ela ainda não existir no seu ambiente.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Use a URL interna http://loki:3100 no laboratório local. Em ambiente fornecido, use a conexão indicada pelo professor.</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3.2 — Gerar e localizar um erro</a:t>
            </a: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Envie um título sem URL na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Anote o horário da 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No Explore, filtre as linhas de erro.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3.3 — Explicar a investigação</a:t>
            </a: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Compare a consulta do arquivo com a consulta filtrada.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Ajuste o período e observe a mudança no resultado.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Explique o que é evidência e o que seria uma hipótese.</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F6BA907A-E00B-4195-977C-4311F613D6BA}"/>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105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5A58C91-BDE4-4BE4-83C5-F3682BD0B87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3.1  Conectar e explorar Loki</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3.2  Gerar e localizar um erro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6297046-1AE8-4A29-BF8E-F5865456CCA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0EFB17DE-185C-4271-BB30-D4D5FCED86C2}"/>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108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9EE4D23-0A14-4976-BE3E-0FE2E5060DC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Uma pergunta por painel</a:t>
            </a: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Defina a pergunta antes de escolher o gráfico.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Pergunta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rota recebe tráfego?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Unidade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109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9AD6319-EBD6-4B4F-BBAB-DEA0E6313FA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Dashboard e painel</a:t>
            </a: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dashboard reúne painéis relacionados.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Contexto da aplicação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Painel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9B7754D-4E14-4976-B73F-02B10D56FCC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Consulta e apresentação</a:t>
            </a: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consulta determina os dados retornados.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Consulta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Seleciona os dados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Visualização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60928AF-20FE-4BC3-A21F-BD41C867B0F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Escolha da visualização</a:t>
            </a: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Time series ajuda a observar a evolução no tempo.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Time series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Evolução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Stat</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Resumo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Table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214C1BA-C84E-46CE-9B97-A1C12A49D27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Título e unidade</a:t>
            </a: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título útil informa o que se mede.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Tráfego por rota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Requisições por segundo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1E3AC30-CEF0-454C-89A5-40512BA4BC1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Eixos, legenda e período</a:t>
            </a: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eixo temporal situa a observação.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Eixo do tempo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Valor e unidade</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F52B10F-45C0-4820-A1AE-B5CE7ED3288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Agregação e redução visual</a:t>
            </a: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consulta pode retornar uma série temporal.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Último valor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Média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Máximo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4EEECDE0-A620-4567-9D0D-671C5084A56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Salvamento e organização</a:t>
            </a: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Salve o painel e o dashboard com nomes reconhecíveis.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News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Painel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F63C001-CED5-4144-A1B2-C44B49F7FC8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Evento pontual e intervalo</a:t>
            </a: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anotação pontual marca um instante.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Publicação de versão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Um instante</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Teste de carga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DD988F1-6453-4670-AF73-D636015F9E7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Anotações manuais e por consulta</a:t>
            </a: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registro manual descreve um evento informado pelo usuário.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Manual</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Evento informado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Loki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912087E-73F8-4E82-826B-51295503010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Correlação e causalidade</a:t>
            </a: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Eventos próximos no tempo podem orientar a investigação.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Mesmo período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Hipótese de relação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119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8BC7EDB-71FB-4E39-AEF2-B5FF903AEB9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Dashboard compreensível</a:t>
            </a: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Confira o que outra pessoa consegue entender sem a sua explicação.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aplicação?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medida?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período?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FC5624B-A02A-4939-8D67-172B38447D3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Revisão antes da demonstração</a:t>
            </a: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dashboard útil tem pergunta, consulta e apresentação coerentes.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Pergunta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Consulta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Visualização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DF6E649C-00AC-4106-8627-B8E018AC9B49}"/>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122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E57EFDA-6729-497D-A254-39949CDF8BF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Do Explore ao dashboard</a:t>
            </a: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Crie um dashboard e adicione uma visualização.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7D839C8-2091-414F-9A35-A03F8C2EB21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Anotação manual</a:t>
            </a: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anotação marca um evento no gráfico.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79DD0922-C033-4D2A-BD27-15019C18050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Anotações vindas do Loki</a:t>
            </a: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Em Settings, abra Annotations.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Painel criado pela interface</a:t>
            </a:r>
          </a:p>
        </p:txBody>
      </p:sp>
      <p:pic>
        <p:nvPicPr>
          <p:cNvPr id="3" name="Imagem 2">
            <a:extLst>
              <a:ext uri="{FF2B5EF4-FFF2-40B4-BE49-F238E27FC236}">
                <a16:creationId xmlns:a16="http://schemas.microsoft.com/office/drawing/2014/main" id="{0A1184B2-51F8-4871-9142-E39A899E2A33}"/>
              </a:ext>
            </a:extLst>
          </p:cNvPr>
          <p:cNvPicPr>
            <a:picLocks noChangeAspect="1"/>
          </p:cNvPicPr>
          <p:nvPr/>
        </p:nvPicPr>
        <p:blipFill>
          <a:blip r:embed="rId3"/>
          <a:stretch/>
        </p:blipFill>
        <p:spPr>
          <a:xfrm>
            <a:off x="2989857" y="1457325"/>
            <a:ext cx="5355036" cy="447675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126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Anotação manual do exercício</a:t>
            </a:r>
          </a:p>
        </p:txBody>
      </p:sp>
      <p:pic>
        <p:nvPicPr>
          <p:cNvPr id="3" name="Imagem 2">
            <a:extLst>
              <a:ext uri="{FF2B5EF4-FFF2-40B4-BE49-F238E27FC236}">
                <a16:creationId xmlns:a16="http://schemas.microsoft.com/office/drawing/2014/main" id="{23F350AD-5D79-45C6-8F98-711E14B8A35A}"/>
              </a:ext>
            </a:extLst>
          </p:cNvPr>
          <p:cNvPicPr>
            <a:picLocks noChangeAspect="1"/>
          </p:cNvPicPr>
          <p:nvPr/>
        </p:nvPicPr>
        <p:blipFill>
          <a:blip r:embed="rId3"/>
          <a:stretch/>
        </p:blipFill>
        <p:spPr>
          <a:xfrm>
            <a:off x="1992996" y="1457325"/>
            <a:ext cx="7348757" cy="447675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127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Resultado salvo do exercício gráfico</a:t>
            </a:r>
          </a:p>
        </p:txBody>
      </p:sp>
      <p:pic>
        <p:nvPicPr>
          <p:cNvPr id="3" name="Imagem 2">
            <a:extLst>
              <a:ext uri="{FF2B5EF4-FFF2-40B4-BE49-F238E27FC236}">
                <a16:creationId xmlns:a16="http://schemas.microsoft.com/office/drawing/2014/main" id="{4D95CE34-44F0-48DC-9E2C-18E9AA1A3702}"/>
              </a:ext>
            </a:extLst>
          </p:cNvPr>
          <p:cNvPicPr>
            <a:picLocks noChangeAspect="1"/>
          </p:cNvPicPr>
          <p:nvPr/>
        </p:nvPicPr>
        <p:blipFill>
          <a:blip r:embed="rId3"/>
          <a:stretch/>
        </p:blipFill>
        <p:spPr>
          <a:xfrm>
            <a:off x="904875" y="1597879"/>
            <a:ext cx="9525000" cy="4195642"/>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128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3E1CCB07-1427-41D3-BE20-09FBC892688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129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B34CAF54-AB3C-46E1-A7C4-B1DEB5370066}"/>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130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4.1 — Criar e salvar um dashboard</a:t>
            </a: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Crie um dashboard da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Adicione uma visualização Prometheus com a consulta por rota.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Configure Time series, título Tráfego por rota, unidade e legenda.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a pergunta do painel, a escolha da unidade e o salvamento. Se o ambiente for compartilhado, cada aluno usa sua identificação e não altera o dashboard de outro aluno.</a:t>
            </a: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4.2 — Registrar um evento manual</a:t>
            </a: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Execute uma ação conhecida na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Adicione uma anotação manual com descrição e horário.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Se representar um teste com duração, use uma região.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4.3 — Exibir erros como anotações</a:t>
            </a: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Em Settings e Annotations, adicione uma consulta chamada Erros da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Selecione Loki e use o filtro de erro.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Ative a consulta, salve e provoque outro erro na aplicação.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3463102A-EB58-4BE5-B9D3-C947C526B44F}"/>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FC3BBDA-1B8A-46E6-AFB8-AB314623277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4.1  Criar e salvar um dashboard</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4.2  Registrar um evento manual</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38D0BBD-36BB-41CA-B9EB-CABD5E939C51}"/>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11FEA460-A798-40DC-BD1C-74B9114959D6}"/>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137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F8A5582-222B-4002-BB15-CBEEDAEE2A8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O que dispara um alerta</a:t>
            </a: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regra avalia dados e verifica uma condição.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Regra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Quando avisar</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Ponto de contato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4EDE08E-319B-484F-A231-A637F2DDA4E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Regra, instância e mensagem</a:t>
            </a: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regra define o cálculo e a condição.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Regra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Definição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Instância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Resultado por dimensão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Mensagem</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139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A5EB6F3-B6F6-4958-8558-8EB46F1B2CFB}"/>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Consulta da regra</a:t>
            </a: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Use Prometheus e a consulta de tráfego por rota.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sum(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rate(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tns_request_duration_seconds_count</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[5m]</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F03E69D-6F5F-401E-BC74-65CB37952D6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 B e C</a:t>
            </a: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consulta produz os dados.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  Consulta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B  Reduce / Last</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C03D00E2-5BAA-4308-AF39-D0F7FC475EF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Escolha de um limite</a:t>
            </a: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limite precisa fazer sentido para a unidade e para o comportamento observado.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valor 0,2 req/s serve à demonstração deste tutorial.</a:t>
            </a: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unidade?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tráfego de base?</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3CE2C74-D137-49D6-A306-C74110815DA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Avaliação e espera</a:t>
            </a: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intervalo define a frequência de avaliação.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Grupo: fundamentals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Avaliação: 10s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143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4F89188-3897-4D41-986D-45DDEA1782A0}"/>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Estados do alerta</a:t>
            </a: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Normal: condição não atendida.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Pending: condição atendida, aguardando o período definido.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Normal</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Pending</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144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26770B2-C463-4BA2-A289-E1742DCD807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Sem dados e falha de avaliação</a:t>
            </a: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 Data indica ausência de dados utilizáveis.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 Data</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Dados ausentes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Error</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0DD72F10-BA84-4E6A-9849-4B584115CFA4}"/>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Contato e entrega</a:t>
            </a: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ponto de contato define a integração usada para notificar.</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Contato Webhook</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Teste de comunicação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66EDF35-AF2B-4D35-AC8A-6EBFA6BD32FF}"/>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Duas opções de webhook</a:t>
            </a: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tutorial usa uma URL exclusiva do Webhook.site.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pacote local inclui um receptor com a mesma finalidade de teste.</a:t>
            </a: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Online</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Webhook.site</a:t>
            </a:r>
          </a:p>
          <a:p>
            <a:endParaRPr sz="2025" b="0">
              <a:solidFill>
                <a:srgbClr val="40760F"/>
              </a:solidFill>
              <a:latin typeface="Trebuchet MS"/>
              <a:ea typeface="Trebuchet MS"/>
              <a:cs typeface="Trebuchet MS"/>
            </a:endParaRP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Laboratório local</a:t>
            </a:r>
          </a:p>
          <a:p>
            <a:pPr algn="l">
              <a:defRPr sz="2025" b="0">
                <a:solidFill>
                  <a:srgbClr val="40760F"/>
                </a:solidFill>
                <a:latin typeface="Trebuchet MS"/>
                <a:ea typeface="Trebuchet MS"/>
                <a:cs typeface="Trebuchet MS"/>
              </a:defRPr>
            </a:pPr>
            <a:r>
              <a:rPr sz="2025" b="0">
                <a:solidFill>
                  <a:srgbClr val="40760F"/>
                </a:solidFill>
                <a:latin typeface="Trebuchet MS"/>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16776043-CA46-47CC-AC5A-D1EAFAEB0F25}"/>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Alerta e painel relacionado</a:t>
            </a: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vínculo informa qual dashboard e painel ajudam na investigação.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Regra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Dashboard</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148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F4C2800-815F-4CAC-BEB5-F7E1F21E56BA}"/>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Vídeo: alertas no dashboard</a:t>
            </a: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Observe a relação entre regra, painel e dashboard.</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333375" y="5953125"/>
            <a:ext cx="6191250" cy="3048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hlinkClick r:id="rId4"/>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149 / 178</a:t>
            </a:r>
            <a:endParaRPr sz="975" b="0">
              <a:solidFill>
                <a:srgbClr val="FFFFFF"/>
              </a:solidFill>
              <a:latin typeface="Trebuchet MS"/>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noChangeAspect="1"/>
          </p:cNvPicPr>
          <p:nvPr>
            <a:videoFile r:link="rId1"/>
          </p:nvPr>
        </p:nvPicPr>
        <p:blipFill>
          <a:blip r:embed="rId5"/>
          <a:stretch>
            <a:fillRect/>
          </a:stretch>
        </p:blipFill>
        <p:spPr>
          <a:xfrm>
            <a:off x="266700" y="2047875"/>
            <a:ext cx="5879370" cy="3321844"/>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250ECB8-BD6D-49BD-B4F1-9BDC5F1631E8}"/>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Diagnóstico de alertas</a:t>
            </a: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Sem dados: confira consulta e fonte.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Não dispara: confira valor e condição.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Condição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Estado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150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4E18408-F658-46CE-AB0F-B7E2B4A7FC13}"/>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Síntese do ciclo completo</a:t>
            </a: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Precisamos confirmar dado, condição, estado e entrega.</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Dado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Condição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Estado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151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9884E554-5C6E-4138-A440-41A4D744AD2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E-mail: servidor e destinatário</a:t>
            </a: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servidor SMTP permite ao Grafana enviar mensagens.</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Servidor</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[smtp] / GF_SMTP_*</a:t>
            </a:r>
          </a:p>
          <a:p>
            <a:endParaRPr sz="1725">
              <a:solidFill>
                <a:srgbClr val="40760F"/>
              </a:solidFill>
              <a:latin typeface="Trebuchet MS"/>
              <a:ea typeface="Trebuchet MS"/>
              <a:cs typeface="Trebuchet MS"/>
            </a:endParaRP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Contato</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152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FC60754A-EEB3-4B7A-BE50-F721503ED50D}"/>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SMTP: exemplo de configuração</a:t>
            </a: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Exemplo ilustrativo no arquivo grafana.ini.</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[smtp]</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enabled = true</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host = smtp.exemplo.invalid:587</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from_address = grafana@exemplo.invalid</a:t>
            </a:r>
          </a:p>
          <a:p>
            <a:pPr algn="l">
              <a:defRPr sz="1725">
                <a:solidFill>
                  <a:srgbClr val="40760F"/>
                </a:solidFill>
                <a:latin typeface="Trebuchet MS"/>
                <a:ea typeface="Trebuchet MS"/>
                <a:cs typeface="Trebuchet MS"/>
              </a:defRPr>
            </a:pPr>
            <a:r>
              <a:rPr sz="1725">
                <a:solidFill>
                  <a:srgbClr val="40760F"/>
                </a:solidFill>
                <a:latin typeface="Trebuchet MS"/>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153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6319221-5D51-4136-9027-47D97A03BD91}"/>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lgn="l">
              <a:defRPr sz="2925">
                <a:solidFill>
                  <a:srgbClr val="FFFFFF"/>
                </a:solidFill>
                <a:latin typeface="Trebuchet MS"/>
                <a:ea typeface="Trebuchet MS"/>
                <a:cs typeface="Trebuchet MS"/>
              </a:defRPr>
            </a:pPr>
            <a:r>
              <a:rPr sz="2925">
                <a:solidFill>
                  <a:srgbClr val="FFFFFF"/>
                </a:solidFill>
                <a:latin typeface="Trebuchet MS"/>
                <a:ea typeface="Trebuchet MS"/>
                <a:cs typeface="Trebuchet MS"/>
              </a:rPr>
              <a:t>Webhook: alerta para uma API externa</a:t>
            </a: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Grafana envia uma requisição HTTP com detalhes do alerta ao endpoint receptor.</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Grafana Alerting</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HTTP POST + JSON</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154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67996CB4-63E8-447F-8AE3-AA565710CE37}"/>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lgn="l">
              <a:defRPr sz="3300">
                <a:solidFill>
                  <a:srgbClr val="FFFFFF"/>
                </a:solidFill>
                <a:latin typeface="Trebuchet MS"/>
                <a:ea typeface="Trebuchet MS"/>
                <a:cs typeface="Trebuchet MS"/>
              </a:defRPr>
            </a:pPr>
            <a:r>
              <a:rPr sz="3300">
                <a:solidFill>
                  <a:srgbClr val="FFFFFF"/>
                </a:solidFill>
                <a:latin typeface="Trebuchet MS"/>
                <a:ea typeface="Trebuchet MS"/>
                <a:cs typeface="Trebuchet MS"/>
              </a:rPr>
              <a:t>Webhook e API do Grafana</a:t>
            </a: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Webhook envia notificações para outro software.</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Saída de alertas</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Webhook</a:t>
            </a:r>
          </a:p>
          <a:p>
            <a:endParaRPr sz="2700">
              <a:solidFill>
                <a:srgbClr val="40760F"/>
              </a:solidFill>
              <a:latin typeface="Trebuchet MS"/>
              <a:ea typeface="Trebuchet MS"/>
              <a:cs typeface="Trebuchet MS"/>
            </a:endParaRP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Automação de configuração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155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904875" y="619125"/>
            <a:ext cx="10001250" cy="619125"/>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lgn="l">
              <a:defRPr sz="2850">
                <a:solidFill>
                  <a:srgbClr val="40760F"/>
                </a:solidFill>
                <a:latin typeface="Trebuchet MS"/>
                <a:ea typeface="Trebuchet MS"/>
                <a:cs typeface="Trebuchet MS"/>
              </a:defRPr>
            </a:pPr>
            <a:r>
              <a:rPr sz="2850">
                <a:solidFill>
                  <a:srgbClr val="40760F"/>
                </a:solidFill>
                <a:latin typeface="Trebuchet MS"/>
                <a:ea typeface="Trebuchet MS"/>
                <a:cs typeface="Trebuchet MS"/>
              </a:rPr>
              <a:t>Arquitetura das notificações</a:t>
            </a: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904875" y="2664143"/>
            <a:ext cx="2103120" cy="778193"/>
          </a:xfrm>
          <a:prstGeom prst="rect">
            <a:avLst/>
          </a:prstGeom>
          <a:solidFill>
            <a:srgbClr val="FFF0DF"/>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242435" y="1722120"/>
            <a:ext cx="2240280" cy="737235"/>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7808595" y="1722120"/>
            <a:ext cx="2240280" cy="737235"/>
          </a:xfrm>
          <a:prstGeom prst="rect">
            <a:avLst/>
          </a:prstGeom>
          <a:solidFill>
            <a:srgbClr val="EBF4E3"/>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242435" y="3483293"/>
            <a:ext cx="2240280" cy="737235"/>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7808595" y="3483293"/>
            <a:ext cx="2240280" cy="737235"/>
          </a:xfrm>
          <a:prstGeom prst="rect">
            <a:avLst/>
          </a:prstGeom>
          <a:solidFill>
            <a:srgbClr val="E9F1FC"/>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904875" y="5080635"/>
            <a:ext cx="2103120" cy="655320"/>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Prometheus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242435" y="5080635"/>
            <a:ext cx="2240280" cy="655320"/>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7808595" y="5080635"/>
            <a:ext cx="2240280" cy="655320"/>
          </a:xfrm>
          <a:prstGeom prst="rect">
            <a:avLst/>
          </a:prstGeom>
          <a:solidFill>
            <a:srgbClr val="F1F4EE"/>
          </a:solidFill>
          <a:ln w="13335">
            <a:solidFill>
              <a:srgbClr val="6A7D5C"/>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263723"/>
                </a:solidFill>
                <a:latin typeface="Trebuchet MS"/>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007995" y="3053239"/>
            <a:ext cx="617220" cy="0"/>
          </a:xfrm>
          <a:prstGeom prst="straightConnector1">
            <a:avLst/>
          </a:prstGeom>
          <a:ln w="17145">
            <a:solidFill>
              <a:srgbClr val="52664A"/>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625215" y="2090738"/>
            <a:ext cx="0" cy="962501"/>
          </a:xfrm>
          <a:prstGeom prst="straightConnector1">
            <a:avLst/>
          </a:prstGeom>
          <a:ln w="17145">
            <a:solidFill>
              <a:srgbClr val="52664A"/>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625215" y="2090738"/>
            <a:ext cx="617220" cy="0"/>
          </a:xfrm>
          <a:prstGeom prst="straightConnector1">
            <a:avLst/>
          </a:prstGeom>
          <a:ln w="17145">
            <a:solidFill>
              <a:srgbClr val="52664A"/>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482715" y="2090738"/>
            <a:ext cx="662940" cy="0"/>
          </a:xfrm>
          <a:prstGeom prst="straightConnector1">
            <a:avLst/>
          </a:prstGeom>
          <a:ln w="17145">
            <a:solidFill>
              <a:srgbClr val="528331"/>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145655" y="2090738"/>
            <a:ext cx="662940" cy="0"/>
          </a:xfrm>
          <a:prstGeom prst="straightConnector1">
            <a:avLst/>
          </a:prstGeom>
          <a:ln w="17145">
            <a:solidFill>
              <a:srgbClr val="528331"/>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007995" y="3053239"/>
            <a:ext cx="617220" cy="0"/>
          </a:xfrm>
          <a:prstGeom prst="straightConnector1">
            <a:avLst/>
          </a:prstGeom>
          <a:ln w="17145">
            <a:solidFill>
              <a:srgbClr val="52664A"/>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625215" y="3053239"/>
            <a:ext cx="0" cy="798671"/>
          </a:xfrm>
          <a:prstGeom prst="straightConnector1">
            <a:avLst/>
          </a:prstGeom>
          <a:ln w="17145">
            <a:solidFill>
              <a:srgbClr val="52664A"/>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625215" y="3851910"/>
            <a:ext cx="617220" cy="0"/>
          </a:xfrm>
          <a:prstGeom prst="straightConnector1">
            <a:avLst/>
          </a:prstGeom>
          <a:ln w="17145">
            <a:solidFill>
              <a:srgbClr val="52664A"/>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482715" y="3851910"/>
            <a:ext cx="662940" cy="0"/>
          </a:xfrm>
          <a:prstGeom prst="straightConnector1">
            <a:avLst/>
          </a:prstGeom>
          <a:ln w="17145">
            <a:solidFill>
              <a:srgbClr val="3E6FA8"/>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145655" y="3851910"/>
            <a:ext cx="662940" cy="0"/>
          </a:xfrm>
          <a:prstGeom prst="straightConnector1">
            <a:avLst/>
          </a:prstGeom>
          <a:ln w="17145">
            <a:solidFill>
              <a:srgbClr val="3E6FA8"/>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007995" y="5408295"/>
            <a:ext cx="617220" cy="0"/>
          </a:xfrm>
          <a:prstGeom prst="straightConnector1">
            <a:avLst/>
          </a:prstGeom>
          <a:ln w="17145">
            <a:solidFill>
              <a:srgbClr val="52664A"/>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625215" y="5408295"/>
            <a:ext cx="617220" cy="0"/>
          </a:xfrm>
          <a:prstGeom prst="straightConnector1">
            <a:avLst/>
          </a:prstGeom>
          <a:ln w="17145">
            <a:solidFill>
              <a:srgbClr val="52664A"/>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482715" y="5408295"/>
            <a:ext cx="662940" cy="0"/>
          </a:xfrm>
          <a:prstGeom prst="straightConnector1">
            <a:avLst/>
          </a:prstGeom>
          <a:ln w="17145">
            <a:solidFill>
              <a:srgbClr val="52664A"/>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145655" y="5408295"/>
            <a:ext cx="662940" cy="0"/>
          </a:xfrm>
          <a:prstGeom prst="straightConnector1">
            <a:avLst/>
          </a:prstGeom>
          <a:ln w="17145">
            <a:solidFill>
              <a:srgbClr val="52664A"/>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6739890" y="1976438"/>
            <a:ext cx="85725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597015" y="3737610"/>
            <a:ext cx="1143000" cy="266700"/>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405B32"/>
                </a:solidFill>
                <a:latin typeface="Trebuchet MS"/>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904875" y="6048375"/>
            <a:ext cx="9810750" cy="55245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156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90375626-1165-47D1-B51F-A1D11D7AA562}"/>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F2521483-6848-4AA2-A62D-4F9FC28CE7DF}"/>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E579FC8-427F-4CAD-80EC-11FE05D6DB5C}"/>
              </a:ext>
            </a:extLst>
          </p:cNvPr>
          <p:cNvSpPr>
            <a:spLocks noGrp="1"/>
          </p:cNvSpPr>
          <p:nvPr/>
        </p:nvSpPr>
        <p:spPr>
          <a:xfrm>
            <a:off x="7181850" y="666750"/>
            <a:ext cx="4476750" cy="1571625"/>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lgn="l">
              <a:defRPr sz="2925">
                <a:solidFill>
                  <a:srgbClr val="FFFFFF"/>
                </a:solidFill>
                <a:latin typeface="Trebuchet MS"/>
                <a:ea typeface="Trebuchet MS"/>
                <a:cs typeface="Trebuchet MS"/>
              </a:defRPr>
            </a:pPr>
            <a:r>
              <a:rPr sz="2925">
                <a:solidFill>
                  <a:srgbClr val="FFFFFF"/>
                </a:solidFill>
                <a:latin typeface="Trebuchet MS"/>
                <a:ea typeface="Trebuchet MS"/>
                <a:cs typeface="Trebuchet MS"/>
              </a:rPr>
              <a:t>O que uma integração precisa validar</a:t>
            </a: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7181850" y="2381250"/>
            <a:ext cx="4362450" cy="36195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Confira o evento recebido, o estado, a identificação do alerta e o destino.</a:t>
            </a:r>
          </a:p>
          <a:p>
            <a:endParaRPr sz="2025">
              <a:solidFill>
                <a:srgbClr val="FFFFFF"/>
              </a:solidFill>
              <a:latin typeface="Trebuchet MS"/>
              <a:ea typeface="Trebuchet MS"/>
              <a:cs typeface="Trebuchet MS"/>
            </a:endParaRPr>
          </a:p>
          <a:p>
            <a:pPr algn="l">
              <a:defRPr sz="2025">
                <a:solidFill>
                  <a:srgbClr val="FFFFFF"/>
                </a:solidFill>
                <a:latin typeface="Trebuchet MS"/>
                <a:ea typeface="Trebuchet MS"/>
                <a:cs typeface="Trebuchet MS"/>
              </a:defRPr>
            </a:pPr>
            <a:r>
              <a:rPr sz="2025">
                <a:solidFill>
                  <a:srgbClr val="FFFFFF"/>
                </a:solidFill>
                <a:latin typeface="Trebuchet MS"/>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firing / resolved</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Identificação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Contexto</a:t>
            </a:r>
          </a:p>
          <a:p>
            <a:pPr algn="l">
              <a:defRPr sz="2700">
                <a:solidFill>
                  <a:srgbClr val="40760F"/>
                </a:solidFill>
                <a:latin typeface="Trebuchet MS"/>
                <a:ea typeface="Trebuchet MS"/>
                <a:cs typeface="Trebuchet MS"/>
              </a:defRPr>
            </a:pPr>
            <a:r>
              <a:rPr sz="2700">
                <a:solidFill>
                  <a:srgbClr val="40760F"/>
                </a:solidFill>
                <a:latin typeface="Trebuchet MS"/>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lgn="l">
              <a:defRPr sz="1125">
                <a:solidFill>
                  <a:srgbClr val="FFFFFF"/>
                </a:solidFill>
                <a:latin typeface="Trebuchet MS"/>
                <a:ea typeface="Trebuchet MS"/>
                <a:cs typeface="Trebuchet MS"/>
              </a:defRPr>
            </a:pPr>
            <a:r>
              <a:rPr sz="1125">
                <a:solidFill>
                  <a:srgbClr val="FFFFFF"/>
                </a:solidFill>
                <a:latin typeface="Trebuchet MS"/>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l">
              <a:defRPr sz="975">
                <a:solidFill>
                  <a:srgbClr val="FFFFFF"/>
                </a:solidFill>
                <a:latin typeface="Trebuchet MS"/>
                <a:ea typeface="Trebuchet MS"/>
                <a:cs typeface="Trebuchet MS"/>
              </a:defRPr>
            </a:pPr>
            <a:r>
              <a:rPr lang="pt-BR" sz="975">
                <a:solidFill>
                  <a:srgbClr val="FFFFFF"/>
                </a:solidFill>
                <a:latin typeface="Trebuchet MS"/>
                <a:ea typeface="Trebuchet MS"/>
                <a:cs typeface="Trebuchet MS"/>
              </a:rPr>
              <a:t>157 / 178</a:t>
            </a:r>
            <a:endParaRPr sz="975">
              <a:solidFill>
                <a:srgbClr val="FFFFFF"/>
              </a:solidFill>
              <a:latin typeface="Trebuchet MS"/>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D184A967-4D4A-43B8-92F1-CBBBEE56C6A3}"/>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158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2AF0040A-F6D3-451C-9DE9-7B2253955ECD}"/>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Ponto de contato</a:t>
            </a: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Em Alerting, crie um contato Webhook.</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159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BF5C1C5-DC42-449E-8882-FACF8B76DA7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Redução e limite</a:t>
            </a: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No fluxo com expressões, Reduce transforma a série em um valor por série.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160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ED3E876D-010D-4283-896C-B70E987A911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Prática de disparo</a:t>
            </a: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Salve a regra com o ponto de contato.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161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BD63D7A5-D5F7-49AD-A4EC-71A8A4AC5337}"/>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Receptor de notificações</a:t>
            </a: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Vamos usar um receptor local incluído no pacote.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noChangeAspect="1"/>
          </p:cNvPicPr>
          <p:nvPr/>
        </p:nvPicPr>
        <p:blipFill>
          <a:blip r:embed="rId3"/>
          <a:stretch/>
        </p:blipFill>
        <p:spPr>
          <a:xfrm>
            <a:off x="281548" y="1666875"/>
            <a:ext cx="5809129" cy="3857625"/>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266700" y="5676900"/>
            <a:ext cx="5619750" cy="3810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25" b="0">
                <a:solidFill>
                  <a:srgbClr val="40760F"/>
                </a:solidFill>
                <a:latin typeface="Trebuchet MS"/>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162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Consulta da regra de CPU</a:t>
            </a:r>
          </a:p>
        </p:txBody>
      </p:sp>
      <p:pic>
        <p:nvPicPr>
          <p:cNvPr id="3" name="Imagem 2">
            <a:extLst>
              <a:ext uri="{FF2B5EF4-FFF2-40B4-BE49-F238E27FC236}">
                <a16:creationId xmlns:a16="http://schemas.microsoft.com/office/drawing/2014/main" id="{A5FA4A25-9472-4870-948C-8CEF65360985}"/>
              </a:ext>
            </a:extLst>
          </p:cNvPr>
          <p:cNvPicPr>
            <a:picLocks noChangeAspect="1"/>
          </p:cNvPicPr>
          <p:nvPr/>
        </p:nvPicPr>
        <p:blipFill>
          <a:blip r:embed="rId3"/>
          <a:stretch/>
        </p:blipFill>
        <p:spPr>
          <a:xfrm>
            <a:off x="2988455" y="1457325"/>
            <a:ext cx="5357840" cy="447675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163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Prévia da condição normal</a:t>
            </a:r>
          </a:p>
        </p:txBody>
      </p:sp>
      <p:pic>
        <p:nvPicPr>
          <p:cNvPr id="3" name="Imagem 2">
            <a:extLst>
              <a:ext uri="{FF2B5EF4-FFF2-40B4-BE49-F238E27FC236}">
                <a16:creationId xmlns:a16="http://schemas.microsoft.com/office/drawing/2014/main" id="{DDCA7B35-1F1B-47FA-A2C9-5ECDD70F956E}"/>
              </a:ext>
            </a:extLst>
          </p:cNvPr>
          <p:cNvPicPr>
            <a:picLocks noChangeAspect="1"/>
          </p:cNvPicPr>
          <p:nvPr/>
        </p:nvPicPr>
        <p:blipFill>
          <a:blip r:embed="rId3"/>
          <a:stretch/>
        </p:blipFill>
        <p:spPr>
          <a:xfrm>
            <a:off x="904875" y="1477425"/>
            <a:ext cx="9525000" cy="4436549"/>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164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Prévia com condição atendida</a:t>
            </a:r>
          </a:p>
        </p:txBody>
      </p:sp>
      <p:pic>
        <p:nvPicPr>
          <p:cNvPr id="3" name="Imagem 2">
            <a:extLst>
              <a:ext uri="{FF2B5EF4-FFF2-40B4-BE49-F238E27FC236}">
                <a16:creationId xmlns:a16="http://schemas.microsoft.com/office/drawing/2014/main" id="{FD4D1896-9466-4C8D-AEBB-17E78F4D68DC}"/>
              </a:ext>
            </a:extLst>
          </p:cNvPr>
          <p:cNvPicPr>
            <a:picLocks noChangeAspect="1"/>
          </p:cNvPicPr>
          <p:nvPr/>
        </p:nvPicPr>
        <p:blipFill>
          <a:blip r:embed="rId3"/>
          <a:stretch/>
        </p:blipFill>
        <p:spPr>
          <a:xfrm>
            <a:off x="904875" y="1477425"/>
            <a:ext cx="9525000" cy="4436549"/>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165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904875" y="333375"/>
            <a:ext cx="9620250" cy="304800"/>
          </a:xfrm>
          <a:prstGeom prst="rect">
            <a:avLst/>
          </a:prstGeom>
          <a:noFill/>
          <a:ln w="0">
            <a:noFill/>
          </a:ln>
        </p:spPr>
        <p:txBody>
          <a:bodyPr wrap="square" lIns="0" tIns="0" rIns="0" bIns="0">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575">
                <a:solidFill>
                  <a:srgbClr val="666666"/>
                </a:solidFill>
                <a:latin typeface="Trebuchet MS"/>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904875" y="762000"/>
            <a:ext cx="9906000" cy="619125"/>
          </a:xfrm>
          <a:prstGeom prst="rect">
            <a:avLst/>
          </a:prstGeom>
          <a:noFill/>
          <a:ln w="0">
            <a:noFill/>
          </a:ln>
        </p:spPr>
        <p:txBody>
          <a:bodyPr wrap="square" lIns="0" tIns="0" rIns="0" bIns="0">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Vínculo do alerta com o painel</a:t>
            </a:r>
          </a:p>
        </p:txBody>
      </p:sp>
      <p:pic>
        <p:nvPicPr>
          <p:cNvPr id="3" name="Imagem 2">
            <a:extLst>
              <a:ext uri="{FF2B5EF4-FFF2-40B4-BE49-F238E27FC236}">
                <a16:creationId xmlns:a16="http://schemas.microsoft.com/office/drawing/2014/main" id="{0CE4DA5E-044A-4277-A026-71F84C62617D}"/>
              </a:ext>
            </a:extLst>
          </p:cNvPr>
          <p:cNvPicPr>
            <a:picLocks noChangeAspect="1"/>
          </p:cNvPicPr>
          <p:nvPr/>
        </p:nvPicPr>
        <p:blipFill>
          <a:blip r:embed="rId3"/>
          <a:stretch/>
        </p:blipFill>
        <p:spPr>
          <a:xfrm>
            <a:off x="2988455" y="1457325"/>
            <a:ext cx="5357840" cy="447675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904875" y="6096000"/>
            <a:ext cx="9525000" cy="495300"/>
          </a:xfrm>
          <a:prstGeom prst="rect">
            <a:avLst/>
          </a:prstGeom>
          <a:noFill/>
          <a:ln w="0">
            <a:noFill/>
          </a:ln>
        </p:spPr>
        <p:txBody>
          <a:bodyPr wrap="square" lIns="0" tIns="0" rIns="0" bIns="0">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10572750" y="6648450"/>
            <a:ext cx="1285875" cy="190500"/>
          </a:xfrm>
          <a:prstGeom prst="rect">
            <a:avLst/>
          </a:prstGeom>
          <a:noFill/>
          <a:ln w="0">
            <a:noFill/>
          </a:ln>
        </p:spPr>
        <p:txBody>
          <a:bodyPr wrap="square" lIns="0" tIns="0" rIns="0" bIns="0">
            <a:noAutofit/>
          </a:bodyPr>
          <a:lstStyle>
            <a:defPPr>
              <a:defRPr sz="975">
                <a:solidFill>
                  <a:srgbClr val="777777"/>
                </a:solidFill>
                <a:latin typeface="Trebuchet MS"/>
                <a:ea typeface="Trebuchet MS"/>
                <a:cs typeface="Trebuchet MS"/>
              </a:defRPr>
            </a:defPPr>
          </a:lstStyle>
          <a:p>
            <a:pPr>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166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904875" y="666750"/>
            <a:ext cx="10001250" cy="619125"/>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lgn="l">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Onde configurar o destinatário</a:t>
            </a:r>
          </a:p>
        </p:txBody>
      </p:sp>
      <p:pic>
        <p:nvPicPr>
          <p:cNvPr id="2" name="Imagem 1">
            <a:extLst>
              <a:ext uri="{FF2B5EF4-FFF2-40B4-BE49-F238E27FC236}">
                <a16:creationId xmlns:a16="http://schemas.microsoft.com/office/drawing/2014/main" id="{CE492F25-BE5E-411F-90FD-344A475C7708}"/>
              </a:ext>
            </a:extLst>
          </p:cNvPr>
          <p:cNvPicPr>
            <a:picLocks noChangeAspect="1"/>
          </p:cNvPicPr>
          <p:nvPr/>
        </p:nvPicPr>
        <p:blipFill>
          <a:blip r:embed="rId3"/>
          <a:stretch/>
        </p:blipFill>
        <p:spPr>
          <a:xfrm>
            <a:off x="2961373" y="1428750"/>
            <a:ext cx="5412005" cy="4524375"/>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904875" y="6096000"/>
            <a:ext cx="9525000" cy="523875"/>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167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904875" y="666750"/>
            <a:ext cx="10001250" cy="619125"/>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lgn="l">
              <a:defRPr sz="2925">
                <a:solidFill>
                  <a:srgbClr val="40760F"/>
                </a:solidFill>
                <a:latin typeface="Trebuchet MS"/>
                <a:ea typeface="Trebuchet MS"/>
                <a:cs typeface="Trebuchet MS"/>
              </a:defRPr>
            </a:pPr>
            <a:r>
              <a:rPr sz="2925">
                <a:solidFill>
                  <a:srgbClr val="40760F"/>
                </a:solidFill>
                <a:latin typeface="Trebuchet MS"/>
                <a:ea typeface="Trebuchet MS"/>
                <a:cs typeface="Trebuchet MS"/>
              </a:rPr>
              <a:t>Onde configurar o Webhook</a:t>
            </a:r>
          </a:p>
        </p:txBody>
      </p:sp>
      <p:pic>
        <p:nvPicPr>
          <p:cNvPr id="2" name="Imagem 1">
            <a:extLst>
              <a:ext uri="{FF2B5EF4-FFF2-40B4-BE49-F238E27FC236}">
                <a16:creationId xmlns:a16="http://schemas.microsoft.com/office/drawing/2014/main" id="{E0333E28-9B4E-4CB0-9479-910FA580D992}"/>
              </a:ext>
            </a:extLst>
          </p:cNvPr>
          <p:cNvPicPr>
            <a:picLocks noChangeAspect="1"/>
          </p:cNvPicPr>
          <p:nvPr/>
        </p:nvPicPr>
        <p:blipFill>
          <a:blip r:embed="rId3"/>
          <a:stretch/>
        </p:blipFill>
        <p:spPr>
          <a:xfrm>
            <a:off x="2959956" y="1428750"/>
            <a:ext cx="5414838" cy="4524375"/>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904875" y="6096000"/>
            <a:ext cx="9525000" cy="523875"/>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lgn="l">
              <a:defRPr sz="1650">
                <a:solidFill>
                  <a:srgbClr val="40760F"/>
                </a:solidFill>
                <a:latin typeface="Trebuchet MS"/>
                <a:ea typeface="Trebuchet MS"/>
                <a:cs typeface="Trebuchet MS"/>
              </a:defRPr>
            </a:pPr>
            <a:r>
              <a:rPr sz="1650">
                <a:solidFill>
                  <a:srgbClr val="40760F"/>
                </a:solidFill>
                <a:latin typeface="Trebuchet MS"/>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l">
              <a:defRPr sz="975">
                <a:solidFill>
                  <a:srgbClr val="777777"/>
                </a:solidFill>
                <a:latin typeface="Trebuchet MS"/>
                <a:ea typeface="Trebuchet MS"/>
                <a:cs typeface="Trebuchet MS"/>
              </a:defRPr>
            </a:pPr>
            <a:r>
              <a:rPr lang="pt-BR" sz="975">
                <a:solidFill>
                  <a:srgbClr val="777777"/>
                </a:solidFill>
                <a:latin typeface="Trebuchet MS"/>
                <a:ea typeface="Trebuchet MS"/>
                <a:cs typeface="Trebuchet MS"/>
              </a:rPr>
              <a:t>168 / 178</a:t>
            </a:r>
            <a:endParaRPr sz="975">
              <a:solidFill>
                <a:srgbClr val="777777"/>
              </a:solidFill>
              <a:latin typeface="Trebuchet MS"/>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DDDD9314-AB2B-4A9B-B7D9-4799B12414BC}"/>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Intervalo</a:t>
            </a: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Pausa de 25 minutos.</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169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B5AD31C2-4C64-4743-A941-38E03BD8D174}"/>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Exercícios</a:t>
            </a:r>
          </a:p>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170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5.1 — Validar o ponto de contato</a:t>
            </a: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Escolha o receptor local ou a URL exclusiva do Webhook.site conforme a orientação do professor.</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Crie um ponto de contato Webhook no Grafana.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Envie uma mensagem de teste e confirme a chegada.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171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5.2 — Criar e disparar a regra</a:t>
            </a: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1. Crie uma regra Grafana-managed com identificação do aluno.</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2. Use a consulta por rota em A, Reduce / Last em B e Threshold acima de 0.2 em C.</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3. Use avaliação de 10s, pendente de 0s e o contato testado.</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4. Salve, gere tráfego e observe o valor e o estado.</a:t>
            </a:r>
          </a:p>
          <a:p>
            <a:pPr algn="l">
              <a:defRPr sz="1800" b="0">
                <a:solidFill>
                  <a:srgbClr val="222222"/>
                </a:solidFill>
                <a:latin typeface="Trebuchet MS"/>
                <a:ea typeface="Trebuchet MS"/>
                <a:cs typeface="Trebuchet MS"/>
              </a:defRPr>
            </a:pPr>
            <a:r>
              <a:rPr sz="1800" b="0">
                <a:solidFill>
                  <a:srgbClr val="222222"/>
                </a:solidFill>
                <a:latin typeface="Trebuchet MS"/>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952500" y="4000500"/>
            <a:ext cx="9239250" cy="809625"/>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lgn="l">
              <a:defRPr sz="1725" b="0">
                <a:solidFill>
                  <a:srgbClr val="40760F"/>
                </a:solidFill>
                <a:latin typeface="Trebuchet MS"/>
                <a:ea typeface="Trebuchet MS"/>
                <a:cs typeface="Trebuchet MS"/>
              </a:defRPr>
            </a:pPr>
            <a:r>
              <a:rPr sz="1725" b="0">
                <a:solidFill>
                  <a:srgbClr val="40760F"/>
                </a:solidFill>
                <a:latin typeface="Trebuchet MS"/>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952500" y="4905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172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952500" y="333375"/>
            <a:ext cx="9620250" cy="2667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lgn="l">
              <a:defRPr sz="1425" b="0">
                <a:solidFill>
                  <a:srgbClr val="555555"/>
                </a:solidFill>
                <a:latin typeface="Trebuchet MS"/>
                <a:ea typeface="Trebuchet MS"/>
                <a:cs typeface="Trebuchet MS"/>
              </a:defRPr>
            </a:pPr>
            <a:r>
              <a:rPr sz="1425" b="0">
                <a:solidFill>
                  <a:srgbClr val="555555"/>
                </a:solidFill>
                <a:latin typeface="Trebuchet MS"/>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952500" y="809625"/>
            <a:ext cx="9620250" cy="809625"/>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lgn="l">
              <a:defRPr sz="2925" b="0">
                <a:solidFill>
                  <a:srgbClr val="40760F"/>
                </a:solidFill>
                <a:latin typeface="Trebuchet MS"/>
                <a:ea typeface="Trebuchet MS"/>
                <a:cs typeface="Trebuchet MS"/>
              </a:defRPr>
            </a:pPr>
            <a:r>
              <a:rPr sz="2925" b="0">
                <a:solidFill>
                  <a:srgbClr val="40760F"/>
                </a:solidFill>
                <a:latin typeface="Trebuchet MS"/>
                <a:ea typeface="Trebuchet MS"/>
                <a:cs typeface="Trebuchet MS"/>
              </a:rPr>
              <a:t>Exercício 5.3 — Vincular e apresentar o projeto</a:t>
            </a: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952500" y="1762125"/>
            <a:ext cx="9239250" cy="2143125"/>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1. Associe a regra ao seu dashboard e ao painel de tráfego.</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2. Mostre a consulta, um erro nos logs e as anotações configuradas.</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3. Apresente a evidência de recebimento do alerta.</a:t>
            </a:r>
          </a:p>
          <a:p>
            <a:pPr algn="l">
              <a:defRPr sz="1875" b="0">
                <a:solidFill>
                  <a:srgbClr val="222222"/>
                </a:solidFill>
                <a:latin typeface="Trebuchet MS"/>
                <a:ea typeface="Trebuchet MS"/>
                <a:cs typeface="Trebuchet MS"/>
              </a:defRPr>
            </a:pPr>
            <a:r>
              <a:rPr sz="1875" b="0">
                <a:solidFill>
                  <a:srgbClr val="222222"/>
                </a:solidFill>
                <a:latin typeface="Trebuchet MS"/>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952500" y="4143375"/>
            <a:ext cx="9239250" cy="95250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lgn="l">
              <a:defRPr sz="1650" b="0">
                <a:solidFill>
                  <a:srgbClr val="555555"/>
                </a:solidFill>
                <a:latin typeface="Trebuchet MS"/>
                <a:ea typeface="Trebuchet MS"/>
                <a:cs typeface="Trebuchet MS"/>
              </a:defRPr>
            </a:pPr>
            <a:r>
              <a:rPr sz="1650" b="0">
                <a:solidFill>
                  <a:srgbClr val="555555"/>
                </a:solidFill>
                <a:latin typeface="Trebuchet MS"/>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952500" y="5953125"/>
            <a:ext cx="9239250" cy="495300"/>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lgn="l">
              <a:defRPr sz="1575" b="0">
                <a:solidFill>
                  <a:srgbClr val="40760F"/>
                </a:solidFill>
                <a:latin typeface="Trebuchet MS"/>
                <a:ea typeface="Trebuchet MS"/>
                <a:cs typeface="Trebuchet MS"/>
              </a:defRPr>
            </a:pPr>
            <a:r>
              <a:rPr sz="1575" b="0">
                <a:solidFill>
                  <a:srgbClr val="40760F"/>
                </a:solidFill>
                <a:latin typeface="Trebuchet MS"/>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173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 name="Straight Connector 98">
            <a:extLst>
              <a:ext uri="{FF2B5EF4-FFF2-40B4-BE49-F238E27FC236}">
                <a16:creationId xmlns:a16="http://schemas.microsoft.com/office/drawing/2014/main" id="{BCBBE771-1323-450F-9C35-7B9457FBABF0}"/>
              </a:ext>
            </a:extLst>
          </p:cNvPr>
          <p:cNvSpPr>
            <a:spLocks noGrp="1"/>
          </p:cNvSpPr>
          <p:nvPr/>
        </p:nv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sp>
      <p:sp>
        <p:nvSpPr>
          <p:cNvPr id="100" name="Straight Connector 99">
            <a:extLst>
              <a:ext uri="{FF2B5EF4-FFF2-40B4-BE49-F238E27FC236}">
                <a16:creationId xmlns:a16="http://schemas.microsoft.com/office/drawing/2014/main" id="{568F4A8A-5E10-4359-ABEE-0A8431B24A0D}"/>
              </a:ext>
            </a:extLst>
          </p:cNvPr>
          <p:cNvSpPr>
            <a:spLocks noGrp="1"/>
          </p:cNvSpPr>
          <p:nvPr/>
        </p:nv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sp>
      <p:sp>
        <p:nvSpPr>
          <p:cNvPr id="112" name="Rectangle 23">
            <a:extLst>
              <a:ext uri="{FF2B5EF4-FFF2-40B4-BE49-F238E27FC236}">
                <a16:creationId xmlns:a16="http://schemas.microsoft.com/office/drawing/2014/main" id="{887EA6D2-2883-42C2-993D-094CA6D65DA3}"/>
              </a:ext>
            </a:extLst>
          </p:cNvPr>
          <p:cNvSpPr>
            <a:spLocks noGrp="1"/>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3" name="Rectangle 25">
            <a:extLst>
              <a:ext uri="{FF2B5EF4-FFF2-40B4-BE49-F238E27FC236}">
                <a16:creationId xmlns:a16="http://schemas.microsoft.com/office/drawing/2014/main" id="{3B895046-636F-4D1B-ACA4-29AA0CB3329F}"/>
              </a:ext>
            </a:extLst>
          </p:cNvPr>
          <p:cNvSpPr>
            <a:spLocks noGrp="1"/>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4" name="Isosceles Triangle 102">
            <a:extLst>
              <a:ext uri="{FF2B5EF4-FFF2-40B4-BE49-F238E27FC236}">
                <a16:creationId xmlns:a16="http://schemas.microsoft.com/office/drawing/2014/main" id="{C6B0CDE3-E054-4EDD-A43B-F96843D8BF51}"/>
              </a:ext>
            </a:extLst>
          </p:cNvPr>
          <p:cNvSpPr>
            <a:spLocks noGrp="1"/>
          </p:cNvSpPr>
          <p:nvPr/>
        </p:nvSpPr>
        <p:spPr>
          <a:xfrm>
            <a:off x="8932333"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5" name="Rectangle 27">
            <a:extLst>
              <a:ext uri="{FF2B5EF4-FFF2-40B4-BE49-F238E27FC236}">
                <a16:creationId xmlns:a16="http://schemas.microsoft.com/office/drawing/2014/main" id="{3B66B1A2-F145-4C9B-85CC-4BF30D58CBC5}"/>
              </a:ext>
            </a:extLst>
          </p:cNvPr>
          <p:cNvSpPr>
            <a:spLocks noGrp="1"/>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6" name="Rectangle 28">
            <a:extLst>
              <a:ext uri="{FF2B5EF4-FFF2-40B4-BE49-F238E27FC236}">
                <a16:creationId xmlns:a16="http://schemas.microsoft.com/office/drawing/2014/main" id="{5D4FC972-94B3-4035-8D31-E668C132B411}"/>
              </a:ext>
            </a:extLst>
          </p:cNvPr>
          <p:cNvSpPr>
            <a:spLocks noGrp="1"/>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7" name="Rectangle 29">
            <a:extLst>
              <a:ext uri="{FF2B5EF4-FFF2-40B4-BE49-F238E27FC236}">
                <a16:creationId xmlns:a16="http://schemas.microsoft.com/office/drawing/2014/main" id="{374B9941-AFBE-4A77-A50E-B6EA04A746AE}"/>
              </a:ext>
            </a:extLst>
          </p:cNvPr>
          <p:cNvSpPr>
            <a:spLocks noGrp="1"/>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8" name="Isosceles Triangle 106">
            <a:extLst>
              <a:ext uri="{FF2B5EF4-FFF2-40B4-BE49-F238E27FC236}">
                <a16:creationId xmlns:a16="http://schemas.microsoft.com/office/drawing/2014/main" id="{27A982C5-2C38-4CE9-BC18-94697AD657FB}"/>
              </a:ext>
            </a:extLst>
          </p:cNvPr>
          <p:cNvSpPr>
            <a:spLocks noGrp="1"/>
          </p:cNvSpPr>
          <p:nvPr/>
        </p:nvSpPr>
        <p:spPr>
          <a:xfrm>
            <a:off x="10371666"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9" name="Isosceles Triangle 107">
            <a:extLst>
              <a:ext uri="{FF2B5EF4-FFF2-40B4-BE49-F238E27FC236}">
                <a16:creationId xmlns:a16="http://schemas.microsoft.com/office/drawing/2014/main" id="{0060D8D1-7BB1-498F-AFBB-ADAC130A9E90}"/>
              </a:ext>
            </a:extLst>
          </p:cNvPr>
          <p:cNvSpPr>
            <a:spLocks noGrp="1"/>
          </p:cNvSpPr>
          <p:nvPr/>
        </p:nvSpPr>
        <p:spPr>
          <a:xfrm rot="10800000">
            <a:off x="0" y="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10" name="Isosceles Triangle 109">
            <a:extLst>
              <a:ext uri="{FF2B5EF4-FFF2-40B4-BE49-F238E27FC236}">
                <a16:creationId xmlns:a16="http://schemas.microsoft.com/office/drawing/2014/main" id="{5A7802B6-FF37-40CF-A7E2-6F2A0D9A91EF}"/>
              </a:ext>
            </a:extLst>
          </p:cNvPr>
          <p:cNvSpPr>
            <a:spLocks noGrp="1"/>
          </p:cNvSpPr>
          <p:nvPr/>
        </p:nvSpPr>
        <p:spPr>
          <a:xfrm rot="10800000">
            <a:off x="3174" y="12700"/>
            <a:ext cx="842596" cy="5666154"/>
          </a:xfrm>
          <a:prstGeom prst="triangle">
            <a:avLst>
              <a:gd name="adj" fmla="val 100000"/>
            </a:avLst>
          </a:prstGeom>
          <a:solidFill>
            <a:schemeClr val="accent1">
              <a:alpha val="85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pic>
        <p:nvPicPr>
          <p:cNvPr id="78" name="Graphic 77">
            <a:extLst>
              <a:ext uri="{FF2B5EF4-FFF2-40B4-BE49-F238E27FC236}">
                <a16:creationId xmlns:a16="http://schemas.microsoft.com/office/drawing/2014/main" id="{826F1AA1-8ADC-43CD-A6B1-713176BD5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pic>
        <p:nvPicPr>
          <p:cNvPr id="6" name="Imagem 5">
            <a:extLst>
              <a:ext uri="{FF2B5EF4-FFF2-40B4-BE49-F238E27FC236}">
                <a16:creationId xmlns:a16="http://schemas.microsoft.com/office/drawing/2014/main" id="{F685DC04-2B8E-45D5-95EB-A84E9808BA4E}"/>
              </a:ext>
            </a:extLst>
          </p:cNvPr>
          <p:cNvPicPr>
            <a:picLocks noChangeAspect="1"/>
          </p:cNvPicPr>
          <p:nvPr/>
        </p:nvPicPr>
        <p:blipFill>
          <a:blip r:embed="rId4"/>
          <a:stretch>
            <a:fillRect/>
          </a:stretch>
        </p:blipFill>
        <p:spPr>
          <a:xfrm>
            <a:off x="88454" y="6299200"/>
            <a:ext cx="444500" cy="444500"/>
          </a:xfrm>
          <a:prstGeom prst="rect">
            <a:avLst/>
          </a:prstGeom>
        </p:spPr>
      </p:pic>
      <p:sp>
        <p:nvSpPr>
          <p:cNvPr id="120" name="noite">
            <a:extLst>
              <a:ext uri="{FF2B5EF4-FFF2-40B4-BE49-F238E27FC236}">
                <a16:creationId xmlns:a16="http://schemas.microsoft.com/office/drawing/2014/main" id="{30EE0DBA-CF85-45A3-A2EB-C8E89558602E}"/>
              </a:ext>
            </a:extLst>
          </p:cNvPr>
          <p:cNvSpPr>
            <a:spLocks noGrp="1"/>
          </p:cNvSpPr>
          <p:nvPr/>
        </p:nvSpPr>
        <p:spPr>
          <a:xfrm>
            <a:off x="4972050" y="1714500"/>
            <a:ext cx="4286250" cy="4572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lgn="l">
              <a:defRPr sz="2250" b="0">
                <a:solidFill>
                  <a:srgbClr val="777777"/>
                </a:solidFill>
                <a:latin typeface="Trebuchet MS"/>
                <a:ea typeface="Trebuchet MS"/>
                <a:cs typeface="Trebuchet MS"/>
              </a:defRPr>
            </a:pPr>
            <a:r>
              <a:rPr sz="2250" b="0">
                <a:solidFill>
                  <a:srgbClr val="777777"/>
                </a:solidFill>
                <a:latin typeface="Trebuchet MS"/>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4972050" y="2428875"/>
            <a:ext cx="4238625" cy="1666875"/>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lgn="l">
              <a:defRPr sz="3900" b="0">
                <a:solidFill>
                  <a:srgbClr val="90C226"/>
                </a:solidFill>
                <a:latin typeface="Trebuchet MS"/>
                <a:ea typeface="Trebuchet MS"/>
                <a:cs typeface="Trebuchet MS"/>
              </a:defRPr>
            </a:pPr>
            <a:r>
              <a:rPr sz="3900" b="0">
                <a:solidFill>
                  <a:srgbClr val="90C226"/>
                </a:solidFill>
                <a:latin typeface="Trebuchet MS"/>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4972050" y="4286250"/>
            <a:ext cx="4143375" cy="9525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lgn="l">
              <a:defRPr sz="1950" b="0">
                <a:solidFill>
                  <a:srgbClr val="777777"/>
                </a:solidFill>
                <a:latin typeface="Trebuchet MS"/>
                <a:ea typeface="Trebuchet MS"/>
                <a:cs typeface="Trebuchet MS"/>
              </a:defRPr>
            </a:pPr>
            <a:r>
              <a:rPr sz="1950" b="0">
                <a:solidFill>
                  <a:srgbClr val="777777"/>
                </a:solidFill>
                <a:latin typeface="Trebuchet MS"/>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904875" y="5762625"/>
            <a:ext cx="7858125"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lgn="l">
              <a:defRPr sz="1725" b="0">
                <a:solidFill>
                  <a:srgbClr val="555555"/>
                </a:solidFill>
                <a:latin typeface="Trebuchet MS"/>
                <a:ea typeface="Trebuchet MS"/>
                <a:cs typeface="Trebuchet MS"/>
              </a:defRPr>
            </a:pPr>
            <a:r>
              <a:rPr sz="1725" b="0">
                <a:solidFill>
                  <a:srgbClr val="555555"/>
                </a:solidFill>
                <a:latin typeface="Trebuchet MS"/>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174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511561DC-3CCF-4D06-B337-80CC1626F726}"/>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Agora é com você</a:t>
            </a: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Execute as tarefas da folha da noite.</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5.1  Validar o ponto de contato</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5.2  Criar e disparar a regra</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175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AD9B6D73-6ACC-42FA-BD6A-AC565B2EE14E}"/>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Correção e fechamento</a:t>
            </a: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Apresente uma evidência do que foi executado e explique o resultado.</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executei?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observei?</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Como interpreto?</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176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0EC8E896-F0FB-542E-3637-D117866B11EE}"/>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useBgFill="1">
        <p:nvSpPr>
          <p:cNvPr id="1038" name="Rectangle 1037">
            <a:extLst>
              <a:ext uri="{FF2B5EF4-FFF2-40B4-BE49-F238E27FC236}">
                <a16:creationId xmlns:a16="http://schemas.microsoft.com/office/drawing/2014/main" id="{771F785E-0954-E6D3-1875-9081A2C83C86}"/>
              </a:ext>
            </a:extLst>
          </p:cNvPr>
          <p:cNvSpPr>
            <a:spLocks noGrp="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0" name="Straight Connector 1039">
            <a:extLst>
              <a:ext uri="{FF2B5EF4-FFF2-40B4-BE49-F238E27FC236}">
                <a16:creationId xmlns:a16="http://schemas.microsoft.com/office/drawing/2014/main" id="{2A13996D-F09C-479E-B47E-F4971A76A278}"/>
              </a:ext>
            </a:extLst>
          </p:cNvPr>
          <p:cNvSpPr>
            <a:spLocks noGrp="1"/>
          </p:cNvSpPr>
          <p:nvPr/>
        </p:nv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1042" name="Straight Connector 1041">
            <a:extLst>
              <a:ext uri="{FF2B5EF4-FFF2-40B4-BE49-F238E27FC236}">
                <a16:creationId xmlns:a16="http://schemas.microsoft.com/office/drawing/2014/main" id="{3E4879B7-55A4-418A-BDBA-7CBD2ADDDC01}"/>
              </a:ext>
            </a:extLst>
          </p:cNvPr>
          <p:cNvSpPr>
            <a:spLocks noGrp="1"/>
          </p:cNvSpPr>
          <p:nvPr/>
        </p:nv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sp>
      <p:sp>
        <p:nvSpPr>
          <p:cNvPr id="1044" name="Rectangle 23">
            <a:extLst>
              <a:ext uri="{FF2B5EF4-FFF2-40B4-BE49-F238E27FC236}">
                <a16:creationId xmlns:a16="http://schemas.microsoft.com/office/drawing/2014/main" id="{D89A4191-6F8B-E671-65E6-1D187DC7F8D2}"/>
              </a:ext>
            </a:extLst>
          </p:cNvPr>
          <p:cNvSpPr>
            <a:spLocks noGrp="1"/>
          </p:cNvSpPr>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6" name="Rectangle 25">
            <a:extLst>
              <a:ext uri="{FF2B5EF4-FFF2-40B4-BE49-F238E27FC236}">
                <a16:creationId xmlns:a16="http://schemas.microsoft.com/office/drawing/2014/main" id="{5CB4EDCD-48F7-3AF0-3E21-87DF33AF46C6}"/>
              </a:ext>
            </a:extLst>
          </p:cNvPr>
          <p:cNvSpPr>
            <a:spLocks noGrp="1"/>
          </p:cNvSpPr>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48" name="Isosceles Triangle 1047">
            <a:extLst>
              <a:ext uri="{FF2B5EF4-FFF2-40B4-BE49-F238E27FC236}">
                <a16:creationId xmlns:a16="http://schemas.microsoft.com/office/drawing/2014/main" id="{14437E86-43C8-9775-2118-76561924A177}"/>
              </a:ext>
            </a:extLst>
          </p:cNvPr>
          <p:cNvSpPr>
            <a:spLocks noGrp="1"/>
          </p:cNvSpPr>
          <p:nvPr/>
        </p:nvSpPr>
        <p:spPr>
          <a:xfrm>
            <a:off x="4233425" y="3048000"/>
            <a:ext cx="3259667" cy="3810000"/>
          </a:xfrm>
          <a:prstGeom prst="triangle">
            <a:avLst>
              <a:gd name="adj" fmla="val 100000"/>
            </a:avLst>
          </a:prstGeom>
          <a:solidFill>
            <a:schemeClr val="accent2">
              <a:alpha val="72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0" name="Rectangle 27">
            <a:extLst>
              <a:ext uri="{FF2B5EF4-FFF2-40B4-BE49-F238E27FC236}">
                <a16:creationId xmlns:a16="http://schemas.microsoft.com/office/drawing/2014/main" id="{6CD9AF4A-C303-B40F-B125-4267999A1BEB}"/>
              </a:ext>
            </a:extLst>
          </p:cNvPr>
          <p:cNvSpPr>
            <a:spLocks noGrp="1"/>
          </p:cNvSpPr>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2" name="Isosceles Triangle 1051">
            <a:extLst>
              <a:ext uri="{FF2B5EF4-FFF2-40B4-BE49-F238E27FC236}">
                <a16:creationId xmlns:a16="http://schemas.microsoft.com/office/drawing/2014/main" id="{229836B7-4653-971F-78D3-E652599FA2F3}"/>
              </a:ext>
            </a:extLst>
          </p:cNvPr>
          <p:cNvSpPr>
            <a:spLocks noGrp="1"/>
          </p:cNvSpPr>
          <p:nvPr/>
        </p:nvSpPr>
        <p:spPr>
          <a:xfrm>
            <a:off x="5672758" y="3589867"/>
            <a:ext cx="1817159" cy="3268133"/>
          </a:xfrm>
          <a:prstGeom prst="triangle">
            <a:avLst>
              <a:gd name="adj" fmla="val 100000"/>
            </a:avLst>
          </a:prstGeom>
          <a:solidFill>
            <a:schemeClr val="accent1">
              <a:alpha val="8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1054" name="Freeform: Shape 1053">
            <a:extLst>
              <a:ext uri="{FF2B5EF4-FFF2-40B4-BE49-F238E27FC236}">
                <a16:creationId xmlns:a16="http://schemas.microsoft.com/office/drawing/2014/main" id="{CAD018A0-F80F-7B4D-BD55-765D2CBA4435}"/>
              </a:ext>
            </a:extLst>
          </p:cNvPr>
          <p:cNvSpPr>
            <a:spLocks noGrp="1"/>
          </p:cNvSpPr>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55" name="titulo">
            <a:extLst>
              <a:ext uri="{FF2B5EF4-FFF2-40B4-BE49-F238E27FC236}">
                <a16:creationId xmlns:a16="http://schemas.microsoft.com/office/drawing/2014/main" id="{8A254B3D-B3AB-441F-B5FA-2BCC0E04B149}"/>
              </a:ext>
            </a:extLst>
          </p:cNvPr>
          <p:cNvSpPr>
            <a:spLocks noGrp="1"/>
          </p:cNvSpPr>
          <p:nvPr/>
        </p:nvSpPr>
        <p:spPr>
          <a:xfrm>
            <a:off x="7181850" y="666750"/>
            <a:ext cx="4476750" cy="1476375"/>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lgn="l">
              <a:defRPr sz="3300" b="0">
                <a:solidFill>
                  <a:srgbClr val="FFFFFF"/>
                </a:solidFill>
                <a:latin typeface="Trebuchet MS"/>
                <a:ea typeface="Trebuchet MS"/>
                <a:cs typeface="Trebuchet MS"/>
              </a:defRPr>
            </a:pPr>
            <a:r>
              <a:rPr sz="3300" b="0">
                <a:solidFill>
                  <a:srgbClr val="FFFFFF"/>
                </a:solidFill>
                <a:latin typeface="Trebuchet MS"/>
                <a:ea typeface="Trebuchet MS"/>
                <a:cs typeface="Trebuchet MS"/>
              </a:rPr>
              <a:t>Referências e continuidade</a:t>
            </a: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7181850" y="2381250"/>
            <a:ext cx="4362450" cy="360045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Continue estudando pelo tutorial e pela documentação oficial.</a:t>
            </a:r>
          </a:p>
          <a:p>
            <a:endParaRPr sz="2025" b="0">
              <a:solidFill>
                <a:srgbClr val="FFFFFF"/>
              </a:solidFill>
              <a:latin typeface="Trebuchet MS"/>
              <a:ea typeface="Trebuchet MS"/>
              <a:cs typeface="Trebuchet MS"/>
            </a:endParaRPr>
          </a:p>
          <a:p>
            <a:pPr algn="l">
              <a:defRPr sz="2025" b="0">
                <a:solidFill>
                  <a:srgbClr val="FFFFFF"/>
                </a:solidFill>
                <a:latin typeface="Trebuchet MS"/>
                <a:ea typeface="Trebuchet MS"/>
                <a:cs typeface="Trebuchet MS"/>
              </a:defRPr>
            </a:pPr>
            <a:r>
              <a:rPr sz="2025" b="0">
                <a:solidFill>
                  <a:srgbClr val="FFFFFF"/>
                </a:solidFill>
                <a:latin typeface="Trebuchet MS"/>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333375" y="1762125"/>
            <a:ext cx="5238750" cy="4000500"/>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Fundamentals</a:t>
            </a:r>
          </a:p>
          <a:p>
            <a:endParaRPr sz="2850" b="1">
              <a:solidFill>
                <a:srgbClr val="40760F"/>
              </a:solidFill>
              <a:latin typeface="Trebuchet MS"/>
              <a:ea typeface="Trebuchet MS"/>
              <a:cs typeface="Trebuchet MS"/>
            </a:endParaRP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Grafana Docs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Prometheus Docs</a:t>
            </a:r>
          </a:p>
          <a:p>
            <a:pPr algn="l">
              <a:defRPr sz="2850" b="1">
                <a:solidFill>
                  <a:srgbClr val="40760F"/>
                </a:solidFill>
                <a:latin typeface="Trebuchet MS"/>
                <a:ea typeface="Trebuchet MS"/>
                <a:cs typeface="Trebuchet MS"/>
              </a:defRPr>
            </a:pPr>
            <a:r>
              <a:rPr sz="2850" b="1">
                <a:solidFill>
                  <a:srgbClr val="40760F"/>
                </a:solidFill>
                <a:latin typeface="Trebuchet MS"/>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7181850" y="6343650"/>
            <a:ext cx="4333875"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lgn="l">
              <a:defRPr sz="1125" b="0">
                <a:solidFill>
                  <a:srgbClr val="FFFFFF"/>
                </a:solidFill>
                <a:latin typeface="Trebuchet MS"/>
                <a:ea typeface="Trebuchet MS"/>
                <a:cs typeface="Trebuchet MS"/>
              </a:defRPr>
            </a:pPr>
            <a:r>
              <a:rPr sz="1125" b="0">
                <a:solidFill>
                  <a:srgbClr val="FFFFFF"/>
                </a:solidFill>
                <a:latin typeface="Trebuchet MS"/>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l">
              <a:defRPr sz="975" b="0">
                <a:solidFill>
                  <a:srgbClr val="FFFFFF"/>
                </a:solidFill>
                <a:latin typeface="Trebuchet MS"/>
                <a:ea typeface="Trebuchet MS"/>
                <a:cs typeface="Trebuchet MS"/>
              </a:defRPr>
            </a:pPr>
            <a:r>
              <a:rPr lang="pt-BR" sz="975" b="0">
                <a:solidFill>
                  <a:srgbClr val="FFFFFF"/>
                </a:solidFill>
                <a:latin typeface="Trebuchet MS"/>
                <a:ea typeface="Trebuchet MS"/>
                <a:cs typeface="Trebuchet MS"/>
              </a:rPr>
              <a:t>177 / 178</a:t>
            </a:r>
            <a:endParaRPr sz="975" b="0">
              <a:solidFill>
                <a:srgbClr val="FFFFFF"/>
              </a:solidFill>
              <a:latin typeface="Trebuchet MS"/>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31BF4A2F-2B22-4518-B49D-68C7C3A5B4BB}"/>
              </a:ext>
            </a:extLst>
          </p:cNvPr>
          <p:cNvPicPr>
            <a:picLocks noChangeAspect="1"/>
          </p:cNvPicPr>
          <p:nvPr/>
        </p:nvPicPr>
        <p:blipFill>
          <a:blip r:embed="rId3"/>
          <a:stretch>
            <a:fillRect/>
          </a:stretch>
        </p:blipFill>
        <p:spPr>
          <a:xfrm>
            <a:off x="335837" y="657391"/>
            <a:ext cx="3531926" cy="1256913"/>
          </a:xfrm>
          <a:prstGeom prst="rect">
            <a:avLst/>
          </a:prstGeom>
        </p:spPr>
      </p:pic>
      <p:pic>
        <p:nvPicPr>
          <p:cNvPr id="1026" name="Picture 2">
            <a:extLst>
              <a:ext uri="{FF2B5EF4-FFF2-40B4-BE49-F238E27FC236}">
                <a16:creationId xmlns:a16="http://schemas.microsoft.com/office/drawing/2014/main" id="{39F24212-73D6-4223-A136-149B1731E764}"/>
              </a:ext>
            </a:extLst>
          </p:cNvPr>
          <p:cNvPicPr>
            <a:picLocks noChangeAspect="1"/>
          </p:cNvPicPr>
          <p:nvPr/>
        </p:nvPicPr>
        <p:blipFill>
          <a:blip r:embed="rId4"/>
          <a:srcRect/>
          <a:stretch>
            <a:fillRect/>
          </a:stretch>
        </p:blipFill>
        <p:spPr>
          <a:xfrm>
            <a:off x="936170" y="2666225"/>
            <a:ext cx="2485521" cy="2485521"/>
          </a:xfrm>
          <a:prstGeom prst="rect">
            <a:avLst/>
          </a:prstGeom>
        </p:spPr>
      </p:pic>
      <p:sp>
        <p:nvSpPr>
          <p:cNvPr id="1027" name="titulo">
            <a:extLst>
              <a:ext uri="{FF2B5EF4-FFF2-40B4-BE49-F238E27FC236}">
                <a16:creationId xmlns:a16="http://schemas.microsoft.com/office/drawing/2014/main" id="{86B521C5-7BAB-4B55-863D-75B7FCE1C254}"/>
              </a:ext>
            </a:extLst>
          </p:cNvPr>
          <p:cNvSpPr>
            <a:spLocks noGrp="1"/>
          </p:cNvSpPr>
          <p:nvPr/>
        </p:nvSpPr>
        <p:spPr>
          <a:xfrm>
            <a:off x="3905250" y="2762250"/>
            <a:ext cx="5334000" cy="85725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lgn="l">
              <a:defRPr sz="5100" b="0">
                <a:solidFill>
                  <a:srgbClr val="40760F"/>
                </a:solidFill>
                <a:latin typeface="Trebuchet MS"/>
                <a:ea typeface="Trebuchet MS"/>
                <a:cs typeface="Trebuchet MS"/>
              </a:defRPr>
            </a:pPr>
            <a:r>
              <a:rPr sz="5100" b="0">
                <a:solidFill>
                  <a:srgbClr val="40760F"/>
                </a:solidFill>
                <a:latin typeface="Trebuchet MS"/>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3905250" y="3952875"/>
            <a:ext cx="5238750" cy="85725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lgn="l">
              <a:defRPr sz="2400" b="0">
                <a:solidFill>
                  <a:srgbClr val="222222"/>
                </a:solidFill>
                <a:latin typeface="Trebuchet MS"/>
                <a:ea typeface="Trebuchet MS"/>
                <a:cs typeface="Trebuchet MS"/>
              </a:defRPr>
            </a:pPr>
            <a:r>
              <a:rPr sz="2400" b="0">
                <a:solidFill>
                  <a:srgbClr val="222222"/>
                </a:solidFill>
                <a:latin typeface="Trebuchet MS"/>
                <a:ea typeface="Trebuchet MS"/>
                <a:cs typeface="Trebuchet MS"/>
              </a:rPr>
              <a:t>Fábio Silva</a:t>
            </a:r>
          </a:p>
          <a:p>
            <a:pPr algn="l">
              <a:defRPr sz="2400" b="0">
                <a:solidFill>
                  <a:srgbClr val="222222"/>
                </a:solidFill>
                <a:latin typeface="Trebuchet MS"/>
                <a:ea typeface="Trebuchet MS"/>
                <a:cs typeface="Trebuchet MS"/>
              </a:defRPr>
            </a:pPr>
            <a:r>
              <a:rPr sz="2400" b="0">
                <a:solidFill>
                  <a:srgbClr val="222222"/>
                </a:solidFill>
                <a:latin typeface="Trebuchet MS"/>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3905250" y="5095875"/>
            <a:ext cx="5524500" cy="523875"/>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lgn="l">
              <a:defRPr sz="1800" b="0">
                <a:solidFill>
                  <a:srgbClr val="40760F"/>
                </a:solidFill>
                <a:latin typeface="Trebuchet MS"/>
                <a:ea typeface="Trebuchet MS"/>
                <a:cs typeface="Trebuchet MS"/>
              </a:defRPr>
            </a:pPr>
            <a:r>
              <a:rPr sz="1800" b="0">
                <a:solidFill>
                  <a:srgbClr val="40760F"/>
                </a:solidFill>
                <a:latin typeface="Trebuchet MS"/>
                <a:ea typeface="Trebuchet MS"/>
                <a:cs typeface="Trebuchet MS"/>
                <a:hlinkClick r:id="rId5"/>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572750" y="6648450"/>
            <a:ext cx="1285875" cy="190500"/>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l">
              <a:defRPr sz="975" b="0">
                <a:solidFill>
                  <a:srgbClr val="777777"/>
                </a:solidFill>
                <a:latin typeface="Trebuchet MS"/>
                <a:ea typeface="Trebuchet MS"/>
                <a:cs typeface="Trebuchet MS"/>
              </a:defRPr>
            </a:pPr>
            <a:r>
              <a:rPr lang="pt-BR" sz="975" b="0">
                <a:solidFill>
                  <a:srgbClr val="777777"/>
                </a:solidFill>
                <a:latin typeface="Trebuchet MS"/>
                <a:ea typeface="Trebuchet MS"/>
                <a:cs typeface="Trebuchet MS"/>
              </a:rPr>
              <a:t>178 / 178</a:t>
            </a:r>
            <a:endParaRPr sz="975" b="0">
              <a:solidFill>
                <a:srgbClr val="777777"/>
              </a:solidFill>
              <a:latin typeface="Trebuchet MS"/>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40679</Words>
  <Application>Microsoft Office PowerPoint</Application>
  <DocSecurity>0</DocSecurity>
  <PresentationFormat>Widescreen</PresentationFormat>
  <Paragraphs>1777</Paragraphs>
  <Slides>178</Slides>
  <Notes>178</Notes>
  <HiddenSlides>0</HiddenSlides>
  <MMClips>2</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178</vt:i4>
      </vt:variant>
    </vt:vector>
  </HeadingPairs>
  <TitlesOfParts>
    <vt:vector size="182" baseType="lpstr">
      <vt:lpstr>Arial</vt:lpstr>
      <vt:lpstr>Trebuchet MS</vt:lpstr>
      <vt:lpstr>Wingdings 3</vt:lpstr>
      <vt:lpstr>Faceta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3</cp:revision>
  <dcterms:created xsi:type="dcterms:W3CDTF">2026-10-18T22:12:02Z</dcterms:created>
  <dcterms:modified xsi:type="dcterms:W3CDTF">2026-10-19T02:48:44Z</dcterms:modified>
</cp:coreProperties>
</file>