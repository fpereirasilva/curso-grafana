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notesMasterIdLst>
    <p:notesMasterId r:id="rId1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notesMaster" Target="notesMasters/notes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 oficial (idêntica ao template Green). Falar: 'Boa noite, bem-vindos ao curso Grafana: Visualizando Dados, promovido pela Green Tecnologia. Meu nome é Fábio e vou conduzi-los por 5 noites juntos. Antes de começarmos, quero conhecê-los: cada um fala o nome, de onde vem e o que espera do curso.' Tempo: 5min.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rápido (60s). 'Meu nome é Fábio, trabalho com arquitetura de soluções e observabilidade. O que vocês vão ver aqui é o que eu aplico em projetos reais — Grafana, Prometheus, Loki, Tempo, tudo open source. Se quiserem me encontrar depois, meu LinkedIn está no slide.' Enfatizar que o curso é prático, não só teoria. 'Esse curso é denso, vamos com calma e vocês vão me perguntar à vontade.'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a lista em voz alta, devagar. Perguntar: 'Quem é da área de SRE? E de arquitetura? E de BI?'. Adaptar profundidade conforme o público. O callout: 'Não exige Grafana, mas terminal Linux é fundamental.'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cada bullet. Reforçar: 'Esse curso é 50% prática, 50% teoria. Vocês não vão só ver slide, vão digitar comando.' Apontar o callout: 'Sai do curso com ambiente rodando.'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o mapa. Mostrar que cada noite segue o mesmo ritmo. Perguntar: 'Alguma dúvida sobre o formato antes de começar?'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crítico. Explicar com calma: 'Eu tenho DUAS máquinas no Azure hoje. Uma já com tudo rodando, que vocês veem pela tela projetada. Outra LIMPA, onde eu rodo os scripts .sh que vocês veem linha por linha. E VOCÊS, na máquina de vocês (Ubuntu ou Docker), rodam o mesmo lab.' Reforçar: 'A infra é a mesma pra todas as 5 noites, mas o conteúdo muda.' Perguntar: 'Alguém não tem Ubuntu? Docker é plano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da Noite 1. Respirar, tomar água. 'Vamos começar pelo começo. O que é observabilidade, por que o Grafana existe, e como ele funciona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(45s): 'Imagina um carro sem painel. Você não sabe a velocidade, não sabe o combustível, não sabe se o motor está quente. Observabilidade é o painel do seu sistema.' Reler o parágrafo principal. Enfatizar os 3 pilares. Perguntar: 'Quem já usou Grafana? Prometheus? Loki?'. Adaptar conforme resposta.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'Grafana não armazena dado. Ele PERGUNTA para o Prometheus, que tem o dado.' Analogia: 'Grafana é o painel do carro. Prometheus é o sensor que mede. Node Exporter é o sensor instalado no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os 3 cards. Reforçar: 'Os 3 mostradores do painel. Grafana é o painel. Prometheus/Loki/Tempo são os bancos.' Mostrar que cada pilar tem um banco de dados específico — não dá pra misturar.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Desenhar no quadro: 'Coleta -&gt; Armazena -&gt; Visualiza -&gt; Alerta'. Enfatizar: 'Tudo começa no exporter. Sem exportador, não tem 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os 3 cards. Avisar: 'Esse curso é 100% OSS. Tudo que vocês vão ver funciona na gratuita.' Falar da AGPLv3: 'Copyleft — uso interno sem distribuição, sem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os 5 cards. Hierarquia: Datasource -&gt; Dashboard -&gt; Painel. Variável e Alerta são transversais.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a estrutura (timestamp, valor, labels). Não aprofundar PromQL agora — só mostrar o formato. Na demo vamos rodar a query de verdade no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Coração do curso. Reler cada passo devagar. Tempo: 3min. 'É sempre PULL. Prometheus pergunta. Não espera chegar.'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Reler os 5 cards. Avisar: 'Hoje a gente usa Node + Prometheus + Grafana. Na Noite 2 adiciona cAdvisor e Alertmanager.'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Volta do intervalo. 'Vamos colocar a mão na massa. Primeiro mostro o ambiente já rodando, depois a gente sobe do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AO VIVO. Mostrar primeiro VM-A do Azure (já rodando) — acessar pelo IP público. Depois abrir SSH na VM-B e mostrar o docker compose up -d. Os alunos sobem no notebook em paralelo.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a tela de login. Digitar admin/admin devagar. Tempo: 3min. Atalhos: G+D Dashboards, G+E Explore, ? atalhos completos.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mostra o arquivo YAML já provisionado. Enfatizar: 'A URL é http://prometheus:9090, não localhost, porque Grafana resolve nome do container Docker como DNS interno.' ALUNOS confirmam que o datasource está funcionando no notebook deles.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AO VIVO. Trocar intervalo, ver curva mudar. Enfatizar: 'Explore é onde vocês gastam 80% do tempo de aprendizado.'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exemplo de cada um no demo se der tempo (5min). Noite 2 vai aprofundar.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cada passo ao vivo. Tempo: 5min.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Ctrl+S, Share &gt; Link, Export JSON. Tempo: 3min.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todos os ajustes no painel real. Tempo: 5min.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'Hora de vocês. 30 minutos pra fazer o que eu mostrei. Dúvidas, manda no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5min. Quem terminar, vai pro Lab 1.2. Quem travar, ajudar.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10min. Se algum aluno travar na Q4, mostrar: 'rate() transforma counter em taxa, avg agrupa, instance é o label, 100 - idle =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15min. Andar pela sala ajudando. Próxima noite começa com 'abrir o dashboard da noite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com energia: 'Vocês acabaram de criar o primeiro dashboard. Amanhã a gente complica um pouquinho. Dúvidas finais?' Agradecer.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Tarefa é leve — 30min no total. 'Não é obrigatório, mas quem fizer chega na Noite 2 mais confiante.'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inkedin.com/in/silvapfabio"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1.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1.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1.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1.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1.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1.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1.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1.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1.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1.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1.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1.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1.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1.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1.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1.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1.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1.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1.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1.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1.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1.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1.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1.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1.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1.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1.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1.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1.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1.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1.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1.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1.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1.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1.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1.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1.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1.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1.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1.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1.png"/><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1.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1.png"/><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1.png"/><Relationship Id="rId3" Type="http://schemas.openxmlformats.org/officeDocument/2006/relationships/slideLayout" Target="../slideLayouts/slideLayout1.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1.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1.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1.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1.png"/><Relationship Id="rId3" Type="http://schemas.openxmlformats.org/officeDocument/2006/relationships/slideLayout" Target="../slideLayouts/slideLayout1.xm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1.png"/><Relationship Id="rId3" Type="http://schemas.openxmlformats.org/officeDocument/2006/relationships/slideLayout" Target="../slideLayouts/slideLayout1.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1.png"/><Relationship Id="rId3" Type="http://schemas.openxmlformats.org/officeDocument/2006/relationships/slideLayout" Target="../slideLayouts/slideLayout1.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1.png"/><Relationship Id="rId3" Type="http://schemas.openxmlformats.org/officeDocument/2006/relationships/slideLayout" Target="../slideLayouts/slideLayout1.xm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1.png"/><Relationship Id="rId3" Type="http://schemas.openxmlformats.org/officeDocument/2006/relationships/slideLayout" Target="../slideLayouts/slideLayout1.xm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1.png"/><Relationship Id="rId3" Type="http://schemas.openxmlformats.org/officeDocument/2006/relationships/slideLayout" Target="../slideLayouts/slideLayout1.xml"/><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1.png"/><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1.png"/><Relationship Id="rId3" Type="http://schemas.openxmlformats.org/officeDocument/2006/relationships/slideLayout" Target="../slideLayouts/slideLayout1.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1.png"/><Relationship Id="rId3" Type="http://schemas.openxmlformats.org/officeDocument/2006/relationships/slideLayout" Target="../slideLayouts/slideLayout1.xm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1.png"/><Relationship Id="rId3" Type="http://schemas.openxmlformats.org/officeDocument/2006/relationships/slideLayout" Target="../slideLayouts/slideLayout1.xml"/><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image" Target="../media/image-108-1.png"/><Relationship Id="rId3" Type="http://schemas.openxmlformats.org/officeDocument/2006/relationships/slideLayout" Target="../slideLayouts/slideLayout1.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1.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1.png"/><Relationship Id="rId3" Type="http://schemas.openxmlformats.org/officeDocument/2006/relationships/slideLayout" Target="../slideLayouts/slideLayout1.xml"/><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1.png"/><Relationship Id="rId3" Type="http://schemas.openxmlformats.org/officeDocument/2006/relationships/slideLayout" Target="../slideLayouts/slideLayout1.xml"/><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1.png"/><Relationship Id="rId3" Type="http://schemas.openxmlformats.org/officeDocument/2006/relationships/slideLayout" Target="../slideLayouts/slideLayout1.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1.png"/><Relationship Id="rId3" Type="http://schemas.openxmlformats.org/officeDocument/2006/relationships/slideLayout" Target="../slideLayouts/slideLayout1.xml"/><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1.png"/><Relationship Id="rId3" Type="http://schemas.openxmlformats.org/officeDocument/2006/relationships/slideLayout" Target="../slideLayouts/slideLayout1.xml"/><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1.png"/><Relationship Id="rId3" Type="http://schemas.openxmlformats.org/officeDocument/2006/relationships/slideLayout" Target="../slideLayouts/slideLayout1.xml"/><Relationship Id="rId4"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image" Target="../media/image-117-1.png"/><Relationship Id="rId3" Type="http://schemas.openxmlformats.org/officeDocument/2006/relationships/slideLayout" Target="../slideLayouts/slideLayout1.xml"/><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1.png"/><Relationship Id="rId3" Type="http://schemas.openxmlformats.org/officeDocument/2006/relationships/slideLayout" Target="../slideLayouts/slideLayout1.xml"/><Relationship Id="rId4"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horizontal.png">    </p:cNvPr>
          <p:cNvPicPr>
            <a:picLocks noChangeAspect="1"/>
          </p:cNvPicPr>
          <p:nvPr/>
        </p:nvPicPr>
        <p:blipFill>
          <a:blip r:embed="rId1"/>
          <a:stretch>
            <a:fillRect/>
          </a:stretch>
        </p:blipFill>
        <p:spPr>
          <a:xfrm>
            <a:off x="457200" y="365760"/>
            <a:ext cx="1828800" cy="640080"/>
          </a:xfrm>
          <a:prstGeom prst="rect">
            <a:avLst/>
          </a:prstGeom>
        </p:spPr>
      </p:pic>
      <p:sp>
        <p:nvSpPr>
          <p:cNvPr id="7" name="Text 4"/>
          <p:cNvSpPr/>
          <p:nvPr/>
        </p:nvSpPr>
        <p:spPr>
          <a:xfrm>
            <a:off x="457200" y="1554480"/>
            <a:ext cx="3657600" cy="365760"/>
          </a:xfrm>
          <a:prstGeom prst="rect">
            <a:avLst/>
          </a:prstGeom>
          <a:noFill/>
          <a:ln/>
        </p:spPr>
        <p:txBody>
          <a:bodyPr wrap="square" rtlCol="0" anchor="ctr"/>
          <a:lstStyle/>
          <a:p>
            <a:pPr indent="0" marL="0">
              <a:buNone/>
            </a:pPr>
            <a:r>
              <a:rPr lang="en-US" sz="1100" b="1" spc="600" kern="0" dirty="0">
                <a:solidFill>
                  <a:schemeClr val="accent2"/>
                </a:solidFill>
                <a:latin typeface="Trebuchet MS" pitchFamily="34" charset="0"/>
                <a:ea typeface="Trebuchet MS" pitchFamily="34" charset="-122"/>
                <a:cs typeface="Trebuchet MS" pitchFamily="34" charset="-120"/>
              </a:rPr>
              <a:t>CURSO DE GRAFANA · 5 NOITES · 20 HORAS</a:t>
            </a:r>
            <a:endParaRPr lang="en-US" sz="1100" dirty="0"/>
          </a:p>
        </p:txBody>
      </p:sp>
      <p:sp>
        <p:nvSpPr>
          <p:cNvPr id="8" name="Text 5"/>
          <p:cNvSpPr/>
          <p:nvPr/>
        </p:nvSpPr>
        <p:spPr>
          <a:xfrm>
            <a:off x="457200" y="2011680"/>
            <a:ext cx="3657600" cy="822960"/>
          </a:xfrm>
          <a:prstGeom prst="rect">
            <a:avLst/>
          </a:prstGeom>
          <a:noFill/>
          <a:ln/>
        </p:spPr>
        <p:txBody>
          <a:bodyPr wrap="square" rtlCol="0" anchor="ctr"/>
          <a:lstStyle/>
          <a:p>
            <a:pPr indent="0" marL="0">
              <a:buNone/>
            </a:pPr>
            <a:r>
              <a:rPr lang="en-US" sz="4800" b="1" dirty="0">
                <a:solidFill>
                  <a:srgbClr val="000000"/>
                </a:solidFill>
                <a:latin typeface="Trebuchet MS" pitchFamily="34" charset="0"/>
                <a:ea typeface="Trebuchet MS" pitchFamily="34" charset="-122"/>
                <a:cs typeface="Trebuchet MS" pitchFamily="34" charset="-120"/>
              </a:rPr>
              <a:t>Visualizando</a:t>
            </a:r>
            <a:endParaRPr lang="en-US" sz="4800" dirty="0"/>
          </a:p>
        </p:txBody>
      </p:sp>
      <p:sp>
        <p:nvSpPr>
          <p:cNvPr id="9" name="Text 6"/>
          <p:cNvSpPr/>
          <p:nvPr/>
        </p:nvSpPr>
        <p:spPr>
          <a:xfrm>
            <a:off x="457200" y="2743200"/>
            <a:ext cx="3657600" cy="822960"/>
          </a:xfrm>
          <a:prstGeom prst="rect">
            <a:avLst/>
          </a:prstGeom>
          <a:noFill/>
          <a:ln/>
        </p:spPr>
        <p:txBody>
          <a:bodyPr wrap="square" rtlCol="0" anchor="ctr"/>
          <a:lstStyle/>
          <a:p>
            <a:pPr indent="0" marL="0">
              <a:buNone/>
            </a:pPr>
            <a:r>
              <a:rPr lang="en-US" sz="4800" b="1" dirty="0">
                <a:solidFill>
                  <a:schemeClr val="accent1"/>
                </a:solidFill>
                <a:latin typeface="Trebuchet MS" pitchFamily="34" charset="0"/>
                <a:ea typeface="Trebuchet MS" pitchFamily="34" charset="-122"/>
                <a:cs typeface="Trebuchet MS" pitchFamily="34" charset="-120"/>
              </a:rPr>
              <a:t>dados</a:t>
            </a:r>
            <a:endParaRPr lang="en-US" sz="4800" dirty="0"/>
          </a:p>
        </p:txBody>
      </p:sp>
      <p:sp>
        <p:nvSpPr>
          <p:cNvPr id="10" name="Text 7"/>
          <p:cNvSpPr/>
          <p:nvPr/>
        </p:nvSpPr>
        <p:spPr>
          <a:xfrm>
            <a:off x="457200" y="3611880"/>
            <a:ext cx="3657600" cy="365760"/>
          </a:xfrm>
          <a:prstGeom prst="rect">
            <a:avLst/>
          </a:prstGeom>
          <a:noFill/>
          <a:ln/>
        </p:spPr>
        <p:txBody>
          <a:bodyPr wrap="square" rtlCol="0" anchor="ctr"/>
          <a:lstStyle/>
          <a:p>
            <a:pPr indent="0" marL="0">
              <a:buNone/>
            </a:pPr>
            <a:r>
              <a:rPr lang="en-US" sz="1800" i="1" dirty="0">
                <a:solidFill>
                  <a:schemeClr val="accent4"/>
                </a:solidFill>
                <a:latin typeface="Trebuchet MS" pitchFamily="34" charset="0"/>
                <a:ea typeface="Trebuchet MS" pitchFamily="34" charset="-122"/>
                <a:cs typeface="Trebuchet MS" pitchFamily="34" charset="-120"/>
              </a:rPr>
              <a:t>com</a:t>
            </a:r>
            <a:endParaRPr lang="en-US" sz="1800" dirty="0"/>
          </a:p>
        </p:txBody>
      </p:sp>
      <p:sp>
        <p:nvSpPr>
          <p:cNvPr id="11" name="Text 8"/>
          <p:cNvSpPr/>
          <p:nvPr/>
        </p:nvSpPr>
        <p:spPr>
          <a:xfrm>
            <a:off x="457200" y="3931920"/>
            <a:ext cx="3657600" cy="822960"/>
          </a:xfrm>
          <a:prstGeom prst="rect">
            <a:avLst/>
          </a:prstGeom>
          <a:noFill/>
          <a:ln/>
        </p:spPr>
        <p:txBody>
          <a:bodyPr wrap="square" rtlCol="0" anchor="ctr"/>
          <a:lstStyle/>
          <a:p>
            <a:pPr indent="0" marL="0">
              <a:buNone/>
            </a:pPr>
            <a:r>
              <a:rPr lang="en-US" sz="4800" b="1" dirty="0">
                <a:solidFill>
                  <a:srgbClr val="000000"/>
                </a:solidFill>
                <a:latin typeface="Trebuchet MS" pitchFamily="34" charset="0"/>
                <a:ea typeface="Trebuchet MS" pitchFamily="34" charset="-122"/>
                <a:cs typeface="Trebuchet MS" pitchFamily="34" charset="-120"/>
              </a:rPr>
              <a:t>Grafana</a:t>
            </a:r>
            <a:endParaRPr lang="en-US" sz="4800" dirty="0"/>
          </a:p>
        </p:txBody>
      </p:sp>
      <p:sp>
        <p:nvSpPr>
          <p:cNvPr id="12" name="Shape 9"/>
          <p:cNvSpPr/>
          <p:nvPr/>
        </p:nvSpPr>
        <p:spPr>
          <a:xfrm>
            <a:off x="457200" y="4846320"/>
            <a:ext cx="1371600" cy="54864"/>
          </a:xfrm>
          <a:prstGeom prst="rect">
            <a:avLst/>
          </a:prstGeom>
          <a:solidFill>
            <a:schemeClr val="accent1"/>
          </a:solidFill>
          <a:ln w="12700">
            <a:solidFill>
              <a:schemeClr val="accent1"/>
            </a:solidFill>
            <a:prstDash val="solid"/>
          </a:ln>
        </p:spPr>
      </p:sp>
      <p:sp>
        <p:nvSpPr>
          <p:cNvPr id="13" name="Text 10"/>
          <p:cNvSpPr/>
          <p:nvPr/>
        </p:nvSpPr>
        <p:spPr>
          <a:xfrm>
            <a:off x="457200" y="5029200"/>
            <a:ext cx="4572000" cy="365760"/>
          </a:xfrm>
          <a:prstGeom prst="rect">
            <a:avLst/>
          </a:prstGeom>
          <a:noFill/>
          <a:ln/>
        </p:spPr>
        <p:txBody>
          <a:bodyPr wrap="square" rtlCol="0" anchor="ctr"/>
          <a:lstStyle/>
          <a:p>
            <a:pPr indent="0" marL="0">
              <a:buNone/>
            </a:pPr>
            <a:r>
              <a:rPr lang="en-US" sz="1600" b="1" dirty="0">
                <a:solidFill>
                  <a:srgbClr val="000000"/>
                </a:solidFill>
                <a:latin typeface="Trebuchet MS" pitchFamily="34" charset="0"/>
                <a:ea typeface="Trebuchet MS" pitchFamily="34" charset="-122"/>
                <a:cs typeface="Trebuchet MS" pitchFamily="34" charset="-120"/>
              </a:rPr>
              <a:t>Instrutor: Fábio Silva</a:t>
            </a:r>
            <a:endParaRPr lang="en-US" sz="1600" dirty="0"/>
          </a:p>
        </p:txBody>
      </p:sp>
      <p:sp>
        <p:nvSpPr>
          <p:cNvPr id="14" name="Text 11"/>
          <p:cNvSpPr/>
          <p:nvPr/>
        </p:nvSpPr>
        <p:spPr>
          <a:xfrm>
            <a:off x="457200" y="5394960"/>
            <a:ext cx="4572000" cy="274320"/>
          </a:xfrm>
          <a:prstGeom prst="rect">
            <a:avLst/>
          </a:prstGeom>
          <a:noFill/>
          <a:ln/>
        </p:spPr>
        <p:txBody>
          <a:bodyPr wrap="square" rtlCol="0" anchor="ctr"/>
          <a:lstStyle/>
          <a:p>
            <a:pPr indent="0" marL="0">
              <a:buNone/>
            </a:pPr>
            <a:r>
              <a:rPr lang="en-US" sz="1100" dirty="0">
                <a:solidFill>
                  <a:schemeClr val="accent2"/>
                </a:solidFill>
                <a:latin typeface="Trebuchet MS" pitchFamily="34" charset="0"/>
                <a:ea typeface="Trebuchet MS" pitchFamily="34" charset="-122"/>
                <a:cs typeface="Trebuchet MS" pitchFamily="34" charset="-120"/>
              </a:rPr>
              <a:t>Arquiteto de Soluções</a:t>
            </a:r>
            <a:endParaRPr lang="en-US" sz="1100" dirty="0"/>
          </a:p>
        </p:txBody>
      </p:sp>
      <p:sp>
        <p:nvSpPr>
          <p:cNvPr id="15" name="Text 12">
            <a:hlinkClick r:id="rId2" tooltip=""/>
          </p:cNvPr>
          <p:cNvSpPr/>
          <p:nvPr/>
        </p:nvSpPr>
        <p:spPr>
          <a:xfrm>
            <a:off x="457200" y="5669280"/>
            <a:ext cx="4572000" cy="274320"/>
          </a:xfrm>
          <a:prstGeom prst="rect">
            <a:avLst/>
          </a:prstGeom>
          <a:noFill/>
          <a:ln/>
        </p:spPr>
        <p:txBody>
          <a:bodyPr wrap="square" rtlCol="0" anchor="ctr"/>
          <a:lstStyle/>
          <a:p>
            <a:pPr indent="0" marL="0">
              <a:buNone/>
            </a:pPr>
            <a:r>
              <a:rPr lang="en-US" sz="1000" u="sng" dirty="0">
                <a:solidFill>
                  <a:schemeClr val="accent6"/>
                </a:solidFill>
                <a:latin typeface="Trebuchet MS" pitchFamily="34" charset="0"/>
                <a:ea typeface="Trebuchet MS" pitchFamily="34" charset="-122"/>
                <a:cs typeface="Trebuchet MS" pitchFamily="34" charset="-120"/>
                <a:hlinkClick r:id="rId2" invalidUrl="" action="" tgtFrame="" tooltip="" history="1" highlightClick="0" endSnd="0">
                  <a:extLst>
                    <a:ext uri="{A12FA001-AC4F-418D-AE19-62706E023703}">
                      <ahyp:hlinkClr xmlns:ahyp="http://schemas.microsoft.com/office/drawing/2018/hyperlinkcolor" val="tx"/>
                    </a:ext>
                  </a:extLst>
                </a:hlinkClick>
              </a:rPr>
              <a:t>www.linkedin.com/in/silvapfabio</a:t>
            </a:r>
            <a:endParaRPr lang="en-US" sz="1000" dirty="0"/>
          </a:p>
        </p:txBody>
      </p:sp>
      <p:sp>
        <p:nvSpPr>
          <p:cNvPr id="16" name="Text 13"/>
          <p:cNvSpPr/>
          <p:nvPr/>
        </p:nvSpPr>
        <p:spPr>
          <a:xfrm>
            <a:off x="9601200" y="365760"/>
            <a:ext cx="2286000" cy="274320"/>
          </a:xfrm>
          <a:prstGeom prst="rect">
            <a:avLst/>
          </a:prstGeom>
          <a:noFill/>
          <a:ln/>
        </p:spPr>
        <p:txBody>
          <a:bodyPr wrap="square" rtlCol="0" anchor="ctr"/>
          <a:lstStyle/>
          <a:p>
            <a:pPr algn="r" indent="0" marL="0">
              <a:buNone/>
            </a:pPr>
            <a:r>
              <a:rPr lang="en-US" sz="900" dirty="0">
                <a:solidFill>
                  <a:srgbClr val="000000"/>
                </a:solidFill>
                <a:latin typeface="Trebuchet MS" pitchFamily="34" charset="0"/>
                <a:ea typeface="Trebuchet MS" pitchFamily="34" charset="-122"/>
                <a:cs typeface="Trebuchet MS" pitchFamily="34" charset="-120"/>
              </a:rPr>
              <a:t>Siga a Green nas redes</a:t>
            </a:r>
            <a:endParaRPr lang="en-US" sz="900" dirty="0"/>
          </a:p>
        </p:txBody>
      </p:sp>
      <p:sp>
        <p:nvSpPr>
          <p:cNvPr id="17" name="Text 14"/>
          <p:cNvSpPr/>
          <p:nvPr/>
        </p:nvSpPr>
        <p:spPr>
          <a:xfrm>
            <a:off x="9601200" y="594360"/>
            <a:ext cx="2286000" cy="274320"/>
          </a:xfrm>
          <a:prstGeom prst="rect">
            <a:avLst/>
          </a:prstGeom>
          <a:noFill/>
          <a:ln/>
        </p:spPr>
        <p:txBody>
          <a:bodyPr wrap="square" rtlCol="0" anchor="ctr"/>
          <a:lstStyle/>
          <a:p>
            <a:pPr algn="r" indent="0" marL="0">
              <a:buNone/>
            </a:pPr>
            <a:r>
              <a:rPr lang="en-US" sz="1000" b="1" dirty="0">
                <a:solidFill>
                  <a:schemeClr val="accent2"/>
                </a:solidFill>
                <a:latin typeface="Trebuchet MS" pitchFamily="34" charset="0"/>
                <a:ea typeface="Trebuchet MS" pitchFamily="34" charset="-122"/>
                <a:cs typeface="Trebuchet MS" pitchFamily="34" charset="-120"/>
              </a:rPr>
              <a:t>@greentecnologia</a:t>
            </a:r>
            <a:endParaRPr lang="en-US" sz="1000" dirty="0"/>
          </a:p>
        </p:txBody>
      </p:sp>
      <p:sp>
        <p:nvSpPr>
          <p:cNvPr id="18" name="Text 15"/>
          <p:cNvSpPr/>
          <p:nvPr/>
        </p:nvSpPr>
        <p:spPr>
          <a:xfrm>
            <a:off x="9601200" y="914400"/>
            <a:ext cx="2286000" cy="365760"/>
          </a:xfrm>
          <a:prstGeom prst="rect">
            <a:avLst/>
          </a:prstGeom>
          <a:noFill/>
          <a:ln/>
        </p:spPr>
        <p:txBody>
          <a:bodyPr wrap="square" rtlCol="0" anchor="ctr"/>
          <a:lstStyle/>
          <a:p>
            <a:pPr algn="r" indent="0" marL="0">
              <a:buNone/>
            </a:pPr>
            <a:r>
              <a:rPr lang="en-US" sz="1600" b="1" dirty="0">
                <a:solidFill>
                  <a:schemeClr val="accent1"/>
                </a:solidFill>
                <a:latin typeface="Trebuchet MS" pitchFamily="34" charset="0"/>
                <a:ea typeface="Trebuchet MS" pitchFamily="34" charset="-122"/>
                <a:cs typeface="Trebuchet MS" pitchFamily="34" charset="-120"/>
              </a:rPr>
              <a:t>#Grafana!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SOBRE O INSTRUTOR</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Quem está conduzindo o curso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Arquiteto de Soluções</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Atuação em projetos de infraestrutura, observabilidade e plataformas de dados. Foco em entregar valor de negócio com stack open source (Grafana, Prometheus, Loki, Tempo).</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Observabilidade &amp; BI</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Vivência em monitoramento de aplicações, SRE, e visualização de dados. Integrei Grafana com Prometheus, Loki, Tempo, Zabbix e bancos SQL em ambientes produtivos.</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Linux &amp; DevOps</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Trabalho diário com Linux (Ubuntu/Debian), Docker, Docker Compose e pipelines. Todo lab do curso é executável de ponta a ponta, com scripts reais.</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LinkedIn / Contato</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www.linkedin.com/in/silvapfabio — para conexões, dúvidas pós-curso e troca de experiências com a turma.</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PÚBLICO-ALVO</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 quem se destina este treinamento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5029200" cy="438912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Arquitetos de Informação</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Service Delivery Managers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Analistas de Dados e Observabilidade</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Equipes de Operações e Performance</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Engenheiros de SRE, NOC e DevOps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Gestores que precisam entender o que a área técnica monitora</a:t>
            </a:r>
            <a:endParaRPr lang="en-US" sz="1600" dirty="0"/>
          </a:p>
        </p:txBody>
      </p:sp>
      <p:sp>
        <p:nvSpPr>
          <p:cNvPr id="11" name="Shape 8"/>
          <p:cNvSpPr/>
          <p:nvPr/>
        </p:nvSpPr>
        <p:spPr>
          <a:xfrm>
            <a:off x="5669280" y="2011680"/>
            <a:ext cx="3474720" cy="4389120"/>
          </a:xfrm>
          <a:prstGeom prst="roundRect">
            <a:avLst>
              <a:gd name="adj" fmla="val 2105"/>
            </a:avLst>
          </a:prstGeom>
          <a:solidFill>
            <a:schemeClr val="accent1"/>
          </a:solidFill>
          <a:ln w="12700">
            <a:solidFill>
              <a:schemeClr val="accent1"/>
            </a:solidFill>
            <a:prstDash val="solid"/>
          </a:ln>
        </p:spPr>
      </p:sp>
      <p:sp>
        <p:nvSpPr>
          <p:cNvPr id="12" name="Text 9"/>
          <p:cNvSpPr/>
          <p:nvPr/>
        </p:nvSpPr>
        <p:spPr>
          <a:xfrm>
            <a:off x="5897880" y="2148840"/>
            <a:ext cx="3017520" cy="41148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Curso básico-intermediário. Vamos do zero até provisionamento de dashboards em produção. Não exige Grafana prévio, mas o aluno precisa estar confortável com terminal Linux (Ubuntu) e conceitos de redes (porta, IP, serviço). Quem nunca abriu um terminal, avisa que eu ajudo.</a:t>
            </a:r>
            <a:endParaRPr lang="en-US" sz="1300" dirty="0"/>
          </a:p>
        </p:txBody>
      </p:sp>
      <p:pic>
        <p:nvPicPr>
          <p:cNvPr id="1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4" name="Text 1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3 / 110</a:t>
            </a:r>
            <a:endParaRPr lang="en-US" sz="1000" dirty="0"/>
          </a:p>
        </p:txBody>
      </p:sp>
      <p:sp>
        <p:nvSpPr>
          <p:cNvPr id="15" name="Text 1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RESULTADOS DE APRENDIZAGEM</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você vai aprender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O conceito de Observabilidade e seus pilares (Métricas, Logs e Traces)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Como navegar na interface do Grafana e explorar dashboards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Configuração de fontes de dados e construção de queries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Criação de visualizações impactantes e dashboards completos</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Uso de variáveis, alertas e boas práticas na plataforma</a:t>
            </a:r>
            <a:endParaRPr lang="en-US" sz="1600" dirty="0"/>
          </a:p>
          <a:p>
            <a:pPr marL="342900" indent="-342900">
              <a:spcAft>
                <a:spcPts val="600"/>
              </a:spcAft>
              <a:buSzPct val="100000"/>
              <a:buChar char="■"/>
            </a:pPr>
            <a:r>
              <a:rPr lang="en-US" sz="1600" dirty="0">
                <a:solidFill>
                  <a:srgbClr val="000000"/>
                </a:solidFill>
                <a:latin typeface="Trebuchet MS" pitchFamily="34" charset="0"/>
                <a:ea typeface="Trebuchet MS" pitchFamily="34" charset="-122"/>
                <a:cs typeface="Trebuchet MS" pitchFamily="34" charset="-120"/>
              </a:rPr>
              <a:t>Hands-on prático em cada módulo para consolidar o aprendizado</a:t>
            </a:r>
            <a:endParaRPr lang="en-US" sz="1600" dirty="0"/>
          </a:p>
        </p:txBody>
      </p:sp>
      <p:sp>
        <p:nvSpPr>
          <p:cNvPr id="11" name="Shape 8"/>
          <p:cNvSpPr/>
          <p:nvPr/>
        </p:nvSpPr>
        <p:spPr>
          <a:xfrm>
            <a:off x="457200" y="5486400"/>
            <a:ext cx="8686800" cy="822960"/>
          </a:xfrm>
          <a:prstGeom prst="roundRect">
            <a:avLst>
              <a:gd name="adj" fmla="val 8889"/>
            </a:avLst>
          </a:prstGeom>
          <a:solidFill>
            <a:schemeClr val="accent1"/>
          </a:solidFill>
          <a:ln w="12700">
            <a:solidFill>
              <a:schemeClr val="accent1"/>
            </a:solidFill>
            <a:prstDash val="solid"/>
          </a:ln>
        </p:spPr>
      </p:sp>
      <p:sp>
        <p:nvSpPr>
          <p:cNvPr id="12" name="Text 9"/>
          <p:cNvSpPr/>
          <p:nvPr/>
        </p:nvSpPr>
        <p:spPr>
          <a:xfrm>
            <a:off x="685800" y="5623560"/>
            <a:ext cx="8229600" cy="548640"/>
          </a:xfrm>
          <a:prstGeom prst="rect">
            <a:avLst/>
          </a:prstGeom>
          <a:noFill/>
          <a:ln/>
        </p:spPr>
        <p:txBody>
          <a:bodyPr wrap="square" rtlCol="0" anchor="t"/>
          <a:lstStyle/>
          <a:p>
            <a:pPr algn="l" indent="0" marL="0">
              <a:buNone/>
            </a:pPr>
            <a:r>
              <a:rPr lang="en-US" sz="1200" dirty="0">
                <a:solidFill>
                  <a:srgbClr val="000000"/>
                </a:solidFill>
                <a:latin typeface="Trebuchet MS" pitchFamily="34" charset="0"/>
                <a:ea typeface="Trebuchet MS" pitchFamily="34" charset="-122"/>
                <a:cs typeface="Trebuchet MS" pitchFamily="34" charset="-120"/>
              </a:rPr>
              <a:t>Em todas as noites, ao menos 50% do tempo é prática hands-on. Você sai do curso com dashboards e alertas funcionando na sua própria máquina (Ubuntu).</a:t>
            </a:r>
            <a:endParaRPr lang="en-US" sz="1200" dirty="0"/>
          </a:p>
        </p:txBody>
      </p:sp>
      <p:pic>
        <p:nvPicPr>
          <p:cNvPr id="1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4" name="Text 1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4 / 110</a:t>
            </a:r>
            <a:endParaRPr lang="en-US" sz="1000" dirty="0"/>
          </a:p>
        </p:txBody>
      </p:sp>
      <p:sp>
        <p:nvSpPr>
          <p:cNvPr id="15" name="Text 1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ESTRUTURA DO CURSO</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Roteiro das cinco noites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1371600"/>
          </a:xfrm>
          <a:prstGeom prst="roundRect">
            <a:avLst>
              <a:gd name="adj" fmla="val 4000"/>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N1</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Noite 1</a:t>
            </a:r>
            <a:endParaRPr lang="en-US" sz="1400" dirty="0"/>
          </a:p>
        </p:txBody>
      </p:sp>
      <p:sp>
        <p:nvSpPr>
          <p:cNvPr id="13" name="Text 10"/>
          <p:cNvSpPr/>
          <p:nvPr/>
        </p:nvSpPr>
        <p:spPr>
          <a:xfrm>
            <a:off x="594360" y="269748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Introdução · Observabilidade · Grafana 11 · Primeiro dashboard</a:t>
            </a:r>
            <a:endParaRPr lang="en-US" sz="1050" dirty="0"/>
          </a:p>
        </p:txBody>
      </p:sp>
      <p:sp>
        <p:nvSpPr>
          <p:cNvPr id="14" name="Shape 11"/>
          <p:cNvSpPr/>
          <p:nvPr/>
        </p:nvSpPr>
        <p:spPr>
          <a:xfrm>
            <a:off x="3413760" y="2011680"/>
            <a:ext cx="2773680" cy="1371600"/>
          </a:xfrm>
          <a:prstGeom prst="roundRect">
            <a:avLst>
              <a:gd name="adj" fmla="val 4000"/>
            </a:avLst>
          </a:prstGeom>
          <a:solidFill>
            <a:srgbClr val="000000"/>
          </a:solidFill>
          <a:ln w="12700">
            <a:solidFill>
              <a:schemeClr val="accent1"/>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N2</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Noite 2</a:t>
            </a:r>
            <a:endParaRPr lang="en-US" sz="1400" dirty="0"/>
          </a:p>
        </p:txBody>
      </p:sp>
      <p:sp>
        <p:nvSpPr>
          <p:cNvPr id="17" name="Text 14"/>
          <p:cNvSpPr/>
          <p:nvPr/>
        </p:nvSpPr>
        <p:spPr>
          <a:xfrm>
            <a:off x="3550920" y="269748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Variáveis · Alertas · cAdvisor (containers) · PromQL intermediário</a:t>
            </a:r>
            <a:endParaRPr lang="en-US" sz="1050" dirty="0"/>
          </a:p>
        </p:txBody>
      </p:sp>
      <p:sp>
        <p:nvSpPr>
          <p:cNvPr id="18" name="Shape 15"/>
          <p:cNvSpPr/>
          <p:nvPr/>
        </p:nvSpPr>
        <p:spPr>
          <a:xfrm>
            <a:off x="6370320" y="2011680"/>
            <a:ext cx="2773680" cy="1371600"/>
          </a:xfrm>
          <a:prstGeom prst="roundRect">
            <a:avLst>
              <a:gd name="adj" fmla="val 4000"/>
            </a:avLst>
          </a:prstGeom>
          <a:solidFill>
            <a:srgbClr val="000000"/>
          </a:solidFill>
          <a:ln w="12700">
            <a:solidFill>
              <a:schemeClr val="accent1"/>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N3</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Noite 3</a:t>
            </a:r>
            <a:endParaRPr lang="en-US" sz="1400" dirty="0"/>
          </a:p>
        </p:txBody>
      </p:sp>
      <p:sp>
        <p:nvSpPr>
          <p:cNvPr id="21" name="Text 18"/>
          <p:cNvSpPr/>
          <p:nvPr/>
        </p:nvSpPr>
        <p:spPr>
          <a:xfrm>
            <a:off x="6507480" y="269748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Instalação no Ubuntu (scripts .sh comentados) · systemd</a:t>
            </a:r>
            <a:endParaRPr lang="en-US" sz="1050" dirty="0"/>
          </a:p>
        </p:txBody>
      </p:sp>
      <p:sp>
        <p:nvSpPr>
          <p:cNvPr id="22" name="Shape 19"/>
          <p:cNvSpPr/>
          <p:nvPr/>
        </p:nvSpPr>
        <p:spPr>
          <a:xfrm>
            <a:off x="457200" y="3520440"/>
            <a:ext cx="2773680" cy="1371600"/>
          </a:xfrm>
          <a:prstGeom prst="roundRect">
            <a:avLst>
              <a:gd name="adj" fmla="val 4000"/>
            </a:avLst>
          </a:prstGeom>
          <a:solidFill>
            <a:srgbClr val="000000"/>
          </a:solidFill>
          <a:ln w="12700">
            <a:solidFill>
              <a:schemeClr val="accent1"/>
            </a:solidFill>
            <a:prstDash val="solid"/>
          </a:ln>
        </p:spPr>
      </p:sp>
      <p:sp>
        <p:nvSpPr>
          <p:cNvPr id="23" name="Text 20"/>
          <p:cNvSpPr/>
          <p:nvPr/>
        </p:nvSpPr>
        <p:spPr>
          <a:xfrm>
            <a:off x="594360" y="361188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N4</a:t>
            </a:r>
            <a:endParaRPr lang="en-US" sz="2600" dirty="0"/>
          </a:p>
        </p:txBody>
      </p:sp>
      <p:sp>
        <p:nvSpPr>
          <p:cNvPr id="24" name="Text 21"/>
          <p:cNvSpPr/>
          <p:nvPr/>
        </p:nvSpPr>
        <p:spPr>
          <a:xfrm>
            <a:off x="1188720" y="365760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Noite 4</a:t>
            </a:r>
            <a:endParaRPr lang="en-US" sz="1400" dirty="0"/>
          </a:p>
        </p:txBody>
      </p:sp>
      <p:sp>
        <p:nvSpPr>
          <p:cNvPr id="25" name="Text 22"/>
          <p:cNvSpPr/>
          <p:nvPr/>
        </p:nvSpPr>
        <p:spPr>
          <a:xfrm>
            <a:off x="594360" y="420624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File-based provisioning · Plugins · Loki (logs) · Tempo (traces)</a:t>
            </a:r>
            <a:endParaRPr lang="en-US" sz="1050" dirty="0"/>
          </a:p>
        </p:txBody>
      </p:sp>
      <p:sp>
        <p:nvSpPr>
          <p:cNvPr id="26" name="Shape 23"/>
          <p:cNvSpPr/>
          <p:nvPr/>
        </p:nvSpPr>
        <p:spPr>
          <a:xfrm>
            <a:off x="3413760" y="3520440"/>
            <a:ext cx="2773680" cy="1371600"/>
          </a:xfrm>
          <a:prstGeom prst="roundRect">
            <a:avLst>
              <a:gd name="adj" fmla="val 4000"/>
            </a:avLst>
          </a:prstGeom>
          <a:solidFill>
            <a:srgbClr val="000000"/>
          </a:solidFill>
          <a:ln w="12700">
            <a:solidFill>
              <a:schemeClr val="accent1"/>
            </a:solidFill>
            <a:prstDash val="solid"/>
          </a:ln>
        </p:spPr>
      </p:sp>
      <p:sp>
        <p:nvSpPr>
          <p:cNvPr id="27" name="Text 24"/>
          <p:cNvSpPr/>
          <p:nvPr/>
        </p:nvSpPr>
        <p:spPr>
          <a:xfrm>
            <a:off x="3550920" y="361188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N5</a:t>
            </a:r>
            <a:endParaRPr lang="en-US" sz="2600" dirty="0"/>
          </a:p>
        </p:txBody>
      </p:sp>
      <p:sp>
        <p:nvSpPr>
          <p:cNvPr id="28" name="Text 25"/>
          <p:cNvSpPr/>
          <p:nvPr/>
        </p:nvSpPr>
        <p:spPr>
          <a:xfrm>
            <a:off x="4145280" y="365760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Noite 5</a:t>
            </a:r>
            <a:endParaRPr lang="en-US" sz="1400" dirty="0"/>
          </a:p>
        </p:txBody>
      </p:sp>
      <p:sp>
        <p:nvSpPr>
          <p:cNvPr id="29" name="Text 26"/>
          <p:cNvSpPr/>
          <p:nvPr/>
        </p:nvSpPr>
        <p:spPr>
          <a:xfrm>
            <a:off x="3550920" y="420624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Stack LGTM · Correlação · Grafana Cloud · Caso real de troubleshooting</a:t>
            </a:r>
            <a:endParaRPr lang="en-US" sz="1050" dirty="0"/>
          </a:p>
        </p:txBody>
      </p:sp>
      <p:sp>
        <p:nvSpPr>
          <p:cNvPr id="30" name="Shape 27"/>
          <p:cNvSpPr/>
          <p:nvPr/>
        </p:nvSpPr>
        <p:spPr>
          <a:xfrm>
            <a:off x="6370320" y="3520440"/>
            <a:ext cx="2773680" cy="1371600"/>
          </a:xfrm>
          <a:prstGeom prst="roundRect">
            <a:avLst>
              <a:gd name="adj" fmla="val 4000"/>
            </a:avLst>
          </a:prstGeom>
          <a:solidFill>
            <a:srgbClr val="F0F7E0"/>
          </a:solidFill>
          <a:ln w="12700">
            <a:solidFill>
              <a:schemeClr val="accent2"/>
            </a:solidFill>
            <a:prstDash val="solid"/>
          </a:ln>
        </p:spPr>
      </p:sp>
      <p:sp>
        <p:nvSpPr>
          <p:cNvPr id="31" name="Text 28"/>
          <p:cNvSpPr/>
          <p:nvPr/>
        </p:nvSpPr>
        <p:spPr>
          <a:xfrm>
            <a:off x="6507480" y="361188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32" name="Text 29"/>
          <p:cNvSpPr/>
          <p:nvPr/>
        </p:nvSpPr>
        <p:spPr>
          <a:xfrm>
            <a:off x="7101840" y="365760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Total</a:t>
            </a:r>
            <a:endParaRPr lang="en-US" sz="1400" dirty="0"/>
          </a:p>
        </p:txBody>
      </p:sp>
      <p:sp>
        <p:nvSpPr>
          <p:cNvPr id="33" name="Text 30"/>
          <p:cNvSpPr/>
          <p:nvPr/>
        </p:nvSpPr>
        <p:spPr>
          <a:xfrm>
            <a:off x="6507480" y="4206240"/>
            <a:ext cx="2499360" cy="640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20 horas · 5 noites · 18:30 às 22:30 com 30min de intervalo</a:t>
            </a:r>
            <a:endParaRPr lang="en-US" sz="1050" dirty="0"/>
          </a:p>
        </p:txBody>
      </p:sp>
      <p:pic>
        <p:nvPicPr>
          <p:cNvPr id="3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5" name="Text 3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5 / 110</a:t>
            </a:r>
            <a:endParaRPr lang="en-US" sz="1000" dirty="0"/>
          </a:p>
        </p:txBody>
      </p:sp>
      <p:sp>
        <p:nvSpPr>
          <p:cNvPr id="36" name="Text 3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COMO FUNCIONA CADA NOITE</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ritmo das quatro horas e a infraestrutura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103120" cy="457200"/>
          </a:xfrm>
          <a:prstGeom prst="rect">
            <a:avLst/>
          </a:prstGeom>
          <a:solidFill>
            <a:schemeClr val="accent1"/>
          </a:solidFill>
          <a:ln w="12700">
            <a:solidFill>
              <a:schemeClr val="accent1"/>
            </a:solidFill>
            <a:prstDash val="solid"/>
          </a:ln>
        </p:spPr>
      </p:sp>
      <p:sp>
        <p:nvSpPr>
          <p:cNvPr id="11" name="Text 8"/>
          <p:cNvSpPr/>
          <p:nvPr/>
        </p:nvSpPr>
        <p:spPr>
          <a:xfrm>
            <a:off x="457200" y="2011680"/>
            <a:ext cx="2103120" cy="457200"/>
          </a:xfrm>
          <a:prstGeom prst="rect">
            <a:avLst/>
          </a:prstGeom>
          <a:noFill/>
          <a:ln/>
        </p:spPr>
        <p:txBody>
          <a:bodyPr wrap="square" rtlCol="0" anchor="ctr"/>
          <a:lstStyle/>
          <a:p>
            <a:pPr algn="ctr" indent="0" marL="0">
              <a:buNone/>
            </a:pPr>
            <a:r>
              <a:rPr lang="en-US" sz="1300" b="1" dirty="0">
                <a:solidFill>
                  <a:srgbClr val="000000"/>
                </a:solidFill>
                <a:latin typeface="Trebuchet MS" pitchFamily="34" charset="0"/>
                <a:ea typeface="Trebuchet MS" pitchFamily="34" charset="-122"/>
                <a:cs typeface="Trebuchet MS" pitchFamily="34" charset="-120"/>
              </a:rPr>
              <a:t>18:30</a:t>
            </a:r>
            <a:endParaRPr lang="en-US" sz="1300" dirty="0"/>
          </a:p>
        </p:txBody>
      </p:sp>
      <p:sp>
        <p:nvSpPr>
          <p:cNvPr id="12" name="Shape 9"/>
          <p:cNvSpPr/>
          <p:nvPr/>
        </p:nvSpPr>
        <p:spPr>
          <a:xfrm>
            <a:off x="457200" y="2468880"/>
            <a:ext cx="2103120" cy="1645920"/>
          </a:xfrm>
          <a:prstGeom prst="rect">
            <a:avLst/>
          </a:prstGeom>
          <a:solidFill>
            <a:srgbClr val="000000"/>
          </a:solidFill>
          <a:ln w="12700">
            <a:solidFill>
              <a:schemeClr val="accent1"/>
            </a:solidFill>
            <a:prstDash val="solid"/>
          </a:ln>
        </p:spPr>
      </p:sp>
      <p:sp>
        <p:nvSpPr>
          <p:cNvPr id="13" name="Text 10"/>
          <p:cNvSpPr/>
          <p:nvPr/>
        </p:nvSpPr>
        <p:spPr>
          <a:xfrm>
            <a:off x="548640" y="2560320"/>
            <a:ext cx="1920240" cy="32004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Teoria</a:t>
            </a:r>
            <a:endParaRPr lang="en-US" sz="1200" dirty="0"/>
          </a:p>
        </p:txBody>
      </p:sp>
      <p:sp>
        <p:nvSpPr>
          <p:cNvPr id="14" name="Text 11"/>
          <p:cNvSpPr/>
          <p:nvPr/>
        </p:nvSpPr>
        <p:spPr>
          <a:xfrm>
            <a:off x="548640" y="2926080"/>
            <a:ext cx="1920240" cy="1097280"/>
          </a:xfrm>
          <a:prstGeom prst="rect">
            <a:avLst/>
          </a:prstGeom>
          <a:noFill/>
          <a:ln/>
        </p:spPr>
        <p:txBody>
          <a:bodyPr wrap="square" rtlCol="0" anchor="t"/>
          <a:lstStyle/>
          <a:p>
            <a:pPr algn="ctr" indent="0" marL="0">
              <a:spcAft>
                <a:spcPts val="200"/>
              </a:spcAft>
              <a:buNone/>
            </a:pPr>
            <a:r>
              <a:rPr lang="en-US" sz="950" dirty="0">
                <a:solidFill>
                  <a:srgbClr val="000000"/>
                </a:solidFill>
                <a:latin typeface="Trebuchet MS" pitchFamily="34" charset="0"/>
                <a:ea typeface="Trebuchet MS" pitchFamily="34" charset="-122"/>
                <a:cs typeface="Trebuchet MS" pitchFamily="34" charset="-120"/>
              </a:rPr>
              <a:t>2h. Conceitos, navegação, exemplos. Slides densos com todos os tópicos e comandos.</a:t>
            </a:r>
            <a:endParaRPr lang="en-US" sz="950" dirty="0"/>
          </a:p>
        </p:txBody>
      </p:sp>
      <p:sp>
        <p:nvSpPr>
          <p:cNvPr id="15" name="Shape 12"/>
          <p:cNvSpPr/>
          <p:nvPr/>
        </p:nvSpPr>
        <p:spPr>
          <a:xfrm>
            <a:off x="2651760" y="2011680"/>
            <a:ext cx="2103120" cy="457200"/>
          </a:xfrm>
          <a:prstGeom prst="rect">
            <a:avLst/>
          </a:prstGeom>
          <a:solidFill>
            <a:schemeClr val="accent3"/>
          </a:solidFill>
          <a:ln w="12700">
            <a:solidFill>
              <a:schemeClr val="accent3"/>
            </a:solidFill>
            <a:prstDash val="solid"/>
          </a:ln>
        </p:spPr>
      </p:sp>
      <p:sp>
        <p:nvSpPr>
          <p:cNvPr id="16" name="Text 13"/>
          <p:cNvSpPr/>
          <p:nvPr/>
        </p:nvSpPr>
        <p:spPr>
          <a:xfrm>
            <a:off x="2651760" y="2011680"/>
            <a:ext cx="2103120" cy="457200"/>
          </a:xfrm>
          <a:prstGeom prst="rect">
            <a:avLst/>
          </a:prstGeom>
          <a:noFill/>
          <a:ln/>
        </p:spPr>
        <p:txBody>
          <a:bodyPr wrap="square" rtlCol="0" anchor="ctr"/>
          <a:lstStyle/>
          <a:p>
            <a:pPr algn="ctr" indent="0" marL="0">
              <a:buNone/>
            </a:pPr>
            <a:r>
              <a:rPr lang="en-US" sz="1300" b="1" dirty="0">
                <a:solidFill>
                  <a:srgbClr val="000000"/>
                </a:solidFill>
                <a:latin typeface="Trebuchet MS" pitchFamily="34" charset="0"/>
                <a:ea typeface="Trebuchet MS" pitchFamily="34" charset="-122"/>
                <a:cs typeface="Trebuchet MS" pitchFamily="34" charset="-120"/>
              </a:rPr>
              <a:t>20:30</a:t>
            </a:r>
            <a:endParaRPr lang="en-US" sz="1300" dirty="0"/>
          </a:p>
        </p:txBody>
      </p:sp>
      <p:sp>
        <p:nvSpPr>
          <p:cNvPr id="17" name="Shape 14"/>
          <p:cNvSpPr/>
          <p:nvPr/>
        </p:nvSpPr>
        <p:spPr>
          <a:xfrm>
            <a:off x="2651760" y="2468880"/>
            <a:ext cx="2103120" cy="1645920"/>
          </a:xfrm>
          <a:prstGeom prst="rect">
            <a:avLst/>
          </a:prstGeom>
          <a:solidFill>
            <a:srgbClr val="000000"/>
          </a:solidFill>
          <a:ln w="12700">
            <a:solidFill>
              <a:schemeClr val="accent3"/>
            </a:solidFill>
            <a:prstDash val="solid"/>
          </a:ln>
        </p:spPr>
      </p:sp>
      <p:sp>
        <p:nvSpPr>
          <p:cNvPr id="18" name="Text 15"/>
          <p:cNvSpPr/>
          <p:nvPr/>
        </p:nvSpPr>
        <p:spPr>
          <a:xfrm>
            <a:off x="2743200" y="2560320"/>
            <a:ext cx="1920240" cy="32004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Intervalo</a:t>
            </a:r>
            <a:endParaRPr lang="en-US" sz="1200" dirty="0"/>
          </a:p>
        </p:txBody>
      </p:sp>
      <p:sp>
        <p:nvSpPr>
          <p:cNvPr id="19" name="Text 16"/>
          <p:cNvSpPr/>
          <p:nvPr/>
        </p:nvSpPr>
        <p:spPr>
          <a:xfrm>
            <a:off x="2743200" y="2926080"/>
            <a:ext cx="1920240" cy="1097280"/>
          </a:xfrm>
          <a:prstGeom prst="rect">
            <a:avLst/>
          </a:prstGeom>
          <a:noFill/>
          <a:ln/>
        </p:spPr>
        <p:txBody>
          <a:bodyPr wrap="square" rtlCol="0" anchor="t"/>
          <a:lstStyle/>
          <a:p>
            <a:pPr algn="ctr" indent="0" marL="0">
              <a:spcAft>
                <a:spcPts val="200"/>
              </a:spcAft>
              <a:buNone/>
            </a:pPr>
            <a:r>
              <a:rPr lang="en-US" sz="950" dirty="0">
                <a:solidFill>
                  <a:srgbClr val="000000"/>
                </a:solidFill>
                <a:latin typeface="Trebuchet MS" pitchFamily="34" charset="0"/>
                <a:ea typeface="Trebuchet MS" pitchFamily="34" charset="-122"/>
                <a:cs typeface="Trebuchet MS" pitchFamily="34" charset="-120"/>
              </a:rPr>
              <a:t>30min. Levante, água, café, banheiro. Voltamos 21:00 em ponto.</a:t>
            </a:r>
            <a:endParaRPr lang="en-US" sz="950" dirty="0"/>
          </a:p>
        </p:txBody>
      </p:sp>
      <p:sp>
        <p:nvSpPr>
          <p:cNvPr id="20" name="Shape 17"/>
          <p:cNvSpPr/>
          <p:nvPr/>
        </p:nvSpPr>
        <p:spPr>
          <a:xfrm>
            <a:off x="4846320" y="2011680"/>
            <a:ext cx="2103120" cy="457200"/>
          </a:xfrm>
          <a:prstGeom prst="rect">
            <a:avLst/>
          </a:prstGeom>
          <a:solidFill>
            <a:schemeClr val="accent2"/>
          </a:solidFill>
          <a:ln w="12700">
            <a:solidFill>
              <a:schemeClr val="accent2"/>
            </a:solidFill>
            <a:prstDash val="solid"/>
          </a:ln>
        </p:spPr>
      </p:sp>
      <p:sp>
        <p:nvSpPr>
          <p:cNvPr id="21" name="Text 18"/>
          <p:cNvSpPr/>
          <p:nvPr/>
        </p:nvSpPr>
        <p:spPr>
          <a:xfrm>
            <a:off x="4846320" y="2011680"/>
            <a:ext cx="2103120" cy="457200"/>
          </a:xfrm>
          <a:prstGeom prst="rect">
            <a:avLst/>
          </a:prstGeom>
          <a:noFill/>
          <a:ln/>
        </p:spPr>
        <p:txBody>
          <a:bodyPr wrap="square" rtlCol="0" anchor="ctr"/>
          <a:lstStyle/>
          <a:p>
            <a:pPr algn="ctr" indent="0" marL="0">
              <a:buNone/>
            </a:pPr>
            <a:r>
              <a:rPr lang="en-US" sz="1300" b="1" dirty="0">
                <a:solidFill>
                  <a:srgbClr val="000000"/>
                </a:solidFill>
                <a:latin typeface="Trebuchet MS" pitchFamily="34" charset="0"/>
                <a:ea typeface="Trebuchet MS" pitchFamily="34" charset="-122"/>
                <a:cs typeface="Trebuchet MS" pitchFamily="34" charset="-120"/>
              </a:rPr>
              <a:t>21:00</a:t>
            </a:r>
            <a:endParaRPr lang="en-US" sz="1300" dirty="0"/>
          </a:p>
        </p:txBody>
      </p:sp>
      <p:sp>
        <p:nvSpPr>
          <p:cNvPr id="22" name="Shape 19"/>
          <p:cNvSpPr/>
          <p:nvPr/>
        </p:nvSpPr>
        <p:spPr>
          <a:xfrm>
            <a:off x="4846320" y="2468880"/>
            <a:ext cx="2103120" cy="1645920"/>
          </a:xfrm>
          <a:prstGeom prst="rect">
            <a:avLst/>
          </a:prstGeom>
          <a:solidFill>
            <a:srgbClr val="000000"/>
          </a:solidFill>
          <a:ln w="12700">
            <a:solidFill>
              <a:schemeClr val="accent2"/>
            </a:solidFill>
            <a:prstDash val="solid"/>
          </a:ln>
        </p:spPr>
      </p:sp>
      <p:sp>
        <p:nvSpPr>
          <p:cNvPr id="23" name="Text 20"/>
          <p:cNvSpPr/>
          <p:nvPr/>
        </p:nvSpPr>
        <p:spPr>
          <a:xfrm>
            <a:off x="4937760" y="2560320"/>
            <a:ext cx="1920240" cy="32004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Demo + Script</a:t>
            </a:r>
            <a:endParaRPr lang="en-US" sz="1200" dirty="0"/>
          </a:p>
        </p:txBody>
      </p:sp>
      <p:sp>
        <p:nvSpPr>
          <p:cNvPr id="24" name="Text 21"/>
          <p:cNvSpPr/>
          <p:nvPr/>
        </p:nvSpPr>
        <p:spPr>
          <a:xfrm>
            <a:off x="4937760" y="2926080"/>
            <a:ext cx="1920240" cy="1097280"/>
          </a:xfrm>
          <a:prstGeom prst="rect">
            <a:avLst/>
          </a:prstGeom>
          <a:noFill/>
          <a:ln/>
        </p:spPr>
        <p:txBody>
          <a:bodyPr wrap="square" rtlCol="0" anchor="t"/>
          <a:lstStyle/>
          <a:p>
            <a:pPr algn="ctr" indent="0" marL="0">
              <a:spcAft>
                <a:spcPts val="200"/>
              </a:spcAft>
              <a:buNone/>
            </a:pPr>
            <a:r>
              <a:rPr lang="en-US" sz="950" dirty="0">
                <a:solidFill>
                  <a:srgbClr val="000000"/>
                </a:solidFill>
                <a:latin typeface="Trebuchet MS" pitchFamily="34" charset="0"/>
                <a:ea typeface="Trebuchet MS" pitchFamily="34" charset="-122"/>
                <a:cs typeface="Trebuchet MS" pitchFamily="34" charset="-120"/>
              </a:rPr>
              <a:t>1h. Instrutor no Azure: mostra Grafana rodando E roda script Ubuntu comentado ao vivo.</a:t>
            </a:r>
            <a:endParaRPr lang="en-US" sz="950" dirty="0"/>
          </a:p>
        </p:txBody>
      </p:sp>
      <p:sp>
        <p:nvSpPr>
          <p:cNvPr id="25" name="Shape 22"/>
          <p:cNvSpPr/>
          <p:nvPr/>
        </p:nvSpPr>
        <p:spPr>
          <a:xfrm>
            <a:off x="7040880" y="2011680"/>
            <a:ext cx="2103120" cy="457200"/>
          </a:xfrm>
          <a:prstGeom prst="rect">
            <a:avLst/>
          </a:prstGeom>
          <a:solidFill>
            <a:schemeClr val="accent4"/>
          </a:solidFill>
          <a:ln w="12700">
            <a:solidFill>
              <a:schemeClr val="accent4"/>
            </a:solidFill>
            <a:prstDash val="solid"/>
          </a:ln>
        </p:spPr>
      </p:sp>
      <p:sp>
        <p:nvSpPr>
          <p:cNvPr id="26" name="Text 23"/>
          <p:cNvSpPr/>
          <p:nvPr/>
        </p:nvSpPr>
        <p:spPr>
          <a:xfrm>
            <a:off x="7040880" y="2011680"/>
            <a:ext cx="2103120" cy="457200"/>
          </a:xfrm>
          <a:prstGeom prst="rect">
            <a:avLst/>
          </a:prstGeom>
          <a:noFill/>
          <a:ln/>
        </p:spPr>
        <p:txBody>
          <a:bodyPr wrap="square" rtlCol="0" anchor="ctr"/>
          <a:lstStyle/>
          <a:p>
            <a:pPr algn="ctr" indent="0" marL="0">
              <a:buNone/>
            </a:pPr>
            <a:r>
              <a:rPr lang="en-US" sz="1300" b="1" dirty="0">
                <a:solidFill>
                  <a:srgbClr val="000000"/>
                </a:solidFill>
                <a:latin typeface="Trebuchet MS" pitchFamily="34" charset="0"/>
                <a:ea typeface="Trebuchet MS" pitchFamily="34" charset="-122"/>
                <a:cs typeface="Trebuchet MS" pitchFamily="34" charset="-120"/>
              </a:rPr>
              <a:t>22:00</a:t>
            </a:r>
            <a:endParaRPr lang="en-US" sz="1300" dirty="0"/>
          </a:p>
        </p:txBody>
      </p:sp>
      <p:sp>
        <p:nvSpPr>
          <p:cNvPr id="27" name="Shape 24"/>
          <p:cNvSpPr/>
          <p:nvPr/>
        </p:nvSpPr>
        <p:spPr>
          <a:xfrm>
            <a:off x="7040880" y="2468880"/>
            <a:ext cx="2103120" cy="1645920"/>
          </a:xfrm>
          <a:prstGeom prst="rect">
            <a:avLst/>
          </a:prstGeom>
          <a:solidFill>
            <a:srgbClr val="000000"/>
          </a:solidFill>
          <a:ln w="12700">
            <a:solidFill>
              <a:schemeClr val="accent4"/>
            </a:solidFill>
            <a:prstDash val="solid"/>
          </a:ln>
        </p:spPr>
      </p:sp>
      <p:sp>
        <p:nvSpPr>
          <p:cNvPr id="28" name="Text 25"/>
          <p:cNvSpPr/>
          <p:nvPr/>
        </p:nvSpPr>
        <p:spPr>
          <a:xfrm>
            <a:off x="7132320" y="2560320"/>
            <a:ext cx="1920240" cy="32004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Exercícios</a:t>
            </a:r>
            <a:endParaRPr lang="en-US" sz="1200" dirty="0"/>
          </a:p>
        </p:txBody>
      </p:sp>
      <p:sp>
        <p:nvSpPr>
          <p:cNvPr id="29" name="Text 26"/>
          <p:cNvSpPr/>
          <p:nvPr/>
        </p:nvSpPr>
        <p:spPr>
          <a:xfrm>
            <a:off x="7132320" y="2926080"/>
            <a:ext cx="1920240" cy="1097280"/>
          </a:xfrm>
          <a:prstGeom prst="rect">
            <a:avLst/>
          </a:prstGeom>
          <a:noFill/>
          <a:ln/>
        </p:spPr>
        <p:txBody>
          <a:bodyPr wrap="square" rtlCol="0" anchor="t"/>
          <a:lstStyle/>
          <a:p>
            <a:pPr algn="ctr" indent="0" marL="0">
              <a:spcAft>
                <a:spcPts val="200"/>
              </a:spcAft>
              <a:buNone/>
            </a:pPr>
            <a:r>
              <a:rPr lang="en-US" sz="950" dirty="0">
                <a:solidFill>
                  <a:srgbClr val="000000"/>
                </a:solidFill>
                <a:latin typeface="Trebuchet MS" pitchFamily="34" charset="0"/>
                <a:ea typeface="Trebuchet MS" pitchFamily="34" charset="-122"/>
                <a:cs typeface="Trebuchet MS" pitchFamily="34" charset="-120"/>
              </a:rPr>
              <a:t>30min. Aluno roda o lab no notebook (Ubuntu nativo OU Docker). Instrutor ajuda.</a:t>
            </a:r>
            <a:endParaRPr lang="en-US" sz="950" dirty="0"/>
          </a:p>
        </p:txBody>
      </p:sp>
      <p:sp>
        <p:nvSpPr>
          <p:cNvPr id="30" name="Shape 27"/>
          <p:cNvSpPr/>
          <p:nvPr/>
        </p:nvSpPr>
        <p:spPr>
          <a:xfrm>
            <a:off x="457200" y="4297680"/>
            <a:ext cx="4114800" cy="2194560"/>
          </a:xfrm>
          <a:prstGeom prst="rect">
            <a:avLst/>
          </a:prstGeom>
          <a:solidFill>
            <a:srgbClr val="F0F7E0"/>
          </a:solidFill>
          <a:ln w="19050">
            <a:solidFill>
              <a:schemeClr val="accent2"/>
            </a:solidFill>
            <a:prstDash val="solid"/>
          </a:ln>
        </p:spPr>
      </p:sp>
      <p:sp>
        <p:nvSpPr>
          <p:cNvPr id="31" name="Shape 28"/>
          <p:cNvSpPr/>
          <p:nvPr/>
        </p:nvSpPr>
        <p:spPr>
          <a:xfrm>
            <a:off x="457200" y="4297680"/>
            <a:ext cx="137160" cy="2194560"/>
          </a:xfrm>
          <a:prstGeom prst="rect">
            <a:avLst/>
          </a:prstGeom>
          <a:solidFill>
            <a:schemeClr val="accent2"/>
          </a:solidFill>
          <a:ln w="12700">
            <a:solidFill>
              <a:schemeClr val="accent2"/>
            </a:solidFill>
            <a:prstDash val="solid"/>
          </a:ln>
        </p:spPr>
      </p:sp>
      <p:sp>
        <p:nvSpPr>
          <p:cNvPr id="32" name="Text 29"/>
          <p:cNvSpPr/>
          <p:nvPr/>
        </p:nvSpPr>
        <p:spPr>
          <a:xfrm>
            <a:off x="731520" y="4389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33" name="Text 30"/>
          <p:cNvSpPr/>
          <p:nvPr/>
        </p:nvSpPr>
        <p:spPr>
          <a:xfrm>
            <a:off x="731520" y="4663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a:t>
            </a:r>
            <a:endParaRPr lang="en-US" sz="1400" dirty="0"/>
          </a:p>
        </p:txBody>
      </p:sp>
      <p:sp>
        <p:nvSpPr>
          <p:cNvPr id="34" name="Text 31"/>
          <p:cNvSpPr/>
          <p:nvPr/>
        </p:nvSpPr>
        <p:spPr>
          <a:xfrm>
            <a:off x="731520" y="5074920"/>
            <a:ext cx="3657600" cy="128016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VM-A: ambiente DEMO já rodando (Grafana, Prometheus, Node Exporter)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VM-B: ambiente LIMPO pra rodar scripts .sh comentados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Instrutor mostra no projetor. Vocês veem o terminal ao vivo</a:t>
            </a:r>
            <a:endParaRPr lang="en-US" sz="1100" dirty="0"/>
          </a:p>
        </p:txBody>
      </p:sp>
      <p:sp>
        <p:nvSpPr>
          <p:cNvPr id="35" name="Shape 32"/>
          <p:cNvSpPr/>
          <p:nvPr/>
        </p:nvSpPr>
        <p:spPr>
          <a:xfrm>
            <a:off x="4754880" y="4297680"/>
            <a:ext cx="4114800" cy="2194560"/>
          </a:xfrm>
          <a:prstGeom prst="rect">
            <a:avLst/>
          </a:prstGeom>
          <a:solidFill>
            <a:srgbClr val="FFF5E6"/>
          </a:solidFill>
          <a:ln w="19050">
            <a:solidFill>
              <a:schemeClr val="accent4"/>
            </a:solidFill>
            <a:prstDash val="solid"/>
          </a:ln>
        </p:spPr>
      </p:sp>
      <p:sp>
        <p:nvSpPr>
          <p:cNvPr id="36" name="Shape 33"/>
          <p:cNvSpPr/>
          <p:nvPr/>
        </p:nvSpPr>
        <p:spPr>
          <a:xfrm>
            <a:off x="4754880" y="4297680"/>
            <a:ext cx="137160" cy="2194560"/>
          </a:xfrm>
          <a:prstGeom prst="rect">
            <a:avLst/>
          </a:prstGeom>
          <a:solidFill>
            <a:schemeClr val="accent4"/>
          </a:solidFill>
          <a:ln w="12700">
            <a:solidFill>
              <a:schemeClr val="accent4"/>
            </a:solidFill>
            <a:prstDash val="solid"/>
          </a:ln>
        </p:spPr>
      </p:sp>
      <p:sp>
        <p:nvSpPr>
          <p:cNvPr id="37" name="Text 34"/>
          <p:cNvSpPr/>
          <p:nvPr/>
        </p:nvSpPr>
        <p:spPr>
          <a:xfrm>
            <a:off x="5029200" y="4389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38" name="Text 35"/>
          <p:cNvSpPr/>
          <p:nvPr/>
        </p:nvSpPr>
        <p:spPr>
          <a:xfrm>
            <a:off x="5029200" y="4663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local)</a:t>
            </a:r>
            <a:endParaRPr lang="en-US" sz="1400" dirty="0"/>
          </a:p>
        </p:txBody>
      </p:sp>
      <p:sp>
        <p:nvSpPr>
          <p:cNvPr id="39" name="Text 36"/>
          <p:cNvSpPr/>
          <p:nvPr/>
        </p:nvSpPr>
        <p:spPr>
          <a:xfrm>
            <a:off x="5029200" y="5074920"/>
            <a:ext cx="3657600" cy="128016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Notebook de vocês, Ubuntu nativo (preferencial) OU Docker (plano B)</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Os mesmos scripts e docker-compose do professor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Vocês rodam, eu circulo pra ajudar</a:t>
            </a:r>
            <a:endParaRPr lang="en-US" sz="1100" dirty="0"/>
          </a:p>
        </p:txBody>
      </p:sp>
      <p:pic>
        <p:nvPicPr>
          <p:cNvPr id="40"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41" name="Text 37"/>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6 / 110</a:t>
            </a:r>
            <a:endParaRPr lang="en-US" sz="1000" dirty="0"/>
          </a:p>
        </p:txBody>
      </p:sp>
      <p:sp>
        <p:nvSpPr>
          <p:cNvPr id="42" name="Text 38"/>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NOITE 01</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Introdução ao Grafana</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Conceitos fundamentais e primeiros passos</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7 / 110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1.1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é Observabilidade?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500" i="1" dirty="0">
                <a:solidFill>
                  <a:schemeClr val="accent2"/>
                </a:solidFill>
                <a:latin typeface="Trebuchet MS" pitchFamily="34" charset="0"/>
                <a:ea typeface="Trebuchet MS" pitchFamily="34" charset="-122"/>
                <a:cs typeface="Trebuchet MS" pitchFamily="34" charset="-120"/>
              </a:rPr>
              <a:t>"Você não consegue operar o que não consegue observar." — Charity Majors, fundadora da Honeycomb</a:t>
            </a:r>
            <a:endParaRPr lang="en-US" sz="1500" dirty="0"/>
          </a:p>
        </p:txBody>
      </p:sp>
      <p:sp>
        <p:nvSpPr>
          <p:cNvPr id="11" name="Text 8"/>
          <p:cNvSpPr/>
          <p:nvPr/>
        </p:nvSpPr>
        <p:spPr>
          <a:xfrm>
            <a:off x="457200" y="2743200"/>
            <a:ext cx="8686800" cy="3200400"/>
          </a:xfrm>
          <a:prstGeom prst="rect">
            <a:avLst/>
          </a:prstGeom>
          <a:noFill/>
          <a:ln/>
        </p:spPr>
        <p:txBody>
          <a:bodyPr wrap="square" rtlCol="0" anchor="t"/>
          <a:lstStyle/>
          <a:p>
            <a:pPr algn="l" indent="0" marL="0">
              <a:spcAft>
                <a:spcPts val="800"/>
              </a:spcAft>
              <a:buNone/>
            </a:pPr>
            <a:r>
              <a:rPr lang="en-US" sz="1400" dirty="0">
                <a:solidFill>
                  <a:srgbClr val="000000"/>
                </a:solidFill>
                <a:latin typeface="Trebuchet MS" pitchFamily="34" charset="0"/>
                <a:ea typeface="Trebuchet MS" pitchFamily="34" charset="-122"/>
                <a:cs typeface="Trebuchet MS" pitchFamily="34" charset="-120"/>
              </a:rPr>
              <a:t>Observabilidade é a prática de compreender sistemas complexos por meio da coleta e análise de métricas, logs e traces. Esses três pilares permitem que equipes de TI monitorem o comportamento de aplicações em tempo real, identifiquem falhas rapidamente e tomem decisões embasadas para otimizar desempenho.</a:t>
            </a:r>
            <a:endParaRPr lang="en-US" sz="1400" dirty="0"/>
          </a:p>
          <a:p>
            <a:pPr algn="l" indent="0" marL="0">
              <a:spcAft>
                <a:spcPts val="800"/>
              </a:spcAft>
              <a:buNone/>
            </a:pPr>
            <a:endParaRPr lang="en-US" sz="1400" dirty="0"/>
          </a:p>
          <a:p>
            <a:pPr algn="l" indent="0" marL="0">
              <a:spcAft>
                <a:spcPts val="800"/>
              </a:spcAft>
              <a:buNone/>
            </a:pPr>
            <a:r>
              <a:rPr lang="en-US" sz="1400" dirty="0">
                <a:solidFill>
                  <a:srgbClr val="000000"/>
                </a:solidFill>
                <a:latin typeface="Trebuchet MS" pitchFamily="34" charset="0"/>
                <a:ea typeface="Trebuchet MS" pitchFamily="34" charset="-122"/>
                <a:cs typeface="Trebuchet MS" pitchFamily="34" charset="-120"/>
              </a:rPr>
              <a:t>No contexto moderno, a observabilidade é considerada o coração das arquiteturas de software, pois garante visibilidade sobre cada camada da infraestrutura — do kernel do Linux até a resposta HTTP do usuário final.</a:t>
            </a:r>
            <a:endParaRPr lang="en-US" sz="1400" dirty="0"/>
          </a:p>
        </p:txBody>
      </p:sp>
      <p:sp>
        <p:nvSpPr>
          <p:cNvPr id="12" name="Shape 9"/>
          <p:cNvSpPr/>
          <p:nvPr/>
        </p:nvSpPr>
        <p:spPr>
          <a:xfrm>
            <a:off x="457200" y="5852160"/>
            <a:ext cx="8686800" cy="548640"/>
          </a:xfrm>
          <a:prstGeom prst="roundRect">
            <a:avLst>
              <a:gd name="adj" fmla="val 13333"/>
            </a:avLst>
          </a:prstGeom>
          <a:solidFill>
            <a:schemeClr val="accent1"/>
          </a:solidFill>
          <a:ln w="12700">
            <a:solidFill>
              <a:schemeClr val="accent1"/>
            </a:solidFill>
            <a:prstDash val="solid"/>
          </a:ln>
        </p:spPr>
      </p:sp>
      <p:sp>
        <p:nvSpPr>
          <p:cNvPr id="13" name="Text 10"/>
          <p:cNvSpPr/>
          <p:nvPr/>
        </p:nvSpPr>
        <p:spPr>
          <a:xfrm>
            <a:off x="685800" y="5989320"/>
            <a:ext cx="8229600" cy="274320"/>
          </a:xfrm>
          <a:prstGeom prst="rect">
            <a:avLst/>
          </a:prstGeom>
          <a:noFill/>
          <a:ln/>
        </p:spPr>
        <p:txBody>
          <a:bodyPr wrap="square" rtlCol="0" anchor="t"/>
          <a:lstStyle/>
          <a:p>
            <a:pPr algn="l" indent="0" marL="0">
              <a:buNone/>
            </a:pPr>
            <a:r>
              <a:rPr lang="en-US" sz="1100" dirty="0">
                <a:solidFill>
                  <a:srgbClr val="000000"/>
                </a:solidFill>
                <a:latin typeface="Trebuchet MS" pitchFamily="34" charset="0"/>
                <a:ea typeface="Trebuchet MS" pitchFamily="34" charset="-122"/>
                <a:cs typeface="Trebuchet MS" pitchFamily="34" charset="-120"/>
              </a:rPr>
              <a:t>Os 3 pilares da observabilidade: MÉTRICAS (Prometheus), LOGS (Loki) e TRACES (Tempo). O Grafana é a peça central que junta os três em um único painel.</a:t>
            </a:r>
            <a:endParaRPr lang="en-US" sz="1100" dirty="0"/>
          </a:p>
        </p:txBody>
      </p:sp>
      <p:pic>
        <p:nvPicPr>
          <p:cNvPr id="1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5" name="Text 1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8 / 110</a:t>
            </a:r>
            <a:endParaRPr lang="en-US" sz="1000" dirty="0"/>
          </a:p>
        </p:txBody>
      </p:sp>
      <p:sp>
        <p:nvSpPr>
          <p:cNvPr id="16" name="Text 1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1.2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Por que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5303520" cy="411480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Unifica TODAS as fontes de dados em uma única interface</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Suporta 150+ datasources prontos (Prometheus, MySQL, AWS, Azure...)</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Painéis arrastar-e-soltar, sem código</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Alertas nativos com severidades e routing</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100% open source (AGPLv3) — sem lock-in de fornecedor</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Comunidade gigante: 20M+ usuários no mundo</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Provisionamento via arquivo YAML (GitOps friendly)</a:t>
            </a:r>
            <a:endParaRPr lang="en-US" sz="1500" dirty="0"/>
          </a:p>
        </p:txBody>
      </p:sp>
      <p:sp>
        <p:nvSpPr>
          <p:cNvPr id="11" name="Shape 8"/>
          <p:cNvSpPr/>
          <p:nvPr/>
        </p:nvSpPr>
        <p:spPr>
          <a:xfrm>
            <a:off x="5943600" y="2011680"/>
            <a:ext cx="3200400" cy="4114800"/>
          </a:xfrm>
          <a:prstGeom prst="roundRect">
            <a:avLst>
              <a:gd name="adj" fmla="val 2286"/>
            </a:avLst>
          </a:prstGeom>
          <a:solidFill>
            <a:schemeClr val="accent1"/>
          </a:solidFill>
          <a:ln w="12700">
            <a:solidFill>
              <a:schemeClr val="accent1"/>
            </a:solidFill>
            <a:prstDash val="solid"/>
          </a:ln>
        </p:spPr>
      </p:sp>
      <p:sp>
        <p:nvSpPr>
          <p:cNvPr id="12" name="Text 9"/>
          <p:cNvSpPr/>
          <p:nvPr/>
        </p:nvSpPr>
        <p:spPr>
          <a:xfrm>
            <a:off x="6172200" y="2148840"/>
            <a:ext cx="2743200" cy="384048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Grafana NÃO é um TSDB. O Grafana é uma CAMADA DE VISUALIZAÇÃO que consulta fontes externas (Prometheus, InfluxDB, Elasticsearch, CloudWatch) e renderiza dashboards. O banco de verdade fica em outro lugar.</a:t>
            </a:r>
            <a:endParaRPr lang="en-US" sz="1300" dirty="0"/>
          </a:p>
        </p:txBody>
      </p:sp>
      <p:pic>
        <p:nvPicPr>
          <p:cNvPr id="1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4" name="Text 1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9 / 110</a:t>
            </a:r>
            <a:endParaRPr lang="en-US" sz="1000" dirty="0"/>
          </a:p>
        </p:txBody>
      </p:sp>
      <p:sp>
        <p:nvSpPr>
          <p:cNvPr id="15" name="Text 1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1.3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Os 3 pilares da observabilidade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4114800"/>
          </a:xfrm>
          <a:prstGeom prst="roundRect">
            <a:avLst>
              <a:gd name="adj" fmla="val 1978"/>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M</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Métricas</a:t>
            </a:r>
            <a:endParaRPr lang="en-US" sz="1400" dirty="0"/>
          </a:p>
        </p:txBody>
      </p:sp>
      <p:sp>
        <p:nvSpPr>
          <p:cNvPr id="13" name="Text 10"/>
          <p:cNvSpPr/>
          <p:nvPr/>
        </p:nvSpPr>
        <p:spPr>
          <a:xfrm>
            <a:off x="59436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Valores numéricos medidos ao longo do tempo. CPU, memória, requisições por segundo, latência. Vindas do Prometheus, Node Exporter, cAdvisor.</a:t>
            </a:r>
            <a:endParaRPr lang="en-US" sz="1050" dirty="0"/>
          </a:p>
        </p:txBody>
      </p:sp>
      <p:sp>
        <p:nvSpPr>
          <p:cNvPr id="14" name="Shape 11"/>
          <p:cNvSpPr/>
          <p:nvPr/>
        </p:nvSpPr>
        <p:spPr>
          <a:xfrm>
            <a:off x="3413760" y="2011680"/>
            <a:ext cx="2773680" cy="4114800"/>
          </a:xfrm>
          <a:prstGeom prst="roundRect">
            <a:avLst>
              <a:gd name="adj" fmla="val 1978"/>
            </a:avLst>
          </a:prstGeom>
          <a:solidFill>
            <a:srgbClr val="000000"/>
          </a:solidFill>
          <a:ln w="12700">
            <a:solidFill>
              <a:schemeClr val="accent1"/>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L</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Logs</a:t>
            </a:r>
            <a:endParaRPr lang="en-US" sz="1400" dirty="0"/>
          </a:p>
        </p:txBody>
      </p:sp>
      <p:sp>
        <p:nvSpPr>
          <p:cNvPr id="17" name="Text 14"/>
          <p:cNvSpPr/>
          <p:nvPr/>
        </p:nvSpPr>
        <p:spPr>
          <a:xfrm>
            <a:off x="355092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Eventos discretos com contexto. 'Conexão recusada na porta 5432'. Vindos do Loki, ElasticSearch, journald do Linux.</a:t>
            </a:r>
            <a:endParaRPr lang="en-US" sz="1050" dirty="0"/>
          </a:p>
        </p:txBody>
      </p:sp>
      <p:sp>
        <p:nvSpPr>
          <p:cNvPr id="18" name="Shape 15"/>
          <p:cNvSpPr/>
          <p:nvPr/>
        </p:nvSpPr>
        <p:spPr>
          <a:xfrm>
            <a:off x="6370320" y="2011680"/>
            <a:ext cx="2773680" cy="4114800"/>
          </a:xfrm>
          <a:prstGeom prst="roundRect">
            <a:avLst>
              <a:gd name="adj" fmla="val 1978"/>
            </a:avLst>
          </a:prstGeom>
          <a:solidFill>
            <a:srgbClr val="000000"/>
          </a:solidFill>
          <a:ln w="12700">
            <a:solidFill>
              <a:schemeClr val="accent1"/>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Traces</a:t>
            </a:r>
            <a:endParaRPr lang="en-US" sz="1400" dirty="0"/>
          </a:p>
        </p:txBody>
      </p:sp>
      <p:sp>
        <p:nvSpPr>
          <p:cNvPr id="21" name="Text 18"/>
          <p:cNvSpPr/>
          <p:nvPr/>
        </p:nvSpPr>
        <p:spPr>
          <a:xfrm>
            <a:off x="650748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Caminho de uma requisição através de múltiplos serviços. Vindos do Jaeger, Tempo, Zipkin. Onde o request travou?</a:t>
            </a:r>
            <a:endParaRPr lang="en-US" sz="105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10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1.4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Arquitetura do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Coleta</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Exporters (Node, cAdvisor, JMX) coletam métricas dos sistemas</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Armazenamento</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InfluxDB, Loki, Tempo armazenam os dados</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Visualização</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Grafana consulta via PromQL/LogQL e renderiza painéis</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Alerta</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Regras disparam, Alertmanager roteia, notificação chega</a:t>
            </a:r>
            <a:endParaRPr lang="en-US" sz="1000" dirty="0"/>
          </a:p>
        </p:txBody>
      </p:sp>
      <p:sp>
        <p:nvSpPr>
          <p:cNvPr id="26" name="Shape 23"/>
          <p:cNvSpPr/>
          <p:nvPr/>
        </p:nvSpPr>
        <p:spPr>
          <a:xfrm>
            <a:off x="457200" y="4572000"/>
            <a:ext cx="8686800" cy="1645920"/>
          </a:xfrm>
          <a:prstGeom prst="roundRect">
            <a:avLst>
              <a:gd name="adj" fmla="val 4444"/>
            </a:avLst>
          </a:prstGeom>
          <a:solidFill>
            <a:schemeClr val="accent1"/>
          </a:solidFill>
          <a:ln w="12700">
            <a:solidFill>
              <a:schemeClr val="accent1"/>
            </a:solidFill>
            <a:prstDash val="solid"/>
          </a:ln>
        </p:spPr>
      </p:sp>
      <p:sp>
        <p:nvSpPr>
          <p:cNvPr id="27" name="Text 24"/>
          <p:cNvSpPr/>
          <p:nvPr/>
        </p:nvSpPr>
        <p:spPr>
          <a:xfrm>
            <a:off x="685800" y="4709160"/>
            <a:ext cx="8229600" cy="1371600"/>
          </a:xfrm>
          <a:prstGeom prst="rect">
            <a:avLst/>
          </a:prstGeom>
          <a:noFill/>
          <a:ln/>
        </p:spPr>
        <p:txBody>
          <a:bodyPr wrap="square" rtlCol="0" anchor="t"/>
          <a:lstStyle/>
          <a:p>
            <a:pPr algn="l" indent="0" marL="0">
              <a:buNone/>
            </a:pPr>
            <a:r>
              <a:rPr lang="en-US" sz="1200" dirty="0">
                <a:solidFill>
                  <a:srgbClr val="000000"/>
                </a:solidFill>
                <a:latin typeface="Trebuchet MS" pitchFamily="34" charset="0"/>
                <a:ea typeface="Trebuchet MS" pitchFamily="34" charset="-122"/>
                <a:cs typeface="Trebuchet MS" pitchFamily="34" charset="-120"/>
              </a:rPr>
              <a:t>DATASOURCE = ponte entre Grafana e a fonte. Cada dashboard consulta 1+ datasources. PAINEL = unidade visual (gráfico, stat, tabela). DASHBOARD = agrupamento de painéis. VARIÁVEL = filtro dinâmico ($host, $region). ALERTA = regra que avalia query e notifica.</a:t>
            </a:r>
            <a:endParaRPr lang="en-US" sz="1200" dirty="0"/>
          </a:p>
        </p:txBody>
      </p:sp>
      <p:pic>
        <p:nvPicPr>
          <p:cNvPr id="2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9" name="Text 2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11 / 110</a:t>
            </a:r>
            <a:endParaRPr lang="en-US" sz="1000" dirty="0"/>
          </a:p>
        </p:txBody>
      </p:sp>
      <p:sp>
        <p:nvSpPr>
          <p:cNvPr id="30" name="Text 2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1.5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Edições e licenciamento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4114800"/>
          </a:xfrm>
          <a:prstGeom prst="roundRect">
            <a:avLst>
              <a:gd name="adj" fmla="val 1978"/>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OSS</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OSS</a:t>
            </a:r>
            <a:endParaRPr lang="en-US" sz="1400" dirty="0"/>
          </a:p>
        </p:txBody>
      </p:sp>
      <p:sp>
        <p:nvSpPr>
          <p:cNvPr id="13" name="Text 10"/>
          <p:cNvSpPr/>
          <p:nvPr/>
        </p:nvSpPr>
        <p:spPr>
          <a:xfrm>
            <a:off x="59436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AGPLv3 — gratuita, pode usar em produção. Dashboards, alertas, 1 organização, 1 admin. Ideal para times pequenos, projetos open source, aprendizado.</a:t>
            </a:r>
            <a:endParaRPr lang="en-US" sz="1050" dirty="0"/>
          </a:p>
        </p:txBody>
      </p:sp>
      <p:sp>
        <p:nvSpPr>
          <p:cNvPr id="14" name="Shape 11"/>
          <p:cNvSpPr/>
          <p:nvPr/>
        </p:nvSpPr>
        <p:spPr>
          <a:xfrm>
            <a:off x="3413760" y="2011680"/>
            <a:ext cx="2773680" cy="4114800"/>
          </a:xfrm>
          <a:prstGeom prst="roundRect">
            <a:avLst>
              <a:gd name="adj" fmla="val 1978"/>
            </a:avLst>
          </a:prstGeom>
          <a:solidFill>
            <a:srgbClr val="000000"/>
          </a:solidFill>
          <a:ln w="12700">
            <a:solidFill>
              <a:schemeClr val="accent1"/>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ENT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Enterprise</a:t>
            </a:r>
            <a:endParaRPr lang="en-US" sz="1400" dirty="0"/>
          </a:p>
        </p:txBody>
      </p:sp>
      <p:sp>
        <p:nvSpPr>
          <p:cNvPr id="17" name="Text 14"/>
          <p:cNvSpPr/>
          <p:nvPr/>
        </p:nvSpPr>
        <p:spPr>
          <a:xfrm>
            <a:off x="355092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Licença comercial anual. Multi-tenant, RBAC, audit log, reports agendados. Para empresas que precisam de SSO, compliance.</a:t>
            </a:r>
            <a:endParaRPr lang="en-US" sz="1050" dirty="0"/>
          </a:p>
        </p:txBody>
      </p:sp>
      <p:sp>
        <p:nvSpPr>
          <p:cNvPr id="18" name="Shape 15"/>
          <p:cNvSpPr/>
          <p:nvPr/>
        </p:nvSpPr>
        <p:spPr>
          <a:xfrm>
            <a:off x="6370320" y="2011680"/>
            <a:ext cx="2773680" cy="4114800"/>
          </a:xfrm>
          <a:prstGeom prst="roundRect">
            <a:avLst>
              <a:gd name="adj" fmla="val 1978"/>
            </a:avLst>
          </a:prstGeom>
          <a:solidFill>
            <a:srgbClr val="000000"/>
          </a:solidFill>
          <a:ln w="12700">
            <a:solidFill>
              <a:schemeClr val="accent1"/>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CLD</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Cloud</a:t>
            </a:r>
            <a:endParaRPr lang="en-US" sz="1400" dirty="0"/>
          </a:p>
        </p:txBody>
      </p:sp>
      <p:sp>
        <p:nvSpPr>
          <p:cNvPr id="21" name="Text 18"/>
          <p:cNvSpPr/>
          <p:nvPr/>
        </p:nvSpPr>
        <p:spPr>
          <a:xfrm>
            <a:off x="650748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SaaS pay-as-you-go. Tudo da Enterprise + hospedagem gerenciada. Free tier generoso. Prometheus/Loki/Tempo incluídos como serviço.</a:t>
            </a:r>
            <a:endParaRPr lang="en-US" sz="105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12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ANATOMIA 1.6</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Os 5 componentes do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1591056" cy="4114800"/>
          </a:xfrm>
          <a:prstGeom prst="roundRect">
            <a:avLst>
              <a:gd name="adj" fmla="val 3448"/>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1</a:t>
            </a:r>
            <a:endParaRPr lang="en-US" sz="2600" dirty="0"/>
          </a:p>
        </p:txBody>
      </p:sp>
      <p:sp>
        <p:nvSpPr>
          <p:cNvPr id="12" name="Text 9"/>
          <p:cNvSpPr/>
          <p:nvPr/>
        </p:nvSpPr>
        <p:spPr>
          <a:xfrm>
            <a:off x="1188720"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Datasource</a:t>
            </a:r>
            <a:endParaRPr lang="en-US" sz="1400" dirty="0"/>
          </a:p>
        </p:txBody>
      </p:sp>
      <p:sp>
        <p:nvSpPr>
          <p:cNvPr id="13" name="Text 10"/>
          <p:cNvSpPr/>
          <p:nvPr/>
        </p:nvSpPr>
        <p:spPr>
          <a:xfrm>
            <a:off x="594360"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Conexão com a fonte de dados. Configura URL, autenticação, scrape interval. Pode ser provisionado por YAML.</a:t>
            </a:r>
            <a:endParaRPr lang="en-US" sz="1050" dirty="0"/>
          </a:p>
        </p:txBody>
      </p:sp>
      <p:sp>
        <p:nvSpPr>
          <p:cNvPr id="14" name="Shape 11"/>
          <p:cNvSpPr/>
          <p:nvPr/>
        </p:nvSpPr>
        <p:spPr>
          <a:xfrm>
            <a:off x="2231136" y="2011680"/>
            <a:ext cx="1591056" cy="4114800"/>
          </a:xfrm>
          <a:prstGeom prst="roundRect">
            <a:avLst>
              <a:gd name="adj" fmla="val 3448"/>
            </a:avLst>
          </a:prstGeom>
          <a:solidFill>
            <a:srgbClr val="000000"/>
          </a:solidFill>
          <a:ln w="12700">
            <a:solidFill>
              <a:schemeClr val="accent1"/>
            </a:solidFill>
            <a:prstDash val="solid"/>
          </a:ln>
        </p:spPr>
      </p:sp>
      <p:sp>
        <p:nvSpPr>
          <p:cNvPr id="15" name="Text 12"/>
          <p:cNvSpPr/>
          <p:nvPr/>
        </p:nvSpPr>
        <p:spPr>
          <a:xfrm>
            <a:off x="2368296"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2</a:t>
            </a:r>
            <a:endParaRPr lang="en-US" sz="2600" dirty="0"/>
          </a:p>
        </p:txBody>
      </p:sp>
      <p:sp>
        <p:nvSpPr>
          <p:cNvPr id="16" name="Text 13"/>
          <p:cNvSpPr/>
          <p:nvPr/>
        </p:nvSpPr>
        <p:spPr>
          <a:xfrm>
            <a:off x="2962656"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Dashboard</a:t>
            </a:r>
            <a:endParaRPr lang="en-US" sz="1400" dirty="0"/>
          </a:p>
        </p:txBody>
      </p:sp>
      <p:sp>
        <p:nvSpPr>
          <p:cNvPr id="17" name="Text 14"/>
          <p:cNvSpPr/>
          <p:nvPr/>
        </p:nvSpPr>
        <p:spPr>
          <a:xfrm>
            <a:off x="2368296"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Tela com 1+ painéis. Pode ser público, compartilhado por link, ou versionado em Git.</a:t>
            </a:r>
            <a:endParaRPr lang="en-US" sz="1050" dirty="0"/>
          </a:p>
        </p:txBody>
      </p:sp>
      <p:sp>
        <p:nvSpPr>
          <p:cNvPr id="18" name="Shape 15"/>
          <p:cNvSpPr/>
          <p:nvPr/>
        </p:nvSpPr>
        <p:spPr>
          <a:xfrm>
            <a:off x="4005072" y="2011680"/>
            <a:ext cx="1591056" cy="4114800"/>
          </a:xfrm>
          <a:prstGeom prst="roundRect">
            <a:avLst>
              <a:gd name="adj" fmla="val 3448"/>
            </a:avLst>
          </a:prstGeom>
          <a:solidFill>
            <a:srgbClr val="000000"/>
          </a:solidFill>
          <a:ln w="12700">
            <a:solidFill>
              <a:schemeClr val="accent1"/>
            </a:solidFill>
            <a:prstDash val="solid"/>
          </a:ln>
        </p:spPr>
      </p:sp>
      <p:sp>
        <p:nvSpPr>
          <p:cNvPr id="19" name="Text 16"/>
          <p:cNvSpPr/>
          <p:nvPr/>
        </p:nvSpPr>
        <p:spPr>
          <a:xfrm>
            <a:off x="4142232"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3</a:t>
            </a:r>
            <a:endParaRPr lang="en-US" sz="2600" dirty="0"/>
          </a:p>
        </p:txBody>
      </p:sp>
      <p:sp>
        <p:nvSpPr>
          <p:cNvPr id="20" name="Text 17"/>
          <p:cNvSpPr/>
          <p:nvPr/>
        </p:nvSpPr>
        <p:spPr>
          <a:xfrm>
            <a:off x="4736592"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Painel</a:t>
            </a:r>
            <a:endParaRPr lang="en-US" sz="1400" dirty="0"/>
          </a:p>
        </p:txBody>
      </p:sp>
      <p:sp>
        <p:nvSpPr>
          <p:cNvPr id="21" name="Text 18"/>
          <p:cNvSpPr/>
          <p:nvPr/>
        </p:nvSpPr>
        <p:spPr>
          <a:xfrm>
            <a:off x="4142232"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Widget visual: time series, stat, gauge, bar gauge, heatmap, table, geomap, pie chart.</a:t>
            </a:r>
            <a:endParaRPr lang="en-US" sz="1050" dirty="0"/>
          </a:p>
        </p:txBody>
      </p:sp>
      <p:sp>
        <p:nvSpPr>
          <p:cNvPr id="22" name="Shape 19"/>
          <p:cNvSpPr/>
          <p:nvPr/>
        </p:nvSpPr>
        <p:spPr>
          <a:xfrm>
            <a:off x="5779008" y="2011680"/>
            <a:ext cx="1591056" cy="4114800"/>
          </a:xfrm>
          <a:prstGeom prst="roundRect">
            <a:avLst>
              <a:gd name="adj" fmla="val 3448"/>
            </a:avLst>
          </a:prstGeom>
          <a:solidFill>
            <a:srgbClr val="000000"/>
          </a:solidFill>
          <a:ln w="12700">
            <a:solidFill>
              <a:schemeClr val="accent1"/>
            </a:solidFill>
            <a:prstDash val="solid"/>
          </a:ln>
        </p:spPr>
      </p:sp>
      <p:sp>
        <p:nvSpPr>
          <p:cNvPr id="23" name="Text 20"/>
          <p:cNvSpPr/>
          <p:nvPr/>
        </p:nvSpPr>
        <p:spPr>
          <a:xfrm>
            <a:off x="5916168"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4</a:t>
            </a:r>
            <a:endParaRPr lang="en-US" sz="2600" dirty="0"/>
          </a:p>
        </p:txBody>
      </p:sp>
      <p:sp>
        <p:nvSpPr>
          <p:cNvPr id="24" name="Text 21"/>
          <p:cNvSpPr/>
          <p:nvPr/>
        </p:nvSpPr>
        <p:spPr>
          <a:xfrm>
            <a:off x="6510528"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Variável</a:t>
            </a:r>
            <a:endParaRPr lang="en-US" sz="1400" dirty="0"/>
          </a:p>
        </p:txBody>
      </p:sp>
      <p:sp>
        <p:nvSpPr>
          <p:cNvPr id="25" name="Text 22"/>
          <p:cNvSpPr/>
          <p:nvPr/>
        </p:nvSpPr>
        <p:spPr>
          <a:xfrm>
            <a:off x="5916168"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Filtro dinâmico. $host, $region, $__interval. Aparece como dropdown no topo do dashboard.</a:t>
            </a:r>
            <a:endParaRPr lang="en-US" sz="1050" dirty="0"/>
          </a:p>
        </p:txBody>
      </p:sp>
      <p:sp>
        <p:nvSpPr>
          <p:cNvPr id="26" name="Shape 23"/>
          <p:cNvSpPr/>
          <p:nvPr/>
        </p:nvSpPr>
        <p:spPr>
          <a:xfrm>
            <a:off x="7552944" y="2011680"/>
            <a:ext cx="1591056" cy="4114800"/>
          </a:xfrm>
          <a:prstGeom prst="roundRect">
            <a:avLst>
              <a:gd name="adj" fmla="val 3448"/>
            </a:avLst>
          </a:prstGeom>
          <a:solidFill>
            <a:srgbClr val="000000"/>
          </a:solidFill>
          <a:ln w="12700">
            <a:solidFill>
              <a:schemeClr val="accent1"/>
            </a:solidFill>
            <a:prstDash val="solid"/>
          </a:ln>
        </p:spPr>
      </p:sp>
      <p:sp>
        <p:nvSpPr>
          <p:cNvPr id="27" name="Text 24"/>
          <p:cNvSpPr/>
          <p:nvPr/>
        </p:nvSpPr>
        <p:spPr>
          <a:xfrm>
            <a:off x="7690104"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5</a:t>
            </a:r>
            <a:endParaRPr lang="en-US" sz="2600" dirty="0"/>
          </a:p>
        </p:txBody>
      </p:sp>
      <p:sp>
        <p:nvSpPr>
          <p:cNvPr id="28" name="Text 25"/>
          <p:cNvSpPr/>
          <p:nvPr/>
        </p:nvSpPr>
        <p:spPr>
          <a:xfrm>
            <a:off x="8284464"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Alerta</a:t>
            </a:r>
            <a:endParaRPr lang="en-US" sz="1400" dirty="0"/>
          </a:p>
        </p:txBody>
      </p:sp>
      <p:sp>
        <p:nvSpPr>
          <p:cNvPr id="29" name="Text 26"/>
          <p:cNvSpPr/>
          <p:nvPr/>
        </p:nvSpPr>
        <p:spPr>
          <a:xfrm>
            <a:off x="7690104"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Regra que avalia query periodicamente. Severidade: info, warning, critical. Dispara notificação.</a:t>
            </a:r>
            <a:endParaRPr lang="en-US" sz="1050" dirty="0"/>
          </a:p>
        </p:txBody>
      </p:sp>
      <p:pic>
        <p:nvPicPr>
          <p:cNvPr id="30"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1" name="Text 27"/>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13 / 110</a:t>
            </a:r>
            <a:endParaRPr lang="en-US" sz="1000" dirty="0"/>
          </a:p>
        </p:txBody>
      </p:sp>
      <p:sp>
        <p:nvSpPr>
          <p:cNvPr id="32" name="Text 28"/>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EXEMPLO 1.7</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Métrica: o que é, na prática?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64008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Uma métrica é uma série temporal — uma sequência de pontos (timestamp, valor) coletada ao longo do tempo. Cada combinação de labels (cpu=core0, mode=user) vira uma série independente.</a:t>
            </a:r>
            <a:endParaRPr lang="en-US" sz="1400" dirty="0"/>
          </a:p>
        </p:txBody>
      </p:sp>
      <p:sp>
        <p:nvSpPr>
          <p:cNvPr id="11" name="Shape 8"/>
          <p:cNvSpPr/>
          <p:nvPr/>
        </p:nvSpPr>
        <p:spPr>
          <a:xfrm>
            <a:off x="457200" y="2743200"/>
            <a:ext cx="8686800" cy="3200400"/>
          </a:xfrm>
          <a:prstGeom prst="rect">
            <a:avLst/>
          </a:prstGeom>
          <a:solidFill>
            <a:srgbClr val="F5F5F5"/>
          </a:solidFill>
          <a:ln w="12700">
            <a:solidFill>
              <a:srgbClr val="D1D5DB"/>
            </a:solidFill>
            <a:prstDash val="solid"/>
          </a:ln>
        </p:spPr>
      </p:sp>
      <p:sp>
        <p:nvSpPr>
          <p:cNvPr id="12" name="Shape 9"/>
          <p:cNvSpPr/>
          <p:nvPr/>
        </p:nvSpPr>
        <p:spPr>
          <a:xfrm>
            <a:off x="457200" y="2743200"/>
            <a:ext cx="73152" cy="3200400"/>
          </a:xfrm>
          <a:prstGeom prst="rect">
            <a:avLst/>
          </a:prstGeom>
          <a:solidFill>
            <a:schemeClr val="accent1"/>
          </a:solidFill>
          <a:ln w="12700">
            <a:solidFill>
              <a:schemeClr val="accent1"/>
            </a:solidFill>
            <a:prstDash val="solid"/>
          </a:ln>
        </p:spPr>
      </p:sp>
      <p:sp>
        <p:nvSpPr>
          <p:cNvPr id="13" name="Shape 10"/>
          <p:cNvSpPr/>
          <p:nvPr/>
        </p:nvSpPr>
        <p:spPr>
          <a:xfrm>
            <a:off x="457200" y="2743200"/>
            <a:ext cx="8686800" cy="274320"/>
          </a:xfrm>
          <a:prstGeom prst="rect">
            <a:avLst/>
          </a:prstGeom>
          <a:solidFill>
            <a:srgbClr val="2C3C43"/>
          </a:solidFill>
          <a:ln w="12700">
            <a:solidFill>
              <a:srgbClr val="2C3C43"/>
            </a:solidFill>
            <a:prstDash val="solid"/>
          </a:ln>
        </p:spPr>
      </p:sp>
      <p:sp>
        <p:nvSpPr>
          <p:cNvPr id="14" name="Text 11"/>
          <p:cNvSpPr/>
          <p:nvPr/>
        </p:nvSpPr>
        <p:spPr>
          <a:xfrm>
            <a:off x="640080" y="27614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queries exemplo (Node Exporter)</a:t>
            </a:r>
            <a:endParaRPr lang="en-US" sz="1000" dirty="0"/>
          </a:p>
        </p:txBody>
      </p:sp>
      <p:sp>
        <p:nvSpPr>
          <p:cNvPr id="15" name="Text 12"/>
          <p:cNvSpPr/>
          <p:nvPr/>
        </p:nvSpPr>
        <p:spPr>
          <a:xfrm>
            <a:off x="640080" y="309067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Counter bruto — cresce a cada segundo que a CPU fica em uso: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node_cpu_seconds_total{cpu="cpu0", mode="user"}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2026-10-18 18:30:00  1234.56</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2026-10-18 18:30:15  1234.71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2026-10-18 18:30:30  1234.89</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2026-10-18 18:30:45  1235.02</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Velocidade (CPU por segundo):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rate(node_cpu_seconds_total[1m])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CPU em % (idle = ociosa, 100 - idle = uso):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100 - (avg by(instance) (rate(node_cpu_seconds_total{mode="idle"}[5m])) * 100)</a:t>
            </a:r>
            <a:endParaRPr lang="en-US" sz="1200" dirty="0"/>
          </a:p>
        </p:txBody>
      </p:sp>
      <p:pic>
        <p:nvPicPr>
          <p:cNvPr id="1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7" name="Text 1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14 / 110</a:t>
            </a:r>
            <a:endParaRPr lang="en-US" sz="1000" dirty="0"/>
          </a:p>
        </p:txBody>
      </p:sp>
      <p:sp>
        <p:nvSpPr>
          <p:cNvPr id="18" name="Text 1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EXEMPLO 1.8</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Como uma requisição vira um gráfico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00584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00584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164592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1. Exportador</a:t>
            </a:r>
            <a:endParaRPr lang="en-US" sz="1200" dirty="0"/>
          </a:p>
        </p:txBody>
      </p:sp>
      <p:sp>
        <p:nvSpPr>
          <p:cNvPr id="13" name="Text 10"/>
          <p:cNvSpPr/>
          <p:nvPr/>
        </p:nvSpPr>
        <p:spPr>
          <a:xfrm>
            <a:off x="502920" y="3200400"/>
            <a:ext cx="164592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Node Exporter expõe /metrics na porta 9100</a:t>
            </a:r>
            <a:endParaRPr lang="en-US" sz="1000" dirty="0"/>
          </a:p>
        </p:txBody>
      </p:sp>
      <p:sp>
        <p:nvSpPr>
          <p:cNvPr id="14" name="Shape 11"/>
          <p:cNvSpPr/>
          <p:nvPr/>
        </p:nvSpPr>
        <p:spPr>
          <a:xfrm>
            <a:off x="274320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274320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240280" y="2788920"/>
            <a:ext cx="164592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2. Scrape</a:t>
            </a:r>
            <a:endParaRPr lang="en-US" sz="1200" dirty="0"/>
          </a:p>
        </p:txBody>
      </p:sp>
      <p:sp>
        <p:nvSpPr>
          <p:cNvPr id="17" name="Text 14"/>
          <p:cNvSpPr/>
          <p:nvPr/>
        </p:nvSpPr>
        <p:spPr>
          <a:xfrm>
            <a:off x="2240280" y="3200400"/>
            <a:ext cx="164592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faz pull a cada 15s: GET /metrics</a:t>
            </a:r>
            <a:endParaRPr lang="en-US" sz="1000" dirty="0"/>
          </a:p>
        </p:txBody>
      </p:sp>
      <p:sp>
        <p:nvSpPr>
          <p:cNvPr id="18" name="Shape 15"/>
          <p:cNvSpPr/>
          <p:nvPr/>
        </p:nvSpPr>
        <p:spPr>
          <a:xfrm>
            <a:off x="448056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448056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3977640" y="2788920"/>
            <a:ext cx="164592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3. Storage</a:t>
            </a:r>
            <a:endParaRPr lang="en-US" sz="1200" dirty="0"/>
          </a:p>
        </p:txBody>
      </p:sp>
      <p:sp>
        <p:nvSpPr>
          <p:cNvPr id="21" name="Text 18"/>
          <p:cNvSpPr/>
          <p:nvPr/>
        </p:nvSpPr>
        <p:spPr>
          <a:xfrm>
            <a:off x="3977640" y="3200400"/>
            <a:ext cx="164592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grava (ts, métrica, valor) no TSDB</a:t>
            </a:r>
            <a:endParaRPr lang="en-US" sz="1000" dirty="0"/>
          </a:p>
        </p:txBody>
      </p:sp>
      <p:sp>
        <p:nvSpPr>
          <p:cNvPr id="22" name="Shape 19"/>
          <p:cNvSpPr/>
          <p:nvPr/>
        </p:nvSpPr>
        <p:spPr>
          <a:xfrm>
            <a:off x="621792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621792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5715000" y="2788920"/>
            <a:ext cx="164592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4. Query</a:t>
            </a:r>
            <a:endParaRPr lang="en-US" sz="1200" dirty="0"/>
          </a:p>
        </p:txBody>
      </p:sp>
      <p:sp>
        <p:nvSpPr>
          <p:cNvPr id="25" name="Text 22"/>
          <p:cNvSpPr/>
          <p:nvPr/>
        </p:nvSpPr>
        <p:spPr>
          <a:xfrm>
            <a:off x="5715000" y="3200400"/>
            <a:ext cx="164592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Grafana envia PromQL: rate(...[5m])</a:t>
            </a:r>
            <a:endParaRPr lang="en-US" sz="1000" dirty="0"/>
          </a:p>
        </p:txBody>
      </p:sp>
      <p:sp>
        <p:nvSpPr>
          <p:cNvPr id="26" name="Shape 23"/>
          <p:cNvSpPr/>
          <p:nvPr/>
        </p:nvSpPr>
        <p:spPr>
          <a:xfrm>
            <a:off x="7955280" y="2011680"/>
            <a:ext cx="640080" cy="640080"/>
          </a:xfrm>
          <a:prstGeom prst="ellipse">
            <a:avLst/>
          </a:prstGeom>
          <a:solidFill>
            <a:schemeClr val="accent1"/>
          </a:solidFill>
          <a:ln w="25400">
            <a:solidFill>
              <a:schemeClr val="accent2"/>
            </a:solidFill>
            <a:prstDash val="solid"/>
          </a:ln>
        </p:spPr>
      </p:sp>
      <p:sp>
        <p:nvSpPr>
          <p:cNvPr id="27" name="Text 24"/>
          <p:cNvSpPr/>
          <p:nvPr/>
        </p:nvSpPr>
        <p:spPr>
          <a:xfrm>
            <a:off x="795528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5</a:t>
            </a:r>
            <a:endParaRPr lang="en-US" sz="2200" dirty="0"/>
          </a:p>
        </p:txBody>
      </p:sp>
      <p:sp>
        <p:nvSpPr>
          <p:cNvPr id="28" name="Text 25"/>
          <p:cNvSpPr/>
          <p:nvPr/>
        </p:nvSpPr>
        <p:spPr>
          <a:xfrm>
            <a:off x="7452360" y="2788920"/>
            <a:ext cx="164592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5. Render</a:t>
            </a:r>
            <a:endParaRPr lang="en-US" sz="1200" dirty="0"/>
          </a:p>
        </p:txBody>
      </p:sp>
      <p:sp>
        <p:nvSpPr>
          <p:cNvPr id="29" name="Text 26"/>
          <p:cNvSpPr/>
          <p:nvPr/>
        </p:nvSpPr>
        <p:spPr>
          <a:xfrm>
            <a:off x="7452360" y="3200400"/>
            <a:ext cx="164592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devolve pontos. Grafana plota.</a:t>
            </a:r>
            <a:endParaRPr lang="en-US" sz="1000" dirty="0"/>
          </a:p>
        </p:txBody>
      </p:sp>
      <p:sp>
        <p:nvSpPr>
          <p:cNvPr id="30" name="Shape 27"/>
          <p:cNvSpPr/>
          <p:nvPr/>
        </p:nvSpPr>
        <p:spPr>
          <a:xfrm>
            <a:off x="457200" y="4754880"/>
            <a:ext cx="8686800" cy="1371600"/>
          </a:xfrm>
          <a:prstGeom prst="roundRect">
            <a:avLst>
              <a:gd name="adj" fmla="val 5333"/>
            </a:avLst>
          </a:prstGeom>
          <a:solidFill>
            <a:schemeClr val="accent1"/>
          </a:solidFill>
          <a:ln w="12700">
            <a:solidFill>
              <a:schemeClr val="accent1"/>
            </a:solidFill>
            <a:prstDash val="solid"/>
          </a:ln>
        </p:spPr>
      </p:sp>
      <p:sp>
        <p:nvSpPr>
          <p:cNvPr id="31" name="Text 28"/>
          <p:cNvSpPr/>
          <p:nvPr/>
        </p:nvSpPr>
        <p:spPr>
          <a:xfrm>
            <a:off x="685800" y="4892040"/>
            <a:ext cx="8229600" cy="109728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O fluxo é o mesmo pra QUALQUER fonte: Docker, MySQL, AWS, Azure. Troca só o exporter e o endpoint. O Grafana sempre consulta — nunca coleta diretamente.</a:t>
            </a:r>
            <a:endParaRPr lang="en-US" sz="1300" dirty="0"/>
          </a:p>
        </p:txBody>
      </p:sp>
      <p:pic>
        <p:nvPicPr>
          <p:cNvPr id="3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3" name="Text 2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15 / 110</a:t>
            </a:r>
            <a:endParaRPr lang="en-US" sz="1000" dirty="0"/>
          </a:p>
        </p:txBody>
      </p:sp>
      <p:sp>
        <p:nvSpPr>
          <p:cNvPr id="34" name="Text 3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STACK 1.9</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 stack padrão que vamos usar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1591056" cy="4114800"/>
          </a:xfrm>
          <a:prstGeom prst="roundRect">
            <a:avLst>
              <a:gd name="adj" fmla="val 3448"/>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NE</a:t>
            </a:r>
            <a:endParaRPr lang="en-US" sz="2600" dirty="0"/>
          </a:p>
        </p:txBody>
      </p:sp>
      <p:sp>
        <p:nvSpPr>
          <p:cNvPr id="12" name="Text 9"/>
          <p:cNvSpPr/>
          <p:nvPr/>
        </p:nvSpPr>
        <p:spPr>
          <a:xfrm>
            <a:off x="1188720"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Node Exporter</a:t>
            </a:r>
            <a:endParaRPr lang="en-US" sz="1400" dirty="0"/>
          </a:p>
        </p:txBody>
      </p:sp>
      <p:sp>
        <p:nvSpPr>
          <p:cNvPr id="13" name="Text 10"/>
          <p:cNvSpPr/>
          <p:nvPr/>
        </p:nvSpPr>
        <p:spPr>
          <a:xfrm>
            <a:off x="594360"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Coleta métricas de CPU, memória, disco, rede do host Linux. Roda como processo. Porta 9100.</a:t>
            </a:r>
            <a:endParaRPr lang="en-US" sz="1050" dirty="0"/>
          </a:p>
        </p:txBody>
      </p:sp>
      <p:sp>
        <p:nvSpPr>
          <p:cNvPr id="14" name="Shape 11"/>
          <p:cNvSpPr/>
          <p:nvPr/>
        </p:nvSpPr>
        <p:spPr>
          <a:xfrm>
            <a:off x="2231136" y="2011680"/>
            <a:ext cx="1591056" cy="4114800"/>
          </a:xfrm>
          <a:prstGeom prst="roundRect">
            <a:avLst>
              <a:gd name="adj" fmla="val 3448"/>
            </a:avLst>
          </a:prstGeom>
          <a:solidFill>
            <a:srgbClr val="000000"/>
          </a:solidFill>
          <a:ln w="12700">
            <a:solidFill>
              <a:schemeClr val="accent1"/>
            </a:solidFill>
            <a:prstDash val="solid"/>
          </a:ln>
        </p:spPr>
      </p:sp>
      <p:sp>
        <p:nvSpPr>
          <p:cNvPr id="15" name="Text 12"/>
          <p:cNvSpPr/>
          <p:nvPr/>
        </p:nvSpPr>
        <p:spPr>
          <a:xfrm>
            <a:off x="2368296"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P</a:t>
            </a:r>
            <a:endParaRPr lang="en-US" sz="2600" dirty="0"/>
          </a:p>
        </p:txBody>
      </p:sp>
      <p:sp>
        <p:nvSpPr>
          <p:cNvPr id="16" name="Text 13"/>
          <p:cNvSpPr/>
          <p:nvPr/>
        </p:nvSpPr>
        <p:spPr>
          <a:xfrm>
            <a:off x="2962656"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Prometheus</a:t>
            </a:r>
            <a:endParaRPr lang="en-US" sz="1400" dirty="0"/>
          </a:p>
        </p:txBody>
      </p:sp>
      <p:sp>
        <p:nvSpPr>
          <p:cNvPr id="17" name="Text 14"/>
          <p:cNvSpPr/>
          <p:nvPr/>
        </p:nvSpPr>
        <p:spPr>
          <a:xfrm>
            <a:off x="2368296"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TSDB. Faz scrape dos exporters, armazena, responde PromQL. Porta 9090.</a:t>
            </a:r>
            <a:endParaRPr lang="en-US" sz="1050" dirty="0"/>
          </a:p>
        </p:txBody>
      </p:sp>
      <p:sp>
        <p:nvSpPr>
          <p:cNvPr id="18" name="Shape 15"/>
          <p:cNvSpPr/>
          <p:nvPr/>
        </p:nvSpPr>
        <p:spPr>
          <a:xfrm>
            <a:off x="4005072" y="2011680"/>
            <a:ext cx="1591056" cy="4114800"/>
          </a:xfrm>
          <a:prstGeom prst="roundRect">
            <a:avLst>
              <a:gd name="adj" fmla="val 3448"/>
            </a:avLst>
          </a:prstGeom>
          <a:solidFill>
            <a:srgbClr val="000000"/>
          </a:solidFill>
          <a:ln w="12700">
            <a:solidFill>
              <a:schemeClr val="accent1"/>
            </a:solidFill>
            <a:prstDash val="solid"/>
          </a:ln>
        </p:spPr>
      </p:sp>
      <p:sp>
        <p:nvSpPr>
          <p:cNvPr id="19" name="Text 16"/>
          <p:cNvSpPr/>
          <p:nvPr/>
        </p:nvSpPr>
        <p:spPr>
          <a:xfrm>
            <a:off x="4142232"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G</a:t>
            </a:r>
            <a:endParaRPr lang="en-US" sz="2600" dirty="0"/>
          </a:p>
        </p:txBody>
      </p:sp>
      <p:sp>
        <p:nvSpPr>
          <p:cNvPr id="20" name="Text 17"/>
          <p:cNvSpPr/>
          <p:nvPr/>
        </p:nvSpPr>
        <p:spPr>
          <a:xfrm>
            <a:off x="4736592"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a:t>
            </a:r>
            <a:endParaRPr lang="en-US" sz="1400" dirty="0"/>
          </a:p>
        </p:txBody>
      </p:sp>
      <p:sp>
        <p:nvSpPr>
          <p:cNvPr id="21" name="Text 18"/>
          <p:cNvSpPr/>
          <p:nvPr/>
        </p:nvSpPr>
        <p:spPr>
          <a:xfrm>
            <a:off x="4142232"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Visualização. Consulta Prometheus, renderiza painéis. Porta 3000.</a:t>
            </a:r>
            <a:endParaRPr lang="en-US" sz="1050" dirty="0"/>
          </a:p>
        </p:txBody>
      </p:sp>
      <p:sp>
        <p:nvSpPr>
          <p:cNvPr id="22" name="Shape 19"/>
          <p:cNvSpPr/>
          <p:nvPr/>
        </p:nvSpPr>
        <p:spPr>
          <a:xfrm>
            <a:off x="5779008" y="2011680"/>
            <a:ext cx="1591056" cy="4114800"/>
          </a:xfrm>
          <a:prstGeom prst="roundRect">
            <a:avLst>
              <a:gd name="adj" fmla="val 3448"/>
            </a:avLst>
          </a:prstGeom>
          <a:solidFill>
            <a:srgbClr val="000000"/>
          </a:solidFill>
          <a:ln w="12700">
            <a:solidFill>
              <a:schemeClr val="accent1"/>
            </a:solidFill>
            <a:prstDash val="solid"/>
          </a:ln>
        </p:spPr>
      </p:sp>
      <p:sp>
        <p:nvSpPr>
          <p:cNvPr id="23" name="Text 20"/>
          <p:cNvSpPr/>
          <p:nvPr/>
        </p:nvSpPr>
        <p:spPr>
          <a:xfrm>
            <a:off x="5916168"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cA</a:t>
            </a:r>
            <a:endParaRPr lang="en-US" sz="2600" dirty="0"/>
          </a:p>
        </p:txBody>
      </p:sp>
      <p:sp>
        <p:nvSpPr>
          <p:cNvPr id="24" name="Text 21"/>
          <p:cNvSpPr/>
          <p:nvPr/>
        </p:nvSpPr>
        <p:spPr>
          <a:xfrm>
            <a:off x="6510528"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cAdvisor</a:t>
            </a:r>
            <a:endParaRPr lang="en-US" sz="1400" dirty="0"/>
          </a:p>
        </p:txBody>
      </p:sp>
      <p:sp>
        <p:nvSpPr>
          <p:cNvPr id="25" name="Text 22"/>
          <p:cNvSpPr/>
          <p:nvPr/>
        </p:nvSpPr>
        <p:spPr>
          <a:xfrm>
            <a:off x="5916168"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Métricas de containers Docker (CPU, memória, rede por container). Porta 8080. (Noite 2)</a:t>
            </a:r>
            <a:endParaRPr lang="en-US" sz="1050" dirty="0"/>
          </a:p>
        </p:txBody>
      </p:sp>
      <p:sp>
        <p:nvSpPr>
          <p:cNvPr id="26" name="Shape 23"/>
          <p:cNvSpPr/>
          <p:nvPr/>
        </p:nvSpPr>
        <p:spPr>
          <a:xfrm>
            <a:off x="7552944" y="2011680"/>
            <a:ext cx="1591056" cy="4114800"/>
          </a:xfrm>
          <a:prstGeom prst="roundRect">
            <a:avLst>
              <a:gd name="adj" fmla="val 3448"/>
            </a:avLst>
          </a:prstGeom>
          <a:solidFill>
            <a:srgbClr val="000000"/>
          </a:solidFill>
          <a:ln w="12700">
            <a:solidFill>
              <a:schemeClr val="accent1"/>
            </a:solidFill>
            <a:prstDash val="solid"/>
          </a:ln>
        </p:spPr>
      </p:sp>
      <p:sp>
        <p:nvSpPr>
          <p:cNvPr id="27" name="Text 24"/>
          <p:cNvSpPr/>
          <p:nvPr/>
        </p:nvSpPr>
        <p:spPr>
          <a:xfrm>
            <a:off x="7690104"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AM</a:t>
            </a:r>
            <a:endParaRPr lang="en-US" sz="2600" dirty="0"/>
          </a:p>
        </p:txBody>
      </p:sp>
      <p:sp>
        <p:nvSpPr>
          <p:cNvPr id="28" name="Text 25"/>
          <p:cNvSpPr/>
          <p:nvPr/>
        </p:nvSpPr>
        <p:spPr>
          <a:xfrm>
            <a:off x="8284464" y="2148840"/>
            <a:ext cx="722376"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Alertmanager</a:t>
            </a:r>
            <a:endParaRPr lang="en-US" sz="1400" dirty="0"/>
          </a:p>
        </p:txBody>
      </p:sp>
      <p:sp>
        <p:nvSpPr>
          <p:cNvPr id="29" name="Text 26"/>
          <p:cNvSpPr/>
          <p:nvPr/>
        </p:nvSpPr>
        <p:spPr>
          <a:xfrm>
            <a:off x="7690104" y="2697480"/>
            <a:ext cx="1316736"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Recebe alertas do Prometheus, agrupa, deduplica, notifica. Porta 9093. (Noite 2)</a:t>
            </a:r>
            <a:endParaRPr lang="en-US" sz="1050" dirty="0"/>
          </a:p>
        </p:txBody>
      </p:sp>
      <p:pic>
        <p:nvPicPr>
          <p:cNvPr id="30"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1" name="Text 27"/>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16 / 110</a:t>
            </a:r>
            <a:endParaRPr lang="en-US" sz="1000" dirty="0"/>
          </a:p>
        </p:txBody>
      </p:sp>
      <p:sp>
        <p:nvSpPr>
          <p:cNvPr id="32" name="Text 28"/>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21:00 · DEMONSTRAÇÃO AO VIVO (AZURE)</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Subindo o Grafana e</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fazendo o primeiro dashboard</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17 / 110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Subindo o ambiente de demonstração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256032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256032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VM-B)</a:t>
            </a:r>
            <a:endParaRPr lang="en-US" sz="1400" dirty="0"/>
          </a:p>
        </p:txBody>
      </p:sp>
      <p:sp>
        <p:nvSpPr>
          <p:cNvPr id="14" name="Text 11"/>
          <p:cNvSpPr/>
          <p:nvPr/>
        </p:nvSpPr>
        <p:spPr>
          <a:xfrm>
            <a:off x="731520" y="2788920"/>
            <a:ext cx="3657600" cy="164592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SSH na VM-B: ssh azureuser@vm-b.westus2</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~/lab/dia1</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15s e valida com docker compose ps</a:t>
            </a:r>
            <a:endParaRPr lang="en-US" sz="1100" dirty="0"/>
          </a:p>
        </p:txBody>
      </p:sp>
      <p:sp>
        <p:nvSpPr>
          <p:cNvPr id="15" name="Shape 12"/>
          <p:cNvSpPr/>
          <p:nvPr/>
        </p:nvSpPr>
        <p:spPr>
          <a:xfrm>
            <a:off x="4754880" y="2011680"/>
            <a:ext cx="4114800" cy="256032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256032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local OU Docker)</a:t>
            </a:r>
            <a:endParaRPr lang="en-US" sz="1400" dirty="0"/>
          </a:p>
        </p:txBody>
      </p:sp>
      <p:sp>
        <p:nvSpPr>
          <p:cNvPr id="19" name="Text 16"/>
          <p:cNvSpPr/>
          <p:nvPr/>
        </p:nvSpPr>
        <p:spPr>
          <a:xfrm>
            <a:off x="5029200" y="2788920"/>
            <a:ext cx="3657600" cy="164592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A — Ubuntu nativo: cd ~/labs/dia1 &amp;&amp; ./install.sh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B — Docker: cd ~/labs/dia1 &amp;&amp; 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15s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http://localhost:3000</a:t>
            </a:r>
            <a:endParaRPr lang="en-US" sz="1100" dirty="0"/>
          </a:p>
        </p:txBody>
      </p:sp>
      <p:sp>
        <p:nvSpPr>
          <p:cNvPr id="20" name="Shape 17"/>
          <p:cNvSpPr/>
          <p:nvPr/>
        </p:nvSpPr>
        <p:spPr>
          <a:xfrm>
            <a:off x="457200" y="4754880"/>
            <a:ext cx="8686800" cy="1554480"/>
          </a:xfrm>
          <a:prstGeom prst="rect">
            <a:avLst/>
          </a:prstGeom>
          <a:solidFill>
            <a:srgbClr val="F5F5F5"/>
          </a:solidFill>
          <a:ln w="12700">
            <a:solidFill>
              <a:srgbClr val="D1D5DB"/>
            </a:solidFill>
            <a:prstDash val="solid"/>
          </a:ln>
        </p:spPr>
      </p:sp>
      <p:sp>
        <p:nvSpPr>
          <p:cNvPr id="21" name="Shape 18"/>
          <p:cNvSpPr/>
          <p:nvPr/>
        </p:nvSpPr>
        <p:spPr>
          <a:xfrm>
            <a:off x="457200" y="4754880"/>
            <a:ext cx="73152" cy="1554480"/>
          </a:xfrm>
          <a:prstGeom prst="rect">
            <a:avLst/>
          </a:prstGeom>
          <a:solidFill>
            <a:schemeClr val="accent1"/>
          </a:solidFill>
          <a:ln w="12700">
            <a:solidFill>
              <a:schemeClr val="accent1"/>
            </a:solidFill>
            <a:prstDash val="solid"/>
          </a:ln>
        </p:spPr>
      </p:sp>
      <p:sp>
        <p:nvSpPr>
          <p:cNvPr id="22" name="Text 19"/>
          <p:cNvSpPr/>
          <p:nvPr/>
        </p:nvSpPr>
        <p:spPr>
          <a:xfrm>
            <a:off x="640080" y="4846320"/>
            <a:ext cx="8412480" cy="137160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docker compose ps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NAME                    STATUS          PORTS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dia1-grafana-1          Up 12 seconds   0.0.0.0:3000-&gt;3000/tcp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dia1-prometheus-1       Up 12 seconds   0.0.0.0:9090-&gt;9090/tcp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dia1-node-exporter-1    Up 12 seconds   0.0.0.0:9100-&gt;9100/tcp</a:t>
            </a:r>
            <a:endParaRPr lang="en-US" sz="120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18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Login no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828800"/>
          </a:xfrm>
          <a:prstGeom prst="roundRect">
            <a:avLst>
              <a:gd name="adj" fmla="val 4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Grafana já aberto no navegador</a:t>
            </a:r>
            <a:endParaRPr lang="en-US" sz="1800" dirty="0"/>
          </a:p>
        </p:txBody>
      </p:sp>
      <p:sp>
        <p:nvSpPr>
          <p:cNvPr id="12" name="Text 9"/>
          <p:cNvSpPr/>
          <p:nvPr/>
        </p:nvSpPr>
        <p:spPr>
          <a:xfrm>
            <a:off x="640080" y="2468880"/>
            <a:ext cx="8321040" cy="128016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http://&lt;ip-vm-a&gt;:3000 · login admin / admin</a:t>
            </a:r>
            <a:endParaRPr lang="en-US" sz="1200" dirty="0"/>
          </a:p>
        </p:txBody>
      </p:sp>
      <p:sp>
        <p:nvSpPr>
          <p:cNvPr id="13" name="Shape 10"/>
          <p:cNvSpPr/>
          <p:nvPr/>
        </p:nvSpPr>
        <p:spPr>
          <a:xfrm>
            <a:off x="457200" y="4023360"/>
            <a:ext cx="4114800" cy="2286000"/>
          </a:xfrm>
          <a:prstGeom prst="rect">
            <a:avLst/>
          </a:prstGeom>
          <a:solidFill>
            <a:srgbClr val="F0F7E0"/>
          </a:solidFill>
          <a:ln w="19050">
            <a:solidFill>
              <a:schemeClr val="accent2"/>
            </a:solidFill>
            <a:prstDash val="solid"/>
          </a:ln>
        </p:spPr>
      </p:sp>
      <p:sp>
        <p:nvSpPr>
          <p:cNvPr id="14" name="Shape 11"/>
          <p:cNvSpPr/>
          <p:nvPr/>
        </p:nvSpPr>
        <p:spPr>
          <a:xfrm>
            <a:off x="457200" y="4023360"/>
            <a:ext cx="137160" cy="2286000"/>
          </a:xfrm>
          <a:prstGeom prst="rect">
            <a:avLst/>
          </a:prstGeom>
          <a:solidFill>
            <a:schemeClr val="accent2"/>
          </a:solidFill>
          <a:ln w="12700">
            <a:solidFill>
              <a:schemeClr val="accent2"/>
            </a:solidFill>
            <a:prstDash val="solid"/>
          </a:ln>
        </p:spPr>
      </p:sp>
      <p:sp>
        <p:nvSpPr>
          <p:cNvPr id="15" name="Text 12"/>
          <p:cNvSpPr/>
          <p:nvPr/>
        </p:nvSpPr>
        <p:spPr>
          <a:xfrm>
            <a:off x="731520" y="411480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6" name="Text 13"/>
          <p:cNvSpPr/>
          <p:nvPr/>
        </p:nvSpPr>
        <p:spPr>
          <a:xfrm>
            <a:off x="731520" y="438912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mostra</a:t>
            </a:r>
            <a:endParaRPr lang="en-US" sz="1400" dirty="0"/>
          </a:p>
        </p:txBody>
      </p:sp>
      <p:sp>
        <p:nvSpPr>
          <p:cNvPr id="17" name="Text 14"/>
          <p:cNvSpPr/>
          <p:nvPr/>
        </p:nvSpPr>
        <p:spPr>
          <a:xfrm>
            <a:off x="731520" y="4800600"/>
            <a:ext cx="3657600" cy="13716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Tela de login aparece (admin/admin)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Skip na troca de senha (estamos em lab)</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Home carrega: menu lateral com Connections, Dashboards, Explore, Alerting</a:t>
            </a:r>
            <a:endParaRPr lang="en-US" sz="1100" dirty="0"/>
          </a:p>
        </p:txBody>
      </p:sp>
      <p:sp>
        <p:nvSpPr>
          <p:cNvPr id="18" name="Shape 15"/>
          <p:cNvSpPr/>
          <p:nvPr/>
        </p:nvSpPr>
        <p:spPr>
          <a:xfrm>
            <a:off x="4754880" y="4023360"/>
            <a:ext cx="4114800" cy="2286000"/>
          </a:xfrm>
          <a:prstGeom prst="rect">
            <a:avLst/>
          </a:prstGeom>
          <a:solidFill>
            <a:srgbClr val="FFF5E6"/>
          </a:solidFill>
          <a:ln w="19050">
            <a:solidFill>
              <a:schemeClr val="accent4"/>
            </a:solidFill>
            <a:prstDash val="solid"/>
          </a:ln>
        </p:spPr>
      </p:sp>
      <p:sp>
        <p:nvSpPr>
          <p:cNvPr id="19" name="Shape 16"/>
          <p:cNvSpPr/>
          <p:nvPr/>
        </p:nvSpPr>
        <p:spPr>
          <a:xfrm>
            <a:off x="4754880" y="4023360"/>
            <a:ext cx="137160" cy="2286000"/>
          </a:xfrm>
          <a:prstGeom prst="rect">
            <a:avLst/>
          </a:prstGeom>
          <a:solidFill>
            <a:schemeClr val="accent4"/>
          </a:solidFill>
          <a:ln w="12700">
            <a:solidFill>
              <a:schemeClr val="accent4"/>
            </a:solidFill>
            <a:prstDash val="solid"/>
          </a:ln>
        </p:spPr>
      </p:sp>
      <p:sp>
        <p:nvSpPr>
          <p:cNvPr id="20" name="Text 17"/>
          <p:cNvSpPr/>
          <p:nvPr/>
        </p:nvSpPr>
        <p:spPr>
          <a:xfrm>
            <a:off x="5029200" y="411480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21" name="Text 18"/>
          <p:cNvSpPr/>
          <p:nvPr/>
        </p:nvSpPr>
        <p:spPr>
          <a:xfrm>
            <a:off x="5029200" y="438912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Você faz no seu notebook</a:t>
            </a:r>
            <a:endParaRPr lang="en-US" sz="1400" dirty="0"/>
          </a:p>
        </p:txBody>
      </p:sp>
      <p:sp>
        <p:nvSpPr>
          <p:cNvPr id="22" name="Text 19"/>
          <p:cNvSpPr/>
          <p:nvPr/>
        </p:nvSpPr>
        <p:spPr>
          <a:xfrm>
            <a:off x="5029200" y="4800600"/>
            <a:ext cx="3657600" cy="13716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http://localhost:3000 no navegador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Login admin / admin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Skip na troca de senha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Confirma que a home carregou</a:t>
            </a:r>
            <a:endParaRPr lang="en-US" sz="110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19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Conectando no Prometheus (datasource)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2286000"/>
          </a:xfrm>
          <a:prstGeom prst="rect">
            <a:avLst/>
          </a:prstGeom>
          <a:solidFill>
            <a:srgbClr val="F5F5F5"/>
          </a:solidFill>
          <a:ln w="12700">
            <a:solidFill>
              <a:srgbClr val="D1D5DB"/>
            </a:solidFill>
            <a:prstDash val="solid"/>
          </a:ln>
        </p:spPr>
      </p:sp>
      <p:sp>
        <p:nvSpPr>
          <p:cNvPr id="11" name="Shape 8"/>
          <p:cNvSpPr/>
          <p:nvPr/>
        </p:nvSpPr>
        <p:spPr>
          <a:xfrm>
            <a:off x="457200" y="2011680"/>
            <a:ext cx="73152" cy="22860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grafana/provisioning/datasources/prometheus.yml</a:t>
            </a:r>
            <a:endParaRPr lang="en-US" sz="1000" dirty="0"/>
          </a:p>
        </p:txBody>
      </p:sp>
      <p:sp>
        <p:nvSpPr>
          <p:cNvPr id="14" name="Text 11"/>
          <p:cNvSpPr/>
          <p:nvPr/>
        </p:nvSpPr>
        <p:spPr>
          <a:xfrm>
            <a:off x="640080" y="2359152"/>
            <a:ext cx="8412480" cy="18745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apiVersion: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datasources: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type: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access: proxy         # server-side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url: http://prometheus:9090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isDefault: true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editable: true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jsonData: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timeInterval: "15s"</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Em Ubuntu nativo, troca para: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url: http://localhost:9090</a:t>
            </a:r>
            <a:endParaRPr lang="en-US" sz="1200" dirty="0"/>
          </a:p>
        </p:txBody>
      </p:sp>
      <p:sp>
        <p:nvSpPr>
          <p:cNvPr id="15" name="Shape 12"/>
          <p:cNvSpPr/>
          <p:nvPr/>
        </p:nvSpPr>
        <p:spPr>
          <a:xfrm>
            <a:off x="457200" y="4480560"/>
            <a:ext cx="8686800" cy="1828800"/>
          </a:xfrm>
          <a:prstGeom prst="roundRect">
            <a:avLst>
              <a:gd name="adj" fmla="val 4000"/>
            </a:avLst>
          </a:prstGeom>
          <a:solidFill>
            <a:schemeClr val="accent1"/>
          </a:solidFill>
          <a:ln w="12700">
            <a:solidFill>
              <a:schemeClr val="accent1"/>
            </a:solidFill>
            <a:prstDash val="solid"/>
          </a:ln>
        </p:spPr>
      </p:sp>
      <p:sp>
        <p:nvSpPr>
          <p:cNvPr id="16" name="Text 13"/>
          <p:cNvSpPr/>
          <p:nvPr/>
        </p:nvSpPr>
        <p:spPr>
          <a:xfrm>
            <a:off x="685800" y="4617720"/>
            <a:ext cx="8229600" cy="155448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PROFESSOR: mostra o YAML já provisionado na VM-A. Explica 'A URL é http://prometheus:9090 — não localhost, porque o Grafana resolve o nome do container como DNS interno'.</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ALUNO: confirma que o datasource apareceu em Connections &gt; Data sources. Clica em 'Save &amp; test' (já está testado). Se aparecer 'Datasource working' = OK.</a:t>
            </a:r>
            <a:endParaRPr lang="en-US" sz="1300" dirty="0"/>
          </a:p>
        </p:txBody>
      </p:sp>
      <p:pic>
        <p:nvPicPr>
          <p:cNvPr id="17"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8" name="Text 14"/>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20 / 110</a:t>
            </a:r>
            <a:endParaRPr lang="en-US" sz="1000" dirty="0"/>
          </a:p>
        </p:txBody>
      </p:sp>
      <p:sp>
        <p:nvSpPr>
          <p:cNvPr id="19" name="Text 15"/>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Primeira query no Explore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3200400"/>
          </a:xfrm>
          <a:prstGeom prst="rect">
            <a:avLst/>
          </a:prstGeom>
          <a:solidFill>
            <a:srgbClr val="F5F5F5"/>
          </a:solidFill>
          <a:ln w="12700">
            <a:solidFill>
              <a:srgbClr val="D1D5DB"/>
            </a:solidFill>
            <a:prstDash val="solid"/>
          </a:ln>
        </p:spPr>
      </p:sp>
      <p:sp>
        <p:nvSpPr>
          <p:cNvPr id="11" name="Shape 8"/>
          <p:cNvSpPr/>
          <p:nvPr/>
        </p:nvSpPr>
        <p:spPr>
          <a:xfrm>
            <a:off x="457200" y="2011680"/>
            <a:ext cx="73152" cy="32004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queries para o aluno copiar</a:t>
            </a:r>
            <a:endParaRPr lang="en-US" sz="1000" dirty="0"/>
          </a:p>
        </p:txBody>
      </p:sp>
      <p:sp>
        <p:nvSpPr>
          <p:cNvPr id="14" name="Text 11"/>
          <p:cNvSpPr/>
          <p:nvPr/>
        </p:nvSpPr>
        <p:spPr>
          <a:xfrm>
            <a:off x="640080" y="235915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Ver TODAS as métricas disponíveis (centenas!):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{__name__=~".+"}</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CPU por core, em % (rodar primeiro, validar visualmente):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100 - (avg by(cpu) (rate(node_cpu_seconds_total{mode="idle"}[1m])) * 100)</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Memória usada em GB:</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(node_memory_MemTotal_bytes - node_memory_MemAvailable_bytes) / 1024^3</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Disco cheio em % (cuidado com tmpfs e overlay):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100 - ((node_filesystem_avail_bytes{fstype!~"tmpfs|overlay"} * 100) / node_filesystem_size_bytes)</a:t>
            </a:r>
            <a:endParaRPr lang="en-US" sz="1200" dirty="0"/>
          </a:p>
        </p:txBody>
      </p:sp>
      <p:sp>
        <p:nvSpPr>
          <p:cNvPr id="15" name="Shape 12"/>
          <p:cNvSpPr/>
          <p:nvPr/>
        </p:nvSpPr>
        <p:spPr>
          <a:xfrm>
            <a:off x="457200" y="5394960"/>
            <a:ext cx="8686800" cy="1005840"/>
          </a:xfrm>
          <a:prstGeom prst="roundRect">
            <a:avLst>
              <a:gd name="adj" fmla="val 7273"/>
            </a:avLst>
          </a:prstGeom>
          <a:solidFill>
            <a:schemeClr val="accent1"/>
          </a:solidFill>
          <a:ln w="12700">
            <a:solidFill>
              <a:schemeClr val="accent1"/>
            </a:solidFill>
            <a:prstDash val="solid"/>
          </a:ln>
        </p:spPr>
      </p:sp>
      <p:sp>
        <p:nvSpPr>
          <p:cNvPr id="16" name="Text 13"/>
          <p:cNvSpPr/>
          <p:nvPr/>
        </p:nvSpPr>
        <p:spPr>
          <a:xfrm>
            <a:off x="685800" y="5532120"/>
            <a:ext cx="8229600" cy="73152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PROFESSOR digita a query no projetor. ALUNO digita a mesma query no notebook. Tempo: 5min. Trocar time range 1m -&gt; 5m -&gt; 15m. Trocar refresh interval pra 5s.</a:t>
            </a:r>
            <a:endParaRPr lang="en-US" sz="1300" dirty="0"/>
          </a:p>
        </p:txBody>
      </p:sp>
      <p:pic>
        <p:nvPicPr>
          <p:cNvPr id="17"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8" name="Text 14"/>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21 / 110</a:t>
            </a:r>
            <a:endParaRPr lang="en-US" sz="1000" dirty="0"/>
          </a:p>
        </p:txBody>
      </p:sp>
      <p:sp>
        <p:nvSpPr>
          <p:cNvPr id="19" name="Text 15"/>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Tipos de painel que existem</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1295400" cy="4114800"/>
          </a:xfrm>
          <a:prstGeom prst="roundRect">
            <a:avLst>
              <a:gd name="adj" fmla="val 4235"/>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Stat</a:t>
            </a:r>
            <a:endParaRPr lang="en-US" sz="1400" dirty="0"/>
          </a:p>
        </p:txBody>
      </p:sp>
      <p:sp>
        <p:nvSpPr>
          <p:cNvPr id="13" name="Text 10"/>
          <p:cNvSpPr/>
          <p:nvPr/>
        </p:nvSpPr>
        <p:spPr>
          <a:xfrm>
            <a:off x="59436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Número grande com cor por threshold. CPU 23%. Valor único atual.</a:t>
            </a:r>
            <a:endParaRPr lang="en-US" sz="1050" dirty="0"/>
          </a:p>
        </p:txBody>
      </p:sp>
      <p:sp>
        <p:nvSpPr>
          <p:cNvPr id="14" name="Shape 11"/>
          <p:cNvSpPr/>
          <p:nvPr/>
        </p:nvSpPr>
        <p:spPr>
          <a:xfrm>
            <a:off x="1935480" y="2011680"/>
            <a:ext cx="1295400" cy="4114800"/>
          </a:xfrm>
          <a:prstGeom prst="roundRect">
            <a:avLst>
              <a:gd name="adj" fmla="val 4235"/>
            </a:avLst>
          </a:prstGeom>
          <a:solidFill>
            <a:srgbClr val="000000"/>
          </a:solidFill>
          <a:ln w="12700">
            <a:solidFill>
              <a:schemeClr val="accent1"/>
            </a:solidFill>
            <a:prstDash val="solid"/>
          </a:ln>
        </p:spPr>
      </p:sp>
      <p:sp>
        <p:nvSpPr>
          <p:cNvPr id="15" name="Text 12"/>
          <p:cNvSpPr/>
          <p:nvPr/>
        </p:nvSpPr>
        <p:spPr>
          <a:xfrm>
            <a:off x="207264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266700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Time series</a:t>
            </a:r>
            <a:endParaRPr lang="en-US" sz="1400" dirty="0"/>
          </a:p>
        </p:txBody>
      </p:sp>
      <p:sp>
        <p:nvSpPr>
          <p:cNvPr id="17" name="Text 14"/>
          <p:cNvSpPr/>
          <p:nvPr/>
        </p:nvSpPr>
        <p:spPr>
          <a:xfrm>
            <a:off x="207264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Linha ao longo do tempo. CPU nas últimas 24h. Tendência.</a:t>
            </a:r>
            <a:endParaRPr lang="en-US" sz="1050" dirty="0"/>
          </a:p>
        </p:txBody>
      </p:sp>
      <p:sp>
        <p:nvSpPr>
          <p:cNvPr id="18" name="Shape 15"/>
          <p:cNvSpPr/>
          <p:nvPr/>
        </p:nvSpPr>
        <p:spPr>
          <a:xfrm>
            <a:off x="3413760" y="2011680"/>
            <a:ext cx="1295400" cy="4114800"/>
          </a:xfrm>
          <a:prstGeom prst="roundRect">
            <a:avLst>
              <a:gd name="adj" fmla="val 4235"/>
            </a:avLst>
          </a:prstGeom>
          <a:solidFill>
            <a:srgbClr val="000000"/>
          </a:solidFill>
          <a:ln w="12700">
            <a:solidFill>
              <a:schemeClr val="accent1"/>
            </a:solidFill>
            <a:prstDash val="solid"/>
          </a:ln>
        </p:spPr>
      </p:sp>
      <p:sp>
        <p:nvSpPr>
          <p:cNvPr id="19" name="Text 16"/>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414528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Gauge</a:t>
            </a:r>
            <a:endParaRPr lang="en-US" sz="1400" dirty="0"/>
          </a:p>
        </p:txBody>
      </p:sp>
      <p:sp>
        <p:nvSpPr>
          <p:cNvPr id="21" name="Text 18"/>
          <p:cNvSpPr/>
          <p:nvPr/>
        </p:nvSpPr>
        <p:spPr>
          <a:xfrm>
            <a:off x="355092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Velocímetro com agulha. Memória em uso 64%. % de um total.</a:t>
            </a:r>
            <a:endParaRPr lang="en-US" sz="1050" dirty="0"/>
          </a:p>
        </p:txBody>
      </p:sp>
      <p:sp>
        <p:nvSpPr>
          <p:cNvPr id="22" name="Shape 19"/>
          <p:cNvSpPr/>
          <p:nvPr/>
        </p:nvSpPr>
        <p:spPr>
          <a:xfrm>
            <a:off x="4892040" y="2011680"/>
            <a:ext cx="1295400" cy="4114800"/>
          </a:xfrm>
          <a:prstGeom prst="roundRect">
            <a:avLst>
              <a:gd name="adj" fmla="val 4235"/>
            </a:avLst>
          </a:prstGeom>
          <a:solidFill>
            <a:srgbClr val="000000"/>
          </a:solidFill>
          <a:ln w="12700">
            <a:solidFill>
              <a:schemeClr val="accent1"/>
            </a:solidFill>
            <a:prstDash val="solid"/>
          </a:ln>
        </p:spPr>
      </p:sp>
      <p:sp>
        <p:nvSpPr>
          <p:cNvPr id="23" name="Text 20"/>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562356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Bar gauge</a:t>
            </a:r>
            <a:endParaRPr lang="en-US" sz="1400" dirty="0"/>
          </a:p>
        </p:txBody>
      </p:sp>
      <p:sp>
        <p:nvSpPr>
          <p:cNvPr id="25" name="Text 22"/>
          <p:cNvSpPr/>
          <p:nvPr/>
        </p:nvSpPr>
        <p:spPr>
          <a:xfrm>
            <a:off x="502920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Barras horizontais. CPU por core. Comparar N valores.</a:t>
            </a:r>
            <a:endParaRPr lang="en-US" sz="1050" dirty="0"/>
          </a:p>
        </p:txBody>
      </p:sp>
      <p:sp>
        <p:nvSpPr>
          <p:cNvPr id="26" name="Shape 23"/>
          <p:cNvSpPr/>
          <p:nvPr/>
        </p:nvSpPr>
        <p:spPr>
          <a:xfrm>
            <a:off x="6370320" y="2011680"/>
            <a:ext cx="1295400" cy="4114800"/>
          </a:xfrm>
          <a:prstGeom prst="roundRect">
            <a:avLst>
              <a:gd name="adj" fmla="val 4235"/>
            </a:avLst>
          </a:prstGeom>
          <a:solidFill>
            <a:srgbClr val="000000"/>
          </a:solidFill>
          <a:ln w="12700">
            <a:solidFill>
              <a:schemeClr val="accent1"/>
            </a:solidFill>
            <a:prstDash val="solid"/>
          </a:ln>
        </p:spPr>
      </p:sp>
      <p:sp>
        <p:nvSpPr>
          <p:cNvPr id="27" name="Text 24"/>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8" name="Text 25"/>
          <p:cNvSpPr/>
          <p:nvPr/>
        </p:nvSpPr>
        <p:spPr>
          <a:xfrm>
            <a:off x="710184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Table</a:t>
            </a:r>
            <a:endParaRPr lang="en-US" sz="1400" dirty="0"/>
          </a:p>
        </p:txBody>
      </p:sp>
      <p:sp>
        <p:nvSpPr>
          <p:cNvPr id="29" name="Text 26"/>
          <p:cNvSpPr/>
          <p:nvPr/>
        </p:nvSpPr>
        <p:spPr>
          <a:xfrm>
            <a:off x="650748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Tabela com colunas ordenáveis. Top 10 processos. Listas.</a:t>
            </a:r>
            <a:endParaRPr lang="en-US" sz="1050" dirty="0"/>
          </a:p>
        </p:txBody>
      </p:sp>
      <p:sp>
        <p:nvSpPr>
          <p:cNvPr id="30" name="Shape 27"/>
          <p:cNvSpPr/>
          <p:nvPr/>
        </p:nvSpPr>
        <p:spPr>
          <a:xfrm>
            <a:off x="7848600" y="2011680"/>
            <a:ext cx="1295400" cy="4114800"/>
          </a:xfrm>
          <a:prstGeom prst="roundRect">
            <a:avLst>
              <a:gd name="adj" fmla="val 4235"/>
            </a:avLst>
          </a:prstGeom>
          <a:solidFill>
            <a:srgbClr val="000000"/>
          </a:solidFill>
          <a:ln w="12700">
            <a:solidFill>
              <a:schemeClr val="accent1"/>
            </a:solidFill>
            <a:prstDash val="solid"/>
          </a:ln>
        </p:spPr>
      </p:sp>
      <p:sp>
        <p:nvSpPr>
          <p:cNvPr id="31" name="Text 28"/>
          <p:cNvSpPr/>
          <p:nvPr/>
        </p:nvSpPr>
        <p:spPr>
          <a:xfrm>
            <a:off x="79857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32" name="Text 29"/>
          <p:cNvSpPr/>
          <p:nvPr/>
        </p:nvSpPr>
        <p:spPr>
          <a:xfrm>
            <a:off x="858012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Heatmap</a:t>
            </a:r>
            <a:endParaRPr lang="en-US" sz="1400" dirty="0"/>
          </a:p>
        </p:txBody>
      </p:sp>
      <p:sp>
        <p:nvSpPr>
          <p:cNvPr id="33" name="Text 30"/>
          <p:cNvSpPr/>
          <p:nvPr/>
        </p:nvSpPr>
        <p:spPr>
          <a:xfrm>
            <a:off x="798576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Matriz cor × tempo. Latência por horário. Densidade.</a:t>
            </a:r>
            <a:endParaRPr lang="en-US" sz="1050" dirty="0"/>
          </a:p>
        </p:txBody>
      </p:sp>
      <p:pic>
        <p:nvPicPr>
          <p:cNvPr id="3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5" name="Text 3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22 / 110</a:t>
            </a:r>
            <a:endParaRPr lang="en-US" sz="1000" dirty="0"/>
          </a:p>
        </p:txBody>
      </p:sp>
      <p:sp>
        <p:nvSpPr>
          <p:cNvPr id="36" name="Text 3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Criando o primeiro painel (8 passos)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57200"/>
          </a:xfrm>
          <a:prstGeom prst="rect">
            <a:avLst/>
          </a:prstGeom>
          <a:noFill/>
          <a:ln/>
        </p:spPr>
        <p:txBody>
          <a:bodyPr wrap="square" rtlCol="0" anchor="t"/>
          <a:lstStyle/>
          <a:p>
            <a:pPr algn="l" indent="0" marL="0">
              <a:spcAft>
                <a:spcPts val="600"/>
              </a:spcAft>
              <a:buNone/>
            </a:pPr>
            <a:r>
              <a:rPr lang="en-US" sz="1400" i="1" dirty="0">
                <a:solidFill>
                  <a:schemeClr val="accent2"/>
                </a:solidFill>
                <a:latin typeface="Trebuchet MS" pitchFamily="34" charset="0"/>
                <a:ea typeface="Trebuchet MS" pitchFamily="34" charset="-122"/>
                <a:cs typeface="Trebuchet MS" pitchFamily="34" charset="-120"/>
              </a:rPr>
              <a:t>PROFESSOR (Azure) faz ao vivo. ALUNO acompanha no notebook.</a:t>
            </a:r>
            <a:endParaRPr lang="en-US" sz="1400" dirty="0"/>
          </a:p>
        </p:txBody>
      </p:sp>
      <p:sp>
        <p:nvSpPr>
          <p:cNvPr id="11" name="Shape 8"/>
          <p:cNvSpPr/>
          <p:nvPr/>
        </p:nvSpPr>
        <p:spPr>
          <a:xfrm>
            <a:off x="457200" y="2651760"/>
            <a:ext cx="8686800" cy="3657600"/>
          </a:xfrm>
          <a:prstGeom prst="roundRect">
            <a:avLst>
              <a:gd name="adj" fmla="val 2000"/>
            </a:avLst>
          </a:prstGeom>
          <a:solidFill>
            <a:schemeClr val="accent1"/>
          </a:solidFill>
          <a:ln w="12700">
            <a:solidFill>
              <a:schemeClr val="accent1"/>
            </a:solidFill>
            <a:prstDash val="solid"/>
          </a:ln>
        </p:spPr>
      </p:sp>
      <p:sp>
        <p:nvSpPr>
          <p:cNvPr id="12" name="Text 9"/>
          <p:cNvSpPr/>
          <p:nvPr/>
        </p:nvSpPr>
        <p:spPr>
          <a:xfrm>
            <a:off x="685800" y="2788920"/>
            <a:ext cx="8229600" cy="338328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PASSO A PASSO: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1. Dashboards &gt; New &gt; New dashboard</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2. 'Add visualization' (botão azul no topo ou '+' no meio)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3. Escolhe o datasource Prometheus</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4. Digita a query (rate, avg, by, etc.)</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5. Escolhe o tipo de painel (stat, time series, gauge)</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6. Customiza título, unidade, cores, thresholds</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7. Apply no canto superior direito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8. Save dashboard (Ctrl+S) com nome descritivo</a:t>
            </a:r>
            <a:endParaRPr lang="en-US" sz="1300" dirty="0"/>
          </a:p>
        </p:txBody>
      </p:sp>
      <p:pic>
        <p:nvPicPr>
          <p:cNvPr id="1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4" name="Text 1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23 / 110</a:t>
            </a:r>
            <a:endParaRPr lang="en-US" sz="1000" dirty="0"/>
          </a:p>
        </p:txBody>
      </p:sp>
      <p:sp>
        <p:nvSpPr>
          <p:cNvPr id="15" name="Text 1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Salvando e compartilhando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4114800"/>
          </a:xfrm>
          <a:prstGeom prst="roundRect">
            <a:avLst>
              <a:gd name="adj" fmla="val 1333"/>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32461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Organização</a:t>
            </a:r>
            <a:endParaRPr lang="en-US" sz="1400" dirty="0"/>
          </a:p>
        </p:txBody>
      </p:sp>
      <p:sp>
        <p:nvSpPr>
          <p:cNvPr id="13" name="Text 10"/>
          <p:cNvSpPr/>
          <p:nvPr/>
        </p:nvSpPr>
        <p:spPr>
          <a:xfrm>
            <a:off x="594360" y="2697480"/>
            <a:ext cx="38404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Pastas por tema (Infra, App, Negócio)</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Tags (#produção, #cliente-x)</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Star nos favoritos</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Time range padrão (Last 6h)</a:t>
            </a:r>
            <a:endParaRPr lang="en-US" sz="1050" dirty="0"/>
          </a:p>
        </p:txBody>
      </p:sp>
      <p:sp>
        <p:nvSpPr>
          <p:cNvPr id="14" name="Shape 11"/>
          <p:cNvSpPr/>
          <p:nvPr/>
        </p:nvSpPr>
        <p:spPr>
          <a:xfrm>
            <a:off x="4754880" y="2011680"/>
            <a:ext cx="4114800" cy="4114800"/>
          </a:xfrm>
          <a:prstGeom prst="roundRect">
            <a:avLst>
              <a:gd name="adj" fmla="val 1333"/>
            </a:avLst>
          </a:prstGeom>
          <a:solidFill>
            <a:srgbClr val="000000"/>
          </a:solidFill>
          <a:ln w="12700">
            <a:solidFill>
              <a:schemeClr val="accent1"/>
            </a:solidFill>
            <a:prstDash val="solid"/>
          </a:ln>
        </p:spPr>
      </p:sp>
      <p:sp>
        <p:nvSpPr>
          <p:cNvPr id="15" name="Text 12"/>
          <p:cNvSpPr/>
          <p:nvPr/>
        </p:nvSpPr>
        <p:spPr>
          <a:xfrm>
            <a:off x="489204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5486400" y="2148840"/>
            <a:ext cx="32461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Compartilhamento</a:t>
            </a:r>
            <a:endParaRPr lang="en-US" sz="1400" dirty="0"/>
          </a:p>
        </p:txBody>
      </p:sp>
      <p:sp>
        <p:nvSpPr>
          <p:cNvPr id="17" name="Text 14"/>
          <p:cNvSpPr/>
          <p:nvPr/>
        </p:nvSpPr>
        <p:spPr>
          <a:xfrm>
            <a:off x="4892040" y="2697480"/>
            <a:ext cx="38404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Link público (somente leitura)</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Export JSON (versionar em Git)</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Export PNG/PDF (status report)</a:t>
            </a:r>
            <a:endParaRPr lang="en-US" sz="1050" dirty="0"/>
          </a:p>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Snapshot (link temporário)</a:t>
            </a:r>
            <a:endParaRPr lang="en-US" sz="105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24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Refinando o painel</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3200400"/>
          </a:xfrm>
          <a:prstGeom prst="rect">
            <a:avLst/>
          </a:prstGeom>
          <a:solidFill>
            <a:srgbClr val="F5F5F5"/>
          </a:solidFill>
          <a:ln w="12700">
            <a:solidFill>
              <a:srgbClr val="D1D5DB"/>
            </a:solidFill>
            <a:prstDash val="solid"/>
          </a:ln>
        </p:spPr>
      </p:sp>
      <p:sp>
        <p:nvSpPr>
          <p:cNvPr id="11" name="Shape 8"/>
          <p:cNvSpPr/>
          <p:nvPr/>
        </p:nvSpPr>
        <p:spPr>
          <a:xfrm>
            <a:off x="457200" y="2011680"/>
            <a:ext cx="73152" cy="32004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ajustes comuns em qualquer painel</a:t>
            </a:r>
            <a:endParaRPr lang="en-US" sz="1000" dirty="0"/>
          </a:p>
        </p:txBody>
      </p:sp>
      <p:sp>
        <p:nvSpPr>
          <p:cNvPr id="14" name="Text 11"/>
          <p:cNvSpPr/>
          <p:nvPr/>
        </p:nvSpPr>
        <p:spPr>
          <a:xfrm>
            <a:off x="640080" y="235915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Title:        "CPU por core (%)"     # claro, objetivo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Unit:         Percent (0-100)        # formata como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Decimals:     1                       # 1 casa decimal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Min:          0    Max:   100         # escala fixa! (sem auto-scale)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Thresholds:   70 (amarelo)  90 (vermelho)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Fill:         20                      # transparência da linha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Line width:   2                       # espessura</a:t>
            </a:r>
            <a:endParaRPr lang="en-US" sz="1200" dirty="0"/>
          </a:p>
        </p:txBody>
      </p:sp>
      <p:sp>
        <p:nvSpPr>
          <p:cNvPr id="15" name="Shape 12"/>
          <p:cNvSpPr/>
          <p:nvPr/>
        </p:nvSpPr>
        <p:spPr>
          <a:xfrm>
            <a:off x="457200" y="5394960"/>
            <a:ext cx="8686800" cy="1005840"/>
          </a:xfrm>
          <a:prstGeom prst="roundRect">
            <a:avLst>
              <a:gd name="adj" fmla="val 7273"/>
            </a:avLst>
          </a:prstGeom>
          <a:solidFill>
            <a:schemeClr val="accent1"/>
          </a:solidFill>
          <a:ln w="12700">
            <a:solidFill>
              <a:schemeClr val="accent1"/>
            </a:solidFill>
            <a:prstDash val="solid"/>
          </a:ln>
        </p:spPr>
      </p:sp>
      <p:sp>
        <p:nvSpPr>
          <p:cNvPr id="16" name="Text 13"/>
          <p:cNvSpPr/>
          <p:nvPr/>
        </p:nvSpPr>
        <p:spPr>
          <a:xfrm>
            <a:off x="685800" y="5532120"/>
            <a:ext cx="8229600" cy="73152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DICA: Min 0 Max 100 SEMPRE em percentual. Sem isso, o auto-scale distorce. Threshold: cor por severidade. Acima de 70 amarelo, acima de 90 vermelho.</a:t>
            </a:r>
            <a:endParaRPr lang="en-US" sz="1300" dirty="0"/>
          </a:p>
        </p:txBody>
      </p:sp>
      <p:pic>
        <p:nvPicPr>
          <p:cNvPr id="17"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8" name="Text 14"/>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25 / 110</a:t>
            </a:r>
            <a:endParaRPr lang="en-US" sz="1000" dirty="0"/>
          </a:p>
        </p:txBody>
      </p:sp>
      <p:sp>
        <p:nvSpPr>
          <p:cNvPr id="19" name="Text 15"/>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22:00 · EXERCÍCIO PRÁTICO (ALUNO)</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Suba seu ambiente</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e construa seu primeiro dashboard</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26 / 110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1.1 — Suba o ambiente e faça login</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36576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36576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VM-B)</a:t>
            </a:r>
            <a:endParaRPr lang="en-US" sz="1400" dirty="0"/>
          </a:p>
        </p:txBody>
      </p:sp>
      <p:sp>
        <p:nvSpPr>
          <p:cNvPr id="14" name="Text 11"/>
          <p:cNvSpPr/>
          <p:nvPr/>
        </p:nvSpPr>
        <p:spPr>
          <a:xfrm>
            <a:off x="73152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Já está rodando. Acessar http://&lt;ip-vm-b&gt;:3000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Mostra o ambiente pronto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Circula pela sala/breakout pra ajudar</a:t>
            </a:r>
            <a:endParaRPr lang="en-US" sz="1100" dirty="0"/>
          </a:p>
        </p:txBody>
      </p:sp>
      <p:sp>
        <p:nvSpPr>
          <p:cNvPr id="15" name="Shape 12"/>
          <p:cNvSpPr/>
          <p:nvPr/>
        </p:nvSpPr>
        <p:spPr>
          <a:xfrm>
            <a:off x="4754880" y="2011680"/>
            <a:ext cx="4114800" cy="36576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36576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local OU Docker)</a:t>
            </a:r>
            <a:endParaRPr lang="en-US" sz="1400" dirty="0"/>
          </a:p>
        </p:txBody>
      </p:sp>
      <p:sp>
        <p:nvSpPr>
          <p:cNvPr id="19" name="Text 16"/>
          <p:cNvSpPr/>
          <p:nvPr/>
        </p:nvSpPr>
        <p:spPr>
          <a:xfrm>
            <a:off x="502920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~/labs/dia1 (Ubuntu) OU git clone + cd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A — Ubuntu: ./install.sh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B — Docker: 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15s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http://localhost:3000 no navegador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Login admin / admin (Skip na troca de senha)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Confirma que a home carregou</a:t>
            </a:r>
            <a:endParaRPr lang="en-US" sz="1100" dirty="0"/>
          </a:p>
        </p:txBody>
      </p:sp>
      <p:sp>
        <p:nvSpPr>
          <p:cNvPr id="20" name="Shape 17"/>
          <p:cNvSpPr/>
          <p:nvPr/>
        </p:nvSpPr>
        <p:spPr>
          <a:xfrm>
            <a:off x="457200" y="5852160"/>
            <a:ext cx="8686800" cy="548640"/>
          </a:xfrm>
          <a:prstGeom prst="roundRect">
            <a:avLst>
              <a:gd name="adj" fmla="val 13333"/>
            </a:avLst>
          </a:prstGeom>
          <a:solidFill>
            <a:schemeClr val="accent1"/>
          </a:solidFill>
          <a:ln w="12700">
            <a:solidFill>
              <a:schemeClr val="accent1"/>
            </a:solidFill>
            <a:prstDash val="solid"/>
          </a:ln>
        </p:spPr>
      </p:sp>
      <p:sp>
        <p:nvSpPr>
          <p:cNvPr id="21" name="Text 18"/>
          <p:cNvSpPr/>
          <p:nvPr/>
        </p:nvSpPr>
        <p:spPr>
          <a:xfrm>
            <a:off x="685800" y="5989320"/>
            <a:ext cx="8229600" cy="274320"/>
          </a:xfrm>
          <a:prstGeom prst="rect">
            <a:avLst/>
          </a:prstGeom>
          <a:noFill/>
          <a:ln/>
        </p:spPr>
        <p:txBody>
          <a:bodyPr wrap="square" rtlCol="0" anchor="t"/>
          <a:lstStyle/>
          <a:p>
            <a:pPr algn="l" indent="0" marL="0">
              <a:buNone/>
            </a:pPr>
            <a:r>
              <a:rPr lang="en-US" sz="1000" dirty="0">
                <a:solidFill>
                  <a:srgbClr val="000000"/>
                </a:solidFill>
                <a:latin typeface="Trebuchet MS" pitchFamily="34" charset="0"/>
                <a:ea typeface="Trebuchet MS" pitchFamily="34" charset="-122"/>
                <a:cs typeface="Trebuchet MS" pitchFamily="34" charset="-120"/>
              </a:rPr>
              <a:t>PROBLEMAS: 'docker não reconhecido' → Docker Desktop não está rodando. 'porta 3000 em uso' → docker compose down. Reset: docker compose down -v &amp;&amp; docker compose up -d</a:t>
            </a:r>
            <a:endParaRPr lang="en-US" sz="100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27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1.2 — Explore: 5 queries obrigatórias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41148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41148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VM-A)</a:t>
            </a:r>
            <a:endParaRPr lang="en-US" sz="1400" dirty="0"/>
          </a:p>
        </p:txBody>
      </p:sp>
      <p:sp>
        <p:nvSpPr>
          <p:cNvPr id="14" name="Text 11"/>
          <p:cNvSpPr/>
          <p:nvPr/>
        </p:nvSpPr>
        <p:spPr>
          <a:xfrm>
            <a:off x="731520" y="2788920"/>
            <a:ext cx="3657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Roda as 5 queries no Explore, explicando cada uma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Q1: lista todas as métricas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Q4: a fórmula clássica de CPU%</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Mostra time range 15m vs 6h</a:t>
            </a:r>
            <a:endParaRPr lang="en-US" sz="1100" dirty="0"/>
          </a:p>
        </p:txBody>
      </p:sp>
      <p:sp>
        <p:nvSpPr>
          <p:cNvPr id="15" name="Shape 12"/>
          <p:cNvSpPr/>
          <p:nvPr/>
        </p:nvSpPr>
        <p:spPr>
          <a:xfrm>
            <a:off x="4754880" y="2011680"/>
            <a:ext cx="4114800" cy="41148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41148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(no seu notebook, em paralelo)</a:t>
            </a:r>
            <a:endParaRPr lang="en-US" sz="1400" dirty="0"/>
          </a:p>
        </p:txBody>
      </p:sp>
      <p:sp>
        <p:nvSpPr>
          <p:cNvPr id="19" name="Text 16"/>
          <p:cNvSpPr/>
          <p:nvPr/>
        </p:nvSpPr>
        <p:spPr>
          <a:xfrm>
            <a:off x="5029200" y="2788920"/>
            <a:ext cx="3657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G+E pra abrir o Explore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Q1: {__name__=~".+"} (quantas métricas?)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Q2: node_cpu_seconds_total (counter bruto)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Q3: rate(node_cpu_seconds_total[1m])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Q4: 100 - (avg by(instance) (rate(... idle[5m]))*100)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Q5: count(node_cpu_seconds_total)</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Mude time range para Last 6h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Refresh interval = 5s</a:t>
            </a:r>
            <a:endParaRPr lang="en-US" sz="1100" dirty="0"/>
          </a:p>
        </p:txBody>
      </p:sp>
      <p:sp>
        <p:nvSpPr>
          <p:cNvPr id="20" name="Shape 17"/>
          <p:cNvSpPr/>
          <p:nvPr/>
        </p:nvSpPr>
        <p:spPr>
          <a:xfrm>
            <a:off x="457200" y="6309360"/>
            <a:ext cx="8686800" cy="365760"/>
          </a:xfrm>
          <a:prstGeom prst="roundRect">
            <a:avLst>
              <a:gd name="adj" fmla="val 20000"/>
            </a:avLst>
          </a:prstGeom>
          <a:solidFill>
            <a:schemeClr val="accent1"/>
          </a:solidFill>
          <a:ln w="12700">
            <a:solidFill>
              <a:schemeClr val="accent1"/>
            </a:solidFill>
            <a:prstDash val="solid"/>
          </a:ln>
        </p:spPr>
      </p:sp>
      <p:sp>
        <p:nvSpPr>
          <p:cNvPr id="21" name="Text 18"/>
          <p:cNvSpPr/>
          <p:nvPr/>
        </p:nvSpPr>
        <p:spPr>
          <a:xfrm>
            <a:off x="685800" y="6446520"/>
            <a:ext cx="8229600" cy="91440"/>
          </a:xfrm>
          <a:prstGeom prst="rect">
            <a:avLst/>
          </a:prstGeom>
          <a:noFill/>
          <a:ln/>
        </p:spPr>
        <p:txBody>
          <a:bodyPr wrap="square" rtlCol="0" anchor="t"/>
          <a:lstStyle/>
          <a:p>
            <a:pPr algn="l" indent="0" marL="0">
              <a:buNone/>
            </a:pPr>
            <a:r>
              <a:rPr lang="en-US" sz="1000" dirty="0">
                <a:solidFill>
                  <a:srgbClr val="000000"/>
                </a:solidFill>
                <a:latin typeface="Trebuchet MS" pitchFamily="34" charset="0"/>
                <a:ea typeface="Trebuchet MS" pitchFamily="34" charset="-122"/>
                <a:cs typeface="Trebuchet MS" pitchFamily="34" charset="-120"/>
              </a:rPr>
              <a:t>GABARITO: Q4 deve mostrar 5-30% (CPU ociosa). Se mostrar 0%, Node Exporter não está sendo scrapeado. Veja /targets no Prometheus.</a:t>
            </a:r>
            <a:endParaRPr lang="en-US" sz="100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28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1.3 — Seu primeiro dashboard</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41148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41148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VM-A)</a:t>
            </a:r>
            <a:endParaRPr lang="en-US" sz="1400" dirty="0"/>
          </a:p>
        </p:txBody>
      </p:sp>
      <p:sp>
        <p:nvSpPr>
          <p:cNvPr id="14" name="Text 11"/>
          <p:cNvSpPr/>
          <p:nvPr/>
        </p:nvSpPr>
        <p:spPr>
          <a:xfrm>
            <a:off x="731520" y="2788920"/>
            <a:ext cx="3657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Cria 'Meu primeiro dashboard' ao vivo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4 painéis: stat CPU, stat memória, time series CPU, table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Save (Ctrl+S), Share &gt; Link</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em aba anônima, mostra o JSON exportado</a:t>
            </a:r>
            <a:endParaRPr lang="en-US" sz="1100" dirty="0"/>
          </a:p>
        </p:txBody>
      </p:sp>
      <p:sp>
        <p:nvSpPr>
          <p:cNvPr id="15" name="Shape 12"/>
          <p:cNvSpPr/>
          <p:nvPr/>
        </p:nvSpPr>
        <p:spPr>
          <a:xfrm>
            <a:off x="4754880" y="2011680"/>
            <a:ext cx="4114800" cy="41148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41148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(no seu notebook, em paralelo)</a:t>
            </a:r>
            <a:endParaRPr lang="en-US" sz="1400" dirty="0"/>
          </a:p>
        </p:txBody>
      </p:sp>
      <p:sp>
        <p:nvSpPr>
          <p:cNvPr id="19" name="Text 16"/>
          <p:cNvSpPr/>
          <p:nvPr/>
        </p:nvSpPr>
        <p:spPr>
          <a:xfrm>
            <a:off x="5029200" y="2788920"/>
            <a:ext cx="3657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Dashboards &gt; New &gt; New dashboard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1 — STAT: node_load1, title 'Load 1min'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2 — TIME SERIES: rate(node_cpu_seconds_total[1m])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3 — STAT: (MemTotal-MemAvailable)/1024^3, unit GB</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4 — TABLE: count by(mode) (node_cpu_seconds_total)</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Reorganize arrastando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Ctrl+S, nome 'Meu primeiro dashboard'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Share &gt; Link, validar em aba anônima</a:t>
            </a:r>
            <a:endParaRPr lang="en-US" sz="1100" dirty="0"/>
          </a:p>
        </p:txBody>
      </p:sp>
      <p:sp>
        <p:nvSpPr>
          <p:cNvPr id="20" name="Shape 17"/>
          <p:cNvSpPr/>
          <p:nvPr/>
        </p:nvSpPr>
        <p:spPr>
          <a:xfrm>
            <a:off x="457200" y="6309360"/>
            <a:ext cx="8686800" cy="365760"/>
          </a:xfrm>
          <a:prstGeom prst="roundRect">
            <a:avLst>
              <a:gd name="adj" fmla="val 20000"/>
            </a:avLst>
          </a:prstGeom>
          <a:solidFill>
            <a:schemeClr val="accent1"/>
          </a:solidFill>
          <a:ln w="12700">
            <a:solidFill>
              <a:schemeClr val="accent1"/>
            </a:solidFill>
            <a:prstDash val="solid"/>
          </a:ln>
        </p:spPr>
      </p:sp>
      <p:sp>
        <p:nvSpPr>
          <p:cNvPr id="21" name="Text 18"/>
          <p:cNvSpPr/>
          <p:nvPr/>
        </p:nvSpPr>
        <p:spPr>
          <a:xfrm>
            <a:off x="685800" y="6446520"/>
            <a:ext cx="8229600" cy="91440"/>
          </a:xfrm>
          <a:prstGeom prst="rect">
            <a:avLst/>
          </a:prstGeom>
          <a:noFill/>
          <a:ln/>
        </p:spPr>
        <p:txBody>
          <a:bodyPr wrap="square" rtlCol="0" anchor="t"/>
          <a:lstStyle/>
          <a:p>
            <a:pPr algn="l" indent="0" marL="0">
              <a:buNone/>
            </a:pPr>
            <a:r>
              <a:rPr lang="en-US" sz="1000" dirty="0">
                <a:solidFill>
                  <a:srgbClr val="000000"/>
                </a:solidFill>
                <a:latin typeface="Trebuchet MS" pitchFamily="34" charset="0"/>
                <a:ea typeface="Trebuchet MS" pitchFamily="34" charset="-122"/>
                <a:cs typeface="Trebuchet MS" pitchFamily="34" charset="-120"/>
              </a:rPr>
              <a:t>Bônus: 5º painel — bar gauge com 100 - (avg by(cpu) (rate(...idle[1m])) * 100).</a:t>
            </a:r>
            <a:endParaRPr lang="en-US" sz="100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29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 NOITE 01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Você aprendeu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2743200"/>
          </a:xfrm>
          <a:prstGeom prst="roundRect">
            <a:avLst>
              <a:gd name="adj" fmla="val 2000"/>
            </a:avLst>
          </a:prstGeom>
          <a:solidFill>
            <a:srgbClr val="F0F7E0"/>
          </a:solidFill>
          <a:ln w="12700">
            <a:solidFill>
              <a:schemeClr val="accent2"/>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Conceitos</a:t>
            </a:r>
            <a:endParaRPr lang="en-US" sz="1400" dirty="0"/>
          </a:p>
        </p:txBody>
      </p:sp>
      <p:sp>
        <p:nvSpPr>
          <p:cNvPr id="13" name="Text 10"/>
          <p:cNvSpPr/>
          <p:nvPr/>
        </p:nvSpPr>
        <p:spPr>
          <a:xfrm>
            <a:off x="59436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Observabilidade, 3 pilares, arquitetura Grafana, edições e licenciamento</a:t>
            </a:r>
            <a:endParaRPr lang="en-US" sz="1050" dirty="0"/>
          </a:p>
        </p:txBody>
      </p:sp>
      <p:sp>
        <p:nvSpPr>
          <p:cNvPr id="14" name="Shape 11"/>
          <p:cNvSpPr/>
          <p:nvPr/>
        </p:nvSpPr>
        <p:spPr>
          <a:xfrm>
            <a:off x="3413760" y="2011680"/>
            <a:ext cx="2773680" cy="2743200"/>
          </a:xfrm>
          <a:prstGeom prst="roundRect">
            <a:avLst>
              <a:gd name="adj" fmla="val 2000"/>
            </a:avLst>
          </a:prstGeom>
          <a:solidFill>
            <a:srgbClr val="F0F7E0"/>
          </a:solidFill>
          <a:ln w="12700">
            <a:solidFill>
              <a:schemeClr val="accent2"/>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Ferramentas</a:t>
            </a:r>
            <a:endParaRPr lang="en-US" sz="1400" dirty="0"/>
          </a:p>
        </p:txBody>
      </p:sp>
      <p:sp>
        <p:nvSpPr>
          <p:cNvPr id="17" name="Text 14"/>
          <p:cNvSpPr/>
          <p:nvPr/>
        </p:nvSpPr>
        <p:spPr>
          <a:xfrm>
            <a:off x="355092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Subir Docker, acessar Grafana, conectar datasource, rodar queries no Explore</a:t>
            </a:r>
            <a:endParaRPr lang="en-US" sz="1050" dirty="0"/>
          </a:p>
        </p:txBody>
      </p:sp>
      <p:sp>
        <p:nvSpPr>
          <p:cNvPr id="18" name="Shape 15"/>
          <p:cNvSpPr/>
          <p:nvPr/>
        </p:nvSpPr>
        <p:spPr>
          <a:xfrm>
            <a:off x="6370320" y="2011680"/>
            <a:ext cx="2773680" cy="2743200"/>
          </a:xfrm>
          <a:prstGeom prst="roundRect">
            <a:avLst>
              <a:gd name="adj" fmla="val 2000"/>
            </a:avLst>
          </a:prstGeom>
          <a:solidFill>
            <a:srgbClr val="F0F7E0"/>
          </a:solidFill>
          <a:ln w="12700">
            <a:solidFill>
              <a:schemeClr val="accent2"/>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Primeiro dashboard</a:t>
            </a:r>
            <a:endParaRPr lang="en-US" sz="1400" dirty="0"/>
          </a:p>
        </p:txBody>
      </p:sp>
      <p:sp>
        <p:nvSpPr>
          <p:cNvPr id="21" name="Text 18"/>
          <p:cNvSpPr/>
          <p:nvPr/>
        </p:nvSpPr>
        <p:spPr>
          <a:xfrm>
            <a:off x="650748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Criar dashboard com 4 painéis, ajustar visualização, salvar e compartilhar</a:t>
            </a:r>
            <a:endParaRPr lang="en-US" sz="1050" dirty="0"/>
          </a:p>
        </p:txBody>
      </p:sp>
      <p:sp>
        <p:nvSpPr>
          <p:cNvPr id="22" name="Shape 19"/>
          <p:cNvSpPr/>
          <p:nvPr/>
        </p:nvSpPr>
        <p:spPr>
          <a:xfrm>
            <a:off x="457200" y="4937760"/>
            <a:ext cx="8686800" cy="1280160"/>
          </a:xfrm>
          <a:prstGeom prst="roundRect">
            <a:avLst>
              <a:gd name="adj" fmla="val 5714"/>
            </a:avLst>
          </a:prstGeom>
          <a:solidFill>
            <a:schemeClr val="accent1"/>
          </a:solidFill>
          <a:ln w="12700">
            <a:solidFill>
              <a:schemeClr val="accent1"/>
            </a:solidFill>
            <a:prstDash val="solid"/>
          </a:ln>
        </p:spPr>
      </p:sp>
      <p:sp>
        <p:nvSpPr>
          <p:cNvPr id="23" name="Text 20"/>
          <p:cNvSpPr/>
          <p:nvPr/>
        </p:nvSpPr>
        <p:spPr>
          <a:xfrm>
            <a:off x="685800" y="5074920"/>
            <a:ext cx="8229600" cy="100584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PRÓXIMA NOITE (Noite 02): variáveis dinâmicas, visualizações avançadas, cAdvisor (containers) e alertas Prometheus + Alertmanager. Tragam o lab/dia2 (mesmo padrão do dia 1, mas com 5 containers).</a:t>
            </a:r>
            <a:endParaRPr lang="en-US" sz="1300" dirty="0"/>
          </a:p>
        </p:txBody>
      </p:sp>
      <p:pic>
        <p:nvPicPr>
          <p:cNvPr id="2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5" name="Text 2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30 / 110</a:t>
            </a:r>
            <a:endParaRPr lang="en-US" sz="1000" dirty="0"/>
          </a:p>
        </p:txBody>
      </p:sp>
      <p:sp>
        <p:nvSpPr>
          <p:cNvPr id="26" name="Text 2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PARA CASA (OPCIONAL)</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Tarefa de casa — Noite 01</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Brincar no Explore com 5 queries diferentes (qualquer métrica do Node Exporter)</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Adicionar 3 painéis novos no seu dashboard (qualquer combinação)</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Ler a documentação oficial do Prometheus (15 min): https://prometheus.io/docs/prometheus/latest/querying/basics/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Ler a documentação oficial do Grafana Explore (10 min): https://grafana.com/docs/grafana/latest/explore/</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Assistir 1 vídeo curto (10 min): 'Grafana 101' no YouTube oficial do Grafana Labs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Tirar print do seu dashboard e trazer na próxima noite</a:t>
            </a:r>
            <a:endParaRPr lang="en-US" sz="14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31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NOITE 02</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Variáveis, alertas e containers</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Aprofundando no Grafana</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REVISÃO RÁPIDA</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vimos na Noite 01</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Observabilidade: 3 pilares (métricas, logs, traces)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Grafana: camada de visualização, NÃO armazena dado</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Arquitetura: exporter → Prometheus → Grafana → Alerta</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Stack: Node Exporter (9100) + Prometheus (9090) + Grafana (3000)</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Demo: criamos dashboard com 4 painéis (stat, time series, table)</a:t>
            </a:r>
            <a:endParaRPr lang="en-US" sz="15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O QUE VAMOS VER HOJE</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Programa da Noite 02</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Variáveis</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Dinâmicas, multi-value, regex, custom</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PromQL</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rate, increase, histogram_quantile, aggregações</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cAdvisor</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Métricas de containers Docker</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Alertas</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rules + Alertmanager + Grafana alerts</a:t>
            </a:r>
            <a:endParaRPr lang="en-US" sz="100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Variáveis: filtros dinâmicos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i="1" dirty="0">
                <a:solidFill>
                  <a:schemeClr val="accent2"/>
                </a:solidFill>
                <a:latin typeface="Trebuchet MS" pitchFamily="34" charset="0"/>
                <a:ea typeface="Trebuchet MS" pitchFamily="34" charset="-122"/>
                <a:cs typeface="Trebuchet MS" pitchFamily="34" charset="-120"/>
              </a:rPr>
              <a:t>Variáveis transformam dashboards estáticos em painéis interativos — um único dashboard serve para monitorar N hosts, regiões ou serviços.</a:t>
            </a:r>
            <a:endParaRPr lang="en-US" sz="1400" dirty="0"/>
          </a:p>
        </p:txBody>
      </p:sp>
      <p:sp>
        <p:nvSpPr>
          <p:cNvPr id="11" name="Shape 8"/>
          <p:cNvSpPr/>
          <p:nvPr/>
        </p:nvSpPr>
        <p:spPr>
          <a:xfrm>
            <a:off x="457200" y="2743200"/>
            <a:ext cx="2034540" cy="3657600"/>
          </a:xfrm>
          <a:prstGeom prst="roundRect">
            <a:avLst>
              <a:gd name="adj" fmla="val 2697"/>
            </a:avLst>
          </a:prstGeom>
          <a:solidFill>
            <a:srgbClr val="000000"/>
          </a:solidFill>
          <a:ln w="12700">
            <a:solidFill>
              <a:schemeClr val="accent1"/>
            </a:solidFill>
            <a:prstDash val="solid"/>
          </a:ln>
        </p:spPr>
      </p:sp>
      <p:sp>
        <p:nvSpPr>
          <p:cNvPr id="12" name="Text 9"/>
          <p:cNvSpPr/>
          <p:nvPr/>
        </p:nvSpPr>
        <p:spPr>
          <a:xfrm>
            <a:off x="59436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3" name="Text 10"/>
          <p:cNvSpPr/>
          <p:nvPr/>
        </p:nvSpPr>
        <p:spPr>
          <a:xfrm>
            <a:off x="118872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Query variable</a:t>
            </a:r>
            <a:endParaRPr lang="en-US" sz="1400" dirty="0"/>
          </a:p>
        </p:txBody>
      </p:sp>
      <p:sp>
        <p:nvSpPr>
          <p:cNvPr id="14" name="Text 11"/>
          <p:cNvSpPr/>
          <p:nvPr/>
        </p:nvSpPr>
        <p:spPr>
          <a:xfrm>
            <a:off x="594360" y="3429000"/>
            <a:ext cx="1760220" cy="2926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Lista de valores vinda de uma query (ex: label_values(node_cpu_seconds_total, instance)). A mais comum.</a:t>
            </a:r>
            <a:endParaRPr lang="en-US" sz="1050" dirty="0"/>
          </a:p>
        </p:txBody>
      </p:sp>
      <p:sp>
        <p:nvSpPr>
          <p:cNvPr id="15" name="Shape 12"/>
          <p:cNvSpPr/>
          <p:nvPr/>
        </p:nvSpPr>
        <p:spPr>
          <a:xfrm>
            <a:off x="2674620" y="2743200"/>
            <a:ext cx="2034540" cy="3657600"/>
          </a:xfrm>
          <a:prstGeom prst="roundRect">
            <a:avLst>
              <a:gd name="adj" fmla="val 2697"/>
            </a:avLst>
          </a:prstGeom>
          <a:solidFill>
            <a:srgbClr val="000000"/>
          </a:solidFill>
          <a:ln w="12700">
            <a:solidFill>
              <a:schemeClr val="accent1"/>
            </a:solidFill>
            <a:prstDash val="solid"/>
          </a:ln>
        </p:spPr>
      </p:sp>
      <p:sp>
        <p:nvSpPr>
          <p:cNvPr id="16" name="Text 13"/>
          <p:cNvSpPr/>
          <p:nvPr/>
        </p:nvSpPr>
        <p:spPr>
          <a:xfrm>
            <a:off x="281178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C</a:t>
            </a:r>
            <a:endParaRPr lang="en-US" sz="2600" dirty="0"/>
          </a:p>
        </p:txBody>
      </p:sp>
      <p:sp>
        <p:nvSpPr>
          <p:cNvPr id="17" name="Text 14"/>
          <p:cNvSpPr/>
          <p:nvPr/>
        </p:nvSpPr>
        <p:spPr>
          <a:xfrm>
            <a:off x="340614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Custom variable</a:t>
            </a:r>
            <a:endParaRPr lang="en-US" sz="1400" dirty="0"/>
          </a:p>
        </p:txBody>
      </p:sp>
      <p:sp>
        <p:nvSpPr>
          <p:cNvPr id="18" name="Text 15"/>
          <p:cNvSpPr/>
          <p:nvPr/>
        </p:nvSpPr>
        <p:spPr>
          <a:xfrm>
            <a:off x="2811780" y="3429000"/>
            <a:ext cx="1760220" cy="2926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Lista fixa definida pelo usuário (ex: prod, staging, dev). Útil para ambientes.</a:t>
            </a:r>
            <a:endParaRPr lang="en-US" sz="1050" dirty="0"/>
          </a:p>
        </p:txBody>
      </p:sp>
      <p:sp>
        <p:nvSpPr>
          <p:cNvPr id="19" name="Shape 16"/>
          <p:cNvSpPr/>
          <p:nvPr/>
        </p:nvSpPr>
        <p:spPr>
          <a:xfrm>
            <a:off x="4892040" y="2743200"/>
            <a:ext cx="2034540" cy="3657600"/>
          </a:xfrm>
          <a:prstGeom prst="roundRect">
            <a:avLst>
              <a:gd name="adj" fmla="val 2697"/>
            </a:avLst>
          </a:prstGeom>
          <a:solidFill>
            <a:srgbClr val="000000"/>
          </a:solidFill>
          <a:ln w="12700">
            <a:solidFill>
              <a:schemeClr val="accent1"/>
            </a:solidFill>
            <a:prstDash val="solid"/>
          </a:ln>
        </p:spPr>
      </p:sp>
      <p:sp>
        <p:nvSpPr>
          <p:cNvPr id="20" name="Text 17"/>
          <p:cNvSpPr/>
          <p:nvPr/>
        </p:nvSpPr>
        <p:spPr>
          <a:xfrm>
            <a:off x="502920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T</a:t>
            </a:r>
            <a:endParaRPr lang="en-US" sz="2600" dirty="0"/>
          </a:p>
        </p:txBody>
      </p:sp>
      <p:sp>
        <p:nvSpPr>
          <p:cNvPr id="21" name="Text 18"/>
          <p:cNvSpPr/>
          <p:nvPr/>
        </p:nvSpPr>
        <p:spPr>
          <a:xfrm>
            <a:off x="562356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Text box</a:t>
            </a:r>
            <a:endParaRPr lang="en-US" sz="1400" dirty="0"/>
          </a:p>
        </p:txBody>
      </p:sp>
      <p:sp>
        <p:nvSpPr>
          <p:cNvPr id="22" name="Text 19"/>
          <p:cNvSpPr/>
          <p:nvPr/>
        </p:nvSpPr>
        <p:spPr>
          <a:xfrm>
            <a:off x="5029200" y="3429000"/>
            <a:ext cx="1760220" cy="2926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Campo de texto livre. Útil para filtros ad-hoc como $app_name.</a:t>
            </a:r>
            <a:endParaRPr lang="en-US" sz="1050" dirty="0"/>
          </a:p>
        </p:txBody>
      </p:sp>
      <p:sp>
        <p:nvSpPr>
          <p:cNvPr id="23" name="Shape 20"/>
          <p:cNvSpPr/>
          <p:nvPr/>
        </p:nvSpPr>
        <p:spPr>
          <a:xfrm>
            <a:off x="7109460" y="2743200"/>
            <a:ext cx="2034540" cy="3657600"/>
          </a:xfrm>
          <a:prstGeom prst="roundRect">
            <a:avLst>
              <a:gd name="adj" fmla="val 2697"/>
            </a:avLst>
          </a:prstGeom>
          <a:solidFill>
            <a:srgbClr val="000000"/>
          </a:solidFill>
          <a:ln w="12700">
            <a:solidFill>
              <a:schemeClr val="accent1"/>
            </a:solidFill>
            <a:prstDash val="solid"/>
          </a:ln>
        </p:spPr>
      </p:sp>
      <p:sp>
        <p:nvSpPr>
          <p:cNvPr id="24" name="Text 21"/>
          <p:cNvSpPr/>
          <p:nvPr/>
        </p:nvSpPr>
        <p:spPr>
          <a:xfrm>
            <a:off x="724662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D</a:t>
            </a:r>
            <a:endParaRPr lang="en-US" sz="2600" dirty="0"/>
          </a:p>
        </p:txBody>
      </p:sp>
      <p:sp>
        <p:nvSpPr>
          <p:cNvPr id="25" name="Text 22"/>
          <p:cNvSpPr/>
          <p:nvPr/>
        </p:nvSpPr>
        <p:spPr>
          <a:xfrm>
            <a:off x="784098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Data source</a:t>
            </a:r>
            <a:endParaRPr lang="en-US" sz="1400" dirty="0"/>
          </a:p>
        </p:txBody>
      </p:sp>
      <p:sp>
        <p:nvSpPr>
          <p:cNvPr id="26" name="Text 23"/>
          <p:cNvSpPr/>
          <p:nvPr/>
        </p:nvSpPr>
        <p:spPr>
          <a:xfrm>
            <a:off x="7246620" y="3429000"/>
            <a:ext cx="1760220" cy="29260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Troca o datasource em tempo real. Útil pra comparar Prometheus vs Mimir.</a:t>
            </a:r>
            <a:endParaRPr lang="en-US" sz="1050" dirty="0"/>
          </a:p>
        </p:txBody>
      </p:sp>
      <p:pic>
        <p:nvPicPr>
          <p:cNvPr id="27"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8" name="Text 24"/>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9" name="Text 25"/>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Como usar variáveis nas queries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3657600"/>
          </a:xfrm>
          <a:prstGeom prst="rect">
            <a:avLst/>
          </a:prstGeom>
          <a:solidFill>
            <a:srgbClr val="F5F5F5"/>
          </a:solidFill>
          <a:ln w="12700">
            <a:solidFill>
              <a:srgbClr val="D1D5DB"/>
            </a:solidFill>
            <a:prstDash val="solid"/>
          </a:ln>
        </p:spPr>
      </p:sp>
      <p:sp>
        <p:nvSpPr>
          <p:cNvPr id="11" name="Shape 8"/>
          <p:cNvSpPr/>
          <p:nvPr/>
        </p:nvSpPr>
        <p:spPr>
          <a:xfrm>
            <a:off x="457200" y="2011680"/>
            <a:ext cx="73152" cy="36576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exemplos práticos de uso de variáveis</a:t>
            </a:r>
            <a:endParaRPr lang="en-US" sz="1000" dirty="0"/>
          </a:p>
        </p:txBody>
      </p:sp>
      <p:sp>
        <p:nvSpPr>
          <p:cNvPr id="14" name="Text 11"/>
          <p:cNvSpPr/>
          <p:nvPr/>
        </p:nvSpPr>
        <p:spPr>
          <a:xfrm>
            <a:off x="640080" y="2359152"/>
            <a:ext cx="8412480" cy="32461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Definir a variável no dashboard:</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Settings &gt; Variables &gt; New variable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Name: host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Type: Query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Data source: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Query: label_values(node_cpu_seconds_total, instance)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Multi-value: true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Include All option: true</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Usar nos painéis: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100 - (avg by(cpu) (rate(node_cpu_seconds_total{mode="idle", instance=~"$host"}[5m])) * 100)</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Atalho $__interval (intervalo automático baseado no range de tempo):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rate(node_network_receive_bytes_total[$__interval])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Filtrar por regex: instance=~"$host"  (com ~ = regex match)</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Visualizações avançadas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1295400" cy="4114800"/>
          </a:xfrm>
          <a:prstGeom prst="roundRect">
            <a:avLst>
              <a:gd name="adj" fmla="val 4235"/>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Heatmap</a:t>
            </a:r>
            <a:endParaRPr lang="en-US" sz="1400" dirty="0"/>
          </a:p>
        </p:txBody>
      </p:sp>
      <p:sp>
        <p:nvSpPr>
          <p:cNvPr id="13" name="Text 10"/>
          <p:cNvSpPr/>
          <p:nvPr/>
        </p:nvSpPr>
        <p:spPr>
          <a:xfrm>
            <a:off x="59436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Matriz cor × tempo. Perfeito pra latência, requests por horário. Mostra densidade visual.</a:t>
            </a:r>
            <a:endParaRPr lang="en-US" sz="1050" dirty="0"/>
          </a:p>
        </p:txBody>
      </p:sp>
      <p:sp>
        <p:nvSpPr>
          <p:cNvPr id="14" name="Shape 11"/>
          <p:cNvSpPr/>
          <p:nvPr/>
        </p:nvSpPr>
        <p:spPr>
          <a:xfrm>
            <a:off x="1935480" y="2011680"/>
            <a:ext cx="1295400" cy="4114800"/>
          </a:xfrm>
          <a:prstGeom prst="roundRect">
            <a:avLst>
              <a:gd name="adj" fmla="val 4235"/>
            </a:avLst>
          </a:prstGeom>
          <a:solidFill>
            <a:srgbClr val="000000"/>
          </a:solidFill>
          <a:ln w="12700">
            <a:solidFill>
              <a:schemeClr val="accent1"/>
            </a:solidFill>
            <a:prstDash val="solid"/>
          </a:ln>
        </p:spPr>
      </p:sp>
      <p:sp>
        <p:nvSpPr>
          <p:cNvPr id="15" name="Text 12"/>
          <p:cNvSpPr/>
          <p:nvPr/>
        </p:nvSpPr>
        <p:spPr>
          <a:xfrm>
            <a:off x="207264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266700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Geomap</a:t>
            </a:r>
            <a:endParaRPr lang="en-US" sz="1400" dirty="0"/>
          </a:p>
        </p:txBody>
      </p:sp>
      <p:sp>
        <p:nvSpPr>
          <p:cNvPr id="17" name="Text 14"/>
          <p:cNvSpPr/>
          <p:nvPr/>
        </p:nvSpPr>
        <p:spPr>
          <a:xfrm>
            <a:off x="207264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Mapa geográfico. Pra latência por região, vendas por estado, status de data centers.</a:t>
            </a:r>
            <a:endParaRPr lang="en-US" sz="1050" dirty="0"/>
          </a:p>
        </p:txBody>
      </p:sp>
      <p:sp>
        <p:nvSpPr>
          <p:cNvPr id="18" name="Shape 15"/>
          <p:cNvSpPr/>
          <p:nvPr/>
        </p:nvSpPr>
        <p:spPr>
          <a:xfrm>
            <a:off x="3413760" y="2011680"/>
            <a:ext cx="1295400" cy="4114800"/>
          </a:xfrm>
          <a:prstGeom prst="roundRect">
            <a:avLst>
              <a:gd name="adj" fmla="val 4235"/>
            </a:avLst>
          </a:prstGeom>
          <a:solidFill>
            <a:srgbClr val="000000"/>
          </a:solidFill>
          <a:ln w="12700">
            <a:solidFill>
              <a:schemeClr val="accent1"/>
            </a:solidFill>
            <a:prstDash val="solid"/>
          </a:ln>
        </p:spPr>
      </p:sp>
      <p:sp>
        <p:nvSpPr>
          <p:cNvPr id="19" name="Text 16"/>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414528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Bar chart</a:t>
            </a:r>
            <a:endParaRPr lang="en-US" sz="1400" dirty="0"/>
          </a:p>
        </p:txBody>
      </p:sp>
      <p:sp>
        <p:nvSpPr>
          <p:cNvPr id="21" name="Text 18"/>
          <p:cNvSpPr/>
          <p:nvPr/>
        </p:nvSpPr>
        <p:spPr>
          <a:xfrm>
            <a:off x="355092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Barras verticais/horizontais. Comparar categorias. Top N processos, top N endpoints.</a:t>
            </a:r>
            <a:endParaRPr lang="en-US" sz="1050" dirty="0"/>
          </a:p>
        </p:txBody>
      </p:sp>
      <p:sp>
        <p:nvSpPr>
          <p:cNvPr id="22" name="Shape 19"/>
          <p:cNvSpPr/>
          <p:nvPr/>
        </p:nvSpPr>
        <p:spPr>
          <a:xfrm>
            <a:off x="4892040" y="2011680"/>
            <a:ext cx="1295400" cy="4114800"/>
          </a:xfrm>
          <a:prstGeom prst="roundRect">
            <a:avLst>
              <a:gd name="adj" fmla="val 4235"/>
            </a:avLst>
          </a:prstGeom>
          <a:solidFill>
            <a:srgbClr val="000000"/>
          </a:solidFill>
          <a:ln w="12700">
            <a:solidFill>
              <a:schemeClr val="accent1"/>
            </a:solidFill>
            <a:prstDash val="solid"/>
          </a:ln>
        </p:spPr>
      </p:sp>
      <p:sp>
        <p:nvSpPr>
          <p:cNvPr id="23" name="Text 20"/>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562356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Alert list</a:t>
            </a:r>
            <a:endParaRPr lang="en-US" sz="1400" dirty="0"/>
          </a:p>
        </p:txBody>
      </p:sp>
      <p:sp>
        <p:nvSpPr>
          <p:cNvPr id="25" name="Text 22"/>
          <p:cNvSpPr/>
          <p:nvPr/>
        </p:nvSpPr>
        <p:spPr>
          <a:xfrm>
            <a:off x="502920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Lista alertas ativos por severidade. Integrado com Alerting do Grafana.</a:t>
            </a:r>
            <a:endParaRPr lang="en-US" sz="1050" dirty="0"/>
          </a:p>
        </p:txBody>
      </p:sp>
      <p:sp>
        <p:nvSpPr>
          <p:cNvPr id="26" name="Shape 23"/>
          <p:cNvSpPr/>
          <p:nvPr/>
        </p:nvSpPr>
        <p:spPr>
          <a:xfrm>
            <a:off x="6370320" y="2011680"/>
            <a:ext cx="1295400" cy="4114800"/>
          </a:xfrm>
          <a:prstGeom prst="roundRect">
            <a:avLst>
              <a:gd name="adj" fmla="val 4235"/>
            </a:avLst>
          </a:prstGeom>
          <a:solidFill>
            <a:srgbClr val="000000"/>
          </a:solidFill>
          <a:ln w="12700">
            <a:solidFill>
              <a:schemeClr val="accent1"/>
            </a:solidFill>
            <a:prstDash val="solid"/>
          </a:ln>
        </p:spPr>
      </p:sp>
      <p:sp>
        <p:nvSpPr>
          <p:cNvPr id="27" name="Text 24"/>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8" name="Text 25"/>
          <p:cNvSpPr/>
          <p:nvPr/>
        </p:nvSpPr>
        <p:spPr>
          <a:xfrm>
            <a:off x="710184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Logs (Loki)</a:t>
            </a:r>
            <a:endParaRPr lang="en-US" sz="1400" dirty="0"/>
          </a:p>
        </p:txBody>
      </p:sp>
      <p:sp>
        <p:nvSpPr>
          <p:cNvPr id="29" name="Text 26"/>
          <p:cNvSpPr/>
          <p:nvPr/>
        </p:nvSpPr>
        <p:spPr>
          <a:xfrm>
            <a:off x="650748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Painel de logs com busca. Integra com datasource Loki (veremos na Noite 4).</a:t>
            </a:r>
            <a:endParaRPr lang="en-US" sz="1050" dirty="0"/>
          </a:p>
        </p:txBody>
      </p:sp>
      <p:sp>
        <p:nvSpPr>
          <p:cNvPr id="30" name="Shape 27"/>
          <p:cNvSpPr/>
          <p:nvPr/>
        </p:nvSpPr>
        <p:spPr>
          <a:xfrm>
            <a:off x="7848600" y="2011680"/>
            <a:ext cx="1295400" cy="4114800"/>
          </a:xfrm>
          <a:prstGeom prst="roundRect">
            <a:avLst>
              <a:gd name="adj" fmla="val 4235"/>
            </a:avLst>
          </a:prstGeom>
          <a:solidFill>
            <a:srgbClr val="000000"/>
          </a:solidFill>
          <a:ln w="12700">
            <a:solidFill>
              <a:schemeClr val="accent1"/>
            </a:solidFill>
            <a:prstDash val="solid"/>
          </a:ln>
        </p:spPr>
      </p:sp>
      <p:sp>
        <p:nvSpPr>
          <p:cNvPr id="31" name="Text 28"/>
          <p:cNvSpPr/>
          <p:nvPr/>
        </p:nvSpPr>
        <p:spPr>
          <a:xfrm>
            <a:off x="79857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32" name="Text 29"/>
          <p:cNvSpPr/>
          <p:nvPr/>
        </p:nvSpPr>
        <p:spPr>
          <a:xfrm>
            <a:off x="8580120" y="2148840"/>
            <a:ext cx="42672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Traces (Tempo)</a:t>
            </a:r>
            <a:endParaRPr lang="en-US" sz="1400" dirty="0"/>
          </a:p>
        </p:txBody>
      </p:sp>
      <p:sp>
        <p:nvSpPr>
          <p:cNvPr id="33" name="Text 30"/>
          <p:cNvSpPr/>
          <p:nvPr/>
        </p:nvSpPr>
        <p:spPr>
          <a:xfrm>
            <a:off x="7985760" y="2697480"/>
            <a:ext cx="102108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Árvore de traces distribuídos. Integra com datasource Tempo (veremos na Noite 4).</a:t>
            </a:r>
            <a:endParaRPr lang="en-US" sz="1050" dirty="0"/>
          </a:p>
        </p:txBody>
      </p:sp>
      <p:pic>
        <p:nvPicPr>
          <p:cNvPr id="3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35" name="Text 3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36" name="Text 3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PromQL intermediário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PromQL - as funções que você mais usa</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rate() — velocidade por segundo (para counter)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rate(http_requests_total[5m])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irate() — instant rate (últimos 2 pontos). Mais sensível, mas ruidoso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irate(http_requests_total[1m])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increase() — crescimento total no intervalo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increase(http_requests_total[1h])</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histogram_quantile() — percentil de histograma (latência p95, p99)</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histogram_quantile(0.95, sum by(le) (rate(http_request_duration_seconds_bucket[5m])))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sum by / count by / topk — agregações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sum by(job) (rate(http_requests_total[5m]))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topk(5, rate(node_cpu_seconds_total{mode!="idle"}[5m]))</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cAdvisor: métricas de containers Docker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cAdvisor (Container Advisor) é um daemon que coleta métricas de CPU, memória, rede e disco por container. É provisionado pelo Docker automaticamente e expõe métricas na porta 8080.</a:t>
            </a:r>
            <a:endParaRPr lang="en-US" sz="1400" dirty="0"/>
          </a:p>
        </p:txBody>
      </p:sp>
      <p:sp>
        <p:nvSpPr>
          <p:cNvPr id="11" name="Shape 8"/>
          <p:cNvSpPr/>
          <p:nvPr/>
        </p:nvSpPr>
        <p:spPr>
          <a:xfrm>
            <a:off x="457200" y="2651760"/>
            <a:ext cx="8686800" cy="1828800"/>
          </a:xfrm>
          <a:prstGeom prst="rect">
            <a:avLst/>
          </a:prstGeom>
          <a:solidFill>
            <a:srgbClr val="F5F5F5"/>
          </a:solidFill>
          <a:ln w="12700">
            <a:solidFill>
              <a:srgbClr val="D1D5DB"/>
            </a:solidFill>
            <a:prstDash val="solid"/>
          </a:ln>
        </p:spPr>
      </p:sp>
      <p:sp>
        <p:nvSpPr>
          <p:cNvPr id="12" name="Shape 9"/>
          <p:cNvSpPr/>
          <p:nvPr/>
        </p:nvSpPr>
        <p:spPr>
          <a:xfrm>
            <a:off x="457200" y="2651760"/>
            <a:ext cx="73152" cy="1828800"/>
          </a:xfrm>
          <a:prstGeom prst="rect">
            <a:avLst/>
          </a:prstGeom>
          <a:solidFill>
            <a:schemeClr val="accent1"/>
          </a:solidFill>
          <a:ln w="12700">
            <a:solidFill>
              <a:schemeClr val="accent1"/>
            </a:solidFill>
            <a:prstDash val="solid"/>
          </a:ln>
        </p:spPr>
      </p:sp>
      <p:sp>
        <p:nvSpPr>
          <p:cNvPr id="13" name="Shape 10"/>
          <p:cNvSpPr/>
          <p:nvPr/>
        </p:nvSpPr>
        <p:spPr>
          <a:xfrm>
            <a:off x="457200" y="2651760"/>
            <a:ext cx="8686800" cy="274320"/>
          </a:xfrm>
          <a:prstGeom prst="rect">
            <a:avLst/>
          </a:prstGeom>
          <a:solidFill>
            <a:srgbClr val="2C3C43"/>
          </a:solidFill>
          <a:ln w="12700">
            <a:solidFill>
              <a:srgbClr val="2C3C43"/>
            </a:solidFill>
            <a:prstDash val="solid"/>
          </a:ln>
        </p:spPr>
      </p:sp>
      <p:sp>
        <p:nvSpPr>
          <p:cNvPr id="14" name="Text 11"/>
          <p:cNvSpPr/>
          <p:nvPr/>
        </p:nvSpPr>
        <p:spPr>
          <a:xfrm>
            <a:off x="640080" y="267004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queries úteis do cAdvisor</a:t>
            </a:r>
            <a:endParaRPr lang="en-US" sz="1000" dirty="0"/>
          </a:p>
        </p:txBody>
      </p:sp>
      <p:sp>
        <p:nvSpPr>
          <p:cNvPr id="15" name="Text 12"/>
          <p:cNvSpPr/>
          <p:nvPr/>
        </p:nvSpPr>
        <p:spPr>
          <a:xfrm>
            <a:off x="640080" y="2999232"/>
            <a:ext cx="8412480" cy="1417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CPU de um container específico (em cores):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rate(container_cpu_usage_seconds_total{name="grafana"}[1m])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Memória usada por container (em bytes):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container_memory_usage_bytes{name="grafana"}</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Memória RSS (memória real, não cache):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container_memory_rss{name="grafana"}</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Network RX/TX por container: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rate(container_network_receive_bytes_total{name="grafana"}[1m])</a:t>
            </a:r>
            <a:endParaRPr lang="en-US" sz="1200" dirty="0"/>
          </a:p>
        </p:txBody>
      </p:sp>
      <p:sp>
        <p:nvSpPr>
          <p:cNvPr id="16" name="Shape 13"/>
          <p:cNvSpPr/>
          <p:nvPr/>
        </p:nvSpPr>
        <p:spPr>
          <a:xfrm>
            <a:off x="457200" y="4572000"/>
            <a:ext cx="8686800" cy="1645920"/>
          </a:xfrm>
          <a:prstGeom prst="roundRect">
            <a:avLst>
              <a:gd name="adj" fmla="val 4444"/>
            </a:avLst>
          </a:prstGeom>
          <a:solidFill>
            <a:schemeClr val="accent2"/>
          </a:solidFill>
          <a:ln w="12700">
            <a:solidFill>
              <a:schemeClr val="accent2"/>
            </a:solidFill>
            <a:prstDash val="solid"/>
          </a:ln>
        </p:spPr>
      </p:sp>
      <p:sp>
        <p:nvSpPr>
          <p:cNvPr id="17" name="Text 14"/>
          <p:cNvSpPr/>
          <p:nvPr/>
        </p:nvSpPr>
        <p:spPr>
          <a:xfrm>
            <a:off x="685800" y="4709160"/>
            <a:ext cx="8229600" cy="13716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Labels importantes: name (nome do container), image (imagem Docker), id (id curta do container), namespace (cgroup). Você pode agrupar por name para ver 'todos os meus Grafanas' de uma vez.</a:t>
            </a:r>
            <a:endParaRPr lang="en-US" sz="13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2.6</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Alertas: a stack completa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1. Regra</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Prometheus avalia expressão PromQL a cada 15s. Se for verdadeira por X tempo, vira alerta.</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2. Estado</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inactive (sem disparo) → pending (avaliando) → firing (disparado).</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3. Roteamento</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Alertmanager recebe, agrupa, deduplica, silencia, e roteia para o canal.</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4. Notificação</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Email, Slack, PagerDuty, webhook genérico, Telegram, Teams.</a:t>
            </a:r>
            <a:endParaRPr lang="en-US" sz="100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EXEMPLO 2.7</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Regra de alerta: host down</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3200400"/>
          </a:xfrm>
          <a:prstGeom prst="rect">
            <a:avLst/>
          </a:prstGeom>
          <a:solidFill>
            <a:srgbClr val="F5F5F5"/>
          </a:solidFill>
          <a:ln w="12700">
            <a:solidFill>
              <a:srgbClr val="D1D5DB"/>
            </a:solidFill>
            <a:prstDash val="solid"/>
          </a:ln>
        </p:spPr>
      </p:sp>
      <p:sp>
        <p:nvSpPr>
          <p:cNvPr id="11" name="Shape 8"/>
          <p:cNvSpPr/>
          <p:nvPr/>
        </p:nvSpPr>
        <p:spPr>
          <a:xfrm>
            <a:off x="457200" y="2011680"/>
            <a:ext cx="73152" cy="32004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prometheus/alerts/host_down.yml</a:t>
            </a:r>
            <a:endParaRPr lang="en-US" sz="1000" dirty="0"/>
          </a:p>
        </p:txBody>
      </p:sp>
      <p:sp>
        <p:nvSpPr>
          <p:cNvPr id="14" name="Text 11"/>
          <p:cNvSpPr/>
          <p:nvPr/>
        </p:nvSpPr>
        <p:spPr>
          <a:xfrm>
            <a:off x="640080" y="235915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groups: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host_alerts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interval: 30s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rules: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alert: HostDown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expr: up{job="node-exporter"} == 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for: 1m                     # precisa estar down por 1min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labels: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severity: critical       # usado pelo Alertmanager para routing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annotations: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summary: "Host {{ $labels.instance }} está down"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description: "O exporter parou de responder há mais de 1 minuto. Verifique conectividade e processo node_exporter."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runbook_url: "https://wiki.empresa.com/runbook/host-down"</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2.8</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Severidades e boas práticas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FBE5E5"/>
          </a:solidFill>
          <a:ln w="12700">
            <a:solidFill>
              <a:schemeClr val="accent5"/>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5"/>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5"/>
                </a:solidFill>
                <a:latin typeface="Trebuchet MS" pitchFamily="34" charset="0"/>
                <a:ea typeface="Trebuchet MS" pitchFamily="34" charset="-122"/>
                <a:cs typeface="Trebuchet MS" pitchFamily="34" charset="-120"/>
              </a:rPr>
              <a:t>Critical</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Página o plantão. Serviço caído ou prestes a cair. Ex: host down, disco 99% cheio, latency p99 &gt; 5s.</a:t>
            </a:r>
            <a:endParaRPr lang="en-US" sz="1050" dirty="0"/>
          </a:p>
        </p:txBody>
      </p:sp>
      <p:sp>
        <p:nvSpPr>
          <p:cNvPr id="14" name="Shape 11"/>
          <p:cNvSpPr/>
          <p:nvPr/>
        </p:nvSpPr>
        <p:spPr>
          <a:xfrm>
            <a:off x="2674620" y="2011680"/>
            <a:ext cx="2034540" cy="4114800"/>
          </a:xfrm>
          <a:prstGeom prst="roundRect">
            <a:avLst>
              <a:gd name="adj" fmla="val 2697"/>
            </a:avLst>
          </a:prstGeom>
          <a:solidFill>
            <a:srgbClr val="FDF6E3"/>
          </a:solidFill>
          <a:ln w="12700">
            <a:solidFill>
              <a:schemeClr val="accent3"/>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3"/>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3"/>
                </a:solidFill>
                <a:latin typeface="Trebuchet MS" pitchFamily="34" charset="0"/>
                <a:ea typeface="Trebuchet MS" pitchFamily="34" charset="-122"/>
                <a:cs typeface="Trebuchet MS" pitchFamily="34" charset="-120"/>
              </a:rPr>
              <a:t>Warning</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Ticket no próximo horário. Tendência ruim, não urgente. Ex: CPU &gt; 80% por 10min, memória crescendo.</a:t>
            </a:r>
            <a:endParaRPr lang="en-US" sz="1050" dirty="0"/>
          </a:p>
        </p:txBody>
      </p:sp>
      <p:sp>
        <p:nvSpPr>
          <p:cNvPr id="18" name="Shape 15"/>
          <p:cNvSpPr/>
          <p:nvPr/>
        </p:nvSpPr>
        <p:spPr>
          <a:xfrm>
            <a:off x="4892040" y="2011680"/>
            <a:ext cx="2034540" cy="4114800"/>
          </a:xfrm>
          <a:prstGeom prst="roundRect">
            <a:avLst>
              <a:gd name="adj" fmla="val 2697"/>
            </a:avLst>
          </a:prstGeom>
          <a:solidFill>
            <a:srgbClr val="E8F0FE"/>
          </a:solidFill>
          <a:ln w="12700">
            <a:solidFill>
              <a:schemeClr val="accent3"/>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3"/>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3"/>
                </a:solidFill>
                <a:latin typeface="Trebuchet MS" pitchFamily="34" charset="0"/>
                <a:ea typeface="Trebuchet MS" pitchFamily="34" charset="-122"/>
                <a:cs typeface="Trebuchet MS" pitchFamily="34" charset="-120"/>
              </a:rPr>
              <a:t>Info</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Notificação, sem ação. Eventos esperados. Ex: deploy concluído, backup terminado, novo pod criado.</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Boas práticas</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Use 'for: 5m' em quase todas. Evite alertas que sempre firing. Tenha runbook em todo alerta. Teste em horário de baixo tráfego.</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2.9</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Alertmanager: routing</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3657600"/>
          </a:xfrm>
          <a:prstGeom prst="rect">
            <a:avLst/>
          </a:prstGeom>
          <a:solidFill>
            <a:srgbClr val="F5F5F5"/>
          </a:solidFill>
          <a:ln w="12700">
            <a:solidFill>
              <a:srgbClr val="D1D5DB"/>
            </a:solidFill>
            <a:prstDash val="solid"/>
          </a:ln>
        </p:spPr>
      </p:sp>
      <p:sp>
        <p:nvSpPr>
          <p:cNvPr id="11" name="Shape 8"/>
          <p:cNvSpPr/>
          <p:nvPr/>
        </p:nvSpPr>
        <p:spPr>
          <a:xfrm>
            <a:off x="457200" y="2011680"/>
            <a:ext cx="73152" cy="36576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alertmanager.yml</a:t>
            </a:r>
            <a:endParaRPr lang="en-US" sz="1000" dirty="0"/>
          </a:p>
        </p:txBody>
      </p:sp>
      <p:sp>
        <p:nvSpPr>
          <p:cNvPr id="14" name="Text 11"/>
          <p:cNvSpPr/>
          <p:nvPr/>
        </p:nvSpPr>
        <p:spPr>
          <a:xfrm>
            <a:off x="640080" y="2359152"/>
            <a:ext cx="8412480" cy="32461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route: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receiver: 'default'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group_by: ['alertname', 'instance']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group_wait: 30s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group_interval: 5m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repeat_interval: 4h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routes: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match: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severity: critical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receiver: 'pagerduty'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group_wait: 10s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repeat_interval: 1h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match: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severity: warning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receiver: 'slack-eng'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repeat_interval: 24h</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receivers: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'pagerduty'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pagerduty_configs: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service_key: '&lt;integration-key&gt;'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'slack-eng'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slack_configs: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api_url: 'https://hooks.slack.com/services/XXX'</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channel: '#eng-alertas'</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21:00 · DEMONSTRAÇÃO AO VIVO (AZURE)</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Dashboard dinâmico,</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alertas FIRING e cAdvisor</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Dashboard dinâmico com $host</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Dashboard 'Host Dinâmico'</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Abre o dashboard provisionado, mostra o dropdown $host no topo</a:t>
            </a:r>
            <a:endParaRPr lang="en-US" sz="1200" dirty="0"/>
          </a:p>
        </p:txBody>
      </p:sp>
      <p:sp>
        <p:nvSpPr>
          <p:cNvPr id="13" name="Shape 10"/>
          <p:cNvSpPr/>
          <p:nvPr/>
        </p:nvSpPr>
        <p:spPr>
          <a:xfrm>
            <a:off x="457200" y="3657600"/>
            <a:ext cx="4114800" cy="2743200"/>
          </a:xfrm>
          <a:prstGeom prst="rect">
            <a:avLst/>
          </a:prstGeom>
          <a:solidFill>
            <a:srgbClr val="F0F7E0"/>
          </a:solidFill>
          <a:ln w="19050">
            <a:solidFill>
              <a:schemeClr val="accent2"/>
            </a:solidFill>
            <a:prstDash val="solid"/>
          </a:ln>
        </p:spPr>
      </p:sp>
      <p:sp>
        <p:nvSpPr>
          <p:cNvPr id="14" name="Shape 11"/>
          <p:cNvSpPr/>
          <p:nvPr/>
        </p:nvSpPr>
        <p:spPr>
          <a:xfrm>
            <a:off x="457200" y="3657600"/>
            <a:ext cx="137160" cy="2743200"/>
          </a:xfrm>
          <a:prstGeom prst="rect">
            <a:avLst/>
          </a:prstGeom>
          <a:solidFill>
            <a:schemeClr val="accent2"/>
          </a:solidFill>
          <a:ln w="12700">
            <a:solidFill>
              <a:schemeClr val="accent2"/>
            </a:solidFill>
            <a:prstDash val="solid"/>
          </a:ln>
        </p:spPr>
      </p:sp>
      <p:sp>
        <p:nvSpPr>
          <p:cNvPr id="15" name="Text 12"/>
          <p:cNvSpPr/>
          <p:nvPr/>
        </p:nvSpPr>
        <p:spPr>
          <a:xfrm>
            <a:off x="731520" y="374904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6" name="Text 13"/>
          <p:cNvSpPr/>
          <p:nvPr/>
        </p:nvSpPr>
        <p:spPr>
          <a:xfrm>
            <a:off x="73152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mostra</a:t>
            </a:r>
            <a:endParaRPr lang="en-US" sz="1400" dirty="0"/>
          </a:p>
        </p:txBody>
      </p:sp>
      <p:sp>
        <p:nvSpPr>
          <p:cNvPr id="17" name="Text 14"/>
          <p:cNvSpPr/>
          <p:nvPr/>
        </p:nvSpPr>
        <p:spPr>
          <a:xfrm>
            <a:off x="73152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dashboard 02-host-dinamico.json (provisionado)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Dropdown $host no topo com 1 instância (vm-a)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Troca para 'All' — todos os painéis atualizam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Clica em 'Edit' &gt; Variables &gt; vê a query label_values(...)</a:t>
            </a:r>
            <a:endParaRPr lang="en-US" sz="1100" dirty="0"/>
          </a:p>
        </p:txBody>
      </p:sp>
      <p:sp>
        <p:nvSpPr>
          <p:cNvPr id="18" name="Shape 15"/>
          <p:cNvSpPr/>
          <p:nvPr/>
        </p:nvSpPr>
        <p:spPr>
          <a:xfrm>
            <a:off x="4754880" y="3657600"/>
            <a:ext cx="4114800" cy="2743200"/>
          </a:xfrm>
          <a:prstGeom prst="rect">
            <a:avLst/>
          </a:prstGeom>
          <a:solidFill>
            <a:srgbClr val="FFF5E6"/>
          </a:solidFill>
          <a:ln w="19050">
            <a:solidFill>
              <a:schemeClr val="accent4"/>
            </a:solidFill>
            <a:prstDash val="solid"/>
          </a:ln>
        </p:spPr>
      </p:sp>
      <p:sp>
        <p:nvSpPr>
          <p:cNvPr id="19" name="Shape 16"/>
          <p:cNvSpPr/>
          <p:nvPr/>
        </p:nvSpPr>
        <p:spPr>
          <a:xfrm>
            <a:off x="4754880" y="3657600"/>
            <a:ext cx="137160" cy="2743200"/>
          </a:xfrm>
          <a:prstGeom prst="rect">
            <a:avLst/>
          </a:prstGeom>
          <a:solidFill>
            <a:schemeClr val="accent4"/>
          </a:solidFill>
          <a:ln w="12700">
            <a:solidFill>
              <a:schemeClr val="accent4"/>
            </a:solidFill>
            <a:prstDash val="solid"/>
          </a:ln>
        </p:spPr>
      </p:sp>
      <p:sp>
        <p:nvSpPr>
          <p:cNvPr id="20" name="Text 17"/>
          <p:cNvSpPr/>
          <p:nvPr/>
        </p:nvSpPr>
        <p:spPr>
          <a:xfrm>
            <a:off x="5029200" y="374904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21" name="Text 18"/>
          <p:cNvSpPr/>
          <p:nvPr/>
        </p:nvSpPr>
        <p:spPr>
          <a:xfrm>
            <a:off x="502920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faz igual</a:t>
            </a:r>
            <a:endParaRPr lang="en-US" sz="1400" dirty="0"/>
          </a:p>
        </p:txBody>
      </p:sp>
      <p:sp>
        <p:nvSpPr>
          <p:cNvPr id="22" name="Text 19"/>
          <p:cNvSpPr/>
          <p:nvPr/>
        </p:nvSpPr>
        <p:spPr>
          <a:xfrm>
            <a:off x="502920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http://localhost:3000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Dashboards &gt; 02 Host Dinâmico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Clica no dropdown $host, vê a opção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Troca entre as instâncias disponíveis</a:t>
            </a:r>
            <a:endParaRPr lang="en-US" sz="110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Painel de containers com cAdvisor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cAdvisor provisionado no lab/dia2</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Mostra CPU/memória por container, ordenado por uso</a:t>
            </a:r>
            <a:endParaRPr lang="en-US" sz="1200" dirty="0"/>
          </a:p>
        </p:txBody>
      </p:sp>
      <p:sp>
        <p:nvSpPr>
          <p:cNvPr id="13" name="Shape 10"/>
          <p:cNvSpPr/>
          <p:nvPr/>
        </p:nvSpPr>
        <p:spPr>
          <a:xfrm>
            <a:off x="457200" y="3657600"/>
            <a:ext cx="8686800" cy="274320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74320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queries para painel de containers</a:t>
            </a:r>
            <a:endParaRPr lang="en-US" sz="1000" dirty="0"/>
          </a:p>
        </p:txBody>
      </p:sp>
      <p:sp>
        <p:nvSpPr>
          <p:cNvPr id="17" name="Text 14"/>
          <p:cNvSpPr/>
          <p:nvPr/>
        </p:nvSpPr>
        <p:spPr>
          <a:xfrm>
            <a:off x="640080" y="4005072"/>
            <a:ext cx="8412480" cy="23317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CPU em cores por container (top 10):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topk(10, rate(container_cpu_usage_seconds_total{name!=""}[1m]))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Memória em MB por container: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topk(10, container_memory_usage_bytes{name!=""} / 1024 / 1024)</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Network RX bytes/s por container: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topk(10, rate(container_network_receive_bytes_total{name!=""}[1m]))</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Criando e disparando um alerta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Alerting &gt; Alert rules &gt; New rule</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Cria regra HighCPU (CPU &gt; 80% por 2min), espera firing</a:t>
            </a:r>
            <a:endParaRPr lang="en-US" sz="1200" dirty="0"/>
          </a:p>
        </p:txBody>
      </p:sp>
      <p:sp>
        <p:nvSpPr>
          <p:cNvPr id="13" name="Shape 10"/>
          <p:cNvSpPr/>
          <p:nvPr/>
        </p:nvSpPr>
        <p:spPr>
          <a:xfrm>
            <a:off x="457200" y="3657600"/>
            <a:ext cx="8686800" cy="274320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74320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regra criada via UI do Grafana</a:t>
            </a:r>
            <a:endParaRPr lang="en-US" sz="1000" dirty="0"/>
          </a:p>
        </p:txBody>
      </p:sp>
      <p:sp>
        <p:nvSpPr>
          <p:cNvPr id="17" name="Text 14"/>
          <p:cNvSpPr/>
          <p:nvPr/>
        </p:nvSpPr>
        <p:spPr>
          <a:xfrm>
            <a:off x="640080" y="4005072"/>
            <a:ext cx="8412480" cy="23317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Name:    HighCPU</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Query:   100 - (avg by(instance) (rate(node_cpu_seconds_total{mode="idle"}[5m])) * 100)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Condition: WHEN last() OF query(A) IS ABOVE 80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For:     2m                          # precisa estar acima por 2 minutos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Labels:  severity=warning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team=infra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Annotations: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summary: "CPU alta em {{ $labels.instance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description: "CPU em {{ $values.A }}%, acima do threshold de 80%"</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Simulando carga para o alerta disparar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22860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22860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VM-B)</a:t>
            </a:r>
            <a:endParaRPr lang="en-US" sz="1400" dirty="0"/>
          </a:p>
        </p:txBody>
      </p:sp>
      <p:sp>
        <p:nvSpPr>
          <p:cNvPr id="14" name="Text 11"/>
          <p:cNvSpPr/>
          <p:nvPr/>
        </p:nvSpPr>
        <p:spPr>
          <a:xfrm>
            <a:off x="731520" y="2788920"/>
            <a:ext cx="3657600" cy="13716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SSH na VM-B: ssh azureuser@vm-b</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Roda: stress --cpu 4 --timeout 5m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Observa o alerta subir para pending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Depois de 2min: firing</a:t>
            </a:r>
            <a:endParaRPr lang="en-US" sz="1100" dirty="0"/>
          </a:p>
        </p:txBody>
      </p:sp>
      <p:sp>
        <p:nvSpPr>
          <p:cNvPr id="15" name="Shape 12"/>
          <p:cNvSpPr/>
          <p:nvPr/>
        </p:nvSpPr>
        <p:spPr>
          <a:xfrm>
            <a:off x="4754880" y="2011680"/>
            <a:ext cx="4114800" cy="22860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22860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local)</a:t>
            </a:r>
            <a:endParaRPr lang="en-US" sz="1400" dirty="0"/>
          </a:p>
        </p:txBody>
      </p:sp>
      <p:sp>
        <p:nvSpPr>
          <p:cNvPr id="19" name="Text 16"/>
          <p:cNvSpPr/>
          <p:nvPr/>
        </p:nvSpPr>
        <p:spPr>
          <a:xfrm>
            <a:off x="5029200" y="2788920"/>
            <a:ext cx="3657600" cy="13716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outro terminal</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A — Ubuntu: stress --cpu 4</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B — Docker: docker run --rm progrium/stress --cpu 4</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2min, vê alerta firing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Mata o processo: kill ou Ctrl+C</a:t>
            </a:r>
            <a:endParaRPr lang="en-US" sz="1100" dirty="0"/>
          </a:p>
        </p:txBody>
      </p:sp>
      <p:sp>
        <p:nvSpPr>
          <p:cNvPr id="20" name="Shape 17"/>
          <p:cNvSpPr/>
          <p:nvPr/>
        </p:nvSpPr>
        <p:spPr>
          <a:xfrm>
            <a:off x="457200" y="4480560"/>
            <a:ext cx="8686800" cy="1371600"/>
          </a:xfrm>
          <a:prstGeom prst="rect">
            <a:avLst/>
          </a:prstGeom>
          <a:solidFill>
            <a:srgbClr val="F5F5F5"/>
          </a:solidFill>
          <a:ln w="12700">
            <a:solidFill>
              <a:srgbClr val="D1D5DB"/>
            </a:solidFill>
            <a:prstDash val="solid"/>
          </a:ln>
        </p:spPr>
      </p:sp>
      <p:sp>
        <p:nvSpPr>
          <p:cNvPr id="21" name="Shape 18"/>
          <p:cNvSpPr/>
          <p:nvPr/>
        </p:nvSpPr>
        <p:spPr>
          <a:xfrm>
            <a:off x="457200" y="4480560"/>
            <a:ext cx="73152" cy="1371600"/>
          </a:xfrm>
          <a:prstGeom prst="rect">
            <a:avLst/>
          </a:prstGeom>
          <a:solidFill>
            <a:schemeClr val="accent1"/>
          </a:solidFill>
          <a:ln w="12700">
            <a:solidFill>
              <a:schemeClr val="accent1"/>
            </a:solidFill>
            <a:prstDash val="solid"/>
          </a:ln>
        </p:spPr>
      </p:sp>
      <p:sp>
        <p:nvSpPr>
          <p:cNvPr id="22" name="Shape 19"/>
          <p:cNvSpPr/>
          <p:nvPr/>
        </p:nvSpPr>
        <p:spPr>
          <a:xfrm>
            <a:off x="457200" y="4480560"/>
            <a:ext cx="8686800" cy="274320"/>
          </a:xfrm>
          <a:prstGeom prst="rect">
            <a:avLst/>
          </a:prstGeom>
          <a:solidFill>
            <a:srgbClr val="2C3C43"/>
          </a:solidFill>
          <a:ln w="12700">
            <a:solidFill>
              <a:srgbClr val="2C3C43"/>
            </a:solidFill>
            <a:prstDash val="solid"/>
          </a:ln>
        </p:spPr>
      </p:sp>
      <p:sp>
        <p:nvSpPr>
          <p:cNvPr id="23" name="Text 20"/>
          <p:cNvSpPr/>
          <p:nvPr/>
        </p:nvSpPr>
        <p:spPr>
          <a:xfrm>
            <a:off x="640080" y="449884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ou use dd se não tiver stress</a:t>
            </a:r>
            <a:endParaRPr lang="en-US" sz="1000" dirty="0"/>
          </a:p>
        </p:txBody>
      </p:sp>
      <p:sp>
        <p:nvSpPr>
          <p:cNvPr id="24" name="Text 21"/>
          <p:cNvSpPr/>
          <p:nvPr/>
        </p:nvSpPr>
        <p:spPr>
          <a:xfrm>
            <a:off x="640080" y="4828032"/>
            <a:ext cx="8412480" cy="9601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Alternativa sem instalar nada: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dd if=/dev/urandom of=/dev/null bs=1M count=10000 status=none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Roda em 4 terminais em paralelo pra ter 4 cores</a:t>
            </a:r>
            <a:endParaRPr lang="en-US" sz="1200" dirty="0"/>
          </a:p>
        </p:txBody>
      </p:sp>
      <p:pic>
        <p:nvPicPr>
          <p:cNvPr id="2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6" name="Text 2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7" name="Text 2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Vendo o alerta no Alertmanager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http://&lt;ip-vm-a&gt;:9093</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Vê o alerta HighCPU listado como FIRING, clica, vê os labels</a:t>
            </a:r>
            <a:endParaRPr lang="en-US" sz="1200" dirty="0"/>
          </a:p>
        </p:txBody>
      </p:sp>
      <p:sp>
        <p:nvSpPr>
          <p:cNvPr id="13" name="Shape 10"/>
          <p:cNvSpPr/>
          <p:nvPr/>
        </p:nvSpPr>
        <p:spPr>
          <a:xfrm>
            <a:off x="457200" y="3657600"/>
            <a:ext cx="8686800" cy="2468880"/>
          </a:xfrm>
          <a:prstGeom prst="roundRect">
            <a:avLst>
              <a:gd name="adj" fmla="val 2963"/>
            </a:avLst>
          </a:prstGeom>
          <a:solidFill>
            <a:schemeClr val="accent1"/>
          </a:solidFill>
          <a:ln w="12700">
            <a:solidFill>
              <a:schemeClr val="accent1"/>
            </a:solidFill>
            <a:prstDash val="solid"/>
          </a:ln>
        </p:spPr>
      </p:sp>
      <p:sp>
        <p:nvSpPr>
          <p:cNvPr id="14" name="Text 11"/>
          <p:cNvSpPr/>
          <p:nvPr/>
        </p:nvSpPr>
        <p:spPr>
          <a:xfrm>
            <a:off x="685800" y="3794760"/>
            <a:ext cx="8229600" cy="219456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NO ALERTMANAGER VOCÊ PODE:</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 Silenciar alertas por tempo (silence)</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 Inibir alertas relacionados (inhibition)</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 Agrupar por label (group_by)</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 Ver histórico de notificações enviadas</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 Reenviar manualmente (re-notify)</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O Alertmanager NÃO dispara alerta por conta própria — ele só processa o que o Prometheus manda. Por isso a regra fica no Prometheus (ou Grafana, via unified alerting).</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22:00 · EXERCÍCIO PRÁTICO (ALUNO)</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Dashboard dinâmico</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 alerta FIRING</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2.1 — Suba o lab/dia2</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36576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36576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VM-B)</a:t>
            </a:r>
            <a:endParaRPr lang="en-US" sz="1400" dirty="0"/>
          </a:p>
        </p:txBody>
      </p:sp>
      <p:sp>
        <p:nvSpPr>
          <p:cNvPr id="14" name="Text 11"/>
          <p:cNvSpPr/>
          <p:nvPr/>
        </p:nvSpPr>
        <p:spPr>
          <a:xfrm>
            <a:off x="73152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~/lab/dia2</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5 containers: grafana, prometheus, node-exporter, cadvisor, alertmanager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20s e valida</a:t>
            </a:r>
            <a:endParaRPr lang="en-US" sz="1100" dirty="0"/>
          </a:p>
        </p:txBody>
      </p:sp>
      <p:sp>
        <p:nvSpPr>
          <p:cNvPr id="15" name="Shape 12"/>
          <p:cNvSpPr/>
          <p:nvPr/>
        </p:nvSpPr>
        <p:spPr>
          <a:xfrm>
            <a:off x="4754880" y="2011680"/>
            <a:ext cx="4114800" cy="36576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36576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local OU Docker)</a:t>
            </a:r>
            <a:endParaRPr lang="en-US" sz="1400" dirty="0"/>
          </a:p>
        </p:txBody>
      </p:sp>
      <p:sp>
        <p:nvSpPr>
          <p:cNvPr id="19" name="Text 16"/>
          <p:cNvSpPr/>
          <p:nvPr/>
        </p:nvSpPr>
        <p:spPr>
          <a:xfrm>
            <a:off x="502920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~/labs/dia2 (Ubuntu) OU git clone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A — Ubuntu: ./install.sh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OPÇÃO B — Docker: 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20s para todos subirem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Acessa http://localhost:3000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Vê 2 datasources (Prometheus + Alertmanager)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Vê 2 dashboards provisionados (01 e 02)</a:t>
            </a:r>
            <a:endParaRPr lang="en-US" sz="1100" dirty="0"/>
          </a:p>
        </p:txBody>
      </p:sp>
      <p:sp>
        <p:nvSpPr>
          <p:cNvPr id="20" name="Shape 17"/>
          <p:cNvSpPr/>
          <p:nvPr/>
        </p:nvSpPr>
        <p:spPr>
          <a:xfrm>
            <a:off x="457200" y="5852160"/>
            <a:ext cx="8686800" cy="548640"/>
          </a:xfrm>
          <a:prstGeom prst="roundRect">
            <a:avLst>
              <a:gd name="adj" fmla="val 13333"/>
            </a:avLst>
          </a:prstGeom>
          <a:solidFill>
            <a:schemeClr val="accent1"/>
          </a:solidFill>
          <a:ln w="12700">
            <a:solidFill>
              <a:schemeClr val="accent1"/>
            </a:solidFill>
            <a:prstDash val="solid"/>
          </a:ln>
        </p:spPr>
      </p:sp>
      <p:sp>
        <p:nvSpPr>
          <p:cNvPr id="21" name="Text 18"/>
          <p:cNvSpPr/>
          <p:nvPr/>
        </p:nvSpPr>
        <p:spPr>
          <a:xfrm>
            <a:off x="685800" y="5989320"/>
            <a:ext cx="8229600" cy="274320"/>
          </a:xfrm>
          <a:prstGeom prst="rect">
            <a:avLst/>
          </a:prstGeom>
          <a:noFill/>
          <a:ln/>
        </p:spPr>
        <p:txBody>
          <a:bodyPr wrap="square" rtlCol="0" anchor="t"/>
          <a:lstStyle/>
          <a:p>
            <a:pPr algn="l" indent="0" marL="0">
              <a:buNone/>
            </a:pPr>
            <a:r>
              <a:rPr lang="en-US" sz="1000" dirty="0">
                <a:solidFill>
                  <a:srgbClr val="000000"/>
                </a:solidFill>
                <a:latin typeface="Trebuchet MS" pitchFamily="34" charset="0"/>
                <a:ea typeface="Trebuchet MS" pitchFamily="34" charset="-122"/>
                <a:cs typeface="Trebuchet MS" pitchFamily="34" charset="-120"/>
              </a:rPr>
              <a:t>Validação: http://localhost:8080 (cAdvisor) deve mostrar a lista de containers em HTML. http://localhost:9093 (Alertmanager) deve carregar o painel.</a:t>
            </a:r>
            <a:endParaRPr lang="en-US" sz="100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2.2 — Crie sua própria variável $container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Dashboard dinâmico de containers</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Dashboards &gt; New dashboard &gt; Add visualization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Vá em Dashboard settings (engrenagem) &gt; Variables &gt; New variable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Name: container, Type: Query, Data source: Prometheus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Query: label_values(container_last_seen{name!=""}, name)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Multi-value: ON, Include All: ON, Save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Adicione um painel TIME SERIES com query:</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rate(container_cpu_usage_seconds_total{name=~"$container"}[1m])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Adicione um painel STAT com query:</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container_memory_usage_bytes{name=~"$container"} / 1024^2</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Unit: MB, Title: 'Memória (MB)'</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Salve como 'Meu dashboard de containers'</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2.3 — Crie e dispare um alerta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Alerta HighCPU no seu ambiente</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Alerting &gt; Alert rules &gt; New alert rule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Query: 100 - (avg by(instance) (rate(node_cpu_seconds_total{mode="idle"}[5m])) * 100)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Condition: WHEN last() IS ABOVE 50 (threshold mais baixo pra disparar fácil)</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For: 30s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Folder: Lab2, Labels: severity=warning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Save. Volte pro dashboard e veja a badge de alerta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Abra outro terminal: stress --cpu 4 (Ubuntu) ou docker run --rm progrium/stress --cpu 4 (Docker)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Aguarde 1min, volte ao Grafana &gt; Alerting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Veja o alerta em 'pending' e depois 'firing'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Mate o processo, aguarde 1min, veja voltar para 'normal'</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 NOITE 02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Você aprendeu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2743200"/>
          </a:xfrm>
          <a:prstGeom prst="roundRect">
            <a:avLst>
              <a:gd name="adj" fmla="val 2000"/>
            </a:avLst>
          </a:prstGeom>
          <a:solidFill>
            <a:srgbClr val="F0F7E0"/>
          </a:solidFill>
          <a:ln w="12700">
            <a:solidFill>
              <a:schemeClr val="accent2"/>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Variáveis</a:t>
            </a:r>
            <a:endParaRPr lang="en-US" sz="1400" dirty="0"/>
          </a:p>
        </p:txBody>
      </p:sp>
      <p:sp>
        <p:nvSpPr>
          <p:cNvPr id="13" name="Text 10"/>
          <p:cNvSpPr/>
          <p:nvPr/>
        </p:nvSpPr>
        <p:spPr>
          <a:xfrm>
            <a:off x="59436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Query, custom, text box, data source. $host, $container, $__interval. Multi-value e regex.</a:t>
            </a:r>
            <a:endParaRPr lang="en-US" sz="1050" dirty="0"/>
          </a:p>
        </p:txBody>
      </p:sp>
      <p:sp>
        <p:nvSpPr>
          <p:cNvPr id="14" name="Shape 11"/>
          <p:cNvSpPr/>
          <p:nvPr/>
        </p:nvSpPr>
        <p:spPr>
          <a:xfrm>
            <a:off x="3413760" y="2011680"/>
            <a:ext cx="2773680" cy="2743200"/>
          </a:xfrm>
          <a:prstGeom prst="roundRect">
            <a:avLst>
              <a:gd name="adj" fmla="val 2000"/>
            </a:avLst>
          </a:prstGeom>
          <a:solidFill>
            <a:srgbClr val="F0F7E0"/>
          </a:solidFill>
          <a:ln w="12700">
            <a:solidFill>
              <a:schemeClr val="accent2"/>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PromQL</a:t>
            </a:r>
            <a:endParaRPr lang="en-US" sz="1400" dirty="0"/>
          </a:p>
        </p:txBody>
      </p:sp>
      <p:sp>
        <p:nvSpPr>
          <p:cNvPr id="17" name="Text 14"/>
          <p:cNvSpPr/>
          <p:nvPr/>
        </p:nvSpPr>
        <p:spPr>
          <a:xfrm>
            <a:off x="355092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rate, irate, increase, histogram_quantile, topk, sum by, count by. Funções essenciais.</a:t>
            </a:r>
            <a:endParaRPr lang="en-US" sz="1050" dirty="0"/>
          </a:p>
        </p:txBody>
      </p:sp>
      <p:sp>
        <p:nvSpPr>
          <p:cNvPr id="18" name="Shape 15"/>
          <p:cNvSpPr/>
          <p:nvPr/>
        </p:nvSpPr>
        <p:spPr>
          <a:xfrm>
            <a:off x="6370320" y="2011680"/>
            <a:ext cx="2773680" cy="2743200"/>
          </a:xfrm>
          <a:prstGeom prst="roundRect">
            <a:avLst>
              <a:gd name="adj" fmla="val 2000"/>
            </a:avLst>
          </a:prstGeom>
          <a:solidFill>
            <a:srgbClr val="F0F7E0"/>
          </a:solidFill>
          <a:ln w="12700">
            <a:solidFill>
              <a:schemeClr val="accent2"/>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cAdvisor + Alertas</a:t>
            </a:r>
            <a:endParaRPr lang="en-US" sz="1400" dirty="0"/>
          </a:p>
        </p:txBody>
      </p:sp>
      <p:sp>
        <p:nvSpPr>
          <p:cNvPr id="21" name="Text 18"/>
          <p:cNvSpPr/>
          <p:nvPr/>
        </p:nvSpPr>
        <p:spPr>
          <a:xfrm>
            <a:off x="650748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Métricas por container (CPU, memória, rede). Alertas no Prometheus, routing no Alertmanager.</a:t>
            </a:r>
            <a:endParaRPr lang="en-US" sz="1050" dirty="0"/>
          </a:p>
        </p:txBody>
      </p:sp>
      <p:sp>
        <p:nvSpPr>
          <p:cNvPr id="22" name="Shape 19"/>
          <p:cNvSpPr/>
          <p:nvPr/>
        </p:nvSpPr>
        <p:spPr>
          <a:xfrm>
            <a:off x="457200" y="4937760"/>
            <a:ext cx="8686800" cy="1280160"/>
          </a:xfrm>
          <a:prstGeom prst="roundRect">
            <a:avLst>
              <a:gd name="adj" fmla="val 5714"/>
            </a:avLst>
          </a:prstGeom>
          <a:solidFill>
            <a:schemeClr val="accent1"/>
          </a:solidFill>
          <a:ln w="12700">
            <a:solidFill>
              <a:schemeClr val="accent1"/>
            </a:solidFill>
            <a:prstDash val="solid"/>
          </a:ln>
        </p:spPr>
      </p:sp>
      <p:sp>
        <p:nvSpPr>
          <p:cNvPr id="23" name="Text 20"/>
          <p:cNvSpPr/>
          <p:nvPr/>
        </p:nvSpPr>
        <p:spPr>
          <a:xfrm>
            <a:off x="685800" y="5074920"/>
            <a:ext cx="8229600" cy="100584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PRÓXIMA NOITE (Noite 03): instalação completa do Grafana no Ubuntu nativo. Repositório APT, systemd, arquivos de configuração, scripts .sh comentados. Tragam o WSL2 Ubuntu 22.04 ou uma VM Ubuntu pronta.</a:t>
            </a:r>
            <a:endParaRPr lang="en-US" sz="1300" dirty="0"/>
          </a:p>
        </p:txBody>
      </p:sp>
      <p:pic>
        <p:nvPicPr>
          <p:cNvPr id="2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5" name="Text 2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6" name="Text 2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PARA CASA</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Tarefa de casa — Noite 02</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Adicionar 3 variáveis no seu dashboard de containers ($container, $image, $namespace)</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Criar uma regra de alerta para Disco cheio &gt; 85% (use node_filesystem_avail_bytes)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Criar uma regra de alerta para Memória &gt; 90% (use node_memory_MemAvailable_bytes)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Brincar com histogram_quantile — calcular latência p95 de qualquer métrica que termine com _bucket</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Ler a documentação oficial de Alerting no Grafana (10 min)</a:t>
            </a:r>
            <a:endParaRPr lang="en-US" sz="14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NOITE 03</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Instalação completa no Ubuntu</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APT, systemd e scripts comentados</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REVISÃO RÁPIDA</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vimos na Noite 02</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Variáveis: $host, $container, multi-value, regex</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PromQL intermediário: rate, histogram_quantile, topk, aggregations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cAdvisor: métricas por container Docker</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Alertas: regra Prometheus + routing Alertmanager</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Demo: criamos alerta HighCPU e disparamos com stress</a:t>
            </a:r>
            <a:endParaRPr lang="en-US" sz="15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PROGRAMA DA NOITE 03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vamos ver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Por que não Docker</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Produção, persistência, TLS, auth, integração com systemd</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Repositório APT</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Adicionar source.list do Grafana Labs, validar com GPG</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systemd</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grafana-server.service, journalctl, enable</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Scripts .sh</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6 scripts comentados, executados do zero ao Grafana rodando</a:t>
            </a:r>
            <a:endParaRPr lang="en-US" sz="100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Por que instalar fora do Docker?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Produção real</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Containers são ótimos pra dev/teste, mas em produção o Grafana costuma rodar bare-metal ou VM, com TLS próprio, auth (LDAP/SSO), backup via cron.</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Segurança</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Sem camada Docker entre o Grafana e o sistema. Menos superfície de ataque. systemd hardening, AppArmor, SELinux.</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Persistência</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Configurações em /etc/grafana, dados em /var/lib/grafana, logs em journalctl. Tudo em caminhos estáveis, fácil de versionar.</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Troubleshooting</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Logs centralizados no journalctl, restart via systemctl, dependência de outros serviços do host via systemd.</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Adicionando o repositório APT do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01-prepare.sh (preparar o sistema)</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#!/usr/bin/env bash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Instala pré-requisitos e configura o repositório oficial do Grafana Labs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set -euo pipefail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if [[ $EUID -ne 0 ]]; then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echo "ERRO: rode como root (sudo ./01-prepare.sh)"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exit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fi</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Pacotes básicos para o repositório APT funcionar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apt-get update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apt-get install -y apt-transport-https software-properties-common wget gnupg</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Baixa a chave GPG oficial do Grafana Labs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mkdir -p /etc/apt/keyrings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wget -q -O - https://apt.grafana.com/gpg.key | gpg --dearmor | tee /etc/apt/keyrings/grafana.gpg &gt; /dev/null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Adiciona o repositório (stable = versões testadas)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echo "deb [signed-by=/etc/apt/keyrings/grafana.gpg] https://apt.grafana.com stable main"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&gt; /etc/apt/sources.list.d/grafana.list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apt-get update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echo "✓ Repositório do Grafana configurado"</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Instalando 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02-install-grafana.sh</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#!/usr/bin/env bash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Instala o Grafana OSS via APT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set -euo pipefail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Mostra versões disponíveis antes de instalar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apt-cache policy grafana</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Instala (sem -y pra você confirmar a versão)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apt-get install -y grafana</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Verifica o que foi instalado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which grafana-server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grafana-server -v</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Habilita no systemd (inicia com o boot)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daemon-reload</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enable grafana-server.service</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Inicia o serviço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start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Verifica status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status grafana-server --no-pager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Testa conexão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curl -sS http://localhost:3000/api/health | jq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Esperado: { "commit": "...", "database": "ok", "version": "11.x.x" }</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Gerenciando com systemd</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comandos essenciais do dia-a-dia</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STATUS — ver se está rodando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status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START / STOP / RESTART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start grafana-server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stop grafana-server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restart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HABILITAR / DESABILITAR no boot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enable grafana-server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disable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LOGS — últimas 100 linhas, modo follow</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journalctl -u grafana-server -n 100 --no-pager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journalctl -u grafana-server -f   # -f = follow (tail -f)</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RELOAD sem restart (lê nova config sem derrubar)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reload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Arquivo de unit do systemd:</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systemctl cat grafana-server | head -30</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Configuração: grafana.ini</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/etc/grafana/grafana.ini (principais seções)</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[paths]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data = /var/lib/grafana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logs = /var/log/grafana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plugins = /var/lib/grafana/plugins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provisioning = /etc/grafana/provisioning</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http_addr = 0.0.0.0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http_port = 3000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domain = grafana.empresa.com.br   # importante para SSO</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[security]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admin_user = admin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admin_password = $__file{/etc/grafana/admin_password}   # lido de arquivo separado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secret_key = $(openssl rand -hex 32)                    # nunca commit no Git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[users]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allow_sign_up = false                # desabilita signup público</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[auth.anonymous]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enabled = false                     # nunca habilite anônimo em produção</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3.6</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Provisionamento file-based (datasource)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03-configure.sh + provisioning/datasources/prometheus.yml</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#!/usr/bin/env bash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Provisiona datasource e dashboards automaticamente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set -euo pipefail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Cria diretórios padrão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mkdir -p /etc/grafana/provisioning/datasources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mkdir -p /etc/grafana/provisioning/dashboards</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Cria o datasource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cat &gt; /etc/grafana/provisioning/datasources/prometheus.yml &lt;&lt;EOF</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apiVersion: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datasources: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type: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access: proxy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url: http://localhost:9090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isDefault: true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editable: false                       # impede edição via UI (GitOps)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EOF</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Recarrega o Grafana (sem restart)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reload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echo "✓ Datasource Prometheus provisionado"</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3.7</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Instalando Prometheus e Node Exporter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04-install-prometheus.sh + 05-install-node-exporter.sh</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PROMETHEUS (binário oficial)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cd /tmp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wget https://github.com/prometheus/prometheus/releases/download/v2.55.1/prometheus-2.55.1.linux-amd64.tar.gz</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tar -xzf prometheus-2.55.1.linux-amd64.tar.gz</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mv prometheus-2.55.1.linux-amd64 /opt/prometheus</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Usuário sem shell (segurança)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useradd --no-create-home --shell /usr/sbin/nologin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chown -R prometheus:prometheus /opt/prometheus</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systemd unit em /etc/systemd/system/prometheus.service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(ver conteúdo do script 04-install-prometheus.sh completo)</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NODE EXPORTER (mesma lógica)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cd /tmp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wget https://github.com/prometheus/node_exporter/releases/download/v1.8.2/node_exporter-1.8.2.linux-amd64.tar.gz</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tar -xzf node_exporter-1.8.2.linux-amd64.tar.gz</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mv node_exporter-1.8.2.linux-amd64 /opt/node-exporter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useradd --no-create-home --shell /usr/sbin/nologin node-exporter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systemctl enable --now prometheus node-exporter</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3.8</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Validando tudo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06-validate.sh (smoke tests)</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#!/usr/bin/env bash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Valida que tudo está rodando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set -euo pipefail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check()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local name=$1 url=$2 expected=$3</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local body=$(curl -sf "$url" || echo "FAIL")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if [[ "$body" == *"$expected"* ]]; then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echo "  ✓ $name ($url)"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else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echo "  ✗ $name FALHOU"</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echo "    esperado conter: $expected"</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echo "    recebido: $body"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exit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fi</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echo "Validando serviços..."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check "Grafana"      http://localhost:3000/api/health    "database"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check "Prometheus"   http://localhost:9090/-/ready      "Ready"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check "Node Exporter" http://localhost:9100/metrics     "node_"</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Testa query via PromQL API</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result=$(curl -sfG http://localhost:9090/api/v1/query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--data-urlencode 'query=up')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echo "Prometheus query 'up': $(echo $result | jq -r .data.result[0].value[1])"</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3.9</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Troubleshooting (quando algo dá errado)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Logs do Grafana</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sudo journalctl -u grafana-server -n 200 --no-pager. Procure por 'ERROR' ou 'panic'.</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Porta 3000 ocupada</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sudo ss -tlnp | grep 3000. Veja qual processo está. sudo systemctl stop &lt;serviço&gt; ou mate o PID.</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Não consegue logar</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Reset admin: sudo grafana-cli admin reset-admin-password admin. Logs mostram tentativas falhas.</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Permissões erradas</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sudo chown -R grafana:grafana /var/lib/grafana. Grafana não consegue ler/escrever.</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3.10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Segurança básica em produção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Trocar senha do admin na primeira vez (ou desabilitar login e usar OAuth)</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Habilitar HTTPS com reverse proxy (nginx ou Caddy) e certificado Let's Encrypt</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Desabilitar allow_sign_up e anonymous access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Limitar origens com [security] cookie_samesite e domain</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Rodar atrás de firewall (ufw, security groups), expor apenas 443</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Habilitar audit log se usar Enterprise (rastreabilidade de quem viu o quê)</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Backup de /etc/grafana (config) e /var/lib/grafana (dados) — pequeno e fácil</a:t>
            </a:r>
            <a:endParaRPr lang="en-US" sz="14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21:00 · DEMO + SCRIPT (AZURE VM-B)</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Executando os 6 scripts</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do zero ao Grafana rodando</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1/6 — Preparar o sistema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limpa) — SSH, rodar 01-prepare.sh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Linha por linha, explica cada comando: apt, gpg, keyrings</a:t>
            </a:r>
            <a:endParaRPr lang="en-US" sz="1200" dirty="0"/>
          </a:p>
        </p:txBody>
      </p:sp>
      <p:sp>
        <p:nvSpPr>
          <p:cNvPr id="13" name="Shape 10"/>
          <p:cNvSpPr/>
          <p:nvPr/>
        </p:nvSpPr>
        <p:spPr>
          <a:xfrm>
            <a:off x="457200" y="3657600"/>
            <a:ext cx="8686800" cy="256032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56032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execução no terminal</a:t>
            </a:r>
            <a:endParaRPr lang="en-US" sz="1000" dirty="0"/>
          </a:p>
        </p:txBody>
      </p:sp>
      <p:sp>
        <p:nvSpPr>
          <p:cNvPr id="17" name="Text 14"/>
          <p:cNvSpPr/>
          <p:nvPr/>
        </p:nvSpPr>
        <p:spPr>
          <a:xfrm>
            <a:off x="640080" y="4005072"/>
            <a:ext cx="8412480" cy="214884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ssh azureuser@vm-b-clean.westus2</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sudo bash 01-prepare.sh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Hit:1 http://azure.archive.ubuntu.com jammy InRelease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Get:2 https://apt.grafana.com stable InRelease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(output do apt-get update)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Repositório do Grafana configurado</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cat /etc/apt/sources.list.d/grafana.list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deb [signed-by=/etc/apt/keyrings/grafana.gpg] https://apt.grafana.com stable main</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2/6 — Instalar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sudo bash 02-install-grafana.sh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Mostra o apt-cache policy antes, systemctl status depois</a:t>
            </a:r>
            <a:endParaRPr lang="en-US" sz="1200" dirty="0"/>
          </a:p>
        </p:txBody>
      </p:sp>
      <p:sp>
        <p:nvSpPr>
          <p:cNvPr id="13" name="Shape 10"/>
          <p:cNvSpPr/>
          <p:nvPr/>
        </p:nvSpPr>
        <p:spPr>
          <a:xfrm>
            <a:off x="457200" y="3657600"/>
            <a:ext cx="8686800" cy="256032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56032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execução no terminal</a:t>
            </a:r>
            <a:endParaRPr lang="en-US" sz="1000" dirty="0"/>
          </a:p>
        </p:txBody>
      </p:sp>
      <p:sp>
        <p:nvSpPr>
          <p:cNvPr id="17" name="Text 14"/>
          <p:cNvSpPr/>
          <p:nvPr/>
        </p:nvSpPr>
        <p:spPr>
          <a:xfrm>
            <a:off x="640080" y="4005072"/>
            <a:ext cx="8412480" cy="214884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sudo bash 02-install-grafana.sh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(output do apt-get install)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Setting up grafana (11.3.0) ...</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grafana-server.service - Grafana instance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Loaded: loaded (/lib/systemd/system/grafana-server.service; enabled)</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Active: active (running) since ...</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curl -sS http://localhost:3000/api/health | jq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"commit": "abc123",</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"database": "ok",</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"version": "11.3.0"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3/6 — Provisionar datasource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sudo bash 03-configure.sh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Cria o YAML, recarrega, mostra no navegador que apareceu automático</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1"/>
          </a:solidFill>
          <a:ln w="12700">
            <a:solidFill>
              <a:schemeClr val="accent1"/>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VANTAGEM DO PROVISIONAMENTO: zero click. Você faz o script UMA vez, commita no Git, e toda VM nova que subir recebe o datasource e dashboards automaticamente. Sem 'instalei o Grafana e cadê o dashboard?'. Sem 'esqueci de criar o datasource'. </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Quando o aluno ver o datasource aparecer no Grafana logo depois do reload, a ficha cai: 'ah, é só arquivo de texto'.</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4/6 — Instalar Prometheus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sudo bash 04-install-prometheus.sh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Baixa binário, cria usuário, instala unit systemd</a:t>
            </a:r>
            <a:endParaRPr lang="en-US" sz="1200" dirty="0"/>
          </a:p>
        </p:txBody>
      </p:sp>
      <p:sp>
        <p:nvSpPr>
          <p:cNvPr id="13" name="Shape 10"/>
          <p:cNvSpPr/>
          <p:nvPr/>
        </p:nvSpPr>
        <p:spPr>
          <a:xfrm>
            <a:off x="457200" y="3657600"/>
            <a:ext cx="8686800" cy="256032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56032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/etc/systemd/system/prometheus.service</a:t>
            </a:r>
            <a:endParaRPr lang="en-US" sz="1000" dirty="0"/>
          </a:p>
        </p:txBody>
      </p:sp>
      <p:sp>
        <p:nvSpPr>
          <p:cNvPr id="17" name="Text 14"/>
          <p:cNvSpPr/>
          <p:nvPr/>
        </p:nvSpPr>
        <p:spPr>
          <a:xfrm>
            <a:off x="640080" y="4005072"/>
            <a:ext cx="8412480" cy="214884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[Unit]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Description=Prometheus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Wants=network-online.target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After=network-online.target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[Service]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User=prometheus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Group=prometheus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Type=simple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ExecStart=/opt/prometheus/prometheus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--config.file=/etc/prometheus/prometheus.yml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--storage.tsdb.path=/var/lib/prometheus/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--web.console.libraries=/opt/prometheus/console_libraries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--web.enable-lifecycle</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[Install]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WantedBy=multi-user.target</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5/6 — Instalar Node Exporter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sudo bash 05-install-node-exporter.sh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Mais simples: baixa, move, cria unit, enable --now</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1"/>
          </a:solidFill>
          <a:ln w="12700">
            <a:solidFill>
              <a:schemeClr val="accent1"/>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O Node Exporter expõe métricas em /metrics na porta 9100. O Prometheus faz scrape dele a cada 15s. Para confirmar: curl http://localhost:9100/metrics | grep node_cpu. Vai aparecer uma lista enorme de métricas. </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O Prometheus também tem /metrics (porta 9090), que mostra suas próprias métricas: quantas séries tem, quantas queries rodaram, etc. Métricas das métricas. Útil pra debugar.</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Script 6/6 — Validar tudo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sudo bash 06-validate.sh</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Roda os 3 checks (Grafana, Prometheus, Node Exporter) e query de teste</a:t>
            </a:r>
            <a:endParaRPr lang="en-US" sz="1200" dirty="0"/>
          </a:p>
        </p:txBody>
      </p:sp>
      <p:sp>
        <p:nvSpPr>
          <p:cNvPr id="13" name="Shape 10"/>
          <p:cNvSpPr/>
          <p:nvPr/>
        </p:nvSpPr>
        <p:spPr>
          <a:xfrm>
            <a:off x="457200" y="3657600"/>
            <a:ext cx="8686800" cy="256032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56032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output esperado</a:t>
            </a:r>
            <a:endParaRPr lang="en-US" sz="1000" dirty="0"/>
          </a:p>
        </p:txBody>
      </p:sp>
      <p:sp>
        <p:nvSpPr>
          <p:cNvPr id="17" name="Text 14"/>
          <p:cNvSpPr/>
          <p:nvPr/>
        </p:nvSpPr>
        <p:spPr>
          <a:xfrm>
            <a:off x="640080" y="4005072"/>
            <a:ext cx="8412480" cy="214884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sudo bash 06-validate.sh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Validando serviços...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Grafana       (http://localhost:3000/api/health)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Prometheus    (http://localhost:9090/-/ready)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Node Exporter (http://localhost:9100/metrics)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Prometheus query 'up': 1</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Acessando o Grafana no navegador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abre http://&lt;ip-vm-b&gt;:3000</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Login admin/admin, mostra datasource já provisionado</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1"/>
          </a:solidFill>
          <a:ln w="12700">
            <a:solidFill>
              <a:schemeClr val="accent1"/>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DEMONSTRAÇÃO FINAL: depois de 6 scripts, o Grafana está rodando EM PRODUÇÃO, com datasource provisionado, exposto na porta 3000. O aluno pode acessar pelo IP público da VM-B e ver TUDO funcionando. </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Quem tiver VM/WSL Ubuntu vai fazer igualzinha na máquina dele, com a diferença que ao invés de IP público é localhost:3000.</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22:00 · EXERCÍCIO PRÁTICO (ALUNO)</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Execute os 6 scripts</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na sua VM Ubuntu</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3.1 — Execute os 6 scripts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4114800" cy="3657600"/>
          </a:xfrm>
          <a:prstGeom prst="rect">
            <a:avLst/>
          </a:prstGeom>
          <a:solidFill>
            <a:srgbClr val="F0F7E0"/>
          </a:solidFill>
          <a:ln w="19050">
            <a:solidFill>
              <a:schemeClr val="accent2"/>
            </a:solidFill>
            <a:prstDash val="solid"/>
          </a:ln>
        </p:spPr>
      </p:sp>
      <p:sp>
        <p:nvSpPr>
          <p:cNvPr id="11" name="Shape 8"/>
          <p:cNvSpPr/>
          <p:nvPr/>
        </p:nvSpPr>
        <p:spPr>
          <a:xfrm>
            <a:off x="457200" y="2011680"/>
            <a:ext cx="137160" cy="3657600"/>
          </a:xfrm>
          <a:prstGeom prst="rect">
            <a:avLst/>
          </a:prstGeom>
          <a:solidFill>
            <a:schemeClr val="accent2"/>
          </a:solidFill>
          <a:ln w="12700">
            <a:solidFill>
              <a:schemeClr val="accent2"/>
            </a:solidFill>
            <a:prstDash val="solid"/>
          </a:ln>
        </p:spPr>
      </p:sp>
      <p:sp>
        <p:nvSpPr>
          <p:cNvPr id="12" name="Text 9"/>
          <p:cNvSpPr/>
          <p:nvPr/>
        </p:nvSpPr>
        <p:spPr>
          <a:xfrm>
            <a:off x="731520" y="210312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3" name="Text 10"/>
          <p:cNvSpPr/>
          <p:nvPr/>
        </p:nvSpPr>
        <p:spPr>
          <a:xfrm>
            <a:off x="73152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(Azure VM-B)</a:t>
            </a:r>
            <a:endParaRPr lang="en-US" sz="1400" dirty="0"/>
          </a:p>
        </p:txBody>
      </p:sp>
      <p:sp>
        <p:nvSpPr>
          <p:cNvPr id="14" name="Text 11"/>
          <p:cNvSpPr/>
          <p:nvPr/>
        </p:nvSpPr>
        <p:spPr>
          <a:xfrm>
            <a:off x="73152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Já rodou os 6 scripts, ambiente pronto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http://&lt;ip-vm-b&gt;:3000 no navegador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Mostra o datasource provisionado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Circula pra ajudar quem travou</a:t>
            </a:r>
            <a:endParaRPr lang="en-US" sz="1100" dirty="0"/>
          </a:p>
        </p:txBody>
      </p:sp>
      <p:sp>
        <p:nvSpPr>
          <p:cNvPr id="15" name="Shape 12"/>
          <p:cNvSpPr/>
          <p:nvPr/>
        </p:nvSpPr>
        <p:spPr>
          <a:xfrm>
            <a:off x="4754880" y="2011680"/>
            <a:ext cx="4114800" cy="3657600"/>
          </a:xfrm>
          <a:prstGeom prst="rect">
            <a:avLst/>
          </a:prstGeom>
          <a:solidFill>
            <a:srgbClr val="FFF5E6"/>
          </a:solidFill>
          <a:ln w="19050">
            <a:solidFill>
              <a:schemeClr val="accent4"/>
            </a:solidFill>
            <a:prstDash val="solid"/>
          </a:ln>
        </p:spPr>
      </p:sp>
      <p:sp>
        <p:nvSpPr>
          <p:cNvPr id="16" name="Shape 13"/>
          <p:cNvSpPr/>
          <p:nvPr/>
        </p:nvSpPr>
        <p:spPr>
          <a:xfrm>
            <a:off x="4754880" y="2011680"/>
            <a:ext cx="137160" cy="3657600"/>
          </a:xfrm>
          <a:prstGeom prst="rect">
            <a:avLst/>
          </a:prstGeom>
          <a:solidFill>
            <a:schemeClr val="accent4"/>
          </a:solidFill>
          <a:ln w="12700">
            <a:solidFill>
              <a:schemeClr val="accent4"/>
            </a:solidFill>
            <a:prstDash val="solid"/>
          </a:ln>
        </p:spPr>
      </p:sp>
      <p:sp>
        <p:nvSpPr>
          <p:cNvPr id="17" name="Text 14"/>
          <p:cNvSpPr/>
          <p:nvPr/>
        </p:nvSpPr>
        <p:spPr>
          <a:xfrm>
            <a:off x="5029200" y="210312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18" name="Text 15"/>
          <p:cNvSpPr/>
          <p:nvPr/>
        </p:nvSpPr>
        <p:spPr>
          <a:xfrm>
            <a:off x="5029200" y="237744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(Ubuntu nativo WSL2 ou VM)</a:t>
            </a:r>
            <a:endParaRPr lang="en-US" sz="1400" dirty="0"/>
          </a:p>
        </p:txBody>
      </p:sp>
      <p:sp>
        <p:nvSpPr>
          <p:cNvPr id="19" name="Text 16"/>
          <p:cNvSpPr/>
          <p:nvPr/>
        </p:nvSpPr>
        <p:spPr>
          <a:xfrm>
            <a:off x="5029200" y="2788920"/>
            <a:ext cx="3657600" cy="27432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Tenha WSL2 Ubuntu 22.04 ou VM Ubuntu pronta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git clone https://github.com/green-tec/curso-grafana.git</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curso-grafana/lab/dia3</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01-prepare.sh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02-install-grafana.sh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03-configure.sh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04-install-prometheus.sh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05-install-node-exporter.sh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bash 06-validate.sh</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http://localhost:3000, login admin/admin</a:t>
            </a:r>
            <a:endParaRPr lang="en-US" sz="1100" dirty="0"/>
          </a:p>
        </p:txBody>
      </p:sp>
      <p:sp>
        <p:nvSpPr>
          <p:cNvPr id="20" name="Shape 17"/>
          <p:cNvSpPr/>
          <p:nvPr/>
        </p:nvSpPr>
        <p:spPr>
          <a:xfrm>
            <a:off x="457200" y="5852160"/>
            <a:ext cx="8686800" cy="548640"/>
          </a:xfrm>
          <a:prstGeom prst="roundRect">
            <a:avLst>
              <a:gd name="adj" fmla="val 13333"/>
            </a:avLst>
          </a:prstGeom>
          <a:solidFill>
            <a:schemeClr val="accent1"/>
          </a:solidFill>
          <a:ln w="12700">
            <a:solidFill>
              <a:schemeClr val="accent1"/>
            </a:solidFill>
            <a:prstDash val="solid"/>
          </a:ln>
        </p:spPr>
      </p:sp>
      <p:sp>
        <p:nvSpPr>
          <p:cNvPr id="21" name="Text 18"/>
          <p:cNvSpPr/>
          <p:nvPr/>
        </p:nvSpPr>
        <p:spPr>
          <a:xfrm>
            <a:off x="685800" y="5989320"/>
            <a:ext cx="8229600" cy="274320"/>
          </a:xfrm>
          <a:prstGeom prst="rect">
            <a:avLst/>
          </a:prstGeom>
          <a:noFill/>
          <a:ln/>
        </p:spPr>
        <p:txBody>
          <a:bodyPr wrap="square" rtlCol="0" anchor="t"/>
          <a:lstStyle/>
          <a:p>
            <a:pPr algn="l" indent="0" marL="0">
              <a:buNone/>
            </a:pPr>
            <a:r>
              <a:rPr lang="en-US" sz="1000" dirty="0">
                <a:solidFill>
                  <a:srgbClr val="000000"/>
                </a:solidFill>
                <a:latin typeface="Trebuchet MS" pitchFamily="34" charset="0"/>
                <a:ea typeface="Trebuchet MS" pitchFamily="34" charset="-122"/>
                <a:cs typeface="Trebuchet MS" pitchFamily="34" charset="-120"/>
              </a:rPr>
              <a:t>QUEM NÃO TEM UBUNTU: use a VM do Azure que o instrutor disponibilizou (limitado), ou aguarde — a Noite 4 volta pro Docker local.</a:t>
            </a:r>
            <a:endParaRPr lang="en-US" sz="100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3.2 — Explore o ambiente instalado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Conhecendo o que foi instalado</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systemctl status grafana-server — vê o status, PID, memória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systemctl status prometheus — vê o status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systemctl status node-exporter — vê o status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ls -la /etc/grafana — vê a estrutura de config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ls -la /var/lib/grafana — vê onde ficam os dados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journalctl -u grafana-server -n 50 — lê os últimos logs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curl -sS http://localhost:9090/api/v1/query?query=up | jq . — query PromQL via API</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sudo ss -tlnp | grep -E '3000|9090|9100' — confirma as 3 portas abertas</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 NOITE 03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Você aprendeu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2743200"/>
          </a:xfrm>
          <a:prstGeom prst="roundRect">
            <a:avLst>
              <a:gd name="adj" fmla="val 2000"/>
            </a:avLst>
          </a:prstGeom>
          <a:solidFill>
            <a:srgbClr val="F0F7E0"/>
          </a:solidFill>
          <a:ln w="12700">
            <a:solidFill>
              <a:schemeClr val="accent2"/>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Por que bare-metal</a:t>
            </a:r>
            <a:endParaRPr lang="en-US" sz="1400" dirty="0"/>
          </a:p>
        </p:txBody>
      </p:sp>
      <p:sp>
        <p:nvSpPr>
          <p:cNvPr id="13" name="Text 10"/>
          <p:cNvSpPr/>
          <p:nvPr/>
        </p:nvSpPr>
        <p:spPr>
          <a:xfrm>
            <a:off x="59436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Produção, segurança, persistência, integração com systemd. Containers são pra dev, não pra prod em Grafana.</a:t>
            </a:r>
            <a:endParaRPr lang="en-US" sz="1050" dirty="0"/>
          </a:p>
        </p:txBody>
      </p:sp>
      <p:sp>
        <p:nvSpPr>
          <p:cNvPr id="14" name="Shape 11"/>
          <p:cNvSpPr/>
          <p:nvPr/>
        </p:nvSpPr>
        <p:spPr>
          <a:xfrm>
            <a:off x="3413760" y="2011680"/>
            <a:ext cx="2773680" cy="2743200"/>
          </a:xfrm>
          <a:prstGeom prst="roundRect">
            <a:avLst>
              <a:gd name="adj" fmla="val 2000"/>
            </a:avLst>
          </a:prstGeom>
          <a:solidFill>
            <a:srgbClr val="F0F7E0"/>
          </a:solidFill>
          <a:ln w="12700">
            <a:solidFill>
              <a:schemeClr val="accent2"/>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6 scripts .sh</a:t>
            </a:r>
            <a:endParaRPr lang="en-US" sz="1400" dirty="0"/>
          </a:p>
        </p:txBody>
      </p:sp>
      <p:sp>
        <p:nvSpPr>
          <p:cNvPr id="17" name="Text 14"/>
          <p:cNvSpPr/>
          <p:nvPr/>
        </p:nvSpPr>
        <p:spPr>
          <a:xfrm>
            <a:off x="355092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prepare → install-grafana → configure → install-prometheus → install-node-exporter → validate. Todos comentados, idempotentes.</a:t>
            </a:r>
            <a:endParaRPr lang="en-US" sz="1050" dirty="0"/>
          </a:p>
        </p:txBody>
      </p:sp>
      <p:sp>
        <p:nvSpPr>
          <p:cNvPr id="18" name="Shape 15"/>
          <p:cNvSpPr/>
          <p:nvPr/>
        </p:nvSpPr>
        <p:spPr>
          <a:xfrm>
            <a:off x="6370320" y="2011680"/>
            <a:ext cx="2773680" cy="2743200"/>
          </a:xfrm>
          <a:prstGeom prst="roundRect">
            <a:avLst>
              <a:gd name="adj" fmla="val 2000"/>
            </a:avLst>
          </a:prstGeom>
          <a:solidFill>
            <a:srgbClr val="F0F7E0"/>
          </a:solidFill>
          <a:ln w="12700">
            <a:solidFill>
              <a:schemeClr val="accent2"/>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systemd</a:t>
            </a:r>
            <a:endParaRPr lang="en-US" sz="1400" dirty="0"/>
          </a:p>
        </p:txBody>
      </p:sp>
      <p:sp>
        <p:nvSpPr>
          <p:cNvPr id="21" name="Text 18"/>
          <p:cNvSpPr/>
          <p:nvPr/>
        </p:nvSpPr>
        <p:spPr>
          <a:xfrm>
            <a:off x="650748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start, stop, restart, enable, status, journalctl. O que todo admin Linux faz no dia-a-dia.</a:t>
            </a:r>
            <a:endParaRPr lang="en-US" sz="1050" dirty="0"/>
          </a:p>
        </p:txBody>
      </p:sp>
      <p:sp>
        <p:nvSpPr>
          <p:cNvPr id="22" name="Shape 19"/>
          <p:cNvSpPr/>
          <p:nvPr/>
        </p:nvSpPr>
        <p:spPr>
          <a:xfrm>
            <a:off x="457200" y="4937760"/>
            <a:ext cx="8686800" cy="1280160"/>
          </a:xfrm>
          <a:prstGeom prst="roundRect">
            <a:avLst>
              <a:gd name="adj" fmla="val 5714"/>
            </a:avLst>
          </a:prstGeom>
          <a:solidFill>
            <a:schemeClr val="accent1"/>
          </a:solidFill>
          <a:ln w="12700">
            <a:solidFill>
              <a:schemeClr val="accent1"/>
            </a:solidFill>
            <a:prstDash val="solid"/>
          </a:ln>
        </p:spPr>
      </p:sp>
      <p:sp>
        <p:nvSpPr>
          <p:cNvPr id="23" name="Text 20"/>
          <p:cNvSpPr/>
          <p:nvPr/>
        </p:nvSpPr>
        <p:spPr>
          <a:xfrm>
            <a:off x="685800" y="5074920"/>
            <a:ext cx="8229600" cy="100584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PRÓXIMA NOITE (Noite 04): file-based provisioning completo, instalação de plugins (Zabbix, MySQL, Infinity), Loki para logs, Tempo para traces. Voltamos pro Docker pra subir a stack LGTM.</a:t>
            </a:r>
            <a:endParaRPr lang="en-US" sz="1300" dirty="0"/>
          </a:p>
        </p:txBody>
      </p:sp>
      <p:pic>
        <p:nvPicPr>
          <p:cNvPr id="2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5" name="Text 2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6" name="Text 2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NOITE 04</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Provisionamento, plugins</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e a stack LGTM (Loki, Grafana, Tempo, Mimir)</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REVISÃO RÁPIDA</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vimos na Noite 03</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Por que instalar fora do Docker: produção, segurança, persistência</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Repositório APT oficial, chave GPG, sources.list</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systemd: enable, start, status, journalctl</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6 scripts .sh comentados, executados do zero ao Grafana rodando</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Validação final: 3 checks (Grafana, Prometheus, Node Exporter)</a:t>
            </a:r>
            <a:endParaRPr lang="en-US" sz="15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PROGRAMA DA NOITE 04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vamos ver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Provisionamento</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File-based completo: datasource + dashboard + alerting</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Plugins</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Instalar Zabbix, MySQL, Infinity, custom</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Loki</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Logs estruturados, LogQL, integração com Grafana</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Tempo</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Traces distribuídos, correlação com métricas</a:t>
            </a:r>
            <a:endParaRPr lang="en-US" sz="100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File-based provisioning: visão geral</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Em vez de criar dashboards/alertas pelo painel (UI), você escreve arquivos YAML e o Grafana carrega automaticamente. Permite GitOps, reprodutibilidade, e zero-click setup.</a:t>
            </a:r>
            <a:endParaRPr lang="en-US" sz="1400" dirty="0"/>
          </a:p>
        </p:txBody>
      </p:sp>
      <p:sp>
        <p:nvSpPr>
          <p:cNvPr id="11" name="Shape 8"/>
          <p:cNvSpPr/>
          <p:nvPr/>
        </p:nvSpPr>
        <p:spPr>
          <a:xfrm>
            <a:off x="457200" y="2651760"/>
            <a:ext cx="8686800" cy="3200400"/>
          </a:xfrm>
          <a:prstGeom prst="rect">
            <a:avLst/>
          </a:prstGeom>
          <a:solidFill>
            <a:srgbClr val="F5F5F5"/>
          </a:solidFill>
          <a:ln w="12700">
            <a:solidFill>
              <a:srgbClr val="D1D5DB"/>
            </a:solidFill>
            <a:prstDash val="solid"/>
          </a:ln>
        </p:spPr>
      </p:sp>
      <p:sp>
        <p:nvSpPr>
          <p:cNvPr id="12" name="Shape 9"/>
          <p:cNvSpPr/>
          <p:nvPr/>
        </p:nvSpPr>
        <p:spPr>
          <a:xfrm>
            <a:off x="457200" y="2651760"/>
            <a:ext cx="73152" cy="3200400"/>
          </a:xfrm>
          <a:prstGeom prst="rect">
            <a:avLst/>
          </a:prstGeom>
          <a:solidFill>
            <a:schemeClr val="accent1"/>
          </a:solidFill>
          <a:ln w="12700">
            <a:solidFill>
              <a:schemeClr val="accent1"/>
            </a:solidFill>
            <a:prstDash val="solid"/>
          </a:ln>
        </p:spPr>
      </p:sp>
      <p:sp>
        <p:nvSpPr>
          <p:cNvPr id="13" name="Shape 10"/>
          <p:cNvSpPr/>
          <p:nvPr/>
        </p:nvSpPr>
        <p:spPr>
          <a:xfrm>
            <a:off x="457200" y="2651760"/>
            <a:ext cx="8686800" cy="274320"/>
          </a:xfrm>
          <a:prstGeom prst="rect">
            <a:avLst/>
          </a:prstGeom>
          <a:solidFill>
            <a:srgbClr val="2C3C43"/>
          </a:solidFill>
          <a:ln w="12700">
            <a:solidFill>
              <a:srgbClr val="2C3C43"/>
            </a:solidFill>
            <a:prstDash val="solid"/>
          </a:ln>
        </p:spPr>
      </p:sp>
      <p:sp>
        <p:nvSpPr>
          <p:cNvPr id="14" name="Text 11"/>
          <p:cNvSpPr/>
          <p:nvPr/>
        </p:nvSpPr>
        <p:spPr>
          <a:xfrm>
            <a:off x="640080" y="267004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/etc/grafana/provisioning/ (estrutura padrão)</a:t>
            </a:r>
            <a:endParaRPr lang="en-US" sz="1000" dirty="0"/>
          </a:p>
        </p:txBody>
      </p:sp>
      <p:sp>
        <p:nvSpPr>
          <p:cNvPr id="15" name="Text 12"/>
          <p:cNvSpPr/>
          <p:nvPr/>
        </p:nvSpPr>
        <p:spPr>
          <a:xfrm>
            <a:off x="640080" y="299923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/etc/grafana/provisioning/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datasources/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prometheus.yml            # 1 datasource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dashboards/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dashboards.yml             # aponta para a pasta abaixo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definitions/               # JSON dos dashboards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01-visao-geral.json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02-host-dinamico.json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03-containers.json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alerting/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rules.yml                  # regras de alerta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contact-points.yml         # canais de notificação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plugins/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plugins.yml                # plugins a instalar no startup</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notifiers/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notifiers.yml              # canais customizados</a:t>
            </a:r>
            <a:endParaRPr lang="en-US" sz="1200" dirty="0"/>
          </a:p>
        </p:txBody>
      </p:sp>
      <p:pic>
        <p:nvPicPr>
          <p:cNvPr id="1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7" name="Text 1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8" name="Text 1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Exemplo: dashboard provisionado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828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1828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dashboards.yml (provider)</a:t>
            </a:r>
            <a:endParaRPr lang="en-US" sz="1000" dirty="0"/>
          </a:p>
        </p:txBody>
      </p:sp>
      <p:sp>
        <p:nvSpPr>
          <p:cNvPr id="14" name="Text 11"/>
          <p:cNvSpPr/>
          <p:nvPr/>
        </p:nvSpPr>
        <p:spPr>
          <a:xfrm>
            <a:off x="640080" y="2359152"/>
            <a:ext cx="8412480" cy="1417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apiVersion: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providers: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'default'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orgId: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folder: 'Provisionados'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type: file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disableDeletion: true         # impede deletar via UI (GitOps)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updateIntervalSeconds: 30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options: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path: /etc/grafana/provisioning/dashboards/definitions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foldersFromFilesStructure: true</a:t>
            </a:r>
            <a:endParaRPr lang="en-US" sz="1200" dirty="0"/>
          </a:p>
        </p:txBody>
      </p:sp>
      <p:sp>
        <p:nvSpPr>
          <p:cNvPr id="15" name="Shape 12"/>
          <p:cNvSpPr/>
          <p:nvPr/>
        </p:nvSpPr>
        <p:spPr>
          <a:xfrm>
            <a:off x="457200" y="4023360"/>
            <a:ext cx="8686800" cy="2286000"/>
          </a:xfrm>
          <a:prstGeom prst="rect">
            <a:avLst/>
          </a:prstGeom>
          <a:solidFill>
            <a:srgbClr val="F5F5F5"/>
          </a:solidFill>
          <a:ln w="12700">
            <a:solidFill>
              <a:srgbClr val="D1D5DB"/>
            </a:solidFill>
            <a:prstDash val="solid"/>
          </a:ln>
        </p:spPr>
      </p:sp>
      <p:sp>
        <p:nvSpPr>
          <p:cNvPr id="16" name="Shape 13"/>
          <p:cNvSpPr/>
          <p:nvPr/>
        </p:nvSpPr>
        <p:spPr>
          <a:xfrm>
            <a:off x="457200" y="4023360"/>
            <a:ext cx="73152" cy="2286000"/>
          </a:xfrm>
          <a:prstGeom prst="rect">
            <a:avLst/>
          </a:prstGeom>
          <a:solidFill>
            <a:schemeClr val="accent1"/>
          </a:solidFill>
          <a:ln w="12700">
            <a:solidFill>
              <a:schemeClr val="accent1"/>
            </a:solidFill>
            <a:prstDash val="solid"/>
          </a:ln>
        </p:spPr>
      </p:sp>
      <p:sp>
        <p:nvSpPr>
          <p:cNvPr id="17" name="Shape 14"/>
          <p:cNvSpPr/>
          <p:nvPr/>
        </p:nvSpPr>
        <p:spPr>
          <a:xfrm>
            <a:off x="457200" y="4023360"/>
            <a:ext cx="8686800" cy="274320"/>
          </a:xfrm>
          <a:prstGeom prst="rect">
            <a:avLst/>
          </a:prstGeom>
          <a:solidFill>
            <a:srgbClr val="2C3C43"/>
          </a:solidFill>
          <a:ln w="12700">
            <a:solidFill>
              <a:srgbClr val="2C3C43"/>
            </a:solidFill>
            <a:prstDash val="solid"/>
          </a:ln>
        </p:spPr>
      </p:sp>
      <p:sp>
        <p:nvSpPr>
          <p:cNvPr id="18" name="Text 15"/>
          <p:cNvSpPr/>
          <p:nvPr/>
        </p:nvSpPr>
        <p:spPr>
          <a:xfrm>
            <a:off x="640080" y="404164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definitions/02-host-dinamico.json (resumo)</a:t>
            </a:r>
            <a:endParaRPr lang="en-US" sz="1000" dirty="0"/>
          </a:p>
        </p:txBody>
      </p:sp>
      <p:sp>
        <p:nvSpPr>
          <p:cNvPr id="19" name="Text 16"/>
          <p:cNvSpPr/>
          <p:nvPr/>
        </p:nvSpPr>
        <p:spPr>
          <a:xfrm>
            <a:off x="640080" y="4370832"/>
            <a:ext cx="8412480" cy="18745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"title": "Host Dinâmico",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"tags": ["infra", "producao"],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"timezone": "browser",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"schemaVersion": 39,</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"version":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"refresh": "30s",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"time": { "from": "now-6h", "to": "now"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"templating":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"list":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"name": "host", "type": "query",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"datasource":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"query": "label_values(node_cpu_seconds_total, instance)"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"panels": [ /* 6 painéis, 2 variáveis, etc. */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p:txBody>
      </p:sp>
      <p:pic>
        <p:nvPicPr>
          <p:cNvPr id="20"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1" name="Text 17"/>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2" name="Text 18"/>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Plugins: estendendo o Grafana</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Datasources</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Zabbix, MySQL, PostgreSQL, MSSQL, MongoDB, Oracle, Salesforce, AWS CloudWatch, Azure Monitor, GCP, Elasticsearch, InfluxDB, Cassandra, Redis, Infinity (REST genérico).</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Painéis</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Plotly (gráficos avançados), Calendar heatmap, Diagram (flowchart), Polystat, Barchart/Time series antigos, status indicator.</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Apps</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Bundles de datasource + painéis + alertas pré-configurados. AWS, Azure, GCP, Kubernetes, Redis, etc.</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Como instalar</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grafana-cli plugins install &lt;id&gt;  (depois restart). Ou via provisioning/plugins.yml. ~500+ plugins oficiais em grafana.com/grafana/plugins.</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Loki: logs no estilo Prometheus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Loki é o banco de logs criado pelo Grafana Labs. Inspirado no Prometheus: ao invés de indexar texto completo, indexa APENAS labels (job, instance, level). Muito mais barato que ElasticSearch.</a:t>
            </a:r>
            <a:endParaRPr lang="en-US" sz="1400" dirty="0"/>
          </a:p>
        </p:txBody>
      </p:sp>
      <p:sp>
        <p:nvSpPr>
          <p:cNvPr id="11" name="Shape 8"/>
          <p:cNvSpPr/>
          <p:nvPr/>
        </p:nvSpPr>
        <p:spPr>
          <a:xfrm>
            <a:off x="457200" y="2651760"/>
            <a:ext cx="8686800" cy="3200400"/>
          </a:xfrm>
          <a:prstGeom prst="rect">
            <a:avLst/>
          </a:prstGeom>
          <a:solidFill>
            <a:srgbClr val="F5F5F5"/>
          </a:solidFill>
          <a:ln w="12700">
            <a:solidFill>
              <a:srgbClr val="D1D5DB"/>
            </a:solidFill>
            <a:prstDash val="solid"/>
          </a:ln>
        </p:spPr>
      </p:sp>
      <p:sp>
        <p:nvSpPr>
          <p:cNvPr id="12" name="Shape 9"/>
          <p:cNvSpPr/>
          <p:nvPr/>
        </p:nvSpPr>
        <p:spPr>
          <a:xfrm>
            <a:off x="457200" y="2651760"/>
            <a:ext cx="73152" cy="3200400"/>
          </a:xfrm>
          <a:prstGeom prst="rect">
            <a:avLst/>
          </a:prstGeom>
          <a:solidFill>
            <a:schemeClr val="accent1"/>
          </a:solidFill>
          <a:ln w="12700">
            <a:solidFill>
              <a:schemeClr val="accent1"/>
            </a:solidFill>
            <a:prstDash val="solid"/>
          </a:ln>
        </p:spPr>
      </p:sp>
      <p:sp>
        <p:nvSpPr>
          <p:cNvPr id="13" name="Shape 10"/>
          <p:cNvSpPr/>
          <p:nvPr/>
        </p:nvSpPr>
        <p:spPr>
          <a:xfrm>
            <a:off x="457200" y="2651760"/>
            <a:ext cx="8686800" cy="274320"/>
          </a:xfrm>
          <a:prstGeom prst="rect">
            <a:avLst/>
          </a:prstGeom>
          <a:solidFill>
            <a:srgbClr val="2C3C43"/>
          </a:solidFill>
          <a:ln w="12700">
            <a:solidFill>
              <a:srgbClr val="2C3C43"/>
            </a:solidFill>
            <a:prstDash val="solid"/>
          </a:ln>
        </p:spPr>
      </p:sp>
      <p:sp>
        <p:nvSpPr>
          <p:cNvPr id="14" name="Text 11"/>
          <p:cNvSpPr/>
          <p:nvPr/>
        </p:nvSpPr>
        <p:spPr>
          <a:xfrm>
            <a:off x="640080" y="267004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LogQL — a query language do Loki</a:t>
            </a:r>
            <a:endParaRPr lang="en-US" sz="1000" dirty="0"/>
          </a:p>
        </p:txBody>
      </p:sp>
      <p:sp>
        <p:nvSpPr>
          <p:cNvPr id="15" name="Text 12"/>
          <p:cNvSpPr/>
          <p:nvPr/>
        </p:nvSpPr>
        <p:spPr>
          <a:xfrm>
            <a:off x="640080" y="2999232"/>
            <a:ext cx="8412480" cy="27889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Selecionar todos os logs do job nginx (filtra por label):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{job="nginx"}</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Filtrar texto dentro do log (|= contém, != não contém):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{job="nginx"} |= "error"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{job="nginx"} != "debug"</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Regex match: |~ /pattern/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{job="nginx"} |~ "status: (5\\d{2})"</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Rate (logs por segundo):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rate({job="nginx"}[5m])</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Agregação: contar erros por status code: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sum by (status) (</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rate({job="nginx"} |~ "status: (5\\d{2})" [5m])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p:txBody>
      </p:sp>
      <p:pic>
        <p:nvPicPr>
          <p:cNvPr id="1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7" name="Text 1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8" name="Text 1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Promtail: coletor de logs do Loki</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promtail config (envia logs pro Loki)</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server: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http_listen_port: 9080</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positions: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filename: /tmp/positions.yaml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clients: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url: http://loki:3100/loki/api/v1/push</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scrape_configs: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job_name: system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static_configs: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targets: [localhost]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labels: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job: syslog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__path__: /var/log/*.log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job_name: docker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docker_sd_configs: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host: unix:///var/run/docker.sock</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refresh_interval: 5s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relabel_configs: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source_labels: ['__meta_docker_container_name']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target_label: container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source_labels: ['__meta_docker_container_log_stream']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target_label: stream</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4.6</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Tempo: traces distribuídos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Tempo armazena traces distribuídos. Cada trace é uma árvore de spans. O Grafana tem um painel 'Trace' que mostra visualmente onde o request travou.</a:t>
            </a:r>
            <a:endParaRPr lang="en-US" sz="1400" dirty="0"/>
          </a:p>
        </p:txBody>
      </p:sp>
      <p:sp>
        <p:nvSpPr>
          <p:cNvPr id="11" name="Shape 8"/>
          <p:cNvSpPr/>
          <p:nvPr/>
        </p:nvSpPr>
        <p:spPr>
          <a:xfrm>
            <a:off x="457200" y="2651760"/>
            <a:ext cx="2773680" cy="3474720"/>
          </a:xfrm>
          <a:prstGeom prst="roundRect">
            <a:avLst>
              <a:gd name="adj" fmla="val 1978"/>
            </a:avLst>
          </a:prstGeom>
          <a:solidFill>
            <a:srgbClr val="000000"/>
          </a:solidFill>
          <a:ln w="12700">
            <a:solidFill>
              <a:schemeClr val="accent1"/>
            </a:solidFill>
            <a:prstDash val="solid"/>
          </a:ln>
        </p:spPr>
      </p:sp>
      <p:sp>
        <p:nvSpPr>
          <p:cNvPr id="12" name="Text 9"/>
          <p:cNvSpPr/>
          <p:nvPr/>
        </p:nvSpPr>
        <p:spPr>
          <a:xfrm>
            <a:off x="594360" y="274320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3" name="Text 10"/>
          <p:cNvSpPr/>
          <p:nvPr/>
        </p:nvSpPr>
        <p:spPr>
          <a:xfrm>
            <a:off x="1188720" y="278892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O que é um trace</a:t>
            </a:r>
            <a:endParaRPr lang="en-US" sz="1400" dirty="0"/>
          </a:p>
        </p:txBody>
      </p:sp>
      <p:sp>
        <p:nvSpPr>
          <p:cNvPr id="14" name="Text 11"/>
          <p:cNvSpPr/>
          <p:nvPr/>
        </p:nvSpPr>
        <p:spPr>
          <a:xfrm>
            <a:off x="594360" y="3337560"/>
            <a:ext cx="249936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Um request HTTP -&gt; 5 serviços -&gt; 12 spans. Cada span é um pedaço do trabalho. O trace mostra o caminho completo.</a:t>
            </a:r>
            <a:endParaRPr lang="en-US" sz="1050" dirty="0"/>
          </a:p>
        </p:txBody>
      </p:sp>
      <p:sp>
        <p:nvSpPr>
          <p:cNvPr id="15" name="Shape 12"/>
          <p:cNvSpPr/>
          <p:nvPr/>
        </p:nvSpPr>
        <p:spPr>
          <a:xfrm>
            <a:off x="3413760" y="2651760"/>
            <a:ext cx="2773680" cy="3474720"/>
          </a:xfrm>
          <a:prstGeom prst="roundRect">
            <a:avLst>
              <a:gd name="adj" fmla="val 1978"/>
            </a:avLst>
          </a:prstGeom>
          <a:solidFill>
            <a:srgbClr val="000000"/>
          </a:solidFill>
          <a:ln w="12700">
            <a:solidFill>
              <a:schemeClr val="accent1"/>
            </a:solidFill>
            <a:prstDash val="solid"/>
          </a:ln>
        </p:spPr>
      </p:sp>
      <p:sp>
        <p:nvSpPr>
          <p:cNvPr id="16" name="Text 13"/>
          <p:cNvSpPr/>
          <p:nvPr/>
        </p:nvSpPr>
        <p:spPr>
          <a:xfrm>
            <a:off x="3550920" y="274320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7" name="Text 14"/>
          <p:cNvSpPr/>
          <p:nvPr/>
        </p:nvSpPr>
        <p:spPr>
          <a:xfrm>
            <a:off x="4145280" y="278892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Como enviar</a:t>
            </a:r>
            <a:endParaRPr lang="en-US" sz="1400" dirty="0"/>
          </a:p>
        </p:txBody>
      </p:sp>
      <p:sp>
        <p:nvSpPr>
          <p:cNvPr id="18" name="Text 15"/>
          <p:cNvSpPr/>
          <p:nvPr/>
        </p:nvSpPr>
        <p:spPr>
          <a:xfrm>
            <a:off x="3550920" y="3337560"/>
            <a:ext cx="249936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OpenTelemetry SDK na app, ou Jaeger, ou Zipkin. Tempo aceita qualquer um via OTLP (porta 4317).</a:t>
            </a:r>
            <a:endParaRPr lang="en-US" sz="1050" dirty="0"/>
          </a:p>
        </p:txBody>
      </p:sp>
      <p:sp>
        <p:nvSpPr>
          <p:cNvPr id="19" name="Shape 16"/>
          <p:cNvSpPr/>
          <p:nvPr/>
        </p:nvSpPr>
        <p:spPr>
          <a:xfrm>
            <a:off x="6370320" y="2651760"/>
            <a:ext cx="2773680" cy="3474720"/>
          </a:xfrm>
          <a:prstGeom prst="roundRect">
            <a:avLst>
              <a:gd name="adj" fmla="val 1978"/>
            </a:avLst>
          </a:prstGeom>
          <a:solidFill>
            <a:srgbClr val="000000"/>
          </a:solidFill>
          <a:ln w="12700">
            <a:solidFill>
              <a:schemeClr val="accent1"/>
            </a:solidFill>
            <a:prstDash val="solid"/>
          </a:ln>
        </p:spPr>
      </p:sp>
      <p:sp>
        <p:nvSpPr>
          <p:cNvPr id="20" name="Text 17"/>
          <p:cNvSpPr/>
          <p:nvPr/>
        </p:nvSpPr>
        <p:spPr>
          <a:xfrm>
            <a:off x="6507480" y="274320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1" name="Text 18"/>
          <p:cNvSpPr/>
          <p:nvPr/>
        </p:nvSpPr>
        <p:spPr>
          <a:xfrm>
            <a:off x="7101840" y="278892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Correlação</a:t>
            </a:r>
            <a:endParaRPr lang="en-US" sz="1400" dirty="0"/>
          </a:p>
        </p:txBody>
      </p:sp>
      <p:sp>
        <p:nvSpPr>
          <p:cNvPr id="22" name="Text 19"/>
          <p:cNvSpPr/>
          <p:nvPr/>
        </p:nvSpPr>
        <p:spPr>
          <a:xfrm>
            <a:off x="6507480" y="3337560"/>
            <a:ext cx="249936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Do painel de métricas, vê um pico. Clica em 'Investigate' -&gt; vai pro trace. Do trace, vê um span com erro -&gt; pula pros logs do Loki.</a:t>
            </a:r>
            <a:endParaRPr lang="en-US" sz="105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4.7</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 stack LGTM</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Loki</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Logs (indexa só labels, barato)</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Grafana</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Visualização (junta tudo)</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Tempo</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Traces (caminho de uma request)</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Mimir</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Métricas em escala (alternativa ao Prometheus, multi-tenant)</a:t>
            </a:r>
            <a:endParaRPr lang="en-US" sz="1000" dirty="0"/>
          </a:p>
        </p:txBody>
      </p:sp>
      <p:sp>
        <p:nvSpPr>
          <p:cNvPr id="26" name="Shape 23"/>
          <p:cNvSpPr/>
          <p:nvPr/>
        </p:nvSpPr>
        <p:spPr>
          <a:xfrm>
            <a:off x="457200" y="4754880"/>
            <a:ext cx="8686800" cy="1371600"/>
          </a:xfrm>
          <a:prstGeom prst="roundRect">
            <a:avLst>
              <a:gd name="adj" fmla="val 5333"/>
            </a:avLst>
          </a:prstGeom>
          <a:solidFill>
            <a:schemeClr val="accent1"/>
          </a:solidFill>
          <a:ln w="12700">
            <a:solidFill>
              <a:schemeClr val="accent1"/>
            </a:solidFill>
            <a:prstDash val="solid"/>
          </a:ln>
        </p:spPr>
      </p:sp>
      <p:sp>
        <p:nvSpPr>
          <p:cNvPr id="27" name="Text 24"/>
          <p:cNvSpPr/>
          <p:nvPr/>
        </p:nvSpPr>
        <p:spPr>
          <a:xfrm>
            <a:off x="685800" y="4892040"/>
            <a:ext cx="8229600" cy="109728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LGTM é a stack open source mantida pelo Grafana Labs, usada por empresas como Wayfair, Bloomberg, JP Morgan, Cisco, etc. Custa uma fração do Elastic + Datadog + Splunk.</a:t>
            </a:r>
            <a:endParaRPr lang="en-US" sz="1300" dirty="0"/>
          </a:p>
        </p:txBody>
      </p:sp>
      <p:pic>
        <p:nvPicPr>
          <p:cNvPr id="2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9" name="Text 2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30" name="Text 2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21:00 · DEMO (AZURE) + SCRIPT</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Subindo a stack LGTM</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 dashboard provisionado</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Subindo a stack completa (lab/dia4)</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docker compose up -d</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Mostra os containers subindo: grafana, prometheus, loki, tempo, promtail</a:t>
            </a:r>
            <a:endParaRPr lang="en-US" sz="1200" dirty="0"/>
          </a:p>
        </p:txBody>
      </p:sp>
      <p:sp>
        <p:nvSpPr>
          <p:cNvPr id="13" name="Shape 10"/>
          <p:cNvSpPr/>
          <p:nvPr/>
        </p:nvSpPr>
        <p:spPr>
          <a:xfrm>
            <a:off x="457200" y="3657600"/>
            <a:ext cx="4114800" cy="2743200"/>
          </a:xfrm>
          <a:prstGeom prst="rect">
            <a:avLst/>
          </a:prstGeom>
          <a:solidFill>
            <a:srgbClr val="F0F7E0"/>
          </a:solidFill>
          <a:ln w="19050">
            <a:solidFill>
              <a:schemeClr val="accent2"/>
            </a:solidFill>
            <a:prstDash val="solid"/>
          </a:ln>
        </p:spPr>
      </p:sp>
      <p:sp>
        <p:nvSpPr>
          <p:cNvPr id="14" name="Shape 11"/>
          <p:cNvSpPr/>
          <p:nvPr/>
        </p:nvSpPr>
        <p:spPr>
          <a:xfrm>
            <a:off x="457200" y="3657600"/>
            <a:ext cx="137160" cy="2743200"/>
          </a:xfrm>
          <a:prstGeom prst="rect">
            <a:avLst/>
          </a:prstGeom>
          <a:solidFill>
            <a:schemeClr val="accent2"/>
          </a:solidFill>
          <a:ln w="12700">
            <a:solidFill>
              <a:schemeClr val="accent2"/>
            </a:solidFill>
            <a:prstDash val="solid"/>
          </a:ln>
        </p:spPr>
      </p:sp>
      <p:sp>
        <p:nvSpPr>
          <p:cNvPr id="15" name="Text 12"/>
          <p:cNvSpPr/>
          <p:nvPr/>
        </p:nvSpPr>
        <p:spPr>
          <a:xfrm>
            <a:off x="731520" y="374904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6" name="Text 13"/>
          <p:cNvSpPr/>
          <p:nvPr/>
        </p:nvSpPr>
        <p:spPr>
          <a:xfrm>
            <a:off x="73152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mostra</a:t>
            </a:r>
            <a:endParaRPr lang="en-US" sz="1400" dirty="0"/>
          </a:p>
        </p:txBody>
      </p:sp>
      <p:sp>
        <p:nvSpPr>
          <p:cNvPr id="17" name="Text 14"/>
          <p:cNvSpPr/>
          <p:nvPr/>
        </p:nvSpPr>
        <p:spPr>
          <a:xfrm>
            <a:off x="73152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~/lab/dia4 &amp;&amp; 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ps (6 containers rodando)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Acessa http://&lt;ip-vm-b&gt;:3000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Vê 4 datasources: Prometheus, Loki, Tempo, Alertmanager</a:t>
            </a:r>
            <a:endParaRPr lang="en-US" sz="1100" dirty="0"/>
          </a:p>
        </p:txBody>
      </p:sp>
      <p:sp>
        <p:nvSpPr>
          <p:cNvPr id="18" name="Shape 15"/>
          <p:cNvSpPr/>
          <p:nvPr/>
        </p:nvSpPr>
        <p:spPr>
          <a:xfrm>
            <a:off x="4754880" y="3657600"/>
            <a:ext cx="4114800" cy="2743200"/>
          </a:xfrm>
          <a:prstGeom prst="rect">
            <a:avLst/>
          </a:prstGeom>
          <a:solidFill>
            <a:srgbClr val="FFF5E6"/>
          </a:solidFill>
          <a:ln w="19050">
            <a:solidFill>
              <a:schemeClr val="accent4"/>
            </a:solidFill>
            <a:prstDash val="solid"/>
          </a:ln>
        </p:spPr>
      </p:sp>
      <p:sp>
        <p:nvSpPr>
          <p:cNvPr id="19" name="Shape 16"/>
          <p:cNvSpPr/>
          <p:nvPr/>
        </p:nvSpPr>
        <p:spPr>
          <a:xfrm>
            <a:off x="4754880" y="3657600"/>
            <a:ext cx="137160" cy="2743200"/>
          </a:xfrm>
          <a:prstGeom prst="rect">
            <a:avLst/>
          </a:prstGeom>
          <a:solidFill>
            <a:schemeClr val="accent4"/>
          </a:solidFill>
          <a:ln w="12700">
            <a:solidFill>
              <a:schemeClr val="accent4"/>
            </a:solidFill>
            <a:prstDash val="solid"/>
          </a:ln>
        </p:spPr>
      </p:sp>
      <p:sp>
        <p:nvSpPr>
          <p:cNvPr id="20" name="Text 17"/>
          <p:cNvSpPr/>
          <p:nvPr/>
        </p:nvSpPr>
        <p:spPr>
          <a:xfrm>
            <a:off x="5029200" y="374904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21" name="Text 18"/>
          <p:cNvSpPr/>
          <p:nvPr/>
        </p:nvSpPr>
        <p:spPr>
          <a:xfrm>
            <a:off x="502920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faz igual</a:t>
            </a:r>
            <a:endParaRPr lang="en-US" sz="1400" dirty="0"/>
          </a:p>
        </p:txBody>
      </p:sp>
      <p:sp>
        <p:nvSpPr>
          <p:cNvPr id="22" name="Text 19"/>
          <p:cNvSpPr/>
          <p:nvPr/>
        </p:nvSpPr>
        <p:spPr>
          <a:xfrm>
            <a:off x="502920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~/labs/dia4</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30s para todos subirem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http://localhost:3000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Confirma 4 datasources no menu</a:t>
            </a:r>
            <a:endParaRPr lang="en-US" sz="110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Logs no Loki (Explore)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Explore &gt; datasource Loki</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Roda {job="syslog"} e mostra os logs chegando</a:t>
            </a:r>
            <a:endParaRPr lang="en-US" sz="1200" dirty="0"/>
          </a:p>
        </p:txBody>
      </p:sp>
      <p:sp>
        <p:nvSpPr>
          <p:cNvPr id="13" name="Shape 10"/>
          <p:cNvSpPr/>
          <p:nvPr/>
        </p:nvSpPr>
        <p:spPr>
          <a:xfrm>
            <a:off x="457200" y="3657600"/>
            <a:ext cx="8686800" cy="274320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74320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queries para testar</a:t>
            </a:r>
            <a:endParaRPr lang="en-US" sz="1000" dirty="0"/>
          </a:p>
        </p:txBody>
      </p:sp>
      <p:sp>
        <p:nvSpPr>
          <p:cNvPr id="17" name="Text 14"/>
          <p:cNvSpPr/>
          <p:nvPr/>
        </p:nvSpPr>
        <p:spPr>
          <a:xfrm>
            <a:off x="640080" y="4005072"/>
            <a:ext cx="8412480" cy="23317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Todos os logs do syslog:</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{job="syslog"}</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Só logs de erro (filtra texto):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{job="syslog"} |= "error"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Logs do container nginx, com nível error:</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{job="docker", container="nginx"} |= "error"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Rate de erros (erros por segundo):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sum(rate({job="syslog"} |= "error" [5m]))</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Correlação: métrica → log → trace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clicando entre painéis</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De um pico de CPU no painel de métrica, vai pro log do container, vai pro trace</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1"/>
          </a:solidFill>
          <a:ln w="12700">
            <a:solidFill>
              <a:schemeClr val="accent1"/>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FLUXO DE INVESTIGAÇÃO: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1. Dashboard: 'CPU alta no server-03' (métrica)</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2. Clica no painel de logs do mesmo server (Loki)</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3. Acha 'OOMKilled' ou 'connection refused' (log)</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4. Clica no trace de uma request que falhou (Tempo)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5. Vê que o span 'query-database' demorou 4.5s</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A mágica do Grafana: navegação entre as 3 camadas com 1 clique. É aqui que o Grafana brilha — não em qualquer ferramenta isolada, mas JUNTANDO tudo.</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Instalando um plugin (Infinity)</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grafana-cli plugins install</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Instala o plugin Infinity (REST genérico) e mostra um dashboard consumindo JSON externo</a:t>
            </a:r>
            <a:endParaRPr lang="en-US" sz="1200" dirty="0"/>
          </a:p>
        </p:txBody>
      </p:sp>
      <p:sp>
        <p:nvSpPr>
          <p:cNvPr id="13" name="Shape 10"/>
          <p:cNvSpPr/>
          <p:nvPr/>
        </p:nvSpPr>
        <p:spPr>
          <a:xfrm>
            <a:off x="457200" y="3657600"/>
            <a:ext cx="8686800" cy="274320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74320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instalação + reinício</a:t>
            </a:r>
            <a:endParaRPr lang="en-US" sz="1000" dirty="0"/>
          </a:p>
        </p:txBody>
      </p:sp>
      <p:sp>
        <p:nvSpPr>
          <p:cNvPr id="17" name="Text 14"/>
          <p:cNvSpPr/>
          <p:nvPr/>
        </p:nvSpPr>
        <p:spPr>
          <a:xfrm>
            <a:off x="640080" y="4005072"/>
            <a:ext cx="8412480" cy="23317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Dentro do container grafana: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docker exec -it grafana grafana-cli plugins install yesoreyeram-infinity-datasource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docker restart grafana</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Ou no Ubuntu nativo:</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grafana-cli plugins install yesoreyeram-infinity-datasource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sudo systemctl restart grafana-server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Agora você tem um novo datasource 'Infinity' que consulta qualquer API REST,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CSV, JSON, XML, GraphQL. Sem precisar de backend.</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 SCRIPT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Export de dashboard (GitOps)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VM-B) — Share &gt; Export &gt; View JSON</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Exporta o dashboard 'Host Dinâmico' e salva em /etc/grafana/provisioning/dashboards/</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2"/>
          </a:solidFill>
          <a:ln w="12700">
            <a:solidFill>
              <a:schemeClr val="accent2"/>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WORKFLOW GITOPS: </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1. Export JSON do dashboard</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2. Commit no Git (repositório infra)</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3. Pipeline CI/CD faz deploy em prod (rsync, ansible, terraform)</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4. Reload do Grafana</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5. Dashboard aparece na produção, idêntico ao dev</a:t>
            </a:r>
            <a:endParaRPr lang="en-US" sz="1300" dirty="0"/>
          </a:p>
          <a:p>
            <a:pPr algn="l" indent="0" marL="0">
              <a:buNone/>
            </a:pP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Se o dev 'sumir' ou o ambiente for destruído, é só rodar o pipeline. Tudo está versionado.</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22:00 · EXERCÍCIO PRÁTICO (ALUNO)</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Suba a stack LGTM</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 explore logs e traces</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4.1 — Suba a stack LGTM</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lab/dia4 (Docker)</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~/labs/dia4</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up -d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Aguarda 30s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ps (espera ver 6 containers: grafana, prometheus, loki, tempo, promtail, alertmanager)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Acessa http://localhost:3000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Vai em Connections &gt; Data sources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Confirma 4 datasources: Prometheus, Loki, Tempo, Alertmanager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Clica em 'Test' em cada um. Todos devem estar 'working'</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Vai em Explore (G+E) e troca o datasource entre os 4. Faça uma query em cada</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4.2 — Crie um dashboard com correlação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Dashboard multi-datasource (métricas + logs)</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Dashboards &gt; New &gt; Add visualization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1 — TIME SERIES (Prometheus): rate(node_cpu_seconds_total[1m])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2 — LOGS (Loki): {job="syslog"} (use o datasource Loki!)</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Painel 3 — STAT (Prometheus): count by(job) (up)</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Salve como 'Meu dashboard multi-stack'</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Vá no painel de métrica, clique com botão direito &gt; Investigate &gt; vai pro trace no Tempo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Vá no painel de log, clique numa linha, veja o contexto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Export o dashboard (Share &gt; Export &gt; Save to file)</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4.3 — Provisione seu dashboard</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File-based provisioning (GitOps style)</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Crie a pasta: mkdir -p /tmp/provisioning/dashboards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Mova o JSON exportado pra lá: cp meu-dashboard.json /tmp/provisioning/dashboards/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Crie /tmp/provisioning/dashboards.yml:</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apiVersion: 1</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providers: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 name: 'meus-dashboards'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orgId: 1</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folder: 'Provisionados'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type: file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options: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        path: /tmp/provisioning/dashboards</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Pare o Grafana: docker compose down grafana</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Suba de novo com o volume: docker compose up -d grafana (já tem o bind no compose)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Veja o dashboard aparecer em 'Provisionados'</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 NOITE 04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Você aprendeu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2743200"/>
          </a:xfrm>
          <a:prstGeom prst="roundRect">
            <a:avLst>
              <a:gd name="adj" fmla="val 2000"/>
            </a:avLst>
          </a:prstGeom>
          <a:solidFill>
            <a:srgbClr val="F0F7E0"/>
          </a:solidFill>
          <a:ln w="12700">
            <a:solidFill>
              <a:schemeClr val="accent2"/>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File-based provisioning</a:t>
            </a:r>
            <a:endParaRPr lang="en-US" sz="1400" dirty="0"/>
          </a:p>
        </p:txBody>
      </p:sp>
      <p:sp>
        <p:nvSpPr>
          <p:cNvPr id="13" name="Text 10"/>
          <p:cNvSpPr/>
          <p:nvPr/>
        </p:nvSpPr>
        <p:spPr>
          <a:xfrm>
            <a:off x="59436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Datasources, dashboards, alertas e plugins por arquivo YAML/JSON. GitOps ready.</a:t>
            </a:r>
            <a:endParaRPr lang="en-US" sz="1050" dirty="0"/>
          </a:p>
        </p:txBody>
      </p:sp>
      <p:sp>
        <p:nvSpPr>
          <p:cNvPr id="14" name="Shape 11"/>
          <p:cNvSpPr/>
          <p:nvPr/>
        </p:nvSpPr>
        <p:spPr>
          <a:xfrm>
            <a:off x="3413760" y="2011680"/>
            <a:ext cx="2773680" cy="2743200"/>
          </a:xfrm>
          <a:prstGeom prst="roundRect">
            <a:avLst>
              <a:gd name="adj" fmla="val 2000"/>
            </a:avLst>
          </a:prstGeom>
          <a:solidFill>
            <a:srgbClr val="F0F7E0"/>
          </a:solidFill>
          <a:ln w="12700">
            <a:solidFill>
              <a:schemeClr val="accent2"/>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Stack LGTM</a:t>
            </a:r>
            <a:endParaRPr lang="en-US" sz="1400" dirty="0"/>
          </a:p>
        </p:txBody>
      </p:sp>
      <p:sp>
        <p:nvSpPr>
          <p:cNvPr id="17" name="Text 14"/>
          <p:cNvSpPr/>
          <p:nvPr/>
        </p:nvSpPr>
        <p:spPr>
          <a:xfrm>
            <a:off x="355092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Loki (logs) + Grafana (visual) + Tempo (traces) + Mimir (métricas). Stack open source do Grafana Labs.</a:t>
            </a:r>
            <a:endParaRPr lang="en-US" sz="1050" dirty="0"/>
          </a:p>
        </p:txBody>
      </p:sp>
      <p:sp>
        <p:nvSpPr>
          <p:cNvPr id="18" name="Shape 15"/>
          <p:cNvSpPr/>
          <p:nvPr/>
        </p:nvSpPr>
        <p:spPr>
          <a:xfrm>
            <a:off x="6370320" y="2011680"/>
            <a:ext cx="2773680" cy="2743200"/>
          </a:xfrm>
          <a:prstGeom prst="roundRect">
            <a:avLst>
              <a:gd name="adj" fmla="val 2000"/>
            </a:avLst>
          </a:prstGeom>
          <a:solidFill>
            <a:srgbClr val="F0F7E0"/>
          </a:solidFill>
          <a:ln w="12700">
            <a:solidFill>
              <a:schemeClr val="accent2"/>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Plugins</a:t>
            </a:r>
            <a:endParaRPr lang="en-US" sz="1400" dirty="0"/>
          </a:p>
        </p:txBody>
      </p:sp>
      <p:sp>
        <p:nvSpPr>
          <p:cNvPr id="21" name="Text 18"/>
          <p:cNvSpPr/>
          <p:nvPr/>
        </p:nvSpPr>
        <p:spPr>
          <a:xfrm>
            <a:off x="6507480" y="2697480"/>
            <a:ext cx="2499360" cy="20116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grafana-cli install, 500+ plugins disponíveis. Zabbix, MySQL, Infinity, AWS, Azure, GCP, etc.</a:t>
            </a:r>
            <a:endParaRPr lang="en-US" sz="1050" dirty="0"/>
          </a:p>
        </p:txBody>
      </p:sp>
      <p:sp>
        <p:nvSpPr>
          <p:cNvPr id="22" name="Shape 19"/>
          <p:cNvSpPr/>
          <p:nvPr/>
        </p:nvSpPr>
        <p:spPr>
          <a:xfrm>
            <a:off x="457200" y="4937760"/>
            <a:ext cx="8686800" cy="1280160"/>
          </a:xfrm>
          <a:prstGeom prst="roundRect">
            <a:avLst>
              <a:gd name="adj" fmla="val 5714"/>
            </a:avLst>
          </a:prstGeom>
          <a:solidFill>
            <a:schemeClr val="accent1"/>
          </a:solidFill>
          <a:ln w="12700">
            <a:solidFill>
              <a:schemeClr val="accent1"/>
            </a:solidFill>
            <a:prstDash val="solid"/>
          </a:ln>
        </p:spPr>
      </p:sp>
      <p:sp>
        <p:nvSpPr>
          <p:cNvPr id="23" name="Text 20"/>
          <p:cNvSpPr/>
          <p:nvPr/>
        </p:nvSpPr>
        <p:spPr>
          <a:xfrm>
            <a:off x="685800" y="5074920"/>
            <a:ext cx="8229600" cy="100584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PRÓXIMA NOITE (Noite 05 — última!): Grafana Cloud, caso real de troubleshooting end-to-end (métrica + log + trace), o que estudar depois do curso, e encerramento com coffee break.</a:t>
            </a:r>
            <a:endParaRPr lang="en-US" sz="1300" dirty="0"/>
          </a:p>
        </p:txBody>
      </p:sp>
      <p:pic>
        <p:nvPicPr>
          <p:cNvPr id="2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5" name="Text 2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6" name="Text 2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NOITE 05</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Grafana Cloud, caso real</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e encerramento</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REVISÃO RÁPIDA</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vimos na Noite 04</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411480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File-based provisioning completo: datasource, dashboard, alerting, plugins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Loki: logs estruturados com LogQL (indexa só labels)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Tempo: traces distribuídos, correlação com métricas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Stack LGTM: a stack open source do Grafana Labs</a:t>
            </a:r>
            <a:endParaRPr lang="en-US" sz="1500" dirty="0"/>
          </a:p>
          <a:p>
            <a:pPr marL="342900" indent="-342900">
              <a:spcAft>
                <a:spcPts val="600"/>
              </a:spcAft>
              <a:buSzPct val="100000"/>
              <a:buChar char="■"/>
            </a:pPr>
            <a:r>
              <a:rPr lang="en-US" sz="1500" dirty="0">
                <a:solidFill>
                  <a:srgbClr val="000000"/>
                </a:solidFill>
                <a:latin typeface="Trebuchet MS" pitchFamily="34" charset="0"/>
                <a:ea typeface="Trebuchet MS" pitchFamily="34" charset="-122"/>
                <a:cs typeface="Trebuchet MS" pitchFamily="34" charset="-120"/>
              </a:rPr>
              <a:t>Demo: subiu lab/dia4, viu correlação métrica+log+trace, instalou plugin Infinity</a:t>
            </a:r>
            <a:endParaRPr lang="en-US" sz="1500" dirty="0"/>
          </a:p>
        </p:txBody>
      </p:sp>
      <p:pic>
        <p:nvPicPr>
          <p:cNvPr id="11"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2" name="Text 8"/>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3" name="Text 9"/>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PROGRAMA DA NOITE 05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vamos ver hoje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1223010" y="2011680"/>
            <a:ext cx="640080" cy="640080"/>
          </a:xfrm>
          <a:prstGeom prst="ellipse">
            <a:avLst/>
          </a:prstGeom>
          <a:solidFill>
            <a:schemeClr val="accent1"/>
          </a:solidFill>
          <a:ln w="25400">
            <a:solidFill>
              <a:schemeClr val="accent2"/>
            </a:solidFill>
            <a:prstDash val="solid"/>
          </a:ln>
        </p:spPr>
      </p:sp>
      <p:sp>
        <p:nvSpPr>
          <p:cNvPr id="11" name="Text 8"/>
          <p:cNvSpPr/>
          <p:nvPr/>
        </p:nvSpPr>
        <p:spPr>
          <a:xfrm>
            <a:off x="12230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1</a:t>
            </a:r>
            <a:endParaRPr lang="en-US" sz="2200" dirty="0"/>
          </a:p>
        </p:txBody>
      </p:sp>
      <p:sp>
        <p:nvSpPr>
          <p:cNvPr id="12" name="Text 9"/>
          <p:cNvSpPr/>
          <p:nvPr/>
        </p:nvSpPr>
        <p:spPr>
          <a:xfrm>
            <a:off x="5029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Grafana Cloud</a:t>
            </a:r>
            <a:endParaRPr lang="en-US" sz="1200" dirty="0"/>
          </a:p>
        </p:txBody>
      </p:sp>
      <p:sp>
        <p:nvSpPr>
          <p:cNvPr id="13" name="Text 10"/>
          <p:cNvSpPr/>
          <p:nvPr/>
        </p:nvSpPr>
        <p:spPr>
          <a:xfrm>
            <a:off x="5029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Free tier, o que vem, quando usar, quando não</a:t>
            </a:r>
            <a:endParaRPr lang="en-US" sz="1000" dirty="0"/>
          </a:p>
        </p:txBody>
      </p:sp>
      <p:sp>
        <p:nvSpPr>
          <p:cNvPr id="14" name="Shape 11"/>
          <p:cNvSpPr/>
          <p:nvPr/>
        </p:nvSpPr>
        <p:spPr>
          <a:xfrm>
            <a:off x="3394710" y="2011680"/>
            <a:ext cx="640080" cy="640080"/>
          </a:xfrm>
          <a:prstGeom prst="ellipse">
            <a:avLst/>
          </a:prstGeom>
          <a:solidFill>
            <a:schemeClr val="accent1"/>
          </a:solidFill>
          <a:ln w="25400">
            <a:solidFill>
              <a:schemeClr val="accent2"/>
            </a:solidFill>
            <a:prstDash val="solid"/>
          </a:ln>
        </p:spPr>
      </p:sp>
      <p:sp>
        <p:nvSpPr>
          <p:cNvPr id="15" name="Text 12"/>
          <p:cNvSpPr/>
          <p:nvPr/>
        </p:nvSpPr>
        <p:spPr>
          <a:xfrm>
            <a:off x="33947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2</a:t>
            </a:r>
            <a:endParaRPr lang="en-US" sz="2200" dirty="0"/>
          </a:p>
        </p:txBody>
      </p:sp>
      <p:sp>
        <p:nvSpPr>
          <p:cNvPr id="16" name="Text 13"/>
          <p:cNvSpPr/>
          <p:nvPr/>
        </p:nvSpPr>
        <p:spPr>
          <a:xfrm>
            <a:off x="26746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Caso real</a:t>
            </a:r>
            <a:endParaRPr lang="en-US" sz="1200" dirty="0"/>
          </a:p>
        </p:txBody>
      </p:sp>
      <p:sp>
        <p:nvSpPr>
          <p:cNvPr id="17" name="Text 14"/>
          <p:cNvSpPr/>
          <p:nvPr/>
        </p:nvSpPr>
        <p:spPr>
          <a:xfrm>
            <a:off x="26746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Troubleshooting end-to-end de uma app com bug</a:t>
            </a:r>
            <a:endParaRPr lang="en-US" sz="1000" dirty="0"/>
          </a:p>
        </p:txBody>
      </p:sp>
      <p:sp>
        <p:nvSpPr>
          <p:cNvPr id="18" name="Shape 15"/>
          <p:cNvSpPr/>
          <p:nvPr/>
        </p:nvSpPr>
        <p:spPr>
          <a:xfrm>
            <a:off x="5566410" y="2011680"/>
            <a:ext cx="640080" cy="640080"/>
          </a:xfrm>
          <a:prstGeom prst="ellipse">
            <a:avLst/>
          </a:prstGeom>
          <a:solidFill>
            <a:schemeClr val="accent1"/>
          </a:solidFill>
          <a:ln w="25400">
            <a:solidFill>
              <a:schemeClr val="accent2"/>
            </a:solidFill>
            <a:prstDash val="solid"/>
          </a:ln>
        </p:spPr>
      </p:sp>
      <p:sp>
        <p:nvSpPr>
          <p:cNvPr id="19" name="Text 16"/>
          <p:cNvSpPr/>
          <p:nvPr/>
        </p:nvSpPr>
        <p:spPr>
          <a:xfrm>
            <a:off x="55664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3</a:t>
            </a:r>
            <a:endParaRPr lang="en-US" sz="2200" dirty="0"/>
          </a:p>
        </p:txBody>
      </p:sp>
      <p:sp>
        <p:nvSpPr>
          <p:cNvPr id="20" name="Text 17"/>
          <p:cNvSpPr/>
          <p:nvPr/>
        </p:nvSpPr>
        <p:spPr>
          <a:xfrm>
            <a:off x="48463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O que estudar</a:t>
            </a:r>
            <a:endParaRPr lang="en-US" sz="1200" dirty="0"/>
          </a:p>
        </p:txBody>
      </p:sp>
      <p:sp>
        <p:nvSpPr>
          <p:cNvPr id="21" name="Text 18"/>
          <p:cNvSpPr/>
          <p:nvPr/>
        </p:nvSpPr>
        <p:spPr>
          <a:xfrm>
            <a:off x="48463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Caminho depois do curso: cert, leitura, prática</a:t>
            </a:r>
            <a:endParaRPr lang="en-US" sz="1000" dirty="0"/>
          </a:p>
        </p:txBody>
      </p:sp>
      <p:sp>
        <p:nvSpPr>
          <p:cNvPr id="22" name="Shape 19"/>
          <p:cNvSpPr/>
          <p:nvPr/>
        </p:nvSpPr>
        <p:spPr>
          <a:xfrm>
            <a:off x="7738110" y="2011680"/>
            <a:ext cx="640080" cy="640080"/>
          </a:xfrm>
          <a:prstGeom prst="ellipse">
            <a:avLst/>
          </a:prstGeom>
          <a:solidFill>
            <a:schemeClr val="accent1"/>
          </a:solidFill>
          <a:ln w="25400">
            <a:solidFill>
              <a:schemeClr val="accent2"/>
            </a:solidFill>
            <a:prstDash val="solid"/>
          </a:ln>
        </p:spPr>
      </p:sp>
      <p:sp>
        <p:nvSpPr>
          <p:cNvPr id="23" name="Text 20"/>
          <p:cNvSpPr/>
          <p:nvPr/>
        </p:nvSpPr>
        <p:spPr>
          <a:xfrm>
            <a:off x="7738110" y="2011680"/>
            <a:ext cx="640080" cy="640080"/>
          </a:xfrm>
          <a:prstGeom prst="rect">
            <a:avLst/>
          </a:prstGeom>
          <a:noFill/>
          <a:ln/>
        </p:spPr>
        <p:txBody>
          <a:bodyPr wrap="square" rtlCol="0" anchor="ctr"/>
          <a:lstStyle/>
          <a:p>
            <a:pPr algn="ctr" indent="0" marL="0">
              <a:buNone/>
            </a:pPr>
            <a:r>
              <a:rPr lang="en-US" sz="2200" b="1" dirty="0">
                <a:solidFill>
                  <a:srgbClr val="000000"/>
                </a:solidFill>
                <a:latin typeface="Trebuchet MS" pitchFamily="34" charset="0"/>
                <a:ea typeface="Trebuchet MS" pitchFamily="34" charset="-122"/>
                <a:cs typeface="Trebuchet MS" pitchFamily="34" charset="-120"/>
              </a:rPr>
              <a:t>4</a:t>
            </a:r>
            <a:endParaRPr lang="en-US" sz="2200" dirty="0"/>
          </a:p>
        </p:txBody>
      </p:sp>
      <p:sp>
        <p:nvSpPr>
          <p:cNvPr id="24" name="Text 21"/>
          <p:cNvSpPr/>
          <p:nvPr/>
        </p:nvSpPr>
        <p:spPr>
          <a:xfrm>
            <a:off x="7018020" y="2788920"/>
            <a:ext cx="2080260" cy="365760"/>
          </a:xfrm>
          <a:prstGeom prst="rect">
            <a:avLst/>
          </a:prstGeom>
          <a:noFill/>
          <a:ln/>
        </p:spPr>
        <p:txBody>
          <a:bodyPr wrap="square" rtlCol="0" anchor="ctr"/>
          <a:lstStyle/>
          <a:p>
            <a:pPr algn="ctr" indent="0" marL="0">
              <a:buNone/>
            </a:pPr>
            <a:r>
              <a:rPr lang="en-US" sz="1200" b="1" dirty="0">
                <a:solidFill>
                  <a:schemeClr val="accent2"/>
                </a:solidFill>
                <a:latin typeface="Trebuchet MS" pitchFamily="34" charset="0"/>
                <a:ea typeface="Trebuchet MS" pitchFamily="34" charset="-122"/>
                <a:cs typeface="Trebuchet MS" pitchFamily="34" charset="-120"/>
              </a:rPr>
              <a:t>Encerramento</a:t>
            </a:r>
            <a:endParaRPr lang="en-US" sz="1200" dirty="0"/>
          </a:p>
        </p:txBody>
      </p:sp>
      <p:sp>
        <p:nvSpPr>
          <p:cNvPr id="25" name="Text 22"/>
          <p:cNvSpPr/>
          <p:nvPr/>
        </p:nvSpPr>
        <p:spPr>
          <a:xfrm>
            <a:off x="7018020" y="3200400"/>
            <a:ext cx="2080260" cy="1371600"/>
          </a:xfrm>
          <a:prstGeom prst="rect">
            <a:avLst/>
          </a:prstGeom>
          <a:noFill/>
          <a:ln/>
        </p:spPr>
        <p:txBody>
          <a:bodyPr wrap="square" rtlCol="0" anchor="t"/>
          <a:lstStyle/>
          <a:p>
            <a:pPr algn="ctr" indent="0" marL="0">
              <a:buNone/>
            </a:pPr>
            <a:r>
              <a:rPr lang="en-US" sz="1000" dirty="0">
                <a:solidFill>
                  <a:srgbClr val="000000"/>
                </a:solidFill>
                <a:latin typeface="Trebuchet MS" pitchFamily="34" charset="0"/>
                <a:ea typeface="Trebuchet MS" pitchFamily="34" charset="-122"/>
                <a:cs typeface="Trebuchet MS" pitchFamily="34" charset="-120"/>
              </a:rPr>
              <a:t>Coffee break + Q&amp;A + avaliação</a:t>
            </a:r>
            <a:endParaRPr lang="en-US" sz="100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5.1</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Grafana Cloud: o SaaS oficial</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O que é</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 + Prometheus + Loki + Tempo + Mimir + Pyroscope gerenciados. Você não opera nada, só usa.</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Free tier</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10k séries Prometheus, 50GB logs, 50GB traces, 50GB profiles, 3 usuários. Generoso pra estudar e pra projetos pequenos.</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Preço</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Pay-as-you-go após o free tier. ~$8 por 1k séries ativas. $0.50/GB logs. $0.50/GB traces.</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Quando usar</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Não quer operar Prometheus/Loki. Quer começar em 5min. Tem &lt; 1M séries. Startup, projeto novo, MVP.</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5.2</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Cloud vs Self-hosted: como decidir</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773680" cy="4114800"/>
          </a:xfrm>
          <a:prstGeom prst="roundRect">
            <a:avLst>
              <a:gd name="adj" fmla="val 1978"/>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OSS (self-hosted)</a:t>
            </a:r>
            <a:endParaRPr lang="en-US" sz="1400" dirty="0"/>
          </a:p>
        </p:txBody>
      </p:sp>
      <p:sp>
        <p:nvSpPr>
          <p:cNvPr id="13" name="Text 10"/>
          <p:cNvSpPr/>
          <p:nvPr/>
        </p:nvSpPr>
        <p:spPr>
          <a:xfrm>
            <a:off x="59436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Custo inicial zero. Você opera tudo. Sem lock-in. Sem dependência de vendor. Ideal pra: on-prem obrigatório, dados sensíveis (LGPD, PCI), quem tem time de infra.</a:t>
            </a:r>
            <a:endParaRPr lang="en-US" sz="1050" dirty="0"/>
          </a:p>
        </p:txBody>
      </p:sp>
      <p:sp>
        <p:nvSpPr>
          <p:cNvPr id="14" name="Shape 11"/>
          <p:cNvSpPr/>
          <p:nvPr/>
        </p:nvSpPr>
        <p:spPr>
          <a:xfrm>
            <a:off x="3413760" y="2011680"/>
            <a:ext cx="2773680" cy="4114800"/>
          </a:xfrm>
          <a:prstGeom prst="roundRect">
            <a:avLst>
              <a:gd name="adj" fmla="val 1978"/>
            </a:avLst>
          </a:prstGeom>
          <a:solidFill>
            <a:srgbClr val="000000"/>
          </a:solidFill>
          <a:ln w="12700">
            <a:solidFill>
              <a:schemeClr val="accent1"/>
            </a:solidFill>
            <a:prstDash val="solid"/>
          </a:ln>
        </p:spPr>
      </p:sp>
      <p:sp>
        <p:nvSpPr>
          <p:cNvPr id="15" name="Text 12"/>
          <p:cNvSpPr/>
          <p:nvPr/>
        </p:nvSpPr>
        <p:spPr>
          <a:xfrm>
            <a:off x="35509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414528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Cloud</a:t>
            </a:r>
            <a:endParaRPr lang="en-US" sz="1400" dirty="0"/>
          </a:p>
        </p:txBody>
      </p:sp>
      <p:sp>
        <p:nvSpPr>
          <p:cNvPr id="17" name="Text 14"/>
          <p:cNvSpPr/>
          <p:nvPr/>
        </p:nvSpPr>
        <p:spPr>
          <a:xfrm>
            <a:off x="355092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Free tier generoso (10k séries, 50GB logs, 50GB traces). Vendor opera. Pay-as-you-go. Lock-in médio. Ideal pra: startups, MVP, projeto novo, quem não quer operar.</a:t>
            </a:r>
            <a:endParaRPr lang="en-US" sz="1050" dirty="0"/>
          </a:p>
        </p:txBody>
      </p:sp>
      <p:sp>
        <p:nvSpPr>
          <p:cNvPr id="18" name="Shape 15"/>
          <p:cNvSpPr/>
          <p:nvPr/>
        </p:nvSpPr>
        <p:spPr>
          <a:xfrm>
            <a:off x="6370320" y="2011680"/>
            <a:ext cx="2773680" cy="4114800"/>
          </a:xfrm>
          <a:prstGeom prst="roundRect">
            <a:avLst>
              <a:gd name="adj" fmla="val 1978"/>
            </a:avLst>
          </a:prstGeom>
          <a:solidFill>
            <a:srgbClr val="000000"/>
          </a:solidFill>
          <a:ln w="12700">
            <a:solidFill>
              <a:schemeClr val="accent1"/>
            </a:solidFill>
            <a:prstDash val="solid"/>
          </a:ln>
        </p:spPr>
      </p:sp>
      <p:sp>
        <p:nvSpPr>
          <p:cNvPr id="19" name="Text 16"/>
          <p:cNvSpPr/>
          <p:nvPr/>
        </p:nvSpPr>
        <p:spPr>
          <a:xfrm>
            <a:off x="65074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7101840" y="2148840"/>
            <a:ext cx="190500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Enterprise</a:t>
            </a:r>
            <a:endParaRPr lang="en-US" sz="1400" dirty="0"/>
          </a:p>
        </p:txBody>
      </p:sp>
      <p:sp>
        <p:nvSpPr>
          <p:cNvPr id="21" name="Text 18"/>
          <p:cNvSpPr/>
          <p:nvPr/>
        </p:nvSpPr>
        <p:spPr>
          <a:xfrm>
            <a:off x="6507480" y="2697480"/>
            <a:ext cx="249936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Licença comercial. Self-hosted com features enterprise: RBAC, audit log, reports, multi-tenant. Suporte oficial. Ideal pra: empresas médias/grandes com budget e compliance.</a:t>
            </a:r>
            <a:endParaRPr lang="en-US" sz="1050" dirty="0"/>
          </a:p>
        </p:txBody>
      </p:sp>
      <p:pic>
        <p:nvPicPr>
          <p:cNvPr id="2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3" name="Text 1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4" name="Text 2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CONCEITO 5.3</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Mandando métricas pra Grafana Cloud</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5F5F5"/>
          </a:solidFill>
          <a:ln w="12700">
            <a:solidFill>
              <a:srgbClr val="D1D5DB"/>
            </a:solidFill>
            <a:prstDash val="solid"/>
          </a:ln>
        </p:spPr>
      </p:sp>
      <p:sp>
        <p:nvSpPr>
          <p:cNvPr id="11" name="Shape 8"/>
          <p:cNvSpPr/>
          <p:nvPr/>
        </p:nvSpPr>
        <p:spPr>
          <a:xfrm>
            <a:off x="457200" y="2011680"/>
            <a:ext cx="73152" cy="4114800"/>
          </a:xfrm>
          <a:prstGeom prst="rect">
            <a:avLst/>
          </a:prstGeom>
          <a:solidFill>
            <a:schemeClr val="accent1"/>
          </a:solidFill>
          <a:ln w="12700">
            <a:solidFill>
              <a:schemeClr val="accent1"/>
            </a:solidFill>
            <a:prstDash val="solid"/>
          </a:ln>
        </p:spPr>
      </p:sp>
      <p:sp>
        <p:nvSpPr>
          <p:cNvPr id="12" name="Shape 9"/>
          <p:cNvSpPr/>
          <p:nvPr/>
        </p:nvSpPr>
        <p:spPr>
          <a:xfrm>
            <a:off x="457200" y="2011680"/>
            <a:ext cx="8686800" cy="274320"/>
          </a:xfrm>
          <a:prstGeom prst="rect">
            <a:avLst/>
          </a:prstGeom>
          <a:solidFill>
            <a:srgbClr val="2C3C43"/>
          </a:solidFill>
          <a:ln w="12700">
            <a:solidFill>
              <a:srgbClr val="2C3C43"/>
            </a:solidFill>
            <a:prstDash val="solid"/>
          </a:ln>
        </p:spPr>
      </p:sp>
      <p:sp>
        <p:nvSpPr>
          <p:cNvPr id="13" name="Text 10"/>
          <p:cNvSpPr/>
          <p:nvPr/>
        </p:nvSpPr>
        <p:spPr>
          <a:xfrm>
            <a:off x="640080" y="202996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prometheus.yml (remote_write)</a:t>
            </a:r>
            <a:endParaRPr lang="en-US" sz="1000" dirty="0"/>
          </a:p>
        </p:txBody>
      </p:sp>
      <p:sp>
        <p:nvSpPr>
          <p:cNvPr id="14" name="Text 11"/>
          <p:cNvSpPr/>
          <p:nvPr/>
        </p:nvSpPr>
        <p:spPr>
          <a:xfrm>
            <a:off x="640080" y="2359152"/>
            <a:ext cx="8412480" cy="37033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 1. Crie uma conta em grafana.com (free)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2. Crie um stack em grafana.com/orgs/&lt;id&gt;/stacks/new</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3. Copie o 'Remote Write Endpoint' e a 'API Key'</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4. Adicione no seu prometheus.yml:</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global:</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external_labels: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cluster: meu-cluster</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remote_write:</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url: https://prometheus-prod-01-prod-us-central-0.grafana.net/api/prom/push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basic_auth:</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username: &lt;instance_id&gt;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password: &lt;api_key&gt;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 Envia um batch a cada 30s (default)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5. Reinicie o Prometheus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6. Na Grafana Cloud, vá em Explore &gt; Prometheus, query qualquer métrica</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7. Funciona. Sem lock-in: as métricas também ficam no seu Prometheus local.</a:t>
            </a:r>
            <a:endParaRPr lang="en-US" sz="12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CASO REAL 5.4</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Caso real: app lenta em produção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i="1" dirty="0">
                <a:solidFill>
                  <a:schemeClr val="accent2"/>
                </a:solidFill>
                <a:latin typeface="Trebuchet MS" pitchFamily="34" charset="0"/>
                <a:ea typeface="Trebuchet MS" pitchFamily="34" charset="-122"/>
                <a:cs typeface="Trebuchet MS" pitchFamily="34" charset="-120"/>
              </a:rPr>
              <a:t>Terça-feira, 10h da manhã. PagerDuty toca. 'Latência da API em /checkout acima de 2s'. Onde está o problema?</a:t>
            </a:r>
            <a:endParaRPr lang="en-US" sz="1400" dirty="0"/>
          </a:p>
        </p:txBody>
      </p:sp>
      <p:sp>
        <p:nvSpPr>
          <p:cNvPr id="11" name="Text 8"/>
          <p:cNvSpPr/>
          <p:nvPr/>
        </p:nvSpPr>
        <p:spPr>
          <a:xfrm>
            <a:off x="457200" y="2651760"/>
            <a:ext cx="8686800" cy="36576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10:05 — recebe alerta, abre o Grafana, vai no dashboard de API</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10:06 — vê que p99 do endpoint /checkout saltou de 200ms para 3.2s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10:07 — CPU do server está em 45%. NÃO é CPU</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10:08 — abre painel de logs (Loki) filtrando por 'error' e 'checkout'</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10:09 — acha: 'FATAL: too many connections for role "app"' (Postgres)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10:10 — vai pro Tempo, busca traces do /checkout, vê span 'query-db' 2.8s</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10:12 — descobre que a query 'SELECT * FROM orders WHERE ...' está fazendo seq scan</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10:15 — cria índice: CREATE INDEX idx_orders_user ON orders(user_id)</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10:15 — latência volta para 180ms. POST-MORTEM marcado</a:t>
            </a:r>
            <a:endParaRPr lang="en-US" sz="1400" dirty="0"/>
          </a:p>
        </p:txBody>
      </p:sp>
      <p:pic>
        <p:nvPicPr>
          <p:cNvPr id="12"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3" name="Text 9"/>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4" name="Text 10"/>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PÓS-CURSO 5.5</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 que estudar depois do curso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2034540" cy="4114800"/>
          </a:xfrm>
          <a:prstGeom prst="roundRect">
            <a:avLst>
              <a:gd name="adj" fmla="val 2697"/>
            </a:avLst>
          </a:prstGeom>
          <a:solidFill>
            <a:srgbClr val="000000"/>
          </a:solidFill>
          <a:ln w="12700">
            <a:solidFill>
              <a:schemeClr val="accent1"/>
            </a:solidFill>
            <a:prstDash val="solid"/>
          </a:ln>
        </p:spPr>
      </p:sp>
      <p:sp>
        <p:nvSpPr>
          <p:cNvPr id="11" name="Text 8"/>
          <p:cNvSpPr/>
          <p:nvPr/>
        </p:nvSpPr>
        <p:spPr>
          <a:xfrm>
            <a:off x="59436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2" name="Text 9"/>
          <p:cNvSpPr/>
          <p:nvPr/>
        </p:nvSpPr>
        <p:spPr>
          <a:xfrm>
            <a:off x="118872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Certificação</a:t>
            </a:r>
            <a:endParaRPr lang="en-US" sz="1400" dirty="0"/>
          </a:p>
        </p:txBody>
      </p:sp>
      <p:sp>
        <p:nvSpPr>
          <p:cNvPr id="13" name="Text 10"/>
          <p:cNvSpPr/>
          <p:nvPr/>
        </p:nvSpPr>
        <p:spPr>
          <a:xfrm>
            <a:off x="59436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 Certified Observability Associate (gratuita). https://grafana.com/certifications/. Cobre Grafana, Prometheus, Loki, Tempo.</a:t>
            </a:r>
            <a:endParaRPr lang="en-US" sz="1050" dirty="0"/>
          </a:p>
        </p:txBody>
      </p:sp>
      <p:sp>
        <p:nvSpPr>
          <p:cNvPr id="14" name="Shape 11"/>
          <p:cNvSpPr/>
          <p:nvPr/>
        </p:nvSpPr>
        <p:spPr>
          <a:xfrm>
            <a:off x="2674620" y="2011680"/>
            <a:ext cx="2034540" cy="4114800"/>
          </a:xfrm>
          <a:prstGeom prst="roundRect">
            <a:avLst>
              <a:gd name="adj" fmla="val 2697"/>
            </a:avLst>
          </a:prstGeom>
          <a:solidFill>
            <a:srgbClr val="000000"/>
          </a:solidFill>
          <a:ln w="12700">
            <a:solidFill>
              <a:schemeClr val="accent1"/>
            </a:solidFill>
            <a:prstDash val="solid"/>
          </a:ln>
        </p:spPr>
      </p:sp>
      <p:sp>
        <p:nvSpPr>
          <p:cNvPr id="15" name="Text 12"/>
          <p:cNvSpPr/>
          <p:nvPr/>
        </p:nvSpPr>
        <p:spPr>
          <a:xfrm>
            <a:off x="281178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6" name="Text 13"/>
          <p:cNvSpPr/>
          <p:nvPr/>
        </p:nvSpPr>
        <p:spPr>
          <a:xfrm>
            <a:off x="340614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Hands-on</a:t>
            </a:r>
            <a:endParaRPr lang="en-US" sz="1400" dirty="0"/>
          </a:p>
        </p:txBody>
      </p:sp>
      <p:sp>
        <p:nvSpPr>
          <p:cNvPr id="17" name="Text 14"/>
          <p:cNvSpPr/>
          <p:nvPr/>
        </p:nvSpPr>
        <p:spPr>
          <a:xfrm>
            <a:off x="281178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Suba a stack LGTM no seu homelab (Raspberry Pi serve!). Crie dashboards para os seus próprios serviços. Contribua com dashboards públicos.</a:t>
            </a:r>
            <a:endParaRPr lang="en-US" sz="1050" dirty="0"/>
          </a:p>
        </p:txBody>
      </p:sp>
      <p:sp>
        <p:nvSpPr>
          <p:cNvPr id="18" name="Shape 15"/>
          <p:cNvSpPr/>
          <p:nvPr/>
        </p:nvSpPr>
        <p:spPr>
          <a:xfrm>
            <a:off x="4892040" y="2011680"/>
            <a:ext cx="2034540" cy="4114800"/>
          </a:xfrm>
          <a:prstGeom prst="roundRect">
            <a:avLst>
              <a:gd name="adj" fmla="val 2697"/>
            </a:avLst>
          </a:prstGeom>
          <a:solidFill>
            <a:srgbClr val="000000"/>
          </a:solidFill>
          <a:ln w="12700">
            <a:solidFill>
              <a:schemeClr val="accent1"/>
            </a:solidFill>
            <a:prstDash val="solid"/>
          </a:ln>
        </p:spPr>
      </p:sp>
      <p:sp>
        <p:nvSpPr>
          <p:cNvPr id="19" name="Text 16"/>
          <p:cNvSpPr/>
          <p:nvPr/>
        </p:nvSpPr>
        <p:spPr>
          <a:xfrm>
            <a:off x="502920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0" name="Text 17"/>
          <p:cNvSpPr/>
          <p:nvPr/>
        </p:nvSpPr>
        <p:spPr>
          <a:xfrm>
            <a:off x="562356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Comunidade</a:t>
            </a:r>
            <a:endParaRPr lang="en-US" sz="1400" dirty="0"/>
          </a:p>
        </p:txBody>
      </p:sp>
      <p:sp>
        <p:nvSpPr>
          <p:cNvPr id="21" name="Text 18"/>
          <p:cNvSpPr/>
          <p:nvPr/>
        </p:nvSpPr>
        <p:spPr>
          <a:xfrm>
            <a:off x="502920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 Community Slack (grátis, 30k+ membros). GrafanaCON (evento anual, gratuito online). Subreddit r/grafana.</a:t>
            </a:r>
            <a:endParaRPr lang="en-US" sz="1050" dirty="0"/>
          </a:p>
        </p:txBody>
      </p:sp>
      <p:sp>
        <p:nvSpPr>
          <p:cNvPr id="22" name="Shape 19"/>
          <p:cNvSpPr/>
          <p:nvPr/>
        </p:nvSpPr>
        <p:spPr>
          <a:xfrm>
            <a:off x="7109460" y="2011680"/>
            <a:ext cx="2034540" cy="4114800"/>
          </a:xfrm>
          <a:prstGeom prst="roundRect">
            <a:avLst>
              <a:gd name="adj" fmla="val 2697"/>
            </a:avLst>
          </a:prstGeom>
          <a:solidFill>
            <a:srgbClr val="000000"/>
          </a:solidFill>
          <a:ln w="12700">
            <a:solidFill>
              <a:schemeClr val="accent1"/>
            </a:solidFill>
            <a:prstDash val="solid"/>
          </a:ln>
        </p:spPr>
      </p:sp>
      <p:sp>
        <p:nvSpPr>
          <p:cNvPr id="23" name="Text 20"/>
          <p:cNvSpPr/>
          <p:nvPr/>
        </p:nvSpPr>
        <p:spPr>
          <a:xfrm>
            <a:off x="7246620" y="210312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4" name="Text 21"/>
          <p:cNvSpPr/>
          <p:nvPr/>
        </p:nvSpPr>
        <p:spPr>
          <a:xfrm>
            <a:off x="7840980" y="214884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Leitura</a:t>
            </a:r>
            <a:endParaRPr lang="en-US" sz="1400" dirty="0"/>
          </a:p>
        </p:txBody>
      </p:sp>
      <p:sp>
        <p:nvSpPr>
          <p:cNvPr id="25" name="Text 22"/>
          <p:cNvSpPr/>
          <p:nvPr/>
        </p:nvSpPr>
        <p:spPr>
          <a:xfrm>
            <a:off x="7246620" y="2697480"/>
            <a:ext cx="1760220" cy="338328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Livro 'Observability Engineering' (O'Reilly). Blog do Grafana (grafana.com/blog). YouTube do Grafana Labs. Newsletters: Cloudflare, Honeycomb.</a:t>
            </a:r>
            <a:endParaRPr lang="en-US" sz="1050" dirty="0"/>
          </a:p>
        </p:txBody>
      </p:sp>
      <p:pic>
        <p:nvPicPr>
          <p:cNvPr id="26"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7" name="Text 23"/>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8" name="Text 24"/>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3" name="Shape 0"/>
          <p:cNvSpPr/>
          <p:nvPr/>
        </p:nvSpPr>
        <p:spPr>
          <a:xfrm>
            <a:off x="0" y="0"/>
            <a:ext cx="841248" cy="5669280"/>
          </a:xfrm>
          <a:prstGeom prst="triangle">
            <a:avLst/>
          </a:prstGeom>
          <a:solidFill>
            <a:schemeClr val="accent1">
              <a:alpha val="90000"/>
            </a:schemeClr>
          </a:solidFill>
          <a:ln/>
        </p:spPr>
      </p:sp>
      <p:sp>
        <p:nvSpPr>
          <p:cNvPr id="4" name="Shape 1"/>
          <p:cNvSpPr/>
          <p:nvPr/>
        </p:nvSpPr>
        <p:spPr>
          <a:xfrm>
            <a:off x="8933688" y="3044952"/>
            <a:ext cx="3255264" cy="3813048"/>
          </a:xfrm>
          <a:prstGeom prst="triangle">
            <a:avLst/>
          </a:prstGeom>
          <a:solidFill>
            <a:schemeClr val="accent2">
              <a:alpha val="70000"/>
            </a:schemeClr>
          </a:solidFill>
          <a:ln/>
        </p:spPr>
      </p:sp>
      <p:sp>
        <p:nvSpPr>
          <p:cNvPr id="5" name="Shape 2"/>
          <p:cNvSpPr/>
          <p:nvPr/>
        </p:nvSpPr>
        <p:spPr>
          <a:xfrm>
            <a:off x="10369296" y="3593592"/>
            <a:ext cx="1819656" cy="3264408"/>
          </a:xfrm>
          <a:prstGeom prst="triangle">
            <a:avLst/>
          </a:prstGeom>
          <a:solidFill>
            <a:schemeClr val="accent2">
              <a:alpha val="90000"/>
            </a:schemeClr>
          </a:solidFill>
          <a:ln/>
        </p:spPr>
      </p:sp>
      <p:sp>
        <p:nvSpPr>
          <p:cNvPr id="6" name="Text 3"/>
          <p:cNvSpPr/>
          <p:nvPr/>
        </p:nvSpPr>
        <p:spPr>
          <a:xfrm>
            <a:off x="1280160" y="2286000"/>
            <a:ext cx="6858000" cy="457200"/>
          </a:xfrm>
          <a:prstGeom prst="rect">
            <a:avLst/>
          </a:prstGeom>
          <a:noFill/>
          <a:ln/>
        </p:spPr>
        <p:txBody>
          <a:bodyPr wrap="square" rtlCol="0" anchor="ctr"/>
          <a:lstStyle/>
          <a:p>
            <a:pPr indent="0" marL="0">
              <a:buNone/>
            </a:pPr>
            <a:r>
              <a:rPr lang="en-US" sz="1600" b="1" spc="800" kern="0" dirty="0">
                <a:solidFill>
                  <a:schemeClr val="accent1"/>
                </a:solidFill>
                <a:latin typeface="Trebuchet MS" pitchFamily="34" charset="0"/>
                <a:ea typeface="Trebuchet MS" pitchFamily="34" charset="-122"/>
                <a:cs typeface="Trebuchet MS" pitchFamily="34" charset="-120"/>
              </a:rPr>
              <a:t>21:00 · DEMO (AZURE) + LAB FINAL</a:t>
            </a:r>
            <a:endParaRPr lang="en-US" sz="1600" dirty="0"/>
          </a:p>
        </p:txBody>
      </p:sp>
      <p:sp>
        <p:nvSpPr>
          <p:cNvPr id="7" name="Text 4"/>
          <p:cNvSpPr/>
          <p:nvPr/>
        </p:nvSpPr>
        <p:spPr>
          <a:xfrm>
            <a:off x="1280160" y="2834640"/>
            <a:ext cx="6858000" cy="1828800"/>
          </a:xfrm>
          <a:prstGeom prst="rect">
            <a:avLst/>
          </a:prstGeom>
          <a:noFill/>
          <a:ln/>
        </p:spPr>
        <p:txBody>
          <a:bodyPr wrap="square" rtlCol="0" anchor="t"/>
          <a:lstStyle/>
          <a:p>
            <a:pPr indent="0" marL="0">
              <a:buNone/>
            </a:pPr>
            <a:r>
              <a:rPr lang="en-US" sz="4000" b="1" dirty="0">
                <a:solidFill>
                  <a:srgbClr val="000000"/>
                </a:solidFill>
                <a:latin typeface="Trebuchet MS" pitchFamily="34" charset="0"/>
                <a:ea typeface="Trebuchet MS" pitchFamily="34" charset="-122"/>
                <a:cs typeface="Trebuchet MS" pitchFamily="34" charset="-120"/>
              </a:rPr>
              <a:t>Reproduzindo o caso real</a:t>
            </a:r>
            <a:endParaRPr lang="en-US" sz="4000" dirty="0"/>
          </a:p>
          <a:p>
            <a:pPr indent="0" marL="0">
              <a:buNone/>
            </a:pPr>
            <a:r>
              <a:rPr lang="en-US" sz="4000" b="1" dirty="0">
                <a:solidFill>
                  <a:srgbClr val="000000"/>
                </a:solidFill>
                <a:latin typeface="Trebuchet MS" pitchFamily="34" charset="0"/>
                <a:ea typeface="Trebuchet MS" pitchFamily="34" charset="-122"/>
                <a:cs typeface="Trebuchet MS" pitchFamily="34" charset="-120"/>
              </a:rPr>
              <a:t>end-to-end</a:t>
            </a:r>
            <a:endParaRPr lang="en-US" sz="4000" dirty="0"/>
          </a:p>
        </p:txBody>
      </p:sp>
      <p:sp>
        <p:nvSpPr>
          <p:cNvPr id="8" name="Shape 5"/>
          <p:cNvSpPr/>
          <p:nvPr/>
        </p:nvSpPr>
        <p:spPr>
          <a:xfrm>
            <a:off x="1280160" y="4754880"/>
            <a:ext cx="1371600" cy="73152"/>
          </a:xfrm>
          <a:prstGeom prst="rect">
            <a:avLst/>
          </a:prstGeom>
          <a:solidFill>
            <a:schemeClr val="accent1"/>
          </a:solidFill>
          <a:ln w="12700">
            <a:solidFill>
              <a:schemeClr val="accent1"/>
            </a:solidFill>
            <a:prstDash val="solid"/>
          </a:ln>
        </p:spPr>
      </p:sp>
      <p:sp>
        <p:nvSpPr>
          <p:cNvPr id="9" name="Text 6"/>
          <p:cNvSpPr/>
          <p:nvPr/>
        </p:nvSpPr>
        <p:spPr>
          <a:xfrm>
            <a:off x="1280160" y="4937760"/>
            <a:ext cx="6858000" cy="365760"/>
          </a:xfrm>
          <a:prstGeom prst="rect">
            <a:avLst/>
          </a:prstGeom>
          <a:noFill/>
          <a:ln/>
        </p:spPr>
        <p:txBody>
          <a:bodyPr wrap="square" rtlCol="0" anchor="ctr"/>
          <a:lstStyle/>
          <a:p>
            <a:pPr indent="0" marL="0">
              <a:buNone/>
            </a:pPr>
            <a:r>
              <a:rPr lang="en-US" sz="1400" i="1" dirty="0">
                <a:solidFill>
                  <a:schemeClr val="accent3"/>
                </a:solidFill>
                <a:latin typeface="Trebuchet MS" pitchFamily="34" charset="0"/>
                <a:ea typeface="Trebuchet MS" pitchFamily="34" charset="-122"/>
                <a:cs typeface="Trebuchet MS" pitchFamily="34" charset="-120"/>
              </a:rPr>
              <a:t>Green Tecnologia · 5 noites · 20 horas</a:t>
            </a:r>
            <a:endParaRPr lang="en-US" sz="1400" dirty="0"/>
          </a:p>
        </p:txBody>
      </p:sp>
      <p:sp>
        <p:nvSpPr>
          <p:cNvPr id="10" name="Text 7"/>
          <p:cNvSpPr/>
          <p:nvPr/>
        </p:nvSpPr>
        <p:spPr>
          <a:xfrm>
            <a:off x="1280160" y="6400800"/>
            <a:ext cx="3657600" cy="274320"/>
          </a:xfrm>
          <a:prstGeom prst="rect">
            <a:avLst/>
          </a:prstGeom>
          <a:noFill/>
          <a:ln/>
        </p:spPr>
        <p:txBody>
          <a:bodyPr wrap="square" rtlCol="0" anchor="ctr"/>
          <a:lstStyle/>
          <a:p>
            <a:pPr indent="0" marL="0">
              <a:buNone/>
            </a:pPr>
            <a:r>
              <a:rPr lang="en-US" sz="1000" dirty="0">
                <a:solidFill>
                  <a:srgbClr val="000000"/>
                </a:solidFill>
                <a:latin typeface="Trebuchet MS" pitchFamily="34" charset="0"/>
                <a:ea typeface="Trebuchet MS" pitchFamily="34" charset="-122"/>
                <a:cs typeface="Trebuchet MS" pitchFamily="34" charset="-120"/>
              </a:rPr>
              <a:t>Slide undefined / 110</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FINAL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Reproduzindo o caso: app com bug</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app de demo com bug proposital</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Backend Python + Postgres + frontend web, instrumentado com OpenTelemetry</a:t>
            </a:r>
            <a:endParaRPr lang="en-US" sz="1200" dirty="0"/>
          </a:p>
        </p:txBody>
      </p:sp>
      <p:sp>
        <p:nvSpPr>
          <p:cNvPr id="13" name="Shape 10"/>
          <p:cNvSpPr/>
          <p:nvPr/>
        </p:nvSpPr>
        <p:spPr>
          <a:xfrm>
            <a:off x="457200" y="3657600"/>
            <a:ext cx="4114800" cy="2743200"/>
          </a:xfrm>
          <a:prstGeom prst="rect">
            <a:avLst/>
          </a:prstGeom>
          <a:solidFill>
            <a:srgbClr val="F0F7E0"/>
          </a:solidFill>
          <a:ln w="19050">
            <a:solidFill>
              <a:schemeClr val="accent2"/>
            </a:solidFill>
            <a:prstDash val="solid"/>
          </a:ln>
        </p:spPr>
      </p:sp>
      <p:sp>
        <p:nvSpPr>
          <p:cNvPr id="14" name="Shape 11"/>
          <p:cNvSpPr/>
          <p:nvPr/>
        </p:nvSpPr>
        <p:spPr>
          <a:xfrm>
            <a:off x="457200" y="3657600"/>
            <a:ext cx="137160" cy="2743200"/>
          </a:xfrm>
          <a:prstGeom prst="rect">
            <a:avLst/>
          </a:prstGeom>
          <a:solidFill>
            <a:schemeClr val="accent2"/>
          </a:solidFill>
          <a:ln w="12700">
            <a:solidFill>
              <a:schemeClr val="accent2"/>
            </a:solidFill>
            <a:prstDash val="solid"/>
          </a:ln>
        </p:spPr>
      </p:sp>
      <p:sp>
        <p:nvSpPr>
          <p:cNvPr id="15" name="Text 12"/>
          <p:cNvSpPr/>
          <p:nvPr/>
        </p:nvSpPr>
        <p:spPr>
          <a:xfrm>
            <a:off x="731520" y="3749040"/>
            <a:ext cx="3657600" cy="274320"/>
          </a:xfrm>
          <a:prstGeom prst="rect">
            <a:avLst/>
          </a:prstGeom>
          <a:noFill/>
          <a:ln/>
        </p:spPr>
        <p:txBody>
          <a:bodyPr wrap="square" rtlCol="0" anchor="ctr"/>
          <a:lstStyle/>
          <a:p>
            <a:pPr indent="0" marL="0">
              <a:buNone/>
            </a:pPr>
            <a:r>
              <a:rPr lang="en-US" sz="1000" b="1" spc="300" kern="0" dirty="0">
                <a:solidFill>
                  <a:schemeClr val="accent2"/>
                </a:solidFill>
                <a:latin typeface="Trebuchet MS" pitchFamily="34" charset="0"/>
                <a:ea typeface="Trebuchet MS" pitchFamily="34" charset="-122"/>
                <a:cs typeface="Trebuchet MS" pitchFamily="34" charset="-120"/>
              </a:rPr>
              <a:t>🖥️ PROFESSOR (Azure VM-A/B)</a:t>
            </a:r>
            <a:endParaRPr lang="en-US" sz="1000" dirty="0"/>
          </a:p>
        </p:txBody>
      </p:sp>
      <p:sp>
        <p:nvSpPr>
          <p:cNvPr id="16" name="Text 13"/>
          <p:cNvSpPr/>
          <p:nvPr/>
        </p:nvSpPr>
        <p:spPr>
          <a:xfrm>
            <a:off x="73152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Professor reproduz</a:t>
            </a:r>
            <a:endParaRPr lang="en-US" sz="1400" dirty="0"/>
          </a:p>
        </p:txBody>
      </p:sp>
      <p:sp>
        <p:nvSpPr>
          <p:cNvPr id="17" name="Text 14"/>
          <p:cNvSpPr/>
          <p:nvPr/>
        </p:nvSpPr>
        <p:spPr>
          <a:xfrm>
            <a:off x="73152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Sobe o stack com docker compose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o app no navegador, clica em /checkout 50x</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Vê a latência subir</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Investiga: métrica -&gt; log -&gt; trace</a:t>
            </a:r>
            <a:endParaRPr lang="en-US" sz="1100" dirty="0"/>
          </a:p>
        </p:txBody>
      </p:sp>
      <p:sp>
        <p:nvSpPr>
          <p:cNvPr id="18" name="Shape 15"/>
          <p:cNvSpPr/>
          <p:nvPr/>
        </p:nvSpPr>
        <p:spPr>
          <a:xfrm>
            <a:off x="4754880" y="3657600"/>
            <a:ext cx="4114800" cy="2743200"/>
          </a:xfrm>
          <a:prstGeom prst="rect">
            <a:avLst/>
          </a:prstGeom>
          <a:solidFill>
            <a:srgbClr val="FFF5E6"/>
          </a:solidFill>
          <a:ln w="19050">
            <a:solidFill>
              <a:schemeClr val="accent4"/>
            </a:solidFill>
            <a:prstDash val="solid"/>
          </a:ln>
        </p:spPr>
      </p:sp>
      <p:sp>
        <p:nvSpPr>
          <p:cNvPr id="19" name="Shape 16"/>
          <p:cNvSpPr/>
          <p:nvPr/>
        </p:nvSpPr>
        <p:spPr>
          <a:xfrm>
            <a:off x="4754880" y="3657600"/>
            <a:ext cx="137160" cy="2743200"/>
          </a:xfrm>
          <a:prstGeom prst="rect">
            <a:avLst/>
          </a:prstGeom>
          <a:solidFill>
            <a:schemeClr val="accent4"/>
          </a:solidFill>
          <a:ln w="12700">
            <a:solidFill>
              <a:schemeClr val="accent4"/>
            </a:solidFill>
            <a:prstDash val="solid"/>
          </a:ln>
        </p:spPr>
      </p:sp>
      <p:sp>
        <p:nvSpPr>
          <p:cNvPr id="20" name="Text 17"/>
          <p:cNvSpPr/>
          <p:nvPr/>
        </p:nvSpPr>
        <p:spPr>
          <a:xfrm>
            <a:off x="5029200" y="3749040"/>
            <a:ext cx="3657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ALUNO (Ubuntu local OU Docker)</a:t>
            </a:r>
            <a:endParaRPr lang="en-US" sz="1000" dirty="0"/>
          </a:p>
        </p:txBody>
      </p:sp>
      <p:sp>
        <p:nvSpPr>
          <p:cNvPr id="21" name="Text 18"/>
          <p:cNvSpPr/>
          <p:nvPr/>
        </p:nvSpPr>
        <p:spPr>
          <a:xfrm>
            <a:off x="5029200" y="4023360"/>
            <a:ext cx="3657600" cy="365760"/>
          </a:xfrm>
          <a:prstGeom prst="rect">
            <a:avLst/>
          </a:prstGeom>
          <a:noFill/>
          <a:ln/>
        </p:spPr>
        <p:txBody>
          <a:bodyPr wrap="square" rtlCol="0" anchor="ctr"/>
          <a:lstStyle/>
          <a:p>
            <a:pPr indent="0" marL="0">
              <a:buNone/>
            </a:pPr>
            <a:r>
              <a:rPr lang="en-US" sz="1400" b="1" dirty="0">
                <a:solidFill>
                  <a:srgbClr val="000000"/>
                </a:solidFill>
                <a:latin typeface="Trebuchet MS" pitchFamily="34" charset="0"/>
                <a:ea typeface="Trebuchet MS" pitchFamily="34" charset="-122"/>
                <a:cs typeface="Trebuchet MS" pitchFamily="34" charset="-120"/>
              </a:rPr>
              <a:t>Aluno acompanha</a:t>
            </a:r>
            <a:endParaRPr lang="en-US" sz="1400" dirty="0"/>
          </a:p>
        </p:txBody>
      </p:sp>
      <p:sp>
        <p:nvSpPr>
          <p:cNvPr id="22" name="Text 19"/>
          <p:cNvSpPr/>
          <p:nvPr/>
        </p:nvSpPr>
        <p:spPr>
          <a:xfrm>
            <a:off x="5029200" y="4434840"/>
            <a:ext cx="3657600" cy="18288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o mesmo app no notebook (lab/dia5)</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Clica em /checkout 50x (ou usa curl em loop)</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Abre Grafana, vai no dashboard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Tenta achar o problema seguindo os mesmos passos</a:t>
            </a:r>
            <a:endParaRPr lang="en-US" sz="1100" dirty="0"/>
          </a:p>
        </p:txBody>
      </p:sp>
      <p:pic>
        <p:nvPicPr>
          <p:cNvPr id="23"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4" name="Text 20"/>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5" name="Text 21"/>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FINAL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Investigando: métrica → log → trace</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Investigation workflow</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Navega entre painéis, clica em 'Investigate', pula entre as 3 camadas</a:t>
            </a:r>
            <a:endParaRPr lang="en-US" sz="1200" dirty="0"/>
          </a:p>
        </p:txBody>
      </p:sp>
      <p:sp>
        <p:nvSpPr>
          <p:cNvPr id="13" name="Shape 10"/>
          <p:cNvSpPr/>
          <p:nvPr/>
        </p:nvSpPr>
        <p:spPr>
          <a:xfrm>
            <a:off x="457200" y="3657600"/>
            <a:ext cx="8686800" cy="2560320"/>
          </a:xfrm>
          <a:prstGeom prst="roundRect">
            <a:avLst>
              <a:gd name="adj" fmla="val 2857"/>
            </a:avLst>
          </a:prstGeom>
          <a:solidFill>
            <a:schemeClr val="accent2"/>
          </a:solidFill>
          <a:ln w="12700">
            <a:solidFill>
              <a:schemeClr val="accent2"/>
            </a:solidFill>
            <a:prstDash val="solid"/>
          </a:ln>
        </p:spPr>
      </p:sp>
      <p:sp>
        <p:nvSpPr>
          <p:cNvPr id="14" name="Text 11"/>
          <p:cNvSpPr/>
          <p:nvPr/>
        </p:nvSpPr>
        <p:spPr>
          <a:xfrm>
            <a:off x="685800" y="3794760"/>
            <a:ext cx="8229600" cy="2286000"/>
          </a:xfrm>
          <a:prstGeom prst="rect">
            <a:avLst/>
          </a:prstGeom>
          <a:noFill/>
          <a:ln/>
        </p:spPr>
        <p:txBody>
          <a:bodyPr wrap="square" rtlCol="0" anchor="t"/>
          <a:lstStyle/>
          <a:p>
            <a:pPr algn="l" indent="0" marL="0">
              <a:buNone/>
            </a:pPr>
            <a:r>
              <a:rPr lang="en-US" sz="1300" dirty="0">
                <a:solidFill>
                  <a:srgbClr val="000000"/>
                </a:solidFill>
                <a:latin typeface="Trebuchet MS" pitchFamily="34" charset="0"/>
                <a:ea typeface="Trebuchet MS" pitchFamily="34" charset="-122"/>
                <a:cs typeface="Trebuchet MS" pitchFamily="34" charset="-120"/>
              </a:rPr>
              <a:t>WORKFLOW REAL DE SRE:</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1. Alerta toca: 'latência p99 do /checkout &gt; 2s'</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2. Dashboard de API (Prometheus): confirma o pico, mostra o horário exato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3. Logs (Loki): filtra por horário + endpoint + level=error</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4. Trace (Tempo): pega um trace desse horário, vê o span lento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5. Descobre: query SQL fazendo full table scan</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6. Ação: cria índice OU otimiza query OU escala banco</a:t>
            </a:r>
            <a:endParaRPr lang="en-US" sz="1300" dirty="0"/>
          </a:p>
          <a:p>
            <a:pPr algn="l" indent="0" marL="0">
              <a:buNone/>
            </a:pPr>
            <a:r>
              <a:rPr lang="en-US" sz="1300" dirty="0">
                <a:solidFill>
                  <a:srgbClr val="000000"/>
                </a:solidFill>
                <a:latin typeface="Trebuchet MS" pitchFamily="34" charset="0"/>
                <a:ea typeface="Trebuchet MS" pitchFamily="34" charset="-122"/>
                <a:cs typeface="Trebuchet MS" pitchFamily="34" charset="-120"/>
              </a:rPr>
              <a:t>7. Resolve. Documenta o post-mortem.</a:t>
            </a:r>
            <a:endParaRPr lang="en-US" sz="13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DEMO FINAL (21:00)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Anotando no dashboard (annotation)</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1463040"/>
          </a:xfrm>
          <a:prstGeom prst="roundRect">
            <a:avLst>
              <a:gd name="adj" fmla="val 5000"/>
            </a:avLst>
          </a:prstGeom>
          <a:solidFill>
            <a:srgbClr val="F0F7E0"/>
          </a:solidFill>
          <a:ln w="25400">
            <a:solidFill>
              <a:schemeClr val="accent2"/>
            </a:solidFill>
            <a:prstDash val="solid"/>
          </a:ln>
        </p:spPr>
      </p:sp>
      <p:sp>
        <p:nvSpPr>
          <p:cNvPr id="11" name="Text 8"/>
          <p:cNvSpPr/>
          <p:nvPr/>
        </p:nvSpPr>
        <p:spPr>
          <a:xfrm>
            <a:off x="640080" y="2103120"/>
            <a:ext cx="8321040" cy="365760"/>
          </a:xfrm>
          <a:prstGeom prst="rect">
            <a:avLst/>
          </a:prstGeom>
          <a:noFill/>
          <a:ln/>
        </p:spPr>
        <p:txBody>
          <a:bodyPr wrap="square" rtlCol="0" anchor="ctr"/>
          <a:lstStyle/>
          <a:p>
            <a:pPr indent="0" marL="0">
              <a:buNone/>
            </a:pPr>
            <a:r>
              <a:rPr lang="en-US" sz="1800" b="1" dirty="0">
                <a:solidFill>
                  <a:schemeClr val="accent2"/>
                </a:solidFill>
                <a:latin typeface="Trebuchet MS" pitchFamily="34" charset="0"/>
                <a:ea typeface="Trebuchet MS" pitchFamily="34" charset="-122"/>
                <a:cs typeface="Trebuchet MS" pitchFamily="34" charset="-120"/>
              </a:rPr>
              <a:t>📺 PROFESSOR (Azure VM-A) — Annotations</a:t>
            </a:r>
            <a:endParaRPr lang="en-US" sz="1800" dirty="0"/>
          </a:p>
        </p:txBody>
      </p:sp>
      <p:sp>
        <p:nvSpPr>
          <p:cNvPr id="12" name="Text 9"/>
          <p:cNvSpPr/>
          <p:nvPr/>
        </p:nvSpPr>
        <p:spPr>
          <a:xfrm>
            <a:off x="640080" y="2468880"/>
            <a:ext cx="8321040" cy="914400"/>
          </a:xfrm>
          <a:prstGeom prst="rect">
            <a:avLst/>
          </a:prstGeom>
          <a:noFill/>
          <a:ln/>
        </p:spPr>
        <p:txBody>
          <a:bodyPr wrap="square" rtlCol="0" anchor="ctr"/>
          <a:lstStyle/>
          <a:p>
            <a:pPr indent="0" marL="0">
              <a:buNone/>
            </a:pPr>
            <a:r>
              <a:rPr lang="en-US" sz="1200" i="1" dirty="0">
                <a:solidFill>
                  <a:srgbClr val="000000"/>
                </a:solidFill>
                <a:latin typeface="Trebuchet MS" pitchFamily="34" charset="0"/>
                <a:ea typeface="Trebuchet MS" pitchFamily="34" charset="-122"/>
                <a:cs typeface="Trebuchet MS" pitchFamily="34" charset="-120"/>
              </a:rPr>
              <a:t>Marca a hora do incidente e da resolução no gráfico de latência</a:t>
            </a:r>
            <a:endParaRPr lang="en-US" sz="1200" dirty="0"/>
          </a:p>
        </p:txBody>
      </p:sp>
      <p:sp>
        <p:nvSpPr>
          <p:cNvPr id="13" name="Shape 10"/>
          <p:cNvSpPr/>
          <p:nvPr/>
        </p:nvSpPr>
        <p:spPr>
          <a:xfrm>
            <a:off x="457200" y="3657600"/>
            <a:ext cx="8686800" cy="2743200"/>
          </a:xfrm>
          <a:prstGeom prst="rect">
            <a:avLst/>
          </a:prstGeom>
          <a:solidFill>
            <a:srgbClr val="F5F5F5"/>
          </a:solidFill>
          <a:ln w="12700">
            <a:solidFill>
              <a:srgbClr val="D1D5DB"/>
            </a:solidFill>
            <a:prstDash val="solid"/>
          </a:ln>
        </p:spPr>
      </p:sp>
      <p:sp>
        <p:nvSpPr>
          <p:cNvPr id="14" name="Shape 11"/>
          <p:cNvSpPr/>
          <p:nvPr/>
        </p:nvSpPr>
        <p:spPr>
          <a:xfrm>
            <a:off x="457200" y="3657600"/>
            <a:ext cx="73152" cy="2743200"/>
          </a:xfrm>
          <a:prstGeom prst="rect">
            <a:avLst/>
          </a:prstGeom>
          <a:solidFill>
            <a:schemeClr val="accent1"/>
          </a:solidFill>
          <a:ln w="12700">
            <a:solidFill>
              <a:schemeClr val="accent1"/>
            </a:solidFill>
            <a:prstDash val="solid"/>
          </a:ln>
        </p:spPr>
      </p:sp>
      <p:sp>
        <p:nvSpPr>
          <p:cNvPr id="15" name="Shape 12"/>
          <p:cNvSpPr/>
          <p:nvPr/>
        </p:nvSpPr>
        <p:spPr>
          <a:xfrm>
            <a:off x="457200" y="3657600"/>
            <a:ext cx="8686800" cy="274320"/>
          </a:xfrm>
          <a:prstGeom prst="rect">
            <a:avLst/>
          </a:prstGeom>
          <a:solidFill>
            <a:srgbClr val="2C3C43"/>
          </a:solidFill>
          <a:ln w="12700">
            <a:solidFill>
              <a:srgbClr val="2C3C43"/>
            </a:solidFill>
            <a:prstDash val="solid"/>
          </a:ln>
        </p:spPr>
      </p:sp>
      <p:sp>
        <p:nvSpPr>
          <p:cNvPr id="16" name="Text 13"/>
          <p:cNvSpPr/>
          <p:nvPr/>
        </p:nvSpPr>
        <p:spPr>
          <a:xfrm>
            <a:off x="640080" y="3675888"/>
            <a:ext cx="8412480" cy="237744"/>
          </a:xfrm>
          <a:prstGeom prst="rect">
            <a:avLst/>
          </a:prstGeom>
          <a:noFill/>
          <a:ln/>
        </p:spPr>
        <p:txBody>
          <a:bodyPr wrap="square"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annotations via API</a:t>
            </a:r>
            <a:endParaRPr lang="en-US" sz="1000" dirty="0"/>
          </a:p>
        </p:txBody>
      </p:sp>
      <p:sp>
        <p:nvSpPr>
          <p:cNvPr id="17" name="Text 14"/>
          <p:cNvSpPr/>
          <p:nvPr/>
        </p:nvSpPr>
        <p:spPr>
          <a:xfrm>
            <a:off x="640080" y="4005072"/>
            <a:ext cx="8412480" cy="2331720"/>
          </a:xfrm>
          <a:prstGeom prst="rect">
            <a:avLst/>
          </a:prstGeom>
          <a:noFill/>
          <a:ln/>
        </p:spPr>
        <p:txBody>
          <a:bodyPr wrap="square" rtlCol="0" anchor="t"/>
          <a:lstStyle/>
          <a:p>
            <a:pPr algn="l" indent="0" marL="0">
              <a:buNone/>
            </a:pPr>
            <a:r>
              <a:rPr lang="en-US" sz="1200" dirty="0">
                <a:solidFill>
                  <a:srgbClr val="000000"/>
                </a:solidFill>
                <a:latin typeface="Courier New" pitchFamily="34" charset="0"/>
                <a:ea typeface="Courier New" pitchFamily="34" charset="-122"/>
                <a:cs typeface="Courier New" pitchFamily="34" charset="-120"/>
              </a:rPr>
              <a:t>POST /api/annotations</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Content-Type: application/json</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Authorization: Basic &lt;admin:admin&gt;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"dashboardId": 1,</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"panelId": 2,</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"time": 1700000000000,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"timeEnd": 1700000600000,</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"tags": ["incident", "postmortem"],</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"text": "Latência alta no /checkout. Causa: query sem índice. Resolução: CREATE INDEX."</a:t>
            </a: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a:t>
            </a:r>
            <a:endParaRPr lang="en-US" sz="1200" dirty="0"/>
          </a:p>
          <a:p>
            <a:pPr algn="l" indent="0" marL="0">
              <a:buNone/>
            </a:pPr>
            <a:endParaRPr lang="en-US" sz="1200" dirty="0"/>
          </a:p>
          <a:p>
            <a:pPr algn="l" indent="0" marL="0">
              <a:buNone/>
            </a:pPr>
            <a:r>
              <a:rPr lang="en-US" sz="1200" dirty="0">
                <a:solidFill>
                  <a:srgbClr val="000000"/>
                </a:solidFill>
                <a:latin typeface="Courier New" pitchFamily="34" charset="0"/>
                <a:ea typeface="Courier New" pitchFamily="34" charset="-122"/>
                <a:cs typeface="Courier New" pitchFamily="34" charset="-120"/>
              </a:rPr>
              <a:t># Anotações aparecem como linhas verticais no gráfico, com tooltip.</a:t>
            </a:r>
            <a:endParaRPr lang="en-US" sz="1200" dirty="0"/>
          </a:p>
        </p:txBody>
      </p:sp>
      <p:pic>
        <p:nvPicPr>
          <p:cNvPr id="18"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9" name="Text 15"/>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0" name="Text 16"/>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5.1 — Reproduza o caso end-to-end</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Investigue o app de demo</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cd ~/labs/dia5</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docker compose up -d (sobe app + backend + stack LGTM)</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Abra http://localhost:8080 (app frontend)</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Faça 50 requests em /checkout: while true; do curl http://localhost:8080/checkout; done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Abra o Grafana em http://localhost:3000</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Vá no dashboard 'App Demo' (provisionado)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Identifique quando a latência subiu</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Siga o fluxo: métrica -&gt; log -&gt; trace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Tente achar a causa raiz em 5 minutos</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EXERCÍCIO (22:00 – 22:30)</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Lab 5.2 — Documente a solução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Shape 7"/>
          <p:cNvSpPr/>
          <p:nvPr/>
        </p:nvSpPr>
        <p:spPr>
          <a:xfrm>
            <a:off x="457200" y="2011680"/>
            <a:ext cx="8686800" cy="4114800"/>
          </a:xfrm>
          <a:prstGeom prst="rect">
            <a:avLst/>
          </a:prstGeom>
          <a:solidFill>
            <a:srgbClr val="FFF5E6"/>
          </a:solidFill>
          <a:ln w="19050">
            <a:solidFill>
              <a:schemeClr val="accent4"/>
            </a:solidFill>
            <a:prstDash val="solid"/>
          </a:ln>
        </p:spPr>
      </p:sp>
      <p:sp>
        <p:nvSpPr>
          <p:cNvPr id="11" name="Shape 8"/>
          <p:cNvSpPr/>
          <p:nvPr/>
        </p:nvSpPr>
        <p:spPr>
          <a:xfrm>
            <a:off x="457200" y="2011680"/>
            <a:ext cx="137160" cy="4114800"/>
          </a:xfrm>
          <a:prstGeom prst="rect">
            <a:avLst/>
          </a:prstGeom>
          <a:solidFill>
            <a:schemeClr val="accent4"/>
          </a:solidFill>
          <a:ln w="12700">
            <a:solidFill>
              <a:schemeClr val="accent4"/>
            </a:solidFill>
            <a:prstDash val="solid"/>
          </a:ln>
        </p:spPr>
      </p:sp>
      <p:sp>
        <p:nvSpPr>
          <p:cNvPr id="12" name="Text 9"/>
          <p:cNvSpPr/>
          <p:nvPr/>
        </p:nvSpPr>
        <p:spPr>
          <a:xfrm>
            <a:off x="731520" y="2103120"/>
            <a:ext cx="8229600" cy="274320"/>
          </a:xfrm>
          <a:prstGeom prst="rect">
            <a:avLst/>
          </a:prstGeom>
          <a:noFill/>
          <a:ln/>
        </p:spPr>
        <p:txBody>
          <a:bodyPr wrap="square" rtlCol="0" anchor="ctr"/>
          <a:lstStyle/>
          <a:p>
            <a:pPr indent="0" marL="0">
              <a:buNone/>
            </a:pPr>
            <a:r>
              <a:rPr lang="en-US" sz="1000" b="1" spc="300" kern="0" dirty="0">
                <a:solidFill>
                  <a:schemeClr val="accent4"/>
                </a:solidFill>
                <a:latin typeface="Trebuchet MS" pitchFamily="34" charset="0"/>
                <a:ea typeface="Trebuchet MS" pitchFamily="34" charset="-122"/>
                <a:cs typeface="Trebuchet MS" pitchFamily="34" charset="-120"/>
              </a:rPr>
              <a:t>🛠 EXERCÍCIO PRÁTICO (Aluno)</a:t>
            </a:r>
            <a:endParaRPr lang="en-US" sz="1000" dirty="0"/>
          </a:p>
        </p:txBody>
      </p:sp>
      <p:sp>
        <p:nvSpPr>
          <p:cNvPr id="13" name="Text 10"/>
          <p:cNvSpPr/>
          <p:nvPr/>
        </p:nvSpPr>
        <p:spPr>
          <a:xfrm>
            <a:off x="731520" y="2377440"/>
            <a:ext cx="8229600" cy="365760"/>
          </a:xfrm>
          <a:prstGeom prst="rect">
            <a:avLst/>
          </a:prstGeom>
          <a:noFill/>
          <a:ln/>
        </p:spPr>
        <p:txBody>
          <a:bodyPr wrap="square" rtlCol="0" anchor="ctr"/>
          <a:lstStyle/>
          <a:p>
            <a:pPr indent="0" marL="0">
              <a:buNone/>
            </a:pPr>
            <a:r>
              <a:rPr lang="en-US" sz="1500" b="1" dirty="0">
                <a:solidFill>
                  <a:srgbClr val="000000"/>
                </a:solidFill>
                <a:latin typeface="Trebuchet MS" pitchFamily="34" charset="0"/>
                <a:ea typeface="Trebuchet MS" pitchFamily="34" charset="-122"/>
                <a:cs typeface="Trebuchet MS" pitchFamily="34" charset="-120"/>
              </a:rPr>
              <a:t>Crie uma annotation + export seu dashboard final</a:t>
            </a:r>
            <a:endParaRPr lang="en-US" sz="1500" dirty="0"/>
          </a:p>
        </p:txBody>
      </p:sp>
      <p:sp>
        <p:nvSpPr>
          <p:cNvPr id="14" name="Text 11"/>
          <p:cNvSpPr/>
          <p:nvPr/>
        </p:nvSpPr>
        <p:spPr>
          <a:xfrm>
            <a:off x="731520" y="2788920"/>
            <a:ext cx="8229600" cy="3200400"/>
          </a:xfrm>
          <a:prstGeom prst="rect">
            <a:avLst/>
          </a:prstGeom>
          <a:noFill/>
          <a:ln/>
        </p:spPr>
        <p:txBody>
          <a:bodyPr wrap="square" rtlCol="0" anchor="t"/>
          <a:lstStyle/>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Vá no painel de latência do /checkout</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Botão direito no gráfico &gt; Add annotation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Tag: 'lab5-resolvido', Texto: descreva o que você achou</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Salve a annotation</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Exporte o dashboard completo (Share &gt; Export &gt; Save to file)</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Esse é SEU dashboard. Vai ser seu template pra usar no seu trabalho</a:t>
            </a:r>
            <a:endParaRPr lang="en-US" sz="1100" dirty="0"/>
          </a:p>
          <a:p>
            <a:pPr marL="342900" indent="-342900">
              <a:spcAft>
                <a:spcPts val="300"/>
              </a:spcAft>
              <a:buSzPct val="100000"/>
              <a:buFont typeface="+mj-lt"/>
              <a:buAutoNum type="arabicPeriod" startAt="1"/>
            </a:pPr>
            <a:r>
              <a:rPr lang="en-US" sz="1100" dirty="0">
                <a:solidFill>
                  <a:srgbClr val="000000"/>
                </a:solidFill>
                <a:latin typeface="Trebuchet MS" pitchFamily="34" charset="0"/>
                <a:ea typeface="Trebuchet MS" pitchFamily="34" charset="-122"/>
                <a:cs typeface="Trebuchet MS" pitchFamily="34" charset="-120"/>
              </a:rPr>
              <a:t>Salve também: as 5 queries PromQL/LogQL que você mais gostou</a:t>
            </a:r>
            <a:endParaRPr lang="en-US" sz="1100" dirty="0"/>
          </a:p>
        </p:txBody>
      </p:sp>
      <p:pic>
        <p:nvPicPr>
          <p:cNvPr id="15"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6" name="Text 12"/>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7" name="Text 13"/>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Q&amp;A — Dúvidas finais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600" i="1" dirty="0">
                <a:solidFill>
                  <a:schemeClr val="accent2"/>
                </a:solidFill>
                <a:latin typeface="Trebuchet MS" pitchFamily="34" charset="0"/>
                <a:ea typeface="Trebuchet MS" pitchFamily="34" charset="-122"/>
                <a:cs typeface="Trebuchet MS" pitchFamily="34" charset="-120"/>
              </a:rPr>
              <a:t>O que ficou pendente das noites anteriores? O que apareceu durante o curso que vocês querem aprofundar?</a:t>
            </a:r>
            <a:endParaRPr lang="en-US" sz="1600" dirty="0"/>
          </a:p>
        </p:txBody>
      </p:sp>
      <p:sp>
        <p:nvSpPr>
          <p:cNvPr id="11" name="Shape 8"/>
          <p:cNvSpPr/>
          <p:nvPr/>
        </p:nvSpPr>
        <p:spPr>
          <a:xfrm>
            <a:off x="457200" y="2743200"/>
            <a:ext cx="2034540" cy="3474720"/>
          </a:xfrm>
          <a:prstGeom prst="roundRect">
            <a:avLst>
              <a:gd name="adj" fmla="val 2697"/>
            </a:avLst>
          </a:prstGeom>
          <a:solidFill>
            <a:srgbClr val="000000"/>
          </a:solidFill>
          <a:ln w="12700">
            <a:solidFill>
              <a:schemeClr val="accent1"/>
            </a:solidFill>
            <a:prstDash val="solid"/>
          </a:ln>
        </p:spPr>
      </p:sp>
      <p:sp>
        <p:nvSpPr>
          <p:cNvPr id="12" name="Text 9"/>
          <p:cNvSpPr/>
          <p:nvPr/>
        </p:nvSpPr>
        <p:spPr>
          <a:xfrm>
            <a:off x="59436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3" name="Text 10"/>
          <p:cNvSpPr/>
          <p:nvPr/>
        </p:nvSpPr>
        <p:spPr>
          <a:xfrm>
            <a:off x="118872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PromQL avançado</a:t>
            </a:r>
            <a:endParaRPr lang="en-US" sz="1400" dirty="0"/>
          </a:p>
        </p:txBody>
      </p:sp>
      <p:sp>
        <p:nvSpPr>
          <p:cNvPr id="14" name="Text 11"/>
          <p:cNvSpPr/>
          <p:nvPr/>
        </p:nvSpPr>
        <p:spPr>
          <a:xfrm>
            <a:off x="594360" y="3429000"/>
            <a:ext cx="176022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Funções de janela, subqueries, @ modifier, recording rules, alerting rules avançadas</a:t>
            </a:r>
            <a:endParaRPr lang="en-US" sz="1050" dirty="0"/>
          </a:p>
        </p:txBody>
      </p:sp>
      <p:sp>
        <p:nvSpPr>
          <p:cNvPr id="15" name="Shape 12"/>
          <p:cNvSpPr/>
          <p:nvPr/>
        </p:nvSpPr>
        <p:spPr>
          <a:xfrm>
            <a:off x="2674620" y="2743200"/>
            <a:ext cx="2034540" cy="3474720"/>
          </a:xfrm>
          <a:prstGeom prst="roundRect">
            <a:avLst>
              <a:gd name="adj" fmla="val 2697"/>
            </a:avLst>
          </a:prstGeom>
          <a:solidFill>
            <a:srgbClr val="000000"/>
          </a:solidFill>
          <a:ln w="12700">
            <a:solidFill>
              <a:schemeClr val="accent1"/>
            </a:solidFill>
            <a:prstDash val="solid"/>
          </a:ln>
        </p:spPr>
      </p:sp>
      <p:sp>
        <p:nvSpPr>
          <p:cNvPr id="16" name="Text 13"/>
          <p:cNvSpPr/>
          <p:nvPr/>
        </p:nvSpPr>
        <p:spPr>
          <a:xfrm>
            <a:off x="281178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17" name="Text 14"/>
          <p:cNvSpPr/>
          <p:nvPr/>
        </p:nvSpPr>
        <p:spPr>
          <a:xfrm>
            <a:off x="340614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Kubernetes</a:t>
            </a:r>
            <a:endParaRPr lang="en-US" sz="1400" dirty="0"/>
          </a:p>
        </p:txBody>
      </p:sp>
      <p:sp>
        <p:nvSpPr>
          <p:cNvPr id="18" name="Text 15"/>
          <p:cNvSpPr/>
          <p:nvPr/>
        </p:nvSpPr>
        <p:spPr>
          <a:xfrm>
            <a:off x="2811780" y="3429000"/>
            <a:ext cx="176022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Grafana + Prometheus + Loki rodando em K8s, helm charts, ServiceMonitor, PodMonitor</a:t>
            </a:r>
            <a:endParaRPr lang="en-US" sz="1050" dirty="0"/>
          </a:p>
        </p:txBody>
      </p:sp>
      <p:sp>
        <p:nvSpPr>
          <p:cNvPr id="19" name="Shape 16"/>
          <p:cNvSpPr/>
          <p:nvPr/>
        </p:nvSpPr>
        <p:spPr>
          <a:xfrm>
            <a:off x="4892040" y="2743200"/>
            <a:ext cx="2034540" cy="3474720"/>
          </a:xfrm>
          <a:prstGeom prst="roundRect">
            <a:avLst>
              <a:gd name="adj" fmla="val 2697"/>
            </a:avLst>
          </a:prstGeom>
          <a:solidFill>
            <a:srgbClr val="000000"/>
          </a:solidFill>
          <a:ln w="12700">
            <a:solidFill>
              <a:schemeClr val="accent1"/>
            </a:solidFill>
            <a:prstDash val="solid"/>
          </a:ln>
        </p:spPr>
      </p:sp>
      <p:sp>
        <p:nvSpPr>
          <p:cNvPr id="20" name="Text 17"/>
          <p:cNvSpPr/>
          <p:nvPr/>
        </p:nvSpPr>
        <p:spPr>
          <a:xfrm>
            <a:off x="502920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1" name="Text 18"/>
          <p:cNvSpPr/>
          <p:nvPr/>
        </p:nvSpPr>
        <p:spPr>
          <a:xfrm>
            <a:off x="562356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Custom datasource</a:t>
            </a:r>
            <a:endParaRPr lang="en-US" sz="1400" dirty="0"/>
          </a:p>
        </p:txBody>
      </p:sp>
      <p:sp>
        <p:nvSpPr>
          <p:cNvPr id="22" name="Text 19"/>
          <p:cNvSpPr/>
          <p:nvPr/>
        </p:nvSpPr>
        <p:spPr>
          <a:xfrm>
            <a:off x="5029200" y="3429000"/>
            <a:ext cx="176022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Backend em Go/Python que expõe métricas customizadas, integrado ao Grafana</a:t>
            </a:r>
            <a:endParaRPr lang="en-US" sz="1050" dirty="0"/>
          </a:p>
        </p:txBody>
      </p:sp>
      <p:sp>
        <p:nvSpPr>
          <p:cNvPr id="23" name="Shape 20"/>
          <p:cNvSpPr/>
          <p:nvPr/>
        </p:nvSpPr>
        <p:spPr>
          <a:xfrm>
            <a:off x="7109460" y="2743200"/>
            <a:ext cx="2034540" cy="3474720"/>
          </a:xfrm>
          <a:prstGeom prst="roundRect">
            <a:avLst>
              <a:gd name="adj" fmla="val 2697"/>
            </a:avLst>
          </a:prstGeom>
          <a:solidFill>
            <a:srgbClr val="000000"/>
          </a:solidFill>
          <a:ln w="12700">
            <a:solidFill>
              <a:schemeClr val="accent1"/>
            </a:solidFill>
            <a:prstDash val="solid"/>
          </a:ln>
        </p:spPr>
      </p:sp>
      <p:sp>
        <p:nvSpPr>
          <p:cNvPr id="24" name="Text 21"/>
          <p:cNvSpPr/>
          <p:nvPr/>
        </p:nvSpPr>
        <p:spPr>
          <a:xfrm>
            <a:off x="7246620" y="2834640"/>
            <a:ext cx="548640" cy="548640"/>
          </a:xfrm>
          <a:prstGeom prst="rect">
            <a:avLst/>
          </a:prstGeom>
          <a:noFill/>
          <a:ln/>
        </p:spPr>
        <p:txBody>
          <a:bodyPr wrap="square" rtlCol="0" anchor="ctr"/>
          <a:lstStyle/>
          <a:p>
            <a:pPr indent="0" marL="0">
              <a:buNone/>
            </a:pPr>
            <a:r>
              <a:rPr lang="en-US" sz="2600" b="1" dirty="0">
                <a:solidFill>
                  <a:schemeClr val="accent2"/>
                </a:solidFill>
                <a:latin typeface="Trebuchet MS" pitchFamily="34" charset="0"/>
                <a:ea typeface="Trebuchet MS" pitchFamily="34" charset="-122"/>
                <a:cs typeface="Trebuchet MS" pitchFamily="34" charset="-120"/>
              </a:rPr>
              <a:t>❓</a:t>
            </a:r>
            <a:endParaRPr lang="en-US" sz="2600" dirty="0"/>
          </a:p>
        </p:txBody>
      </p:sp>
      <p:sp>
        <p:nvSpPr>
          <p:cNvPr id="25" name="Text 22"/>
          <p:cNvSpPr/>
          <p:nvPr/>
        </p:nvSpPr>
        <p:spPr>
          <a:xfrm>
            <a:off x="7840980" y="2880360"/>
            <a:ext cx="1165860" cy="365760"/>
          </a:xfrm>
          <a:prstGeom prst="rect">
            <a:avLst/>
          </a:prstGeom>
          <a:noFill/>
          <a:ln/>
        </p:spPr>
        <p:txBody>
          <a:bodyPr wrap="square" rtlCol="0" anchor="ctr"/>
          <a:lstStyle/>
          <a:p>
            <a:pPr indent="0" marL="0">
              <a:buNone/>
            </a:pPr>
            <a:r>
              <a:rPr lang="en-US" sz="1400" b="1" dirty="0">
                <a:solidFill>
                  <a:schemeClr val="accent2"/>
                </a:solidFill>
                <a:latin typeface="Trebuchet MS" pitchFamily="34" charset="0"/>
                <a:ea typeface="Trebuchet MS" pitchFamily="34" charset="-122"/>
                <a:cs typeface="Trebuchet MS" pitchFamily="34" charset="-120"/>
              </a:rPr>
              <a:t>Grafana Cloud setup</a:t>
            </a:r>
            <a:endParaRPr lang="en-US" sz="1400" dirty="0"/>
          </a:p>
        </p:txBody>
      </p:sp>
      <p:sp>
        <p:nvSpPr>
          <p:cNvPr id="26" name="Text 23"/>
          <p:cNvSpPr/>
          <p:nvPr/>
        </p:nvSpPr>
        <p:spPr>
          <a:xfrm>
            <a:off x="7246620" y="3429000"/>
            <a:ext cx="1760220" cy="2743200"/>
          </a:xfrm>
          <a:prstGeom prst="rect">
            <a:avLst/>
          </a:prstGeom>
          <a:noFill/>
          <a:ln/>
        </p:spPr>
        <p:txBody>
          <a:bodyPr wrap="square" rtlCol="0" anchor="t"/>
          <a:lstStyle/>
          <a:p>
            <a:pPr indent="0" marL="0">
              <a:spcAft>
                <a:spcPts val="300"/>
              </a:spcAft>
              <a:buNone/>
            </a:pPr>
            <a:r>
              <a:rPr lang="en-US" sz="1050" dirty="0">
                <a:solidFill>
                  <a:srgbClr val="000000"/>
                </a:solidFill>
                <a:latin typeface="Trebuchet MS" pitchFamily="34" charset="0"/>
                <a:ea typeface="Trebuchet MS" pitchFamily="34" charset="-122"/>
                <a:cs typeface="Trebuchet MS" pitchFamily="34" charset="-120"/>
              </a:rPr>
              <a:t>Como criar conta, mandar remote_write, configurar RBAC, SSO, alertas</a:t>
            </a:r>
            <a:endParaRPr lang="en-US" sz="1050" dirty="0"/>
          </a:p>
        </p:txBody>
      </p:sp>
      <p:pic>
        <p:nvPicPr>
          <p:cNvPr id="27"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28" name="Text 24"/>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29" name="Text 25"/>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ÚLTIMA ATIVIDADE</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Avaliação do curso (5 minutos)</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011680"/>
            <a:ext cx="8686800" cy="548640"/>
          </a:xfrm>
          <a:prstGeom prst="rect">
            <a:avLst/>
          </a:prstGeom>
          <a:noFill/>
          <a:ln/>
        </p:spPr>
        <p:txBody>
          <a:bodyPr wrap="square" rtlCol="0" anchor="t"/>
          <a:lstStyle/>
          <a:p>
            <a:pPr algn="l" indent="0" marL="0">
              <a:spcAft>
                <a:spcPts val="600"/>
              </a:spcAft>
              <a:buNone/>
            </a:pPr>
            <a:r>
              <a:rPr lang="en-US" sz="1400" dirty="0">
                <a:solidFill>
                  <a:srgbClr val="000000"/>
                </a:solidFill>
                <a:latin typeface="Trebuchet MS" pitchFamily="34" charset="0"/>
                <a:ea typeface="Trebuchet MS" pitchFamily="34" charset="-122"/>
                <a:cs typeface="Trebuchet MS" pitchFamily="34" charset="-120"/>
              </a:rPr>
              <a:t>Sua opinião é fundamental pra eu melhorar a próxima turma. Pode ser anônima se quiser.</a:t>
            </a:r>
            <a:endParaRPr lang="en-US" sz="1400" dirty="0"/>
          </a:p>
        </p:txBody>
      </p:sp>
      <p:sp>
        <p:nvSpPr>
          <p:cNvPr id="11" name="Shape 8"/>
          <p:cNvSpPr/>
          <p:nvPr/>
        </p:nvSpPr>
        <p:spPr>
          <a:xfrm>
            <a:off x="457200" y="2651760"/>
            <a:ext cx="8686800" cy="1371600"/>
          </a:xfrm>
          <a:prstGeom prst="roundRect">
            <a:avLst>
              <a:gd name="adj" fmla="val 5333"/>
            </a:avLst>
          </a:prstGeom>
          <a:solidFill>
            <a:schemeClr val="accent1"/>
          </a:solidFill>
          <a:ln w="12700">
            <a:solidFill>
              <a:schemeClr val="accent1"/>
            </a:solidFill>
            <a:prstDash val="solid"/>
          </a:ln>
        </p:spPr>
      </p:sp>
      <p:sp>
        <p:nvSpPr>
          <p:cNvPr id="12" name="Text 9"/>
          <p:cNvSpPr/>
          <p:nvPr/>
        </p:nvSpPr>
        <p:spPr>
          <a:xfrm>
            <a:off x="685800" y="2788920"/>
            <a:ext cx="8229600" cy="1097280"/>
          </a:xfrm>
          <a:prstGeom prst="rect">
            <a:avLst/>
          </a:prstGeom>
          <a:noFill/>
          <a:ln/>
        </p:spPr>
        <p:txBody>
          <a:bodyPr wrap="square" rtlCol="0" anchor="t"/>
          <a:lstStyle/>
          <a:p>
            <a:pPr algn="l" indent="0" marL="0">
              <a:buNone/>
            </a:pPr>
            <a:r>
              <a:rPr lang="en-US" sz="1400" dirty="0">
                <a:solidFill>
                  <a:srgbClr val="000000"/>
                </a:solidFill>
                <a:latin typeface="Trebuchet MS" pitchFamily="34" charset="0"/>
                <a:ea typeface="Trebuchet MS" pitchFamily="34" charset="-122"/>
                <a:cs typeface="Trebuchet MS" pitchFamily="34" charset="-120"/>
              </a:rPr>
              <a:t>ACESSE: https://forms.gle/green-curso-grafana-feedback</a:t>
            </a:r>
            <a:endParaRPr lang="en-US" sz="1400" dirty="0"/>
          </a:p>
          <a:p>
            <a:pPr algn="l" indent="0" marL="0">
              <a:buNone/>
            </a:pPr>
            <a:r>
              <a:rPr lang="en-US" sz="1400" dirty="0">
                <a:solidFill>
                  <a:srgbClr val="000000"/>
                </a:solidFill>
                <a:latin typeface="Trebuchet MS" pitchFamily="34" charset="0"/>
                <a:ea typeface="Trebuchet MS" pitchFamily="34" charset="-122"/>
                <a:cs typeface="Trebuchet MS" pitchFamily="34" charset="-120"/>
              </a:rPr>
              <a:t>(link será enviado no chat da turma também)</a:t>
            </a:r>
            <a:endParaRPr lang="en-US" sz="1400" dirty="0"/>
          </a:p>
        </p:txBody>
      </p:sp>
      <p:sp>
        <p:nvSpPr>
          <p:cNvPr id="13" name="Text 10"/>
          <p:cNvSpPr/>
          <p:nvPr/>
        </p:nvSpPr>
        <p:spPr>
          <a:xfrm>
            <a:off x="457200" y="4114800"/>
            <a:ext cx="8686800" cy="228600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Qual foi o slide/slide mais útil? E o que poderia melhorar?</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O ritmo foi bom (4h × 5 noites) ou preferiria outro formato?</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Os labs Docker foram claros? Faltou algum?</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A infra Azure × local foi útil?</a:t>
            </a:r>
            <a:endParaRPr lang="en-US" sz="1400" dirty="0"/>
          </a:p>
          <a:p>
            <a:pPr marL="342900" indent="-342900">
              <a:spcAft>
                <a:spcPts val="600"/>
              </a:spcAft>
              <a:buSzPct val="100000"/>
              <a:buChar char="■"/>
            </a:pPr>
            <a:r>
              <a:rPr lang="en-US" sz="1400" dirty="0">
                <a:solidFill>
                  <a:srgbClr val="000000"/>
                </a:solidFill>
                <a:latin typeface="Trebuchet MS" pitchFamily="34" charset="0"/>
                <a:ea typeface="Trebuchet MS" pitchFamily="34" charset="-122"/>
                <a:cs typeface="Trebuchet MS" pitchFamily="34" charset="-120"/>
              </a:rPr>
              <a:t>Recomendaria o curso? (NPS 0-10)</a:t>
            </a:r>
            <a:endParaRPr lang="en-US" sz="1400" dirty="0"/>
          </a:p>
        </p:txBody>
      </p:sp>
      <p:pic>
        <p:nvPicPr>
          <p:cNvPr id="1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5" name="Text 1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6" name="Text 1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Shape 0"/>
          <p:cNvSpPr/>
          <p:nvPr/>
        </p:nvSpPr>
        <p:spPr>
          <a:xfrm>
            <a:off x="4233672" y="3044952"/>
            <a:ext cx="3255264" cy="3813048"/>
          </a:xfrm>
          <a:prstGeom prst="triangle">
            <a:avLst/>
          </a:prstGeom>
          <a:solidFill>
            <a:schemeClr val="accent2">
              <a:alpha val="70000"/>
            </a:schemeClr>
          </a:solidFill>
          <a:ln/>
        </p:spPr>
      </p:sp>
      <p:sp>
        <p:nvSpPr>
          <p:cNvPr id="3" name="Shape 1"/>
          <p:cNvSpPr/>
          <p:nvPr/>
        </p:nvSpPr>
        <p:spPr>
          <a:xfrm>
            <a:off x="5669280" y="3593592"/>
            <a:ext cx="1819656" cy="3264408"/>
          </a:xfrm>
          <a:prstGeom prst="triangle">
            <a:avLst/>
          </a:prstGeom>
          <a:solidFill>
            <a:schemeClr val="accent2">
              <a:alpha val="85000"/>
            </a:schemeClr>
          </a:solidFill>
          <a:ln/>
        </p:spPr>
      </p:sp>
      <p:sp>
        <p:nvSpPr>
          <p:cNvPr id="4" name="Shape 2"/>
          <p:cNvSpPr/>
          <p:nvPr/>
        </p:nvSpPr>
        <p:spPr>
          <a:xfrm>
            <a:off x="5111496" y="0"/>
            <a:ext cx="1216152" cy="6858000"/>
          </a:xfrm>
          <a:prstGeom prst="line">
            <a:avLst/>
          </a:prstGeom>
          <a:noFill/>
          <a:ln w="9525">
            <a:solidFill>
              <a:srgbClr val="C0C0C0"/>
            </a:solidFill>
            <a:prstDash val="solid"/>
            <a:headEnd type="none"/>
            <a:tailEnd type="none"/>
          </a:ln>
        </p:spPr>
      </p:sp>
      <p:sp>
        <p:nvSpPr>
          <p:cNvPr id="5" name="Shape 3"/>
          <p:cNvSpPr/>
          <p:nvPr/>
        </p:nvSpPr>
        <p:spPr>
          <a:xfrm flipH="1">
            <a:off x="3291840" y="3685032"/>
            <a:ext cx="4764024" cy="3172968"/>
          </a:xfrm>
          <a:prstGeom prst="line">
            <a:avLst/>
          </a:prstGeom>
          <a:noFill/>
          <a:ln w="9525">
            <a:solidFill>
              <a:srgbClr val="C0C0C0"/>
            </a:solidFill>
            <a:prstDash val="solid"/>
          </a:ln>
        </p:spPr>
      </p:sp>
      <p:pic>
        <p:nvPicPr>
          <p:cNvPr id="6" name="Image 0" descr="/sessions/affectionate-blissful-ptolemy/mnt/outputs/assets/green-logo-small.png">    </p:cNvPr>
          <p:cNvPicPr>
            <a:picLocks noChangeAspect="1"/>
          </p:cNvPicPr>
          <p:nvPr/>
        </p:nvPicPr>
        <p:blipFill>
          <a:blip r:embed="rId1"/>
          <a:stretch>
            <a:fillRect/>
          </a:stretch>
        </p:blipFill>
        <p:spPr>
          <a:xfrm>
            <a:off x="274320" y="274320"/>
            <a:ext cx="1097280" cy="320040"/>
          </a:xfrm>
          <a:prstGeom prst="rect">
            <a:avLst/>
          </a:prstGeom>
        </p:spPr>
      </p:pic>
      <p:sp>
        <p:nvSpPr>
          <p:cNvPr id="7" name="Text 4"/>
          <p:cNvSpPr/>
          <p:nvPr/>
        </p:nvSpPr>
        <p:spPr>
          <a:xfrm>
            <a:off x="457200" y="777240"/>
            <a:ext cx="8686800" cy="320040"/>
          </a:xfrm>
          <a:prstGeom prst="rect">
            <a:avLst/>
          </a:prstGeom>
          <a:noFill/>
          <a:ln/>
        </p:spPr>
        <p:txBody>
          <a:bodyPr wrap="square" rtlCol="0" anchor="ctr"/>
          <a:lstStyle/>
          <a:p>
            <a:pPr indent="0" marL="0">
              <a:buNone/>
            </a:pPr>
            <a:r>
              <a:rPr lang="en-US" sz="1100" b="1" spc="500" kern="0" dirty="0">
                <a:solidFill>
                  <a:schemeClr val="accent2"/>
                </a:solidFill>
                <a:latin typeface="Trebuchet MS" pitchFamily="34" charset="0"/>
                <a:ea typeface="Trebuchet MS" pitchFamily="34" charset="-122"/>
                <a:cs typeface="Trebuchet MS" pitchFamily="34" charset="-120"/>
              </a:rPr>
              <a:t>ENCERRAMENTO</a:t>
            </a:r>
            <a:endParaRPr lang="en-US" sz="1100" dirty="0"/>
          </a:p>
        </p:txBody>
      </p:sp>
      <p:sp>
        <p:nvSpPr>
          <p:cNvPr id="8" name="Text 5"/>
          <p:cNvSpPr/>
          <p:nvPr/>
        </p:nvSpPr>
        <p:spPr>
          <a:xfrm>
            <a:off x="457200" y="1143000"/>
            <a:ext cx="8686800" cy="640080"/>
          </a:xfrm>
          <a:prstGeom prst="rect">
            <a:avLst/>
          </a:prstGeom>
          <a:noFill/>
          <a:ln/>
        </p:spPr>
        <p:txBody>
          <a:bodyPr wrap="square" rtlCol="0" anchor="ctr"/>
          <a:lstStyle/>
          <a:p>
            <a:pPr indent="0" marL="0">
              <a:buNone/>
            </a:pPr>
            <a:r>
              <a:rPr lang="en-US" sz="2600" b="1" dirty="0">
                <a:solidFill>
                  <a:srgbClr val="000000"/>
                </a:solidFill>
                <a:latin typeface="Trebuchet MS" pitchFamily="34" charset="0"/>
                <a:ea typeface="Trebuchet MS" pitchFamily="34" charset="-122"/>
                <a:cs typeface="Trebuchet MS" pitchFamily="34" charset="-120"/>
              </a:rPr>
              <a:t>Obrigado!</a:t>
            </a:r>
            <a:endParaRPr lang="en-US" sz="2600" dirty="0"/>
          </a:p>
        </p:txBody>
      </p:sp>
      <p:sp>
        <p:nvSpPr>
          <p:cNvPr id="9" name="Shape 6"/>
          <p:cNvSpPr/>
          <p:nvPr/>
        </p:nvSpPr>
        <p:spPr>
          <a:xfrm>
            <a:off x="457200" y="1828800"/>
            <a:ext cx="548640" cy="36576"/>
          </a:xfrm>
          <a:prstGeom prst="rect">
            <a:avLst/>
          </a:prstGeom>
          <a:solidFill>
            <a:schemeClr val="accent1"/>
          </a:solidFill>
          <a:ln w="12700">
            <a:solidFill>
              <a:schemeClr val="accent1"/>
            </a:solidFill>
            <a:prstDash val="solid"/>
          </a:ln>
        </p:spPr>
      </p:sp>
      <p:sp>
        <p:nvSpPr>
          <p:cNvPr id="10" name="Text 7"/>
          <p:cNvSpPr/>
          <p:nvPr/>
        </p:nvSpPr>
        <p:spPr>
          <a:xfrm>
            <a:off x="457200" y="2286000"/>
            <a:ext cx="8686800" cy="914400"/>
          </a:xfrm>
          <a:prstGeom prst="rect">
            <a:avLst/>
          </a:prstGeom>
          <a:noFill/>
          <a:ln/>
        </p:spPr>
        <p:txBody>
          <a:bodyPr wrap="square" rtlCol="0" anchor="t"/>
          <a:lstStyle/>
          <a:p>
            <a:pPr algn="ctr" indent="0" marL="0">
              <a:spcAft>
                <a:spcPts val="600"/>
              </a:spcAft>
              <a:buNone/>
            </a:pPr>
            <a:r>
              <a:rPr lang="en-US" sz="4800" b="1" dirty="0">
                <a:solidFill>
                  <a:schemeClr val="accent1"/>
                </a:solidFill>
                <a:latin typeface="Trebuchet MS" pitchFamily="34" charset="0"/>
                <a:ea typeface="Trebuchet MS" pitchFamily="34" charset="-122"/>
                <a:cs typeface="Trebuchet MS" pitchFamily="34" charset="-120"/>
              </a:rPr>
              <a:t>Obrigado por esses 5 dias juntos.</a:t>
            </a:r>
            <a:endParaRPr lang="en-US" sz="4800" dirty="0"/>
          </a:p>
        </p:txBody>
      </p:sp>
      <p:sp>
        <p:nvSpPr>
          <p:cNvPr id="11" name="Text 8"/>
          <p:cNvSpPr/>
          <p:nvPr/>
        </p:nvSpPr>
        <p:spPr>
          <a:xfrm>
            <a:off x="457200" y="3657600"/>
            <a:ext cx="8686800" cy="548640"/>
          </a:xfrm>
          <a:prstGeom prst="rect">
            <a:avLst/>
          </a:prstGeom>
          <a:noFill/>
          <a:ln/>
        </p:spPr>
        <p:txBody>
          <a:bodyPr wrap="square" rtlCol="0" anchor="t"/>
          <a:lstStyle/>
          <a:p>
            <a:pPr algn="ctr" indent="0" marL="0">
              <a:spcAft>
                <a:spcPts val="600"/>
              </a:spcAft>
              <a:buNone/>
            </a:pPr>
            <a:r>
              <a:rPr lang="en-US" sz="1800" i="1" dirty="0">
                <a:solidFill>
                  <a:srgbClr val="000000"/>
                </a:solidFill>
                <a:latin typeface="Trebuchet MS" pitchFamily="34" charset="0"/>
                <a:ea typeface="Trebuchet MS" pitchFamily="34" charset="-122"/>
                <a:cs typeface="Trebuchet MS" pitchFamily="34" charset="-120"/>
              </a:rPr>
              <a:t>Bons estudos, bons dashboards, e que venham os alertas certos na hora certa.</a:t>
            </a:r>
            <a:endParaRPr lang="en-US" sz="1800" dirty="0"/>
          </a:p>
        </p:txBody>
      </p:sp>
      <p:sp>
        <p:nvSpPr>
          <p:cNvPr id="12" name="Shape 9"/>
          <p:cNvSpPr/>
          <p:nvPr/>
        </p:nvSpPr>
        <p:spPr>
          <a:xfrm>
            <a:off x="457200" y="4572000"/>
            <a:ext cx="8686800" cy="1645920"/>
          </a:xfrm>
          <a:prstGeom prst="roundRect">
            <a:avLst>
              <a:gd name="adj" fmla="val 4444"/>
            </a:avLst>
          </a:prstGeom>
          <a:solidFill>
            <a:schemeClr val="accent1"/>
          </a:solidFill>
          <a:ln w="12700">
            <a:solidFill>
              <a:schemeClr val="accent1"/>
            </a:solidFill>
            <a:prstDash val="solid"/>
          </a:ln>
        </p:spPr>
      </p:sp>
      <p:sp>
        <p:nvSpPr>
          <p:cNvPr id="13" name="Text 10"/>
          <p:cNvSpPr/>
          <p:nvPr/>
        </p:nvSpPr>
        <p:spPr>
          <a:xfrm>
            <a:off x="685800" y="4709160"/>
            <a:ext cx="8229600" cy="1371600"/>
          </a:xfrm>
          <a:prstGeom prst="rect">
            <a:avLst/>
          </a:prstGeom>
          <a:noFill/>
          <a:ln/>
        </p:spPr>
        <p:txBody>
          <a:bodyPr wrap="square" rtlCol="0" anchor="t"/>
          <a:lstStyle/>
          <a:p>
            <a:pPr algn="l" indent="0" marL="0">
              <a:buNone/>
            </a:pPr>
            <a:r>
              <a:rPr lang="en-US" sz="1400" dirty="0">
                <a:solidFill>
                  <a:srgbClr val="000000"/>
                </a:solidFill>
                <a:latin typeface="Trebuchet MS" pitchFamily="34" charset="0"/>
                <a:ea typeface="Trebuchet MS" pitchFamily="34" charset="-122"/>
                <a:cs typeface="Trebuchet MS" pitchFamily="34" charset="-120"/>
              </a:rPr>
              <a:t>Fábio Silva</a:t>
            </a:r>
            <a:endParaRPr lang="en-US" sz="1400" dirty="0"/>
          </a:p>
          <a:p>
            <a:pPr algn="l" indent="0" marL="0">
              <a:buNone/>
            </a:pPr>
            <a:r>
              <a:rPr lang="en-US" sz="1400" dirty="0">
                <a:solidFill>
                  <a:srgbClr val="000000"/>
                </a:solidFill>
                <a:latin typeface="Trebuchet MS" pitchFamily="34" charset="0"/>
                <a:ea typeface="Trebuchet MS" pitchFamily="34" charset="-122"/>
                <a:cs typeface="Trebuchet MS" pitchFamily="34" charset="-120"/>
              </a:rPr>
              <a:t>Arquiteto de Soluções · Green Tecnologia</a:t>
            </a:r>
            <a:endParaRPr lang="en-US" sz="1400" dirty="0"/>
          </a:p>
          <a:p>
            <a:pPr algn="l" indent="0" marL="0">
              <a:buNone/>
            </a:pPr>
            <a:r>
              <a:rPr lang="en-US" sz="1400" dirty="0">
                <a:solidFill>
                  <a:srgbClr val="000000"/>
                </a:solidFill>
                <a:latin typeface="Trebuchet MS" pitchFamily="34" charset="0"/>
                <a:ea typeface="Trebuchet MS" pitchFamily="34" charset="-122"/>
                <a:cs typeface="Trebuchet MS" pitchFamily="34" charset="-120"/>
              </a:rPr>
              <a:t>LinkedIn: www.linkedin.com/in/silvapfabio</a:t>
            </a:r>
            <a:endParaRPr lang="en-US" sz="1400" dirty="0"/>
          </a:p>
          <a:p>
            <a:pPr algn="l" indent="0" marL="0">
              <a:buNone/>
            </a:pPr>
            <a:endParaRPr lang="en-US" sz="1400" dirty="0"/>
          </a:p>
          <a:p>
            <a:pPr algn="l" indent="0" marL="0">
              <a:buNone/>
            </a:pPr>
            <a:r>
              <a:rPr lang="en-US" sz="1400" dirty="0">
                <a:solidFill>
                  <a:srgbClr val="000000"/>
                </a:solidFill>
                <a:latin typeface="Trebuchet MS" pitchFamily="34" charset="0"/>
                <a:ea typeface="Trebuchet MS" pitchFamily="34" charset="-122"/>
                <a:cs typeface="Trebuchet MS" pitchFamily="34" charset="-120"/>
              </a:rPr>
              <a:t>Material completo: https://github.com/green-tec/curso-grafana</a:t>
            </a:r>
            <a:endParaRPr lang="en-US" sz="1400" dirty="0"/>
          </a:p>
          <a:p>
            <a:pPr algn="l" indent="0" marL="0">
              <a:buNone/>
            </a:pPr>
            <a:r>
              <a:rPr lang="en-US" sz="1400" dirty="0">
                <a:solidFill>
                  <a:srgbClr val="000000"/>
                </a:solidFill>
                <a:latin typeface="Trebuchet MS" pitchFamily="34" charset="0"/>
                <a:ea typeface="Trebuchet MS" pitchFamily="34" charset="-122"/>
                <a:cs typeface="Trebuchet MS" pitchFamily="34" charset="-120"/>
              </a:rPr>
              <a:t>(com slides, scripts, docker-compose, caderno de exercícios)</a:t>
            </a:r>
            <a:endParaRPr lang="en-US" sz="1400" dirty="0"/>
          </a:p>
        </p:txBody>
      </p:sp>
      <p:pic>
        <p:nvPicPr>
          <p:cNvPr id="14" name="Image 1" descr="/sessions/affectionate-blissful-ptolemy/mnt/outputs/assets/green-logo-small.png">    </p:cNvPr>
          <p:cNvPicPr>
            <a:picLocks noChangeAspect="1"/>
          </p:cNvPicPr>
          <p:nvPr/>
        </p:nvPicPr>
        <p:blipFill>
          <a:blip r:embed="rId2"/>
          <a:stretch>
            <a:fillRect/>
          </a:stretch>
        </p:blipFill>
        <p:spPr>
          <a:xfrm>
            <a:off x="274320" y="6400800"/>
            <a:ext cx="1097280" cy="320040"/>
          </a:xfrm>
          <a:prstGeom prst="rect">
            <a:avLst/>
          </a:prstGeom>
        </p:spPr>
      </p:pic>
      <p:sp>
        <p:nvSpPr>
          <p:cNvPr id="15" name="Text 11"/>
          <p:cNvSpPr/>
          <p:nvPr/>
        </p:nvSpPr>
        <p:spPr>
          <a:xfrm>
            <a:off x="11094415" y="6446520"/>
            <a:ext cx="914400" cy="274320"/>
          </a:xfrm>
          <a:prstGeom prst="rect">
            <a:avLst/>
          </a:prstGeom>
          <a:noFill/>
          <a:ln/>
        </p:spPr>
        <p:txBody>
          <a:bodyPr wrap="square" rtlCol="0" anchor="ctr"/>
          <a:lstStyle/>
          <a:p>
            <a:pPr algn="r" indent="0" marL="0">
              <a:buNone/>
            </a:pPr>
            <a:r>
              <a:rPr lang="en-US" sz="1000" dirty="0">
                <a:solidFill>
                  <a:srgbClr val="000000"/>
                </a:solidFill>
                <a:latin typeface="Trebuchet MS" pitchFamily="34" charset="0"/>
                <a:ea typeface="Trebuchet MS" pitchFamily="34" charset="-122"/>
                <a:cs typeface="Trebuchet MS" pitchFamily="34" charset="-120"/>
              </a:rPr>
              <a:t>undefined / 110</a:t>
            </a:r>
            <a:endParaRPr lang="en-US" sz="1000" dirty="0"/>
          </a:p>
        </p:txBody>
      </p:sp>
      <p:sp>
        <p:nvSpPr>
          <p:cNvPr id="16" name="Text 12"/>
          <p:cNvSpPr/>
          <p:nvPr/>
        </p:nvSpPr>
        <p:spPr>
          <a:xfrm>
            <a:off x="1554480" y="6492240"/>
            <a:ext cx="5486400" cy="274320"/>
          </a:xfrm>
          <a:prstGeom prst="rect">
            <a:avLst/>
          </a:prstGeom>
          <a:noFill/>
          <a:ln/>
        </p:spPr>
        <p:txBody>
          <a:bodyPr wrap="square" rtlCol="0" anchor="ctr"/>
          <a:lstStyle/>
          <a:p>
            <a:pPr indent="0" marL="0">
              <a:buNone/>
            </a:pPr>
            <a:r>
              <a:rPr lang="en-US" sz="900" i="1" dirty="0">
                <a:solidFill>
                  <a:srgbClr val="918655"/>
                </a:solidFill>
                <a:latin typeface="Trebuchet MS" pitchFamily="34" charset="0"/>
                <a:ea typeface="Trebuchet MS" pitchFamily="34" charset="-122"/>
                <a:cs typeface="Trebuchet MS" pitchFamily="34" charset="-120"/>
              </a:rPr>
              <a:t>Grafana: Visualizando Dados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118</Slides>
  <Notes>118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118</vt:i4>
      </vt:variant>
    </vt:vector>
  </HeadingPairs>
  <TitlesOfParts>
    <vt:vector size="1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vector>
  </TitlesOfParts>
  <Company>Green Tecnologia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Grafana - Visualizando Dados</dc:title>
  <dc:subject>Curso Grafana - 5 noites / 20h</dc:subject>
  <dc:creator>Fábio Silva</dc:creator>
  <cp:lastModifiedBy>Fábio Silva</cp:lastModifiedBy>
  <cp:revision>1</cp:revision>
  <dcterms:created xsi:type="dcterms:W3CDTF">2026-10-18T21:16:50Z</dcterms:created>
  <dcterms:modified xsi:type="dcterms:W3CDTF">2026-10-18T21:16:50Z</dcterms:modified>
</cp:coreProperties>
</file>