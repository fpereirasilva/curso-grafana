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capa. Não ler em voz alta. Falar apenas: 'Boa noite, vamos começar.'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do Dia 1. Transição para o conteúdo prático.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do Dia 2. Apresentar a agenda da noite.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do Dia 3. Hoje é dia de mão na massa — o aluno instala tudo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 dia. Foco em produção, customização visual e arquitetura multi-stack.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Visualizando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13716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54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Fabio Silva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 • 4 noites • 18:30 às 22:30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Tecnologia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1280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→ Intermediário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22860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noites de imersão, com teoria, demonstração ao vivo e laboratórios guiados. Material de apoio, caderno de exercícios e ambiente Docker pronto para usar.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45720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programático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Observabilidade e os 3 pilares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Grafana 11 e navegação na UI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Prometheus + PromQL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Visualizações, variáveis e alertas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Instalação em Ubuntu (prática)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Provisionamento e multi-stack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INSTRUTOR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conduzindo o curso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63190" cy="4297680"/>
          </a:xfrm>
          <a:prstGeom prst="roundRect">
            <a:avLst>
              <a:gd name="adj" fmla="val 2747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22974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anos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9743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experiência na área de treinamento em TI, conduzindo turmas em empresas de todos os portes.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8990" y="1828800"/>
            <a:ext cx="2663190" cy="4297680"/>
          </a:xfrm>
          <a:prstGeom prst="roundRect">
            <a:avLst>
              <a:gd name="adj" fmla="val 2747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1870" y="1965960"/>
            <a:ext cx="22974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1870" y="2377440"/>
            <a:ext cx="229743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Professional Institute — certificação ativa desde 2011, com base sólida em Linux, redes e infraestrutura.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1828800"/>
            <a:ext cx="2663190" cy="4297680"/>
          </a:xfrm>
          <a:prstGeom prst="roundRect">
            <a:avLst>
              <a:gd name="adj" fmla="val 2747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3660" y="1965960"/>
            <a:ext cx="22974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3660" y="2377440"/>
            <a:ext cx="229743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desde 2020, focado em dados, BI e plataformas de observabilidade.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32570" y="1828800"/>
            <a:ext cx="2663190" cy="4297680"/>
          </a:xfrm>
          <a:prstGeom prst="roundRect">
            <a:avLst>
              <a:gd name="adj" fmla="val 2747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15450" y="1965960"/>
            <a:ext cx="22974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15450" y="2377440"/>
            <a:ext cx="229743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Associate em Analyzing Data with Power BI — elo com o mundo de visualização de dados.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 / 84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 este curso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Arquitetos de informação e de soluções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Delivery Managers e líderes de operação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 dados e observabilidade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operações, SRE, performance e NOC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precisam apresentar dados a stakeholders técnicos e de negócio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básico-intermediário. Vamos do zero até a configuração de alertas e provisionamento de dashboards em ambiente de produção. Não exige conhecimento prévio de Grafana, mas o aluno precisa estar confortável com terminal Linux e conceitos básicos de redes.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 / 84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APRENDIZAGEM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dominar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pilares — métricas, logs e traces — e por que o Grafana é a peça central.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233172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38728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6352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320040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com confiança: menus, dashboards, Explore, Alerting e configurações.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46904" y="233172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0644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84064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4064" y="320040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consultas em PromQL e em SQL para extrair dados significativos.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33172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74152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51776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20040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e customizar o painel certo para cada cenário, do stat ao heatmap.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82328" y="233172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341864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19488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20040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alertas Prometheus e Grafana, com canais de notificação.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5120640"/>
            <a:ext cx="1133856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57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todas as noites, ao menos 50% do tempo é prática hands-on. Você sai do curso com dashboards e alertas funcionando na sua própria máquina.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 / 84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das quatro noites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338560" cy="45720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3657600"/>
                <a:gridCol w="37490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demonstração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(18:30–20:30)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Laboratório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(20:30–22:30)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Observabilidade,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PromQL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Visualizações,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alertamento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dinâmico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systemd,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guiada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comentados,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provisionamento,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file-based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 / 84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navegação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6309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Visualizando Dados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—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veremos na primeira noite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por que importa, os 3 pilares.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6352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História, licenciamento, casos de uso.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46904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064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84064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local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4064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Prometheus + Node Exporter em Docker.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74152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51776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dashboards, Explore, configurações.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82328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341864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19488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Subir, navegar, criar o primeiro painel.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for visto em teoria será reproduzido na demonstração ao vivo. Em seguida, você repete no seu ambiente. O objetivo é que, ao final da noite, o Grafana esteja rodando na sua máquina e você saiba se virar sozinho.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7 / 84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observabilidade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é a prática de compreender o estado interno de um sistema a partir dos dados que ele emite. Vai além do monitoramento tradicional: a pergunta deixa de ser 'está no ar?' e passa a ser 'por que está se comportando assim?'.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pilares sustentam essa prática. Métricas — valores numéricos agregados no tempo, leves de coletar e ideais para tendências. Logs — registros textuais de eventos, ricos em contexto, usados para investigar incidentes. Traces — o caminho de uma requisição entre serviços, fundamental em arquiteturas distribuídas.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783080"/>
            <a:ext cx="4480560" cy="4572000"/>
          </a:xfrm>
          <a:prstGeom prst="roundRect">
            <a:avLst>
              <a:gd name="adj" fmla="val 20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920240"/>
            <a:ext cx="4023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'Observabilidade é a medida de quão bem você pode inferir o estado interno de um sistema a partir do conhecimento de suas saídas externas.'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Norbert Wiener, 1960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a TI: quanto mais ricos e bem correlacionados forem os sinais emitidos por um sistema, mais fácil será diagnosticar problemas sem precisar entrar nele.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8 / 84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PILARES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logs e traces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27120" cy="4114800"/>
          </a:xfrm>
          <a:prstGeom prst="roundRect">
            <a:avLst>
              <a:gd name="adj" fmla="val 2017"/>
            </a:avLst>
          </a:prstGeom>
          <a:solidFill>
            <a:srgbClr val="F0F9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2613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ao longo do tempo: CPU, latência, requisições por segundo. Caras: armazenamento barato, alertas simples. Mãe: séries temporais em bancos como Prometheus, VictoriaMetrics, Mimir.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627120" cy="4114800"/>
          </a:xfrm>
          <a:prstGeom prst="roundRect">
            <a:avLst>
              <a:gd name="adj" fmla="val 2017"/>
            </a:avLst>
          </a:prstGeom>
          <a:solidFill>
            <a:srgbClr val="FFF7E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800" y="196596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5800" y="2377440"/>
            <a:ext cx="32613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textuais emitidos pela aplicação. Caros em volume mas riquíssimos em contexto. Stack típica: Promtail/Alloy + Loki ou Filebeat + Elasticsearch.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68640" y="1828800"/>
            <a:ext cx="3627120" cy="4114800"/>
          </a:xfrm>
          <a:prstGeom prst="roundRect">
            <a:avLst>
              <a:gd name="adj" fmla="val 2017"/>
            </a:avLst>
          </a:prstGeom>
          <a:solidFill>
            <a:srgbClr val="F0FDF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1520" y="196596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1520" y="2377440"/>
            <a:ext cx="32613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de uma requisição por múltiplos serviços. Fundamentais em microsserviços. OpenTelemetry é o padrão de instrumentação; Tempo e Jaeger armazenam.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é a camada visual: consome os três pilares e os correlaciona em um único painel.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9 / 84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Grafana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é uma plataforma open-source de visualização e análise de dados, criada em 2014 pela Grafana Labs. Originalmente focada em séries temporais, hoje é o ponto de convergência para métricas, logs e traces — desde bancos como Prometheus até serviços SaaS, REST APIs e arquivos CSV.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atual é a 11.x, com interface renovada, novo sistema de painéis e suporte oficial a data sources como Prometheus, Loki, Tempo, Elasticsearch, InfluxDB, MySQL, PostgreSQL, BigQuery, Datadog, CloudWatch e mais de 70 outros.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é AGPLv3 para a edição open-source. A Grafana Labs oferece também versões gerenciadas (Grafana Cloud) e Enterprise.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03720" y="1783080"/>
            <a:ext cx="2377440" cy="18288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74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0372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oficiais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72600" y="1783080"/>
            <a:ext cx="2377440" cy="18288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1874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37260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no mundo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703320"/>
            <a:ext cx="2377440" cy="18288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794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903720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(AGPLv3)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72600" y="3703320"/>
            <a:ext cx="2377440" cy="18288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3794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372600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estável atual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10 / 84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Grafana se conecta ao mundo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Loki, MySQL, CloudWatch — qualquer backend com driver.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6352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fonte tem sua linguagem: PromQL, LogQL, SQL. Grafana entende todas.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46904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064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84064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4064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join, calculate, regex. Manipula dados antes de plotar.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74152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51776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series, stat, gauge, bar, table, heatmap, geomap, candlestick.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82328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341864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19488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 de painéis com variáveis, anotações e links cruzados.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5120640"/>
            <a:ext cx="1133856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57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fluxo é o que você verá em ação na demonstração. Vamos criar um dashboard que consome métricas do Prometheus, transforma com regex e mostra três tipos de painel lado a lado.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11 / 84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GRAFANA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da observabilidade com Grafana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 dados de múltiplas fontes em um único painel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tempo médio de diagnóstico (MTTR) de incidentes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sem custos de licenciamento por usuário ou painel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ativa com 10.000+ dashboards prontos para importar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 via arquivo (GitOps) para ambientes de produção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nativos com roteamento por canais (e-mail, Slack, webhook)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HTTP completa para automação e integração com outras ferramentas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1828800"/>
            <a:ext cx="4937760" cy="4572000"/>
          </a:xfrm>
          <a:prstGeom prst="roundRect">
            <a:avLst>
              <a:gd name="adj" fmla="val 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965960"/>
            <a:ext cx="44805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 (Grafana Labs 2024)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20M+ usuários ativos mensais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1.000+ empresas pagantes (Grafana Cloud + Enterprise)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100k estrelas no GitHub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4.000+ contribuições da comunidade por ano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ferramenta de visualização mais usada no mercado de DevOps, segundo surveys da CNCF.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12 / 84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 — o tipo de dado mais comum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parte dos dados que você vai visualizar no Grafana são séries temporais: sequências de medições indexadas por timestamp.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tem três componentes: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Métrica: o nome do que está sendo medido (node_cpu_seconds_total)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Timestamp: o instante da coleta (2024-11-20T18:30:00Z)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Valor: o número em si (12.5)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Labels: dimensões que qualificam a métrica (instance=host-01, mode=idle)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labels são o que tornam o Prometheus e o Grafana tão poderosos: você consegue agregar, filtrar e cruzar métricas por qualquer dimensão, sem mover dados de lugar.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783080"/>
            <a:ext cx="44805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874520"/>
            <a:ext cx="4206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Exemplo de série temporal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node_cpu_seconds_total{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instance="host-01",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mode="idle",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cpu="0"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18423.45 @ 1732128600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node_cpu_seconds_total{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instance="host-01",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mode="idle",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cpu="1"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18425.12 @ 1732128600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Mesmo nome de métrica,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labels diferentes = séries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diferentes. O Grafana plota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série como uma linha.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13 / 84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Subindo o ambiente — visão geral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primeira noite, vamos rodar 3 containers Docker lado a lado: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Prometheus (porta 9090) — banco de séries temporais que raspa métricas dos exporters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Node Exporter (porta 9100) — emite métricas do host (CPU, memória, disco, rede)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Grafana (porta 3000) — interface visual que consome o Prometheus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provisionado automaticamente: o Prometheus já tem o Node Exporter como target, e o Grafana já tem o Prometheus como datasource. Sem cliques manuais.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Estrutura do lab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lab/dia1/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docker-compose.yml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prometheus.yml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alerts.yml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grafana/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provisioning/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datasources/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│   └── datasource.yml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dashboards/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└── dashboards.yml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dashboards/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01-visao-geral-host.json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14 / 84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em 1 comando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só precisa executar dois comandos: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cd lab/dia1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docker compose up -d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~30 segundos, os 3 containers estão em pé, o Prometheus já está raspando o Node Exporter a cada 15 segundos, e o Grafana carrega o dashboard pré-configurado.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complexidade está isolada nos arquivos de configuração que o instrutor já preparou. O aluno não digita nada complicado — só observa e entende o que cada arquivo faz.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lab/dia1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Running 3/3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lab-prometheus    Started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lab-node-exporter Started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lab-grafana       Started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ps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   STATUS    PORTS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lab-prometheus      Up        0.0.0.0:9090-&gt;9090/tcp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lab-node-exporter   Up        0.0.0.0:9100-&gt;9100/tcp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lab-grafana         Up        0.0.0.0:3000-&gt;3000/tcp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15 / 84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1.1 — Subir o ambiente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33856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5 minutos. Abra o terminal e siga exatamente os passos abaixo.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33856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73152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lab/dia1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Aguarde ~30 segundos e abra o navegador: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Grafana:    http://localhost:3000   (admin / admin)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Prometheus: http://localhost:9090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Métricas:   http://localhost:9100/metrics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11338560" cy="155448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0749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Critério de aceite: três containers em status Up, Grafana abrindo no navegador, login admin / admin funcionando.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 algum container ficar em Restarting, rode: docker compose logs -f &lt;nome&gt; e chame o instrutor.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16 / 84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Conhecendo a interface do Grafana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barra lateral esquerda é o ponto de entrada para todos os recursos: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(lupa) — busca por painéis, dashboards e data sources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Dashboards — biblioteca de dashboards (4 quadradinhos)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 — modo ad-hoc para testar queries sem criar dashboard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Alerting — regras, silences, contact points e grupos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Connections — gerenciamento de data sources e plugins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Administration — usuários, times, organizações, configurações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topo da tela tem o seletor de tempo (right side) e o botão de refresh. Esses dois controles são os mais usados no dia a dia — vale a pena memorizar.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202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úteis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+ D  →  ir para Dashboards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+ E  →  ir para Explore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  →  command palette (busca global)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      →  fecha menus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          →  lista todos os atalhos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Ctrl+K é seu melhor amigo. O command palette indexa todos os recursos do Grafana.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17 / 84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o laboratório de queries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Explore é onde você testa queries antes de colocá-las em um dashboard. É a ferramenta de investigação — equivalente ao psql para o PostgreSQL, ou ao curl para uma API.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1 vamos usar quase exclusivamente. Selecione o datasource Prometheus, digite a query, escolha o intervalo de tempo e clique em Run query.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botões ficam disponíveis acima dos resultados: Table (mostra o JSON cru), Time series (gráfico de linha) e Inspector (metadados, tempo de execução, status da query).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Suas primeiras queries no Explore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Valor bruto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node_cpu_seconds_total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Taxa por segundo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rate(node_cpu_seconds_total[1m])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CPU idle médio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avg(rate(node_cpu_seconds_total{mode="idle"}[1m]))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CPU em uso (%)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100 - (avg(rate(node_cpu_seconds_total{mode="idle"}[1m])) * 100)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Dica: Ctrl+Space mostra auto-complete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18 / 84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de consulta por data source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338560" cy="45720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937760"/>
              </a:tblGrid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microsserviços,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estruturados,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distribuído,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negócio,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VictoriaMetrics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PromQL-like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provedores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19 / 84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1.2 — Explorar dados no Explore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33856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4114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Passo a passo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Menu lateral → Explore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Data source: 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Cole a query abaixo e clique em Run query: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rate(node_cpu_seconds_total{mode="idle"}[1m])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Mude o intervalo de tempo para "Last 5 minutes"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No canto direito do gráfico, clique em "Table" — veja o JSON cru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Volte para "Time series"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Agora troque a query para: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100 - (avg(rate(node_cpu_seconds_total{mode="idle"}[1m])) * 100)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Adicione um unit "Percent (0-100)" em Panel options (mesmo sem salvar)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Pergunta: o que mudou entre a query 1 e a 3? Anote sua resposta no caderno.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20 / 84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seu primeiro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criação de um dashboard segue um fluxo direto: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Dashboards → New → New dashboard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visualization (ou Ctrl+V dentro do dashboard)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Escolha o data source (já pré-selecionado se for o default)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Escreva a query no editor PromQL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Configure título, unidade, thresholds, cores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Apply → o painel aparece no dashboard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Salve com Ctrl+S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arrastar painéis para reordenar, redimensionar pelas bordas e agrupar com 'Rows' para organização lógica. Tudo é não-destrutivo: pode editar e reverter a qualquer momento.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oundRect">
            <a:avLst>
              <a:gd name="adj" fmla="val 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202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ouro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crie o dashboard definitivo logo de cara. Crie um draft, ajuste a query no Explore até ficar perfeita, copie a query para o painel, e só então refine o visual.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Explore é o sandbox. O dashboard é o produto final.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21 / 84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PAINEL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visualização mais usados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temporal. Padrão para métricas ao longo do tempo. Suporta multi-série, transformações e anotações.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506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794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794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grande com tendência. Ideal para KPIs no topo de dashboards (CPU atual, receita do dia).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292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580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Velocímetro com threshold. Mostra valor em relação a um limite (uso de disco, fila de requisições).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078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366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gauge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2366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horizontais com threshold. Ótimo para ranking (top 10 processos, top 5 hosts).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6864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5152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ordenação. Para dados tabulares, logs estruturados, inventário de recursos.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9650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938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7938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por horário. Identifica padrões temporais (picos de tráfego, uso por hora do dia).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22 / 84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1.3 — Dashboard do zero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dashboard chamado 'Meu primeiro dashboard' com 2 painéis: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1 — Stat: Uso de CPU do host (%)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Type: stat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Query: 100 - (avg(rate(node_cpu_seconds_total{mode="idle"}[1m])) * 100)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Unit: Percent (0-100)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Thresholds: 0–60 verde, 60–80 amarelo, 80+ vermelho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2 — Time series: Memória em uso (bytes)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Type: time series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Query: node_memory_MemTotal_bytes - node_memory_MemAvailable_bytes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Unit: bytes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 opacity: 20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 width: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Estrutura final do dashboard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Meu primeiro dashboard       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├────────────────┬────────────────┤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Stat         │   Time series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│              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12%          │  /\_         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CPU em uso   │ /   \_       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│/      \_     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│/        \_     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└────────────────┴────────────────┘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Salvar: Ctrl+S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Compartilhar: Share → Export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23 / 84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o Dia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338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é a disciplina de entender o sistema a partir das suas saídas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pilares: métricas, logs e traces — Grafana visualiza os três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é o banco de séries temporais mais usado no mercado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 emite métricas do host em formato Prometheus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stack leva 30 segundos com Docker Compose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do Grafana é organizada em torno de dashboards e Explore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é a linguagem para extrair e transformar séries temporais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de painel mais comuns: time series, stat, gauge, table, heatmap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de criação: testa no Explore → cria painel → ajusta → salva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24 / 84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alertas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84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6309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Visualizando Dados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—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Aprofundando no Grafana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dinâmicos com dropdowns de host, região, intervalo.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6352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tipos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Gauge, table, bar gauge, heatmap em ação.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46904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064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84064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4064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topk, agregação por label, funções de janela.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74152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51776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regras Prometheus e Grafana, ver FIRING.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82328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341864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19488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para métricas Docker no dashboard.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ambiente ganha mais componentes: Alertmanager e cAdvisor. O objetivo é construir dashboards profissionais — com variáveis, filtros e alertas que disparam de verdade.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26 / 84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— dashboards que se adaptam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transformam um dashboard estático em uma ferramenta dinâmica. Em vez de criar um painel por host, você cria um painel com uma variável $host e o usuário escolhe no dropdown.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principais: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— valores vêm de uma query (ex: hosts do Prometheus)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— lista fixa definida por você (ex: ambiente = prod,staging,dev)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source — alterna entre múltiplos data sources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Interval — intervalos de tempo pré-definidos (5m, 1h, 1d)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box — texto livre do usuário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Criando uma variável no dashboard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(engrenagem) → Variables → New variable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    host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       Query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source: 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      label_values(node_cpu_seconds_total, instance)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Refresh:     On time range change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Multi-value: true   (selecionar vários)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All: true   (opção 'All' no topo)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Uso nas queries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node_cpu_seconds_total{instance=~"$host"}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node_memory_MemTotal_bytes{instance=~"$host"}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27 / 84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2.1 — Variável $host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'02 - Host dinâmico (variáveis)':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topo, mude o dropdown 'host' para um único host e observe todos os painéis se atualizarem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Mude para 'All' — todos os painéis passam a mostrar múltiplas séries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Adicione uma variável nova: tipo Custom, nome cpu_mode, valores idle,user,system,iowait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Em uma query existente, troque mode="idle" por mode=~"$cpu_mode"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Salve o dashboard como '02 - Host dinâmico (variáveis) — meu'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o regex =~ aceita múltiplos valores separados por pipe. mode=~"idle|user" casa com mode=idle OU mode=user.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original (fixa)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100 - (avg by(instance) 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rate(node_cpu_seconds_total{mode="idle"}[5m])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100)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com variável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100 - (avg by(instance) 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rate(node_cpu_seconds_total{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mode=~"$cpu_mode",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instance=~"$host"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}[5m])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100)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$__rate_interval é uma variável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especial que se adapta ao range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 tempo escolhido.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28 / 84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— quando o valor importa mais que a série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gauge mostra um valor único em relação a um limite. É o velocímetro do painel — útil quando o que importa é 'estamos em qual faixa?'.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uso apropriado: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Memória em uso (0-100%)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Conexões ativas vs limite da pool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Tamanho de fila vs SLO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de uptime mensal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para séries temporais. Para isso, use time series. Gauge sem tendência temporal vira ruído visual.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Configuração recomendada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  gauge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Unit:   Percent (0-100)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Min:    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Max:    100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 – 70  → green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70 – 85  → orange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85 – 100 → red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típica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(1 - (node_memory_MemAvailable_bytes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node_memory_MemTotal_bytes)) * 100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29 / 84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padrões temporais em um piscar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mapeia duas dimensões em uma grade de cores: tempo no eixo X, valor no eixo Y, intensidade da cor indicando frequência.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especialmente útil para identificar padrões cíclicos — picos de tráfego que se repetem toda terça-feira, lentidão à meia-noite, jobs pesados em horário comercial.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precisa retornar o formato heatmap: agregações em buckets. O Grafana faz isso automaticamente se você marcar 'Format as Heatmap' na query.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para heatmap (formato heatmap)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100 - (avg by(instance) 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node_cpu_seconds_total{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mode="idle",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instance=~"$host"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}[5m]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100)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 query do Prometheus: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Marque 'Format: Heatmap'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Aumente o range para 6h+ para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ver padrões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Y-axis: linear ou 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30 / 84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 e agregação por label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funções do PromQL mudam completamente o que você vê: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topk(N, expr) — retorna os N maiores valores de uma expressão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 by(label) (expr) — soma os valores agrupando por label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by(label) (expr) — calcula média por grupo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 by(label) (expr) — conta séries distintas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/ irate — taxa de variação por segundo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essas funções, você constrói queries como 'top 5 hosts com mais CPU' ou 'uso médio por datacenter'.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 5 containers por CPU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topk(5, rate(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container_cpu_usage_seconds_total{name!=""}[5m]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100)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Memória total por datacenter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by(datacenter) 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node_memory_MemTotal_bytes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node_memory_MemAvailable_bytes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Contagem de hosts 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count(up{job="node-exporter"} == 1)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Taxa de crescimento por minuto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rate(node_network_receive_bytes_total[5m]) * 60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31 / 84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no Prometheus — anatomia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 de alerta tem 4 partes: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query que produz o sinal (expr)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condição de disparo (&gt; 80, == 0, etc.)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 tempo de espera (for: 5m) — evita alertas espúrios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 anotações — summary e description que aparecem na notificação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alerta fica em 3 estados: Inactive (sem disparar), Pending (condição atingida, aguardando o for), Firing (passou o for, está notificando).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em http://localhost:9090/alerts.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host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alert: HostCPUAlta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expr: |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100 - (avg by(instance) 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rate(node_cpu_seconds_total{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mode="idle"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}[5m])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 * 100) &gt; 80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for: 5m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severidade: warning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annotations: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summary: "CPU alta em {{ $labels.instance }}"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description: |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CPU acima de 80% por mais 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5 minutos (atual: {{ $value | printf \"%.1f\" }}%)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32 / 84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2.2 — Disparar um alerta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33856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320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 outro terminal, force carga no container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lab-node-exporter sh -c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'dd if=/dev/urandom of=/dev/null bs=1M count=2000 &amp;'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Acompanhe o alerta em http://localhost:9090/alerts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Status esperado: PENDING → FIRING (após 5 min)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Quando quiser parar, mate o processo: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lab-node-exporter pkill dd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alerta volta a INACTIVE após 5 min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 CPU abaixo do threshold.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5074920"/>
            <a:ext cx="11338560" cy="155448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2120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importante: o aluno vê o ciclo de vida real do alerta (Pending → Firing → Inactive), entende o papel do 'for' e por que a notificação não é instantânea. Em produção, isso evita alertas de ruído.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33 / 84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no Grafana — UI vs arquivo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Grafana tem seu próprio motor de alertas, separado do Prometheus. Você pode usar qualquer um — ou os dois.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(Alerting → Alert rules):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Bom para prototipar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Editor visual com preview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 contact points e silences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(provisioning/alerting/):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GitOps-friendly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Versionado junto com a infra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Idempotente: aplica a cada reload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file-based é o padrão em produção. Vamos exercitar os dois.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Grafana - alert rule via arquivo YAML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orgId: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regras_padrao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folder: Laboratório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interval: 1m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uid: cpu-alta-grafana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title: CPU alta no host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refId: 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datasourceUid: 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expr: |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100 - (avg by(instance) 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rate(node_cpu_seconds_total{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mode="idle"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}[5m])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 * 100)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for: 5m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severidade: warning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34 / 84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— métricas de container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é o agente oficial do Kubernetes para métricas de container. Roda como container e expõe, na porta 8080, métricas Prometheus sobre cada container do host.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principal é container_cpu_usage_seconds_total — uso de CPU por container em segundos por segundo. Combine com topk para ranking.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dashboard '03 - Containers (cAdvisor)' para ver a stack atual.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 5 containers por CPU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topk(5, rate(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container_cpu_usage_seconds_total{name!=""}[5m]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100)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Memória por container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topk(5, container_memory_usage_bytes{name!=""})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I/O de disco por container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rate(container_fs_reads_bytes_total[5m])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Rede por container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rate(container_network_receive_bytes_total[5m])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35 / 84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o Dia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338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transformam dashboards em ferramentas dinâmicas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variável: query, custom, data source, interval, text box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para valor único em relação a limite; heatmap para padrões temporais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 e agregação por label são funções-chave do PromQL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rate() converte contador em taxa por segundo; irate() é a versão instantânea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têm 3 estados: Inactive, Pending, Firing — o 'for' evita ruído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tem motor próprio de alertas, separado do Prometheus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expõe métricas de container no formato Prometheus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 file-based (YAML) é o padrão em produção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36 / 84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no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(prática guiada)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84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6309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Visualizando Dados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—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completa do zero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repositório, usuário, firewall.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6352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11.3 via APT oficial, Prometheus e Node Exporter.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46904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064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84064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4064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grafana.ini, datasource provisionado, systemd.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74152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51776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ativos, portas abertas, targets UP.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82328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341864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19488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porta, configurar SMTP, explorar logs.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instrutor projeta a tela e executa junto. Os scripts são comentados e idempotentes — se algo der errado, basta rodar de novo. Os scripts estão em lab/dia3/.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38 / 84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instalar do zero se o Docker resolve?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é ótimo para laboratório, mas em produção a maioria das empresas precisa instalar binários diretamente na máquina virtual — sem camada de container entre.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instalar do zero, você entende: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Onde o Grafana guarda configuração (/etc/grafana)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Onde ficam os logs (/var/log/grafana)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o systemd gerencia o serviço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portas e usuários o processo cria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atualizar com apt upgrade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conhecimento é a base para troubleshooting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oundRect">
            <a:avLst>
              <a:gd name="adj" fmla="val 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920240"/>
            <a:ext cx="44805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bolso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Docker para dev/teste. Use pacote do sistema para produção (exceto Kubernetes, onde container é a regra).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ambos os casos, o Grafana é configurado por arquivos em /etc/grafana. O comportamento é idêntico.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39 / 84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01-prepare.sh — preparando o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script faz o trabalho de base: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apt-get update — sincroniza o índice de pacotes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apt-get install de pré-requisitos (curl, gnupg, apt-transport-https)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Criação do usuário grafana — sem login, sem senha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Criação dos diretórios /var/lib/grafana, /var/log/grafana, /etc/grafana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Abertura das portas 3000 e 9090 no UFW, se ativo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 -euo pipefail garante que o script pare no primeiro erro.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-euo pipefail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$EUID -ne 0 ]]; then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"ERRO: execute como root"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apt-get update -y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apt-get install -y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curl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apt-transport-https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software-properties-common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gnupg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lsb-release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ca-certificates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Cria usuário sem login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adduser --system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--no-create-home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--shell /bin/false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--group grafana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Diretórios com dono correto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-d -o grafana -g grafana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/var/lib/grafana /var/log/grafana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40 / 84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02-install-grafana.sh — via repositório APT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adicionar um repositório em vez de baixar o .deb?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apt entende dependências automaticamente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apt upgrade atualiza o Grafana junto com o sistema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chave GPG garante autenticidade do pacote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fica fixada (11.3.0) para reprodutibilidade. Em produção, pode-se usar grafana (latest) ou travar com versionamento semver.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-euo pipefail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Chave GPG oficial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https://apt.grafana.com/gpg.key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gpg --dearmor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-o /etc/apt/keyrings/grafana.gpg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Entrada do repositório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"deb [signed-by=/etc/apt/keyrings/grafana.gpg]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https://apt.grafana.com stable main"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/etc/apt/sources.list.d/grafana.list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apt-get update -y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apt-get install -y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--no-install-recommends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grafana=11.3.0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daemon-reload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41 / 84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03-configure.sh — grafana.ini + provisionamento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grafana.ini tem mais de 1000 linhas comentadas. Em vez de editá-lo à mão, usamos sed para ajustar apenas o que precisamos: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http_port = 3000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admin_user / admin_password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path (SQLite local)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provisioning path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seguida provisionamos o datasource do Prometheus via YAML — assim ele sobe automaticamente junto com o Grafana.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Ajustando o grafana.ini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 's/^;http_port = 3000/http_port = 3000/'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/etc/grafana/grafana.ini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 's/^;admin_user = admin/admin_user = admin/'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/etc/grafana/grafana.ini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 's/^;admin_password = admin/admin_password = admin/'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/etc/grafana/grafana.ini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Provisiona 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&gt; /etc/grafana/provisioning/datasources/\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prometheus.yml &lt;&lt;'YAML'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datasources: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url: http://localhost:9090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isDefault: true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Habilita e inicia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enable --now grafana-server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42 / 84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04-install-prometheus.sh — binário oficial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Prometheus é distribuído como binário tar.gz. Instalamos em /usr/local/bin (padrão de binários não-APT) e criamos o serviço systemd do zero.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--web.enable-lifecycle é importante: ela expõe o endpoint POST /-/reload, que recarrega a configuração sem reiniciar o processo. Usado em produção para aplicar mudanças sem downtime.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 unit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Description=Prometheus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After=network-online.target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Group=prometheus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Type=simple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ExecStart=/usr/local/bin/prometheus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--config.file=/etc/prometheus/prometheus.yml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--storage.tsdb.path=/var/lib/prometheus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--web.enable-lifecycle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Restart=always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RestartSec=5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[Install]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WantedBy=multi-user.target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43 / 84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05-install-node-exporter.sh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 é simples: baixa, instala em /usr/local/bin, cria unit systemd. Não tem banco — apenas lê /proc e /sys e expõe via HTTP.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padrão, escuta em todas as interfaces na porta 9100. Em produção, recomenda-se escutar só em localhost e deixar o Prometheus raspar localmente (reduz superfície de ataque).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User=node_exporter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Group=node_exporter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Type=simple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ExecStart=/usr/local/bin/node_exporter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Restart=always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escutar só em localhost: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ExecStart=/usr/local/bin/node_exporter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--web.listen-address=127.0.0.1:9100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44 / 84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06-validate.sh — check-list automatizado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script verifica 6 coisas: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Serviços systemd ativos (grafana-server, prometheus, node_exporter)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Portas em escuta (3000, 9090, 9100)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Health-check HTTP (curl em /api/health, /-/healthy, /metrics)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Targets Prometheus (todos UP?)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DataSources do Grafana (listados?)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Mensagem final com URLs e credenciais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check imprime [OK] verde ou [FAIL] vermelho e aborta em caso de erro. O aluno vê, em segundos, o que está ou não funcionando.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Targets do Prometheus ==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job=prometheus        health=up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job=node              health=up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Datasources do Grafana ==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Prometheus  type=prometheus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url=http://localhost:9090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Tudo certo. Acesse: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Grafana:    http://localhost:3000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Prometheus: http://localhost:9090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Métricas:   http://localhost:9100/metrics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45 / 84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comuns e como resolver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338560" cy="45720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657600"/>
              </a:tblGrid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usando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lsof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:3000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/var/lib/grafana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diretório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chown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grafana:grafana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/var/lib/grafana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systemctl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node_exporter,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localhost:9100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Datasource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Provisionamento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-rf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/var/lib/grafana/grafana.db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(força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/etc/grafana/grafana.ini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apt-get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/etc/apt/keyrings/grafana.gpg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46 / 84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3.1 — Execução completa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33856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Sequência — execute em ordem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01-prepare.sh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02-install-grafana.sh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03-configure.sh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04-install-prometheus.sh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05-install-node-exporter.sh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06-validate.sh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11338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7548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começar: confirme com o instrutor que sua VM Ubuntu tem pelo menos 2 vCPU e 4 GB de RAM.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623560"/>
            <a:ext cx="113385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7607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no caderno: qual é o nome do usuário criado para o Grafana, em qual porta ele escuta, e onde fica o banco SQLite?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47 / 84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—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338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APT oficial é a forma canônica de instalar o Grafana em produção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GPG em /etc/apt/keyrings garante autenticidade do pacote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Fixar versão (grafana=11.3.0) traz reprodutibilidade ao ambiente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gerencia o serviço — enable + start para subir no boot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 file-based deixa configuração versionada no Git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roda com usuário próprio — princípio do menor privilégio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diretório /var/lib/grafana guarda o SQLite e os plugins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diretório /etc/grafana tem configuração e provisionamento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ficam em /var/log/grafana/grafana.log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automatizada economiza horas de troubleshooting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48 / 84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multi-stack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84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6309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Visualizando Dados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—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com produção real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e gerenciar plugins da comunidade e oficiais.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38728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16352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customização por usuário e por organização.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46904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064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84064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4064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 file-based de dashboards, alerts, datasources.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14616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74152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51776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Loki para logs e Tempo para traces.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82328" y="2148840"/>
            <a:ext cx="91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341864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19488" y="26060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017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próximos passos, certificação interna.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fechamos o ciclo: o aluno sai capaz de operar Grafana em produção, com versionamento no Git, dashboards reproduzíveis e logs/traces integrados.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50 / 84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de plugins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Grafana tem três tipos de plugins: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Panels — novos tipos de visualização (piechart, worldmap, flowchart)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sources — novos conectores (Splunk, Datadog, Stripe, Salesforce)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Apps — bundles que incluem painéis, datasources e dashboards prontos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Instalação: grafana-cli plugins install &lt;id&gt;. Reinício obrigatório.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armazenados em /var/lib/grafana/plugins. Para desabilitar: remover o diretório e reiniciar.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Instalando um plugin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lab-grafana bash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grafana-cli plugins install grafana-piechart-panel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restart grafana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Plugins populares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grafana-piechart-panel   (gráfico de pizza)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grafana-worldmap-panel    (mapa geográfico)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grafana-clock-panel       (relógio/calendário)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grafana-polystat-panel    (múltiplas stats)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grafana-googlesheets-datasource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marcusolsson-json-datasource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Listar instalados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grafana-cli plugins 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51 / 84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visual — por usuário e por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Grafana suporta múltiplos temas visuais que vão do light ao ultra-dark. O usuário pode escolher o seu em Preferences.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personalizar por dashboard, use o JSON model: o campo 'style' aceita 'dark' ou 'default'. Em produção, prefira 'dark' para painéis em NOC e 'default' para apresentações executivas.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dos painéis: cada série aceita um override no campo 'color' do Field config. Use paleta consistente entre dashboards da mesma organização.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Trocar o tema de um dashboard por JSON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"Meu dashboard",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"style": "dark",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"panels": [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"fieldConfig":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"defaults":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"color":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"mode": "palette-classic"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Forçar tema em URL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?theme=dark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52 / 84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dashboards prontos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Grafana.com hospeda milhares de dashboards oficiais e da comunidade. Os mais populares: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1860 — Node Exporter Full (esse é o clássico)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315 — Docker Container &amp; Host Metrics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6417 — Kubernetes Cluster Monitoring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3662 — Prometheus 2.0 Stats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12708 — Loki Stack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importação pede apenas o data source. Grafana reescreve os UIDs automaticamente.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Como importar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Dashboards → New → Import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Opção A: digite o ID (1860)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Opção B: cole a URL (https://grafana.com/grafana/dashboards/1860)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Opção C: faça upload de um .json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Escolha o data source de destino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Clique em Import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Exportar o seu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→ Export → Save to file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Importar por API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'Content-Type: application/json'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@dashboard.json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-u admin:admin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http://localhost:3000/api/dashboards/import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53 / 84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 file-based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produção, clicar no Grafana UI para criar dashboards é o primeiro passo para o caos. Use file-based provisioning: arquivos YAML/JSON em uma pasta, versionados no Git.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Reprodutibilidade: o mesmo arquivo gera o mesmo ambiente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Auditoria: git log mostra quem mudou o quê e quando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Disaster recovery: rm grafana.db + reload restaura tudo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CI/CD: deploy automático junto com a infra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típica: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/etc/grafana/provisioning/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datasources/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prometheus.yml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provider.yml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alerting/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rules.yml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/var/lib/grafana/dashboards/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01-visao-geral.json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02-host-dinamico.json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03-containers.json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Os YAMLs definem 'onde estão 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recursos'; os JSONs/recursos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ficam ao lado ou em volume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montado.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54 / 84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Adicionando Loki — logs no Grafana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é o 'Prometheus dos logs' — coleta, indexa e armazena logs de aplicações. Foi criado pela Grafana Labs com a mesma filosofia do Prometheus: baixo custo, fácil de operar, integração nativa.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language é a LogQL, similar ao PromQL mas com operadores para filtrar texto ({app="api"} |= "error").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coletar logs dos containers, use Promtail (ou Grafana Alloy, o substituto). Em Kubernetes, ele lê direto do kubelet.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Adicionar Loki ao docker-compose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loki: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grafana/loki:3.3.2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["3100:3100"]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-config.file=/etc/loki/local-config.yaml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[lab-net]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Adicionar datasource no Grafana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Connections → Data sources → Add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Type: Loki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URL:  http://loki:3100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de exemplo no Explore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{app="nginx"} |= "error" | json | line_format "{{.message}}"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55 / 84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Adicionando Tempo — traces distribuídos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é o backend de traces open-source da Grafana Labs. Substitui o Jaeger em muitos casos, com integração nativa ao Grafana.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language é a TraceQL — também similar ao PromQL.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Loki + Tempo + Prometheus no mesmo dashboard, o SRE pula de uma métrica para o trace relacionado, e do trace para o log de um span específico. Esse fluxo é chamado de 'Grafana three pillars' e é a base da observabilidade moderna.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783080"/>
            <a:ext cx="73152" cy="457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docker-compose para Tempo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tempo: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grafana/tempo:2.6.0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["-config.file=/etc/tempo.yaml"]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./tempo.yaml:/etc/tempo.yaml:ro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["3200:3200"]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[lab-net]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Datasource no Grafana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Tempo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 http://tempo:3200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Explore, query por service.name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resource.service.name = "frontend" } | latency &gt; 500ms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56 / 84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completa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arquitetura Grafana completa, temos: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Grafana — a camada de visualização única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Prometheus / Mimir — métricas (curto e longo prazo)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Loki — logs agregados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 — traces distribuídos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Pyroscope — continuous profiling (parente mais novo)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Alloy / Promtail / OTel Collector — coleta unificada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open source, todos rodam em Docker, todos se conversam via OTLP ou PromQL.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937760" cy="4572000"/>
          </a:xfrm>
          <a:prstGeom prst="roundRect">
            <a:avLst>
              <a:gd name="adj" fmla="val 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920240"/>
            <a:ext cx="44805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de aprendizado após este curso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Certificação Grafana Certified Observability Engineer (GCOE) — oficial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Praticar com Loki + Tempo em ambiente pessoal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Estudar Mimir para métricas em escala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Aprender OpenTelemetry (instrumentação)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Aprofundar em SRE, SLI/SLO, error budgets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buscar: training.grafana.com, grafana.com/blog, github.com/grafana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57 / 84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 de ouro para o dia a dia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Nomeie painéis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Sempre. 'Painel 1' não serve para ninguém em produção.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3095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5975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variáveis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85975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duplicar dashboards por ambiente/host, use $env e $host.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8990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1870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Limite painéis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1870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 16 por dashboard. Acima disso, quebre em abas/folders.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94885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7765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Documente no JSON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77765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o campo 'description' em cada dashboard. Aparece no tooltip.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0780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3660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Versione no Git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23660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 file-based. Commit por ambiente (dev, staging, prod).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6675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9555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Alerte no for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9555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'for: 5m' ou mais. Alerta instantâneo = ruído.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32570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5450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Roteie por severidade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15450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→ Slack; critical → telefone. Distinga.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78465" y="1783080"/>
            <a:ext cx="1217295" cy="4572000"/>
          </a:xfrm>
          <a:prstGeom prst="roundRect">
            <a:avLst>
              <a:gd name="adj" fmla="val 6009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61345" y="1920240"/>
            <a:ext cx="85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Monitore o monitoramento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61345" y="2331720"/>
            <a:ext cx="85153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'PrometheusDown' é o mais importante. Você precisa saber se perdeu o monitor.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58 / 84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aprendeu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338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pilares da observabilidade e como o Grafana unifica tudo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subir uma stack completa em Docker Compose em 1 comando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criar dashboards com stat, time series, gauge, table, bar, heatmap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usar variáveis para tornar dashboards dinâmicos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escrever queries PromQL com rate, topk, agregação por label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instalar Grafana + Prometheus + Node Exporter em Ubuntu via APT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configurar systemd, provisionar datasources e validar a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configurar alertas Prometheus e Grafana com tempo de espera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exportar, importar e versionar dashboards como JSON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adicionar Loki e Tempo para logs e traces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aplicar boas práticas de produção (for em alertas, versionamento)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59 / 84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continuar aprendendo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training.grafana.com — cursos oficiais (Grafana Fundamentals, Grafana Enterprise).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506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794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794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Certified Observability Engineer (GCOE) — prova online, US$ 200.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292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580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community.grafana.com — fórum oficial. Resposta em horas.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078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366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2366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github.com/grafana — issues, RFCs, código fonte. Tudo open source.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6864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5152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grafana.com/blog — casos reais, anúncios, tutoriais aprofundados.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96500" y="1783080"/>
            <a:ext cx="1699260" cy="4572000"/>
          </a:xfrm>
          <a:prstGeom prst="roundRect">
            <a:avLst>
              <a:gd name="adj" fmla="val 4305"/>
            </a:avLst>
          </a:prstGeom>
          <a:solidFill>
            <a:srgbClr val="00000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9380" y="1920240"/>
            <a:ext cx="133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79380" y="2331720"/>
            <a:ext cx="13335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slack.grafana.com — canais temáticos por produto (loki, tempo, mimir).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60 / 84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revisão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338560" cy="2286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abrir para perguntas.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sugeridos: instalação em produção, observabilidade em Kubernetes, integração com outras ferramentas, carreira em SRE.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1338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Slides deste curso (esta apresentação)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Caderno de exercícios (PDF — caderno-exercicios.pdf)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Scripts de laboratório (lab/dia1, lab/dia2, lab/dia3)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Dashboards pré-configurados (incluídos no compose)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no pacote entregue pelo instrutor. Material liberado para uso interno, sem redistribuição.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61 / 84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na sua jornada!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338560" cy="4572000"/>
          </a:xfrm>
          <a:prstGeom prst="roundRect">
            <a:avLst>
              <a:gd name="adj" fmla="val 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é mais que uma ferramenta — é a forma moderna de olhar para sistemas complexos.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16 horas vocês viram a base completa. Agora é praticar, errar, ajustar, e construir dashboards que ajudem seu time a tomar decisões melhores.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presença e pelo tempo dedicado. Estarei disponível para dúvidas no email do curso.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Fabio Silva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   |    62 / 84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REAL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 do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3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DO PROFESSOR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 do Grafana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11 rodando com provisionamento automatizado e autenticação ativa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64 / 84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E 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Inicial do Grafana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2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de pastas, dashboards provisionados e recursos rápidos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65 / 84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BÁSICO (DIA 1)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 — Visão Geral do Host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3-dashboard-01-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CPU, memória, disco e tráfego de rede via Node Exporter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66 / 84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GRÁFICOS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de Métricas de CPU por Core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4-dashboard-01-z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carga entre núcleos com visualização Time Series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67 / 84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HANDS-ON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Painéis do Grafana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5-dashboard-01-ed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PromQL, transformações, thresholds e painel de inspeção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68 / 84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NO PROMETHEUS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Consulta PromQL Bruta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6-explore-query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Explorando métricas brutas diretamente na base temporal antes de criar painéis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69 / 84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AVANÇADO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Cálculo de Taxa com rate()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7-explore-query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rate() em contadores para medir velocidade de variação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70 / 84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MATEMÁTICAS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Cálculo Percentual de Uso de CPU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8-explore-query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padrão de cálculo percentual de CPU utilizada no mercado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71 / 84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 DE ALTO IMPACTO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Tipo Stat com Thresholds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09-new-panel-st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numérico de status com faixas de cor verde/amarelo/vermelho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72 / 84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TEMPORAIS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Time Series com Gradiente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0-new-panel-timese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temporais elegantes com preenchimento e opacidade customizada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73 / 84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DINÂMICO (DIA 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 — Filtros e Variáveis Dinâmicas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1-dashboard-02-dynam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com suporte a múltiplos nós (Docker, Proxmox, Kubernetes e Mikatos)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74 / 84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NO GRAFANA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de Variáveis $host e $cluster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2-dashboard-02-vari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instantânea de métricas por nó selecionado sem recriar painéis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75 / 84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MEMÓRIA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Tipo Gauge (Velocímetro)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3-dashboard-02-gau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intuitiva de limites operacionais e saturação de memória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76 / 84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DE CARGA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Tipo Heatmap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4-dashboard-02-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de consumo de CPU por intervalo temporal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77 / 84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DOCKER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 — Métricas de Containers (cAdvisor)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5-dashboard-03-contain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CPU, RAM e I/O de rede isolado por container Docker ativo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78 / 84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— Regras de Alerta do Grafana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6-alerting-ru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gerenciadas com condições de disparo, severidade e anotações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79 / 84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 ALERTA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— Alertas Ativos e Firing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7-prometheus-ale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nos estados Inactive, Pending e Firing na interface nativa do Prometheus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80 / 84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— Roteamento de Notificações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8-alertman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Silenciamento, agrupamento e deduplicação de alertas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81 / 84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FONTES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e Data Sources Provisionados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19-datasour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Prometheus conectada via arquivo YAML automatizado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82 / 84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RBAC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de Usuários e Permissões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20-admin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equipes, perfis de Viewer, Editor e Admin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83 / 84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EXTENSIBILIDADE (DIA 4)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Plugins do Grafana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:\01_Projetos\Curso Grafana\assets\screenshots\21-admin-plugi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3385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de plugins para novas fontes de dados, painéis e apps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Visualizando Dados | Prof. Fabio Silva | 84 / 84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Green 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- Visualizando Dados</dc:title>
  <dc:subject>Curso de Grafana - V1</dc:subject>
  <dc:creator>Fabio Silva</dc:creator>
  <cp:lastModifiedBy>Fabio Silva</cp:lastModifiedBy>
  <cp:revision>1</cp:revision>
  <dcterms:created xsi:type="dcterms:W3CDTF">2026-10-17T16:03:13Z</dcterms:created>
  <dcterms:modified xsi:type="dcterms:W3CDTF">2026-10-17T16:03:13Z</dcterms:modified>
</cp:coreProperties>
</file>